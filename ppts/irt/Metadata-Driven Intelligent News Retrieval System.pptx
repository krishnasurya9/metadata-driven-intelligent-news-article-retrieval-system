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12192000"/>
  <p:embeddedFontLst>
    <p:embeddedFont>
      <p:font typeface="微软雅黑" panose="020B0503020204020204" pitchFamily="34" charset="-122"/>
      <p:regular r:id="rId18"/>
      <p:bold r:id="rId19"/>
    </p:embeddedFont>
    <p:embeddedFont>
      <p:font typeface="MiSans" panose="020B0604020202020204" charset="-122"/>
      <p:regular r:id="rId20"/>
    </p:embeddedFont>
    <p:embeddedFont>
      <p:font typeface="Noto Sans SC" panose="020B0604020202020204" charset="-128"/>
      <p:regular r:id="rId21"/>
    </p:embeddedFont>
    <p:embeddedFont>
      <p:font typeface="Liter" panose="020B0604020202020204" charset="0"/>
      <p:regular r:id="rId22"/>
    </p:embeddedFont>
    <p:embeddedFont>
      <p:font typeface="Quattrocento Sans" panose="020F0502020204030204" pitchFamily="3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0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600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45efbf3576fc750e48712db00456f44a629abe0e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-1944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A5F7A">
                  <a:alpha val="40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400050" y="1179195"/>
            <a:ext cx="4524375" cy="381000"/>
          </a:xfrm>
          <a:custGeom>
            <a:avLst/>
            <a:gdLst/>
            <a:ahLst/>
            <a:cxnLst/>
            <a:rect l="l" t="t" r="r" b="b"/>
            <a:pathLst>
              <a:path w="4524375" h="381000">
                <a:moveTo>
                  <a:pt x="0" y="0"/>
                </a:moveTo>
                <a:lnTo>
                  <a:pt x="4524375" y="0"/>
                </a:lnTo>
                <a:lnTo>
                  <a:pt x="45243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14902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17919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255395"/>
            <a:ext cx="420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6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Research Presentation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864995"/>
            <a:ext cx="887730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Metadata-Driven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</a:t>
            </a:r>
            <a:r>
              <a:rPr lang="en-US" sz="54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News Retrieval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67855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E7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Transitioning from Lexical Search to Hybrid Semantic Intelligence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73011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0" name="Text 7"/>
          <p:cNvSpPr/>
          <p:nvPr/>
        </p:nvSpPr>
        <p:spPr>
          <a:xfrm>
            <a:off x="1704974" y="4617396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Pipeline Functional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264" y="5079988"/>
            <a:ext cx="1716657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</a:t>
            </a:r>
            <a:br>
              <a:rPr lang="en-US" sz="120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</a:br>
            <a:r>
              <a:rPr lang="en-IN" sz="1600" spc="-290" dirty="0">
                <a:solidFill>
                  <a:srgbClr val="496071"/>
                </a:solidFill>
                <a:latin typeface="Liter" panose="020B0604020202020204" charset="0"/>
                <a:cs typeface="Arial"/>
              </a:rPr>
              <a:t>P.</a:t>
            </a:r>
            <a:r>
              <a:rPr lang="en-IN" sz="1600" spc="-50" dirty="0">
                <a:solidFill>
                  <a:srgbClr val="496071"/>
                </a:solidFill>
                <a:latin typeface="Liter" panose="020B0604020202020204" charset="0"/>
                <a:cs typeface="Arial"/>
              </a:rPr>
              <a:t>  </a:t>
            </a:r>
            <a:r>
              <a:rPr lang="en-IN" sz="1600" spc="-110" dirty="0">
                <a:solidFill>
                  <a:srgbClr val="496071"/>
                </a:solidFill>
                <a:latin typeface="Liter" panose="020B0604020202020204" charset="0"/>
                <a:cs typeface="Arial"/>
              </a:rPr>
              <a:t>Krishna</a:t>
            </a:r>
            <a:r>
              <a:rPr lang="en-IN" sz="1600" spc="-114" dirty="0">
                <a:solidFill>
                  <a:srgbClr val="496071"/>
                </a:solidFill>
                <a:latin typeface="Liter" panose="020B0604020202020204" charset="0"/>
                <a:cs typeface="Arial"/>
              </a:rPr>
              <a:t> </a:t>
            </a:r>
            <a:r>
              <a:rPr lang="en-IN" sz="1600" spc="-125" dirty="0">
                <a:solidFill>
                  <a:srgbClr val="496071"/>
                </a:solidFill>
                <a:latin typeface="Liter" panose="020B0604020202020204" charset="0"/>
                <a:cs typeface="Arial"/>
              </a:rPr>
              <a:t>Surya</a:t>
            </a:r>
          </a:p>
          <a:p>
            <a:pPr>
              <a:lnSpc>
                <a:spcPct val="130000"/>
              </a:lnSpc>
            </a:pPr>
            <a:r>
              <a:rPr lang="en-IN" sz="1600" spc="-125" dirty="0">
                <a:solidFill>
                  <a:srgbClr val="496071"/>
                </a:solidFill>
                <a:latin typeface="Liter" panose="020B0604020202020204" charset="0"/>
                <a:cs typeface="Arial"/>
              </a:rPr>
              <a:t>(22bsd7030)</a:t>
            </a:r>
          </a:p>
          <a:p>
            <a:pPr>
              <a:lnSpc>
                <a:spcPct val="130000"/>
              </a:lnSpc>
            </a:pPr>
            <a:r>
              <a:rPr lang="en-IN" sz="1600" spc="-50" dirty="0">
                <a:solidFill>
                  <a:srgbClr val="496071"/>
                </a:solidFill>
                <a:latin typeface="Liter" panose="020B0604020202020204" charset="0"/>
                <a:cs typeface="Arial"/>
              </a:rPr>
              <a:t>Shanmuka </a:t>
            </a:r>
            <a:r>
              <a:rPr lang="en-IN" sz="1600" spc="-110" dirty="0">
                <a:solidFill>
                  <a:srgbClr val="496071"/>
                </a:solidFill>
                <a:latin typeface="Liter" panose="020B0604020202020204" charset="0"/>
                <a:cs typeface="Arial"/>
              </a:rPr>
              <a:t>Vardhan</a:t>
            </a:r>
          </a:p>
          <a:p>
            <a:pPr>
              <a:lnSpc>
                <a:spcPct val="130000"/>
              </a:lnSpc>
            </a:pPr>
            <a:r>
              <a:rPr lang="en-IN" sz="1600" spc="-110" dirty="0">
                <a:solidFill>
                  <a:srgbClr val="496071"/>
                </a:solidFill>
                <a:latin typeface="Liter" panose="020B0604020202020204" charset="0"/>
                <a:cs typeface="Arial"/>
              </a:rPr>
              <a:t>(22bsd7022)</a:t>
            </a:r>
            <a:endParaRPr lang="en-US" sz="1600" dirty="0">
              <a:solidFill>
                <a:srgbClr val="496071"/>
              </a:solidFill>
              <a:latin typeface="Liter" panose="020B06040202020202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81000" y="6210300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911603" y="6248400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March 2025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571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502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Failure of Traditional Search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295400"/>
            <a:ext cx="3667125" cy="4171950"/>
          </a:xfrm>
          <a:custGeom>
            <a:avLst/>
            <a:gdLst/>
            <a:ahLst/>
            <a:cxnLst/>
            <a:rect l="l" t="t" r="r" b="b"/>
            <a:pathLst>
              <a:path w="3667125" h="4171950">
                <a:moveTo>
                  <a:pt x="0" y="0"/>
                </a:moveTo>
                <a:lnTo>
                  <a:pt x="3667125" y="0"/>
                </a:lnTo>
                <a:lnTo>
                  <a:pt x="3667125" y="4171950"/>
                </a:lnTo>
                <a:lnTo>
                  <a:pt x="0" y="4171950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295400"/>
            <a:ext cx="38100" cy="4171950"/>
          </a:xfrm>
          <a:custGeom>
            <a:avLst/>
            <a:gdLst/>
            <a:ahLst/>
            <a:cxnLst/>
            <a:rect l="l" t="t" r="r" b="b"/>
            <a:pathLst>
              <a:path w="38100" h="4171950">
                <a:moveTo>
                  <a:pt x="0" y="0"/>
                </a:moveTo>
                <a:lnTo>
                  <a:pt x="38100" y="0"/>
                </a:lnTo>
                <a:lnTo>
                  <a:pt x="38100" y="4171950"/>
                </a:lnTo>
                <a:lnTo>
                  <a:pt x="0" y="417195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9259" y="158115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1562100"/>
            <a:ext cx="1276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Lexical Gap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095500"/>
            <a:ext cx="3343275" cy="1990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Keyword-based search</a:t>
            </a:r>
            <a:r>
              <a:rPr lang="en-US" sz="1200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(TF-IDF, BM25) fails to capture semantic meaning and context.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3410" y="4202430"/>
            <a:ext cx="3255645" cy="1074420"/>
          </a:xfrm>
          <a:custGeom>
            <a:avLst/>
            <a:gdLst/>
            <a:ahLst/>
            <a:cxnLst/>
            <a:rect l="l" t="t" r="r" b="b"/>
            <a:pathLst>
              <a:path w="3255645" h="1074420">
                <a:moveTo>
                  <a:pt x="76198" y="0"/>
                </a:moveTo>
                <a:lnTo>
                  <a:pt x="3179447" y="0"/>
                </a:lnTo>
                <a:cubicBezTo>
                  <a:pt x="3221530" y="0"/>
                  <a:pt x="3255645" y="34115"/>
                  <a:pt x="3255645" y="76198"/>
                </a:cubicBezTo>
                <a:lnTo>
                  <a:pt x="3255645" y="998222"/>
                </a:lnTo>
                <a:cubicBezTo>
                  <a:pt x="3255645" y="1040305"/>
                  <a:pt x="3221530" y="1074420"/>
                  <a:pt x="3179447" y="1074420"/>
                </a:cubicBezTo>
                <a:lnTo>
                  <a:pt x="76198" y="1074420"/>
                </a:lnTo>
                <a:cubicBezTo>
                  <a:pt x="34115" y="1074420"/>
                  <a:pt x="0" y="1040305"/>
                  <a:pt x="0" y="9982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9620" y="4358640"/>
            <a:ext cx="300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9620" y="462534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"Economic Crisis"</a:t>
            </a: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≠ </a:t>
            </a: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"Recession"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9620" y="4930140"/>
            <a:ext cx="300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Systems treat these as unrelated terms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73510" y="1295400"/>
            <a:ext cx="3667125" cy="4171950"/>
          </a:xfrm>
          <a:custGeom>
            <a:avLst/>
            <a:gdLst/>
            <a:ahLst/>
            <a:cxnLst/>
            <a:rect l="l" t="t" r="r" b="b"/>
            <a:pathLst>
              <a:path w="3667125" h="4171950">
                <a:moveTo>
                  <a:pt x="0" y="0"/>
                </a:moveTo>
                <a:lnTo>
                  <a:pt x="3667125" y="0"/>
                </a:lnTo>
                <a:lnTo>
                  <a:pt x="3667125" y="4171950"/>
                </a:lnTo>
                <a:lnTo>
                  <a:pt x="0" y="4171950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17" name="Shape 15"/>
          <p:cNvSpPr/>
          <p:nvPr/>
        </p:nvSpPr>
        <p:spPr>
          <a:xfrm>
            <a:off x="4273510" y="1295400"/>
            <a:ext cx="38100" cy="4171950"/>
          </a:xfrm>
          <a:custGeom>
            <a:avLst/>
            <a:gdLst/>
            <a:ahLst/>
            <a:cxnLst/>
            <a:rect l="l" t="t" r="r" b="b"/>
            <a:pathLst>
              <a:path w="38100" h="4171950">
                <a:moveTo>
                  <a:pt x="0" y="0"/>
                </a:moveTo>
                <a:lnTo>
                  <a:pt x="38100" y="0"/>
                </a:lnTo>
                <a:lnTo>
                  <a:pt x="38100" y="4171950"/>
                </a:lnTo>
                <a:lnTo>
                  <a:pt x="0" y="4171950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8" name="Shape 16"/>
          <p:cNvSpPr/>
          <p:nvPr/>
        </p:nvSpPr>
        <p:spPr>
          <a:xfrm>
            <a:off x="448306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95455" y="158115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F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54561" y="156210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Ignorance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83060" y="2095500"/>
            <a:ext cx="3343275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signals</a:t>
            </a:r>
            <a:r>
              <a:rPr lang="en-US" sz="1200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remain unused in ranking decisions, significantly reducing result quality.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83060" y="3756660"/>
            <a:ext cx="3267075" cy="457200"/>
          </a:xfrm>
          <a:custGeom>
            <a:avLst/>
            <a:gdLst/>
            <a:ahLst/>
            <a:cxnLst/>
            <a:rect l="l" t="t" r="r" b="b"/>
            <a:pathLst>
              <a:path w="3267075" h="457200">
                <a:moveTo>
                  <a:pt x="38098" y="0"/>
                </a:moveTo>
                <a:lnTo>
                  <a:pt x="3228977" y="0"/>
                </a:lnTo>
                <a:cubicBezTo>
                  <a:pt x="3250018" y="0"/>
                  <a:pt x="3267075" y="17057"/>
                  <a:pt x="3267075" y="38098"/>
                </a:cubicBezTo>
                <a:lnTo>
                  <a:pt x="3267075" y="419102"/>
                </a:lnTo>
                <a:cubicBezTo>
                  <a:pt x="3267075" y="440143"/>
                  <a:pt x="3250018" y="457200"/>
                  <a:pt x="322897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6410" y="390906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4" name="Text 22"/>
          <p:cNvSpPr/>
          <p:nvPr/>
        </p:nvSpPr>
        <p:spPr>
          <a:xfrm>
            <a:off x="4864060" y="3870960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credibility scores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83060" y="4290060"/>
            <a:ext cx="3267075" cy="457200"/>
          </a:xfrm>
          <a:custGeom>
            <a:avLst/>
            <a:gdLst/>
            <a:ahLst/>
            <a:cxnLst/>
            <a:rect l="l" t="t" r="r" b="b"/>
            <a:pathLst>
              <a:path w="3267075" h="457200">
                <a:moveTo>
                  <a:pt x="38098" y="0"/>
                </a:moveTo>
                <a:lnTo>
                  <a:pt x="3228977" y="0"/>
                </a:lnTo>
                <a:cubicBezTo>
                  <a:pt x="3250018" y="0"/>
                  <a:pt x="3267075" y="17057"/>
                  <a:pt x="3267075" y="38098"/>
                </a:cubicBezTo>
                <a:lnTo>
                  <a:pt x="3267075" y="419102"/>
                </a:lnTo>
                <a:cubicBezTo>
                  <a:pt x="3267075" y="440143"/>
                  <a:pt x="3250018" y="457200"/>
                  <a:pt x="322897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Shape 24"/>
          <p:cNvSpPr/>
          <p:nvPr/>
        </p:nvSpPr>
        <p:spPr>
          <a:xfrm>
            <a:off x="4606885" y="444246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9420" y="11638"/>
                </a:moveTo>
                <a:lnTo>
                  <a:pt x="163532" y="56376"/>
                </a:lnTo>
                <a:cubicBezTo>
                  <a:pt x="171777" y="64740"/>
                  <a:pt x="171777" y="78135"/>
                  <a:pt x="163532" y="86499"/>
                </a:cubicBezTo>
                <a:lnTo>
                  <a:pt x="116979" y="133618"/>
                </a:lnTo>
                <a:cubicBezTo>
                  <a:pt x="114211" y="136416"/>
                  <a:pt x="109686" y="136446"/>
                  <a:pt x="106888" y="133677"/>
                </a:cubicBezTo>
                <a:cubicBezTo>
                  <a:pt x="104090" y="130909"/>
                  <a:pt x="104061" y="126385"/>
                  <a:pt x="106829" y="123587"/>
                </a:cubicBezTo>
                <a:lnTo>
                  <a:pt x="153382" y="76438"/>
                </a:lnTo>
                <a:cubicBezTo>
                  <a:pt x="156121" y="73670"/>
                  <a:pt x="156121" y="69175"/>
                  <a:pt x="153382" y="66407"/>
                </a:cubicBezTo>
                <a:lnTo>
                  <a:pt x="109240" y="21699"/>
                </a:lnTo>
                <a:cubicBezTo>
                  <a:pt x="106472" y="18901"/>
                  <a:pt x="106501" y="14377"/>
                  <a:pt x="109299" y="11609"/>
                </a:cubicBezTo>
                <a:cubicBezTo>
                  <a:pt x="112097" y="8840"/>
                  <a:pt x="116622" y="8870"/>
                  <a:pt x="119390" y="11668"/>
                </a:cubicBezTo>
                <a:close/>
                <a:moveTo>
                  <a:pt x="9555" y="68312"/>
                </a:moveTo>
                <a:lnTo>
                  <a:pt x="9555" y="28575"/>
                </a:lnTo>
                <a:cubicBezTo>
                  <a:pt x="9555" y="18068"/>
                  <a:pt x="18098" y="9525"/>
                  <a:pt x="28605" y="9525"/>
                </a:cubicBezTo>
                <a:lnTo>
                  <a:pt x="68342" y="9525"/>
                </a:lnTo>
                <a:cubicBezTo>
                  <a:pt x="73402" y="9525"/>
                  <a:pt x="78254" y="11519"/>
                  <a:pt x="81826" y="15091"/>
                </a:cubicBezTo>
                <a:lnTo>
                  <a:pt x="124688" y="57954"/>
                </a:lnTo>
                <a:cubicBezTo>
                  <a:pt x="132130" y="65395"/>
                  <a:pt x="132130" y="77450"/>
                  <a:pt x="124688" y="84892"/>
                </a:cubicBezTo>
                <a:lnTo>
                  <a:pt x="84951" y="124629"/>
                </a:lnTo>
                <a:cubicBezTo>
                  <a:pt x="77510" y="132070"/>
                  <a:pt x="65455" y="132070"/>
                  <a:pt x="58013" y="124629"/>
                </a:cubicBezTo>
                <a:lnTo>
                  <a:pt x="15151" y="81766"/>
                </a:lnTo>
                <a:cubicBezTo>
                  <a:pt x="11579" y="78194"/>
                  <a:pt x="9585" y="73343"/>
                  <a:pt x="9585" y="68282"/>
                </a:cubicBezTo>
                <a:close/>
                <a:moveTo>
                  <a:pt x="52417" y="42863"/>
                </a:moveTo>
                <a:cubicBezTo>
                  <a:pt x="52417" y="37606"/>
                  <a:pt x="48149" y="33338"/>
                  <a:pt x="42892" y="33338"/>
                </a:cubicBezTo>
                <a:cubicBezTo>
                  <a:pt x="37635" y="33338"/>
                  <a:pt x="33367" y="37606"/>
                  <a:pt x="33367" y="42863"/>
                </a:cubicBezTo>
                <a:cubicBezTo>
                  <a:pt x="33367" y="48119"/>
                  <a:pt x="37635" y="52388"/>
                  <a:pt x="42892" y="52388"/>
                </a:cubicBezTo>
                <a:cubicBezTo>
                  <a:pt x="48149" y="52388"/>
                  <a:pt x="52417" y="48119"/>
                  <a:pt x="52417" y="4286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060" y="4404360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categorization tags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83060" y="4823460"/>
            <a:ext cx="3267075" cy="457200"/>
          </a:xfrm>
          <a:custGeom>
            <a:avLst/>
            <a:gdLst/>
            <a:ahLst/>
            <a:cxnLst/>
            <a:rect l="l" t="t" r="r" b="b"/>
            <a:pathLst>
              <a:path w="3267075" h="457200">
                <a:moveTo>
                  <a:pt x="38098" y="0"/>
                </a:moveTo>
                <a:lnTo>
                  <a:pt x="3228977" y="0"/>
                </a:lnTo>
                <a:cubicBezTo>
                  <a:pt x="3250018" y="0"/>
                  <a:pt x="3267075" y="17057"/>
                  <a:pt x="3267075" y="38098"/>
                </a:cubicBezTo>
                <a:lnTo>
                  <a:pt x="3267075" y="419102"/>
                </a:lnTo>
                <a:cubicBezTo>
                  <a:pt x="3267075" y="440143"/>
                  <a:pt x="3250018" y="457200"/>
                  <a:pt x="322897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Shape 27"/>
          <p:cNvSpPr/>
          <p:nvPr/>
        </p:nvSpPr>
        <p:spPr>
          <a:xfrm>
            <a:off x="4616410" y="497586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060" y="493776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Publication recency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46971" y="1295400"/>
            <a:ext cx="3667125" cy="4171950"/>
          </a:xfrm>
          <a:custGeom>
            <a:avLst/>
            <a:gdLst/>
            <a:ahLst/>
            <a:cxnLst/>
            <a:rect l="l" t="t" r="r" b="b"/>
            <a:pathLst>
              <a:path w="3667125" h="4171950">
                <a:moveTo>
                  <a:pt x="0" y="0"/>
                </a:moveTo>
                <a:lnTo>
                  <a:pt x="3667125" y="0"/>
                </a:lnTo>
                <a:lnTo>
                  <a:pt x="3667125" y="4171950"/>
                </a:lnTo>
                <a:lnTo>
                  <a:pt x="0" y="4171950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32" name="Shape 30"/>
          <p:cNvSpPr/>
          <p:nvPr/>
        </p:nvSpPr>
        <p:spPr>
          <a:xfrm>
            <a:off x="8146971" y="1295400"/>
            <a:ext cx="38100" cy="4171950"/>
          </a:xfrm>
          <a:custGeom>
            <a:avLst/>
            <a:gdLst/>
            <a:ahLst/>
            <a:cxnLst/>
            <a:rect l="l" t="t" r="r" b="b"/>
            <a:pathLst>
              <a:path w="38100" h="4171950">
                <a:moveTo>
                  <a:pt x="0" y="0"/>
                </a:moveTo>
                <a:lnTo>
                  <a:pt x="38100" y="0"/>
                </a:lnTo>
                <a:lnTo>
                  <a:pt x="38100" y="4171950"/>
                </a:lnTo>
                <a:lnTo>
                  <a:pt x="0" y="4171950"/>
                </a:lnTo>
                <a:lnTo>
                  <a:pt x="0" y="0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33" name="Shape 31"/>
          <p:cNvSpPr/>
          <p:nvPr/>
        </p:nvSpPr>
        <p:spPr>
          <a:xfrm>
            <a:off x="8356521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468083" y="15811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28021" y="1562100"/>
            <a:ext cx="2276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Data Limitation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56521" y="2095500"/>
            <a:ext cx="3343275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Systems cannot handle</a:t>
            </a:r>
            <a:r>
              <a:rPr lang="en-US" sz="1200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real-time, continuously updating news streams effectively.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56521" y="3756660"/>
            <a:ext cx="3267075" cy="457200"/>
          </a:xfrm>
          <a:custGeom>
            <a:avLst/>
            <a:gdLst/>
            <a:ahLst/>
            <a:cxnLst/>
            <a:rect l="l" t="t" r="r" b="b"/>
            <a:pathLst>
              <a:path w="3267075" h="457200">
                <a:moveTo>
                  <a:pt x="38098" y="0"/>
                </a:moveTo>
                <a:lnTo>
                  <a:pt x="3228977" y="0"/>
                </a:lnTo>
                <a:cubicBezTo>
                  <a:pt x="3250018" y="0"/>
                  <a:pt x="3267075" y="17057"/>
                  <a:pt x="3267075" y="38098"/>
                </a:cubicBezTo>
                <a:lnTo>
                  <a:pt x="3267075" y="419102"/>
                </a:lnTo>
                <a:cubicBezTo>
                  <a:pt x="3267075" y="440143"/>
                  <a:pt x="3250018" y="457200"/>
                  <a:pt x="322897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8" name="Shape 36"/>
          <p:cNvSpPr/>
          <p:nvPr/>
        </p:nvSpPr>
        <p:spPr>
          <a:xfrm>
            <a:off x="8489871" y="390906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9" name="Text 37"/>
          <p:cNvSpPr/>
          <p:nvPr/>
        </p:nvSpPr>
        <p:spPr>
          <a:xfrm>
            <a:off x="8737521" y="3870960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 processing delays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56521" y="4290060"/>
            <a:ext cx="3267075" cy="457200"/>
          </a:xfrm>
          <a:custGeom>
            <a:avLst/>
            <a:gdLst/>
            <a:ahLst/>
            <a:cxnLst/>
            <a:rect l="l" t="t" r="r" b="b"/>
            <a:pathLst>
              <a:path w="3267075" h="457200">
                <a:moveTo>
                  <a:pt x="38098" y="0"/>
                </a:moveTo>
                <a:lnTo>
                  <a:pt x="3228977" y="0"/>
                </a:lnTo>
                <a:cubicBezTo>
                  <a:pt x="3250018" y="0"/>
                  <a:pt x="3267075" y="17057"/>
                  <a:pt x="3267075" y="38098"/>
                </a:cubicBezTo>
                <a:lnTo>
                  <a:pt x="3267075" y="419102"/>
                </a:lnTo>
                <a:cubicBezTo>
                  <a:pt x="3267075" y="440143"/>
                  <a:pt x="3250018" y="457200"/>
                  <a:pt x="322897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Shape 39"/>
          <p:cNvSpPr/>
          <p:nvPr/>
        </p:nvSpPr>
        <p:spPr>
          <a:xfrm>
            <a:off x="8489871" y="444246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2" name="Text 40"/>
          <p:cNvSpPr/>
          <p:nvPr/>
        </p:nvSpPr>
        <p:spPr>
          <a:xfrm>
            <a:off x="8737521" y="4404360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Stale index problems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56521" y="4823460"/>
            <a:ext cx="3267075" cy="457200"/>
          </a:xfrm>
          <a:custGeom>
            <a:avLst/>
            <a:gdLst/>
            <a:ahLst/>
            <a:cxnLst/>
            <a:rect l="l" t="t" r="r" b="b"/>
            <a:pathLst>
              <a:path w="3267075" h="457200">
                <a:moveTo>
                  <a:pt x="38098" y="0"/>
                </a:moveTo>
                <a:lnTo>
                  <a:pt x="3228977" y="0"/>
                </a:lnTo>
                <a:cubicBezTo>
                  <a:pt x="3250018" y="0"/>
                  <a:pt x="3267075" y="17057"/>
                  <a:pt x="3267075" y="38098"/>
                </a:cubicBezTo>
                <a:lnTo>
                  <a:pt x="3267075" y="419102"/>
                </a:lnTo>
                <a:cubicBezTo>
                  <a:pt x="3267075" y="440143"/>
                  <a:pt x="3250018" y="457200"/>
                  <a:pt x="322897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4" name="Shape 42"/>
          <p:cNvSpPr/>
          <p:nvPr/>
        </p:nvSpPr>
        <p:spPr>
          <a:xfrm>
            <a:off x="8489871" y="497586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5" name="Text 43"/>
          <p:cNvSpPr/>
          <p:nvPr/>
        </p:nvSpPr>
        <p:spPr>
          <a:xfrm>
            <a:off x="8737521" y="4937760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live feed integration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19100" y="5655944"/>
            <a:ext cx="11418570" cy="1115791"/>
          </a:xfrm>
          <a:custGeom>
            <a:avLst/>
            <a:gdLst/>
            <a:ahLst/>
            <a:cxnLst/>
            <a:rect l="l" t="t" r="r" b="b"/>
            <a:pathLst>
              <a:path w="11418570" h="845820">
                <a:moveTo>
                  <a:pt x="76200" y="0"/>
                </a:moveTo>
                <a:lnTo>
                  <a:pt x="11342370" y="0"/>
                </a:lnTo>
                <a:cubicBezTo>
                  <a:pt x="11384454" y="0"/>
                  <a:pt x="11418570" y="34116"/>
                  <a:pt x="11418570" y="76200"/>
                </a:cubicBezTo>
                <a:lnTo>
                  <a:pt x="11418570" y="769620"/>
                </a:lnTo>
                <a:cubicBezTo>
                  <a:pt x="11418570" y="811704"/>
                  <a:pt x="11384454" y="845820"/>
                  <a:pt x="11342370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3875" y="577188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8" name="Text 46"/>
          <p:cNvSpPr/>
          <p:nvPr/>
        </p:nvSpPr>
        <p:spPr>
          <a:xfrm>
            <a:off x="816767" y="5753782"/>
            <a:ext cx="1210985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Insight: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05695" y="6145530"/>
            <a:ext cx="10580609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limitations highlight the urgent need for a more intelligent retrieval system that combines semantic understanding with metadata awareness.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 — Classical Methods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Foundations of Information Retrieval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76350"/>
            <a:ext cx="3686175" cy="4133850"/>
          </a:xfrm>
          <a:custGeom>
            <a:avLst/>
            <a:gdLst/>
            <a:ahLst/>
            <a:cxnLst/>
            <a:rect l="l" t="t" r="r" b="b"/>
            <a:pathLst>
              <a:path w="3686175" h="4133850">
                <a:moveTo>
                  <a:pt x="0" y="0"/>
                </a:moveTo>
                <a:lnTo>
                  <a:pt x="3686175" y="0"/>
                </a:lnTo>
                <a:lnTo>
                  <a:pt x="3686175" y="4133850"/>
                </a:lnTo>
                <a:lnTo>
                  <a:pt x="0" y="4133850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763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485900"/>
            <a:ext cx="504825" cy="304800"/>
          </a:xfrm>
          <a:custGeom>
            <a:avLst/>
            <a:gdLst/>
            <a:ahLst/>
            <a:cxnLst/>
            <a:rect l="l" t="t" r="r" b="b"/>
            <a:pathLst>
              <a:path w="504825" h="304800">
                <a:moveTo>
                  <a:pt x="152400" y="0"/>
                </a:moveTo>
                <a:lnTo>
                  <a:pt x="352425" y="0"/>
                </a:lnTo>
                <a:cubicBezTo>
                  <a:pt x="436537" y="0"/>
                  <a:pt x="504825" y="68288"/>
                  <a:pt x="504825" y="152400"/>
                </a:cubicBezTo>
                <a:lnTo>
                  <a:pt x="504825" y="152400"/>
                </a:lnTo>
                <a:cubicBezTo>
                  <a:pt x="504825" y="236512"/>
                  <a:pt x="436537" y="304800"/>
                  <a:pt x="3524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46860"/>
            <a:ext cx="344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1975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1905000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Salton et al.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2479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 Space Model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7051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2628900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TF-IDF</a:t>
            </a: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based document representation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3048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2971800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Cosine similarity</a:t>
            </a: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relevance scoring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3390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3314700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High-dimensional sparse vectors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" y="4872990"/>
            <a:ext cx="3305175" cy="7620"/>
          </a:xfrm>
          <a:custGeom>
            <a:avLst/>
            <a:gdLst/>
            <a:ahLst/>
            <a:cxnLst/>
            <a:rect l="l" t="t" r="r" b="b"/>
            <a:pathLst>
              <a:path w="3305175" h="7620">
                <a:moveTo>
                  <a:pt x="0" y="0"/>
                </a:moveTo>
                <a:lnTo>
                  <a:pt x="3305175" y="0"/>
                </a:lnTo>
                <a:lnTo>
                  <a:pt x="33051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90550" y="505968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Text 16"/>
          <p:cNvSpPr/>
          <p:nvPr/>
        </p:nvSpPr>
        <p:spPr>
          <a:xfrm>
            <a:off x="800100" y="5029200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 of modern IR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54460" y="1276350"/>
            <a:ext cx="3686175" cy="4133850"/>
          </a:xfrm>
          <a:custGeom>
            <a:avLst/>
            <a:gdLst/>
            <a:ahLst/>
            <a:cxnLst/>
            <a:rect l="l" t="t" r="r" b="b"/>
            <a:pathLst>
              <a:path w="3686175" h="4133850">
                <a:moveTo>
                  <a:pt x="0" y="0"/>
                </a:moveTo>
                <a:lnTo>
                  <a:pt x="3686175" y="0"/>
                </a:lnTo>
                <a:lnTo>
                  <a:pt x="3686175" y="4133850"/>
                </a:lnTo>
                <a:lnTo>
                  <a:pt x="0" y="4133850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20" name="Shape 18"/>
          <p:cNvSpPr/>
          <p:nvPr/>
        </p:nvSpPr>
        <p:spPr>
          <a:xfrm>
            <a:off x="4254460" y="12763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1" name="Shape 19"/>
          <p:cNvSpPr/>
          <p:nvPr/>
        </p:nvSpPr>
        <p:spPr>
          <a:xfrm>
            <a:off x="4444960" y="1485900"/>
            <a:ext cx="552450" cy="304800"/>
          </a:xfrm>
          <a:custGeom>
            <a:avLst/>
            <a:gdLst/>
            <a:ahLst/>
            <a:cxnLst/>
            <a:rect l="l" t="t" r="r" b="b"/>
            <a:pathLst>
              <a:path w="552450" h="304800">
                <a:moveTo>
                  <a:pt x="152400" y="0"/>
                </a:moveTo>
                <a:lnTo>
                  <a:pt x="400050" y="0"/>
                </a:lnTo>
                <a:cubicBezTo>
                  <a:pt x="484162" y="0"/>
                  <a:pt x="552450" y="68288"/>
                  <a:pt x="552450" y="152400"/>
                </a:cubicBezTo>
                <a:lnTo>
                  <a:pt x="552450" y="152400"/>
                </a:lnTo>
                <a:cubicBezTo>
                  <a:pt x="552450" y="236512"/>
                  <a:pt x="484162" y="304800"/>
                  <a:pt x="4000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59260" y="1546860"/>
            <a:ext cx="3940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A5F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2009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44960" y="1905000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Robertson &amp; Zaragoza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44960" y="22479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 Algorithm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44960" y="27051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6" name="Text 24"/>
          <p:cNvSpPr/>
          <p:nvPr/>
        </p:nvSpPr>
        <p:spPr>
          <a:xfrm>
            <a:off x="4635460" y="2628900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Probabilistic ranking</a:t>
            </a: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framework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44960" y="3048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8" name="Text 26"/>
          <p:cNvSpPr/>
          <p:nvPr/>
        </p:nvSpPr>
        <p:spPr>
          <a:xfrm>
            <a:off x="4635460" y="297180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Handles </a:t>
            </a: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 saturation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44960" y="3390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30" name="Text 28"/>
          <p:cNvSpPr/>
          <p:nvPr/>
        </p:nvSpPr>
        <p:spPr>
          <a:xfrm>
            <a:off x="4635460" y="3314700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length normalization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44960" y="4872990"/>
            <a:ext cx="3305175" cy="7620"/>
          </a:xfrm>
          <a:custGeom>
            <a:avLst/>
            <a:gdLst/>
            <a:ahLst/>
            <a:cxnLst/>
            <a:rect l="l" t="t" r="r" b="b"/>
            <a:pathLst>
              <a:path w="3305175" h="7620">
                <a:moveTo>
                  <a:pt x="0" y="0"/>
                </a:moveTo>
                <a:lnTo>
                  <a:pt x="3305175" y="0"/>
                </a:lnTo>
                <a:lnTo>
                  <a:pt x="33051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464010" y="505968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33" name="Text 31"/>
          <p:cNvSpPr/>
          <p:nvPr/>
        </p:nvSpPr>
        <p:spPr>
          <a:xfrm>
            <a:off x="4673560" y="5029200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standard baseline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27921" y="1276350"/>
            <a:ext cx="3686175" cy="4133850"/>
          </a:xfrm>
          <a:custGeom>
            <a:avLst/>
            <a:gdLst/>
            <a:ahLst/>
            <a:cxnLst/>
            <a:rect l="l" t="t" r="r" b="b"/>
            <a:pathLst>
              <a:path w="3686175" h="4133850">
                <a:moveTo>
                  <a:pt x="0" y="0"/>
                </a:moveTo>
                <a:lnTo>
                  <a:pt x="3686175" y="0"/>
                </a:lnTo>
                <a:lnTo>
                  <a:pt x="3686175" y="4133850"/>
                </a:lnTo>
                <a:lnTo>
                  <a:pt x="0" y="4133850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35" name="Shape 33"/>
          <p:cNvSpPr/>
          <p:nvPr/>
        </p:nvSpPr>
        <p:spPr>
          <a:xfrm>
            <a:off x="8127921" y="12763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36" name="Shape 34"/>
          <p:cNvSpPr/>
          <p:nvPr/>
        </p:nvSpPr>
        <p:spPr>
          <a:xfrm>
            <a:off x="8318421" y="1485900"/>
            <a:ext cx="542925" cy="304800"/>
          </a:xfrm>
          <a:custGeom>
            <a:avLst/>
            <a:gdLst/>
            <a:ahLst/>
            <a:cxnLst/>
            <a:rect l="l" t="t" r="r" b="b"/>
            <a:pathLst>
              <a:path w="542925" h="304800">
                <a:moveTo>
                  <a:pt x="152400" y="0"/>
                </a:moveTo>
                <a:lnTo>
                  <a:pt x="390525" y="0"/>
                </a:lnTo>
                <a:cubicBezTo>
                  <a:pt x="474637" y="0"/>
                  <a:pt x="542925" y="68288"/>
                  <a:pt x="542925" y="152400"/>
                </a:cubicBezTo>
                <a:lnTo>
                  <a:pt x="542925" y="152400"/>
                </a:lnTo>
                <a:cubicBezTo>
                  <a:pt x="542925" y="236512"/>
                  <a:pt x="474637" y="304800"/>
                  <a:pt x="3905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432721" y="1546860"/>
            <a:ext cx="3826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18421" y="1905000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Metzler &amp; Croft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18421" y="22479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Multi-Feature Ranking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18421" y="27051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41" name="Text 39"/>
          <p:cNvSpPr/>
          <p:nvPr/>
        </p:nvSpPr>
        <p:spPr>
          <a:xfrm>
            <a:off x="8508921" y="2628900"/>
            <a:ext cx="183451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Combines multiple signals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18421" y="3048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43" name="Text 41"/>
          <p:cNvSpPr/>
          <p:nvPr/>
        </p:nvSpPr>
        <p:spPr>
          <a:xfrm>
            <a:off x="8508921" y="2971800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Query-dependent features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18421" y="3390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45" name="Text 43"/>
          <p:cNvSpPr/>
          <p:nvPr/>
        </p:nvSpPr>
        <p:spPr>
          <a:xfrm>
            <a:off x="8508921" y="33147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integration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18421" y="4872990"/>
            <a:ext cx="3305175" cy="7620"/>
          </a:xfrm>
          <a:custGeom>
            <a:avLst/>
            <a:gdLst/>
            <a:ahLst/>
            <a:cxnLst/>
            <a:rect l="l" t="t" r="r" b="b"/>
            <a:pathLst>
              <a:path w="3305175" h="7620">
                <a:moveTo>
                  <a:pt x="0" y="0"/>
                </a:moveTo>
                <a:lnTo>
                  <a:pt x="3305175" y="0"/>
                </a:lnTo>
                <a:lnTo>
                  <a:pt x="33051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5E7A8E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337471" y="505968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48" name="Text 46"/>
          <p:cNvSpPr/>
          <p:nvPr/>
        </p:nvSpPr>
        <p:spPr>
          <a:xfrm>
            <a:off x="8547021" y="5029200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Learning-to-rank precursor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00050" y="5600700"/>
            <a:ext cx="11410950" cy="876300"/>
          </a:xfrm>
          <a:custGeom>
            <a:avLst/>
            <a:gdLst/>
            <a:ahLst/>
            <a:cxnLst/>
            <a:rect l="l" t="t" r="r" b="b"/>
            <a:pathLst>
              <a:path w="11410950" h="876300">
                <a:moveTo>
                  <a:pt x="0" y="0"/>
                </a:moveTo>
                <a:lnTo>
                  <a:pt x="11410950" y="0"/>
                </a:lnTo>
                <a:lnTo>
                  <a:pt x="1141095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82181A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00050" y="56007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1" name="Shape 49"/>
          <p:cNvSpPr/>
          <p:nvPr/>
        </p:nvSpPr>
        <p:spPr>
          <a:xfrm>
            <a:off x="600075" y="5791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2" name="Text 50"/>
          <p:cNvSpPr/>
          <p:nvPr/>
        </p:nvSpPr>
        <p:spPr>
          <a:xfrm>
            <a:off x="1009650" y="5753100"/>
            <a:ext cx="894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Limitation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09650" y="6096000"/>
            <a:ext cx="893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classical methods rely on </a:t>
            </a: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lexical matching</a:t>
            </a: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completely ignore semantic meaning, context, and relationships between concepts.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842" y="349842"/>
            <a:ext cx="11553538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kern="0" spc="48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 — Modern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842" y="594732"/>
            <a:ext cx="11649745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9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Retrieval and AI-Based Systems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7334" y="1154479"/>
            <a:ext cx="7906433" cy="2763753"/>
          </a:xfrm>
          <a:custGeom>
            <a:avLst/>
            <a:gdLst/>
            <a:ahLst/>
            <a:cxnLst/>
            <a:rect l="l" t="t" r="r" b="b"/>
            <a:pathLst>
              <a:path w="7906433" h="2763753">
                <a:moveTo>
                  <a:pt x="0" y="0"/>
                </a:moveTo>
                <a:lnTo>
                  <a:pt x="7906433" y="0"/>
                </a:lnTo>
                <a:lnTo>
                  <a:pt x="7906433" y="2763753"/>
                </a:lnTo>
                <a:lnTo>
                  <a:pt x="0" y="2763753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5" name="Shape 3"/>
          <p:cNvSpPr/>
          <p:nvPr/>
        </p:nvSpPr>
        <p:spPr>
          <a:xfrm>
            <a:off x="367334" y="1154479"/>
            <a:ext cx="34984" cy="2763753"/>
          </a:xfrm>
          <a:custGeom>
            <a:avLst/>
            <a:gdLst/>
            <a:ahLst/>
            <a:cxnLst/>
            <a:rect l="l" t="t" r="r" b="b"/>
            <a:pathLst>
              <a:path w="34984" h="2763753">
                <a:moveTo>
                  <a:pt x="0" y="0"/>
                </a:moveTo>
                <a:lnTo>
                  <a:pt x="34984" y="0"/>
                </a:lnTo>
                <a:lnTo>
                  <a:pt x="34984" y="2763753"/>
                </a:lnTo>
                <a:lnTo>
                  <a:pt x="0" y="2763753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Shape 4"/>
          <p:cNvSpPr/>
          <p:nvPr/>
        </p:nvSpPr>
        <p:spPr>
          <a:xfrm>
            <a:off x="594732" y="1364385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104953" y="0"/>
                </a:moveTo>
                <a:lnTo>
                  <a:pt x="454795" y="0"/>
                </a:lnTo>
                <a:cubicBezTo>
                  <a:pt x="512720" y="0"/>
                  <a:pt x="559747" y="47028"/>
                  <a:pt x="559747" y="104953"/>
                </a:cubicBezTo>
                <a:lnTo>
                  <a:pt x="559747" y="454795"/>
                </a:lnTo>
                <a:cubicBezTo>
                  <a:pt x="559747" y="512720"/>
                  <a:pt x="512720" y="559747"/>
                  <a:pt x="454795" y="559747"/>
                </a:cubicBezTo>
                <a:lnTo>
                  <a:pt x="104953" y="559747"/>
                </a:lnTo>
                <a:cubicBezTo>
                  <a:pt x="47028" y="559747"/>
                  <a:pt x="0" y="512720"/>
                  <a:pt x="0" y="454795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9653" y="1539306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27017" y="93678"/>
                </a:moveTo>
                <a:cubicBezTo>
                  <a:pt x="32470" y="55551"/>
                  <a:pt x="65308" y="26238"/>
                  <a:pt x="104953" y="26238"/>
                </a:cubicBezTo>
                <a:cubicBezTo>
                  <a:pt x="126681" y="26238"/>
                  <a:pt x="146360" y="35053"/>
                  <a:pt x="160627" y="49279"/>
                </a:cubicBezTo>
                <a:cubicBezTo>
                  <a:pt x="160709" y="49361"/>
                  <a:pt x="160791" y="49443"/>
                  <a:pt x="160873" y="49525"/>
                </a:cubicBezTo>
                <a:lnTo>
                  <a:pt x="163989" y="52476"/>
                </a:lnTo>
                <a:lnTo>
                  <a:pt x="144351" y="52476"/>
                </a:lnTo>
                <a:cubicBezTo>
                  <a:pt x="137094" y="52476"/>
                  <a:pt x="131232" y="58339"/>
                  <a:pt x="131232" y="65595"/>
                </a:cubicBezTo>
                <a:cubicBezTo>
                  <a:pt x="131232" y="72852"/>
                  <a:pt x="137094" y="78714"/>
                  <a:pt x="144351" y="78714"/>
                </a:cubicBezTo>
                <a:lnTo>
                  <a:pt x="196827" y="78714"/>
                </a:lnTo>
                <a:cubicBezTo>
                  <a:pt x="204084" y="78714"/>
                  <a:pt x="209946" y="72852"/>
                  <a:pt x="209946" y="65595"/>
                </a:cubicBezTo>
                <a:lnTo>
                  <a:pt x="209946" y="13119"/>
                </a:lnTo>
                <a:cubicBezTo>
                  <a:pt x="209946" y="5863"/>
                  <a:pt x="204084" y="0"/>
                  <a:pt x="196827" y="0"/>
                </a:cubicBezTo>
                <a:cubicBezTo>
                  <a:pt x="189571" y="0"/>
                  <a:pt x="183708" y="5863"/>
                  <a:pt x="183708" y="13119"/>
                </a:cubicBezTo>
                <a:lnTo>
                  <a:pt x="183708" y="35012"/>
                </a:lnTo>
                <a:lnTo>
                  <a:pt x="179075" y="30625"/>
                </a:lnTo>
                <a:cubicBezTo>
                  <a:pt x="160094" y="11725"/>
                  <a:pt x="133856" y="0"/>
                  <a:pt x="104953" y="0"/>
                </a:cubicBezTo>
                <a:cubicBezTo>
                  <a:pt x="52066" y="0"/>
                  <a:pt x="8322" y="39111"/>
                  <a:pt x="1066" y="89989"/>
                </a:cubicBezTo>
                <a:cubicBezTo>
                  <a:pt x="41" y="97163"/>
                  <a:pt x="5002" y="103805"/>
                  <a:pt x="12176" y="104830"/>
                </a:cubicBezTo>
                <a:cubicBezTo>
                  <a:pt x="19351" y="105855"/>
                  <a:pt x="25992" y="100853"/>
                  <a:pt x="27017" y="93719"/>
                </a:cubicBezTo>
                <a:close/>
                <a:moveTo>
                  <a:pt x="208839" y="119917"/>
                </a:moveTo>
                <a:cubicBezTo>
                  <a:pt x="209864" y="112742"/>
                  <a:pt x="204863" y="106101"/>
                  <a:pt x="197729" y="105076"/>
                </a:cubicBezTo>
                <a:cubicBezTo>
                  <a:pt x="190596" y="104051"/>
                  <a:pt x="183913" y="109052"/>
                  <a:pt x="182888" y="116186"/>
                </a:cubicBezTo>
                <a:cubicBezTo>
                  <a:pt x="177436" y="154313"/>
                  <a:pt x="144597" y="183626"/>
                  <a:pt x="104953" y="183626"/>
                </a:cubicBezTo>
                <a:cubicBezTo>
                  <a:pt x="83224" y="183626"/>
                  <a:pt x="63546" y="174812"/>
                  <a:pt x="49279" y="160586"/>
                </a:cubicBezTo>
                <a:cubicBezTo>
                  <a:pt x="49197" y="160504"/>
                  <a:pt x="49115" y="160422"/>
                  <a:pt x="49033" y="160340"/>
                </a:cubicBezTo>
                <a:lnTo>
                  <a:pt x="45917" y="157388"/>
                </a:lnTo>
                <a:lnTo>
                  <a:pt x="65554" y="157388"/>
                </a:lnTo>
                <a:cubicBezTo>
                  <a:pt x="72811" y="157388"/>
                  <a:pt x="78673" y="151525"/>
                  <a:pt x="78673" y="144269"/>
                </a:cubicBezTo>
                <a:cubicBezTo>
                  <a:pt x="78673" y="137012"/>
                  <a:pt x="72811" y="131150"/>
                  <a:pt x="65554" y="131150"/>
                </a:cubicBezTo>
                <a:lnTo>
                  <a:pt x="13119" y="131191"/>
                </a:lnTo>
                <a:cubicBezTo>
                  <a:pt x="9634" y="131191"/>
                  <a:pt x="6273" y="132585"/>
                  <a:pt x="3813" y="135086"/>
                </a:cubicBezTo>
                <a:cubicBezTo>
                  <a:pt x="1353" y="137586"/>
                  <a:pt x="-41" y="140907"/>
                  <a:pt x="0" y="144433"/>
                </a:cubicBezTo>
                <a:lnTo>
                  <a:pt x="410" y="196499"/>
                </a:lnTo>
                <a:cubicBezTo>
                  <a:pt x="451" y="203756"/>
                  <a:pt x="6396" y="209577"/>
                  <a:pt x="13652" y="209495"/>
                </a:cubicBezTo>
                <a:cubicBezTo>
                  <a:pt x="20909" y="209413"/>
                  <a:pt x="26730" y="203510"/>
                  <a:pt x="26648" y="196253"/>
                </a:cubicBezTo>
                <a:lnTo>
                  <a:pt x="26484" y="175140"/>
                </a:lnTo>
                <a:lnTo>
                  <a:pt x="30871" y="179280"/>
                </a:lnTo>
                <a:cubicBezTo>
                  <a:pt x="49853" y="198180"/>
                  <a:pt x="76050" y="209905"/>
                  <a:pt x="104953" y="209905"/>
                </a:cubicBezTo>
                <a:cubicBezTo>
                  <a:pt x="157839" y="209905"/>
                  <a:pt x="201583" y="170794"/>
                  <a:pt x="208839" y="11991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Shape 6"/>
          <p:cNvSpPr/>
          <p:nvPr/>
        </p:nvSpPr>
        <p:spPr>
          <a:xfrm>
            <a:off x="1329400" y="1364385"/>
            <a:ext cx="481033" cy="279874"/>
          </a:xfrm>
          <a:custGeom>
            <a:avLst/>
            <a:gdLst/>
            <a:ahLst/>
            <a:cxnLst/>
            <a:rect l="l" t="t" r="r" b="b"/>
            <a:pathLst>
              <a:path w="481033" h="279874">
                <a:moveTo>
                  <a:pt x="139937" y="0"/>
                </a:moveTo>
                <a:lnTo>
                  <a:pt x="341096" y="0"/>
                </a:lnTo>
                <a:cubicBezTo>
                  <a:pt x="418381" y="0"/>
                  <a:pt x="481033" y="62652"/>
                  <a:pt x="481033" y="139937"/>
                </a:cubicBezTo>
                <a:lnTo>
                  <a:pt x="481033" y="139937"/>
                </a:lnTo>
                <a:cubicBezTo>
                  <a:pt x="481033" y="217222"/>
                  <a:pt x="418381" y="279874"/>
                  <a:pt x="341096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434353" y="1420361"/>
            <a:ext cx="332787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9400" y="1714227"/>
            <a:ext cx="2378927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Johnson et al.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9400" y="1993992"/>
            <a:ext cx="2343943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FAISS: Facebook AI Similarity Search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732" y="2413802"/>
            <a:ext cx="69968" cy="69968"/>
          </a:xfrm>
          <a:custGeom>
            <a:avLst/>
            <a:gdLst/>
            <a:ahLst/>
            <a:cxnLst/>
            <a:rect l="l" t="t" r="r" b="b"/>
            <a:pathLst>
              <a:path w="69968" h="69968">
                <a:moveTo>
                  <a:pt x="34984" y="0"/>
                </a:moveTo>
                <a:lnTo>
                  <a:pt x="34984" y="0"/>
                </a:lnTo>
                <a:cubicBezTo>
                  <a:pt x="54293" y="0"/>
                  <a:pt x="69968" y="15676"/>
                  <a:pt x="69968" y="34984"/>
                </a:cubicBezTo>
                <a:lnTo>
                  <a:pt x="69968" y="34984"/>
                </a:lnTo>
                <a:cubicBezTo>
                  <a:pt x="69968" y="54293"/>
                  <a:pt x="54293" y="69968"/>
                  <a:pt x="34984" y="69968"/>
                </a:cubicBezTo>
                <a:lnTo>
                  <a:pt x="34984" y="69968"/>
                </a:lnTo>
                <a:cubicBezTo>
                  <a:pt x="15676" y="69968"/>
                  <a:pt x="0" y="54293"/>
                  <a:pt x="0" y="34984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1"/>
          <p:cNvSpPr/>
          <p:nvPr/>
        </p:nvSpPr>
        <p:spPr>
          <a:xfrm>
            <a:off x="769653" y="2343834"/>
            <a:ext cx="2413911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vector similarity search</a:t>
            </a:r>
            <a:r>
              <a:rPr lang="en-US" sz="1102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at scale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732" y="2728660"/>
            <a:ext cx="69968" cy="69968"/>
          </a:xfrm>
          <a:custGeom>
            <a:avLst/>
            <a:gdLst/>
            <a:ahLst/>
            <a:cxnLst/>
            <a:rect l="l" t="t" r="r" b="b"/>
            <a:pathLst>
              <a:path w="69968" h="69968">
                <a:moveTo>
                  <a:pt x="34984" y="0"/>
                </a:moveTo>
                <a:lnTo>
                  <a:pt x="34984" y="0"/>
                </a:lnTo>
                <a:cubicBezTo>
                  <a:pt x="54293" y="0"/>
                  <a:pt x="69968" y="15676"/>
                  <a:pt x="69968" y="34984"/>
                </a:cubicBezTo>
                <a:lnTo>
                  <a:pt x="69968" y="34984"/>
                </a:lnTo>
                <a:cubicBezTo>
                  <a:pt x="69968" y="54293"/>
                  <a:pt x="54293" y="69968"/>
                  <a:pt x="34984" y="69968"/>
                </a:cubicBezTo>
                <a:lnTo>
                  <a:pt x="34984" y="69968"/>
                </a:lnTo>
                <a:cubicBezTo>
                  <a:pt x="15676" y="69968"/>
                  <a:pt x="0" y="54293"/>
                  <a:pt x="0" y="34984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769653" y="2676184"/>
            <a:ext cx="3052373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Captures </a:t>
            </a:r>
            <a:r>
              <a:rPr lang="en-US" sz="1102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relationships</a:t>
            </a:r>
            <a:r>
              <a:rPr lang="en-US" sz="1102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via embeddings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732" y="3043518"/>
            <a:ext cx="69968" cy="69968"/>
          </a:xfrm>
          <a:custGeom>
            <a:avLst/>
            <a:gdLst/>
            <a:ahLst/>
            <a:cxnLst/>
            <a:rect l="l" t="t" r="r" b="b"/>
            <a:pathLst>
              <a:path w="69968" h="69968">
                <a:moveTo>
                  <a:pt x="34984" y="0"/>
                </a:moveTo>
                <a:lnTo>
                  <a:pt x="34984" y="0"/>
                </a:lnTo>
                <a:cubicBezTo>
                  <a:pt x="54293" y="0"/>
                  <a:pt x="69968" y="15676"/>
                  <a:pt x="69968" y="34984"/>
                </a:cubicBezTo>
                <a:lnTo>
                  <a:pt x="69968" y="34984"/>
                </a:lnTo>
                <a:cubicBezTo>
                  <a:pt x="69968" y="54293"/>
                  <a:pt x="54293" y="69968"/>
                  <a:pt x="34984" y="69968"/>
                </a:cubicBezTo>
                <a:lnTo>
                  <a:pt x="34984" y="69968"/>
                </a:lnTo>
                <a:cubicBezTo>
                  <a:pt x="15676" y="69968"/>
                  <a:pt x="0" y="54293"/>
                  <a:pt x="0" y="34984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769653" y="2973550"/>
            <a:ext cx="3157326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Approximate nearest neighbor (ANN) optimization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732" y="3323392"/>
            <a:ext cx="7469131" cy="384826"/>
          </a:xfrm>
          <a:custGeom>
            <a:avLst/>
            <a:gdLst/>
            <a:ahLst/>
            <a:cxnLst/>
            <a:rect l="l" t="t" r="r" b="b"/>
            <a:pathLst>
              <a:path w="7469131" h="384826">
                <a:moveTo>
                  <a:pt x="69969" y="0"/>
                </a:moveTo>
                <a:lnTo>
                  <a:pt x="7399161" y="0"/>
                </a:lnTo>
                <a:cubicBezTo>
                  <a:pt x="7437804" y="0"/>
                  <a:pt x="7469131" y="31326"/>
                  <a:pt x="7469131" y="69969"/>
                </a:cubicBezTo>
                <a:lnTo>
                  <a:pt x="7469131" y="314857"/>
                </a:lnTo>
                <a:cubicBezTo>
                  <a:pt x="7469131" y="353500"/>
                  <a:pt x="7437804" y="384826"/>
                  <a:pt x="7399161" y="384826"/>
                </a:cubicBezTo>
                <a:lnTo>
                  <a:pt x="69969" y="384826"/>
                </a:lnTo>
                <a:cubicBezTo>
                  <a:pt x="31352" y="384826"/>
                  <a:pt x="0" y="353474"/>
                  <a:pt x="0" y="314857"/>
                </a:cubicBezTo>
                <a:lnTo>
                  <a:pt x="0" y="69969"/>
                </a:lnTo>
                <a:cubicBezTo>
                  <a:pt x="0" y="31352"/>
                  <a:pt x="31352" y="0"/>
                  <a:pt x="6996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Shape 17"/>
          <p:cNvSpPr/>
          <p:nvPr/>
        </p:nvSpPr>
        <p:spPr>
          <a:xfrm>
            <a:off x="709524" y="3456331"/>
            <a:ext cx="137750" cy="122445"/>
          </a:xfrm>
          <a:custGeom>
            <a:avLst/>
            <a:gdLst/>
            <a:ahLst/>
            <a:cxnLst/>
            <a:rect l="l" t="t" r="r" b="b"/>
            <a:pathLst>
              <a:path w="137750" h="122445">
                <a:moveTo>
                  <a:pt x="74017" y="-4520"/>
                </a:moveTo>
                <a:cubicBezTo>
                  <a:pt x="73036" y="-6433"/>
                  <a:pt x="71051" y="-7653"/>
                  <a:pt x="68899" y="-7653"/>
                </a:cubicBezTo>
                <a:cubicBezTo>
                  <a:pt x="66747" y="-7653"/>
                  <a:pt x="64762" y="-6433"/>
                  <a:pt x="63781" y="-4520"/>
                </a:cubicBezTo>
                <a:lnTo>
                  <a:pt x="46180" y="29965"/>
                </a:lnTo>
                <a:lnTo>
                  <a:pt x="7940" y="36040"/>
                </a:lnTo>
                <a:cubicBezTo>
                  <a:pt x="5811" y="36375"/>
                  <a:pt x="4042" y="37881"/>
                  <a:pt x="3372" y="39938"/>
                </a:cubicBezTo>
                <a:cubicBezTo>
                  <a:pt x="2702" y="41995"/>
                  <a:pt x="3252" y="44243"/>
                  <a:pt x="4759" y="45773"/>
                </a:cubicBezTo>
                <a:lnTo>
                  <a:pt x="32118" y="73156"/>
                </a:lnTo>
                <a:lnTo>
                  <a:pt x="26091" y="111396"/>
                </a:lnTo>
                <a:cubicBezTo>
                  <a:pt x="25756" y="113524"/>
                  <a:pt x="26641" y="115677"/>
                  <a:pt x="28387" y="116944"/>
                </a:cubicBezTo>
                <a:cubicBezTo>
                  <a:pt x="30133" y="118212"/>
                  <a:pt x="32429" y="118403"/>
                  <a:pt x="34366" y="117423"/>
                </a:cubicBezTo>
                <a:lnTo>
                  <a:pt x="68899" y="99869"/>
                </a:lnTo>
                <a:lnTo>
                  <a:pt x="103408" y="117423"/>
                </a:lnTo>
                <a:cubicBezTo>
                  <a:pt x="105322" y="118403"/>
                  <a:pt x="107641" y="118212"/>
                  <a:pt x="109387" y="116944"/>
                </a:cubicBezTo>
                <a:cubicBezTo>
                  <a:pt x="111133" y="115677"/>
                  <a:pt x="112018" y="113548"/>
                  <a:pt x="111683" y="111396"/>
                </a:cubicBezTo>
                <a:lnTo>
                  <a:pt x="105633" y="73156"/>
                </a:lnTo>
                <a:lnTo>
                  <a:pt x="132991" y="45773"/>
                </a:lnTo>
                <a:cubicBezTo>
                  <a:pt x="134522" y="44243"/>
                  <a:pt x="135048" y="41995"/>
                  <a:pt x="134378" y="39938"/>
                </a:cubicBezTo>
                <a:cubicBezTo>
                  <a:pt x="133709" y="37881"/>
                  <a:pt x="131963" y="36375"/>
                  <a:pt x="129811" y="36040"/>
                </a:cubicBezTo>
                <a:lnTo>
                  <a:pt x="91594" y="29965"/>
                </a:lnTo>
                <a:lnTo>
                  <a:pt x="74017" y="-452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98" y="3428344"/>
            <a:ext cx="7114834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Enables semantic search in milliseconds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7334" y="4093045"/>
            <a:ext cx="7906433" cy="2763753"/>
          </a:xfrm>
          <a:custGeom>
            <a:avLst/>
            <a:gdLst/>
            <a:ahLst/>
            <a:cxnLst/>
            <a:rect l="l" t="t" r="r" b="b"/>
            <a:pathLst>
              <a:path w="7906433" h="2763753">
                <a:moveTo>
                  <a:pt x="0" y="0"/>
                </a:moveTo>
                <a:lnTo>
                  <a:pt x="7906433" y="0"/>
                </a:lnTo>
                <a:lnTo>
                  <a:pt x="7906433" y="2763753"/>
                </a:lnTo>
                <a:lnTo>
                  <a:pt x="0" y="2763753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22" name="Shape 20"/>
          <p:cNvSpPr/>
          <p:nvPr/>
        </p:nvSpPr>
        <p:spPr>
          <a:xfrm>
            <a:off x="367334" y="4093045"/>
            <a:ext cx="34984" cy="2763753"/>
          </a:xfrm>
          <a:custGeom>
            <a:avLst/>
            <a:gdLst/>
            <a:ahLst/>
            <a:cxnLst/>
            <a:rect l="l" t="t" r="r" b="b"/>
            <a:pathLst>
              <a:path w="34984" h="2763753">
                <a:moveTo>
                  <a:pt x="0" y="0"/>
                </a:moveTo>
                <a:lnTo>
                  <a:pt x="34984" y="0"/>
                </a:lnTo>
                <a:lnTo>
                  <a:pt x="34984" y="2763753"/>
                </a:lnTo>
                <a:lnTo>
                  <a:pt x="0" y="2763753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32" y="4302950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104953" y="0"/>
                </a:moveTo>
                <a:lnTo>
                  <a:pt x="454795" y="0"/>
                </a:lnTo>
                <a:cubicBezTo>
                  <a:pt x="512720" y="0"/>
                  <a:pt x="559747" y="47028"/>
                  <a:pt x="559747" y="104953"/>
                </a:cubicBezTo>
                <a:lnTo>
                  <a:pt x="559747" y="454795"/>
                </a:lnTo>
                <a:cubicBezTo>
                  <a:pt x="559747" y="512720"/>
                  <a:pt x="512720" y="559747"/>
                  <a:pt x="454795" y="559747"/>
                </a:cubicBezTo>
                <a:lnTo>
                  <a:pt x="104953" y="559747"/>
                </a:lnTo>
                <a:cubicBezTo>
                  <a:pt x="47028" y="559747"/>
                  <a:pt x="0" y="512720"/>
                  <a:pt x="0" y="454795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69653" y="4477871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49197" y="22958"/>
                </a:moveTo>
                <a:cubicBezTo>
                  <a:pt x="49197" y="10290"/>
                  <a:pt x="59487" y="0"/>
                  <a:pt x="72155" y="0"/>
                </a:cubicBezTo>
                <a:lnTo>
                  <a:pt x="81994" y="0"/>
                </a:lnTo>
                <a:cubicBezTo>
                  <a:pt x="89251" y="0"/>
                  <a:pt x="95113" y="5863"/>
                  <a:pt x="95113" y="13119"/>
                </a:cubicBezTo>
                <a:lnTo>
                  <a:pt x="95113" y="196786"/>
                </a:lnTo>
                <a:cubicBezTo>
                  <a:pt x="95113" y="204043"/>
                  <a:pt x="89251" y="209905"/>
                  <a:pt x="81994" y="209905"/>
                </a:cubicBezTo>
                <a:lnTo>
                  <a:pt x="68875" y="209905"/>
                </a:lnTo>
                <a:cubicBezTo>
                  <a:pt x="56658" y="209905"/>
                  <a:pt x="46368" y="201542"/>
                  <a:pt x="43457" y="190227"/>
                </a:cubicBezTo>
                <a:cubicBezTo>
                  <a:pt x="43170" y="190227"/>
                  <a:pt x="42924" y="190227"/>
                  <a:pt x="42637" y="190227"/>
                </a:cubicBezTo>
                <a:cubicBezTo>
                  <a:pt x="24516" y="190227"/>
                  <a:pt x="9839" y="175550"/>
                  <a:pt x="9839" y="157429"/>
                </a:cubicBezTo>
                <a:cubicBezTo>
                  <a:pt x="9839" y="150049"/>
                  <a:pt x="12299" y="143244"/>
                  <a:pt x="16399" y="137750"/>
                </a:cubicBezTo>
                <a:cubicBezTo>
                  <a:pt x="8445" y="131765"/>
                  <a:pt x="3280" y="122253"/>
                  <a:pt x="3280" y="111512"/>
                </a:cubicBezTo>
                <a:cubicBezTo>
                  <a:pt x="3280" y="98844"/>
                  <a:pt x="10495" y="87816"/>
                  <a:pt x="20991" y="82363"/>
                </a:cubicBezTo>
                <a:cubicBezTo>
                  <a:pt x="18080" y="77444"/>
                  <a:pt x="16399" y="71704"/>
                  <a:pt x="16399" y="65595"/>
                </a:cubicBezTo>
                <a:cubicBezTo>
                  <a:pt x="16399" y="47475"/>
                  <a:pt x="31076" y="32798"/>
                  <a:pt x="49197" y="32798"/>
                </a:cubicBezTo>
                <a:lnTo>
                  <a:pt x="49197" y="22958"/>
                </a:lnTo>
                <a:close/>
                <a:moveTo>
                  <a:pt x="160709" y="22958"/>
                </a:moveTo>
                <a:lnTo>
                  <a:pt x="160709" y="32798"/>
                </a:lnTo>
                <a:cubicBezTo>
                  <a:pt x="178829" y="32798"/>
                  <a:pt x="193506" y="47475"/>
                  <a:pt x="193506" y="65595"/>
                </a:cubicBezTo>
                <a:cubicBezTo>
                  <a:pt x="193506" y="71745"/>
                  <a:pt x="191826" y="77485"/>
                  <a:pt x="188915" y="82363"/>
                </a:cubicBezTo>
                <a:cubicBezTo>
                  <a:pt x="199451" y="87816"/>
                  <a:pt x="206626" y="98803"/>
                  <a:pt x="206626" y="111512"/>
                </a:cubicBezTo>
                <a:cubicBezTo>
                  <a:pt x="206626" y="122253"/>
                  <a:pt x="201460" y="131765"/>
                  <a:pt x="193506" y="137750"/>
                </a:cubicBezTo>
                <a:cubicBezTo>
                  <a:pt x="197606" y="143244"/>
                  <a:pt x="200066" y="150049"/>
                  <a:pt x="200066" y="157429"/>
                </a:cubicBezTo>
                <a:cubicBezTo>
                  <a:pt x="200066" y="175550"/>
                  <a:pt x="185389" y="190227"/>
                  <a:pt x="167268" y="190227"/>
                </a:cubicBezTo>
                <a:cubicBezTo>
                  <a:pt x="166981" y="190227"/>
                  <a:pt x="166735" y="190227"/>
                  <a:pt x="166448" y="190227"/>
                </a:cubicBezTo>
                <a:cubicBezTo>
                  <a:pt x="163538" y="201542"/>
                  <a:pt x="153247" y="209905"/>
                  <a:pt x="141030" y="209905"/>
                </a:cubicBezTo>
                <a:lnTo>
                  <a:pt x="127911" y="209905"/>
                </a:lnTo>
                <a:cubicBezTo>
                  <a:pt x="120655" y="209905"/>
                  <a:pt x="114792" y="204043"/>
                  <a:pt x="114792" y="196786"/>
                </a:cubicBezTo>
                <a:lnTo>
                  <a:pt x="114792" y="13119"/>
                </a:lnTo>
                <a:cubicBezTo>
                  <a:pt x="114792" y="5863"/>
                  <a:pt x="120655" y="0"/>
                  <a:pt x="127911" y="0"/>
                </a:cubicBezTo>
                <a:lnTo>
                  <a:pt x="137750" y="0"/>
                </a:lnTo>
                <a:cubicBezTo>
                  <a:pt x="150418" y="0"/>
                  <a:pt x="160709" y="10290"/>
                  <a:pt x="160709" y="22958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9400" y="4302950"/>
            <a:ext cx="507271" cy="279874"/>
          </a:xfrm>
          <a:custGeom>
            <a:avLst/>
            <a:gdLst/>
            <a:ahLst/>
            <a:cxnLst/>
            <a:rect l="l" t="t" r="r" b="b"/>
            <a:pathLst>
              <a:path w="507271" h="279874">
                <a:moveTo>
                  <a:pt x="139937" y="0"/>
                </a:moveTo>
                <a:lnTo>
                  <a:pt x="367334" y="0"/>
                </a:lnTo>
                <a:cubicBezTo>
                  <a:pt x="444619" y="0"/>
                  <a:pt x="507271" y="62652"/>
                  <a:pt x="507271" y="139937"/>
                </a:cubicBezTo>
                <a:lnTo>
                  <a:pt x="507271" y="139937"/>
                </a:lnTo>
                <a:cubicBezTo>
                  <a:pt x="507271" y="217222"/>
                  <a:pt x="444619" y="279874"/>
                  <a:pt x="367334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434353" y="4358924"/>
            <a:ext cx="359791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3A5F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9400" y="4652792"/>
            <a:ext cx="2466387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Lewis et al.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9400" y="4932557"/>
            <a:ext cx="2431403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RAG: Retrieval-Augmented Generation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4732" y="5352368"/>
            <a:ext cx="69968" cy="69968"/>
          </a:xfrm>
          <a:custGeom>
            <a:avLst/>
            <a:gdLst/>
            <a:ahLst/>
            <a:cxnLst/>
            <a:rect l="l" t="t" r="r" b="b"/>
            <a:pathLst>
              <a:path w="69968" h="69968">
                <a:moveTo>
                  <a:pt x="34984" y="0"/>
                </a:moveTo>
                <a:lnTo>
                  <a:pt x="34984" y="0"/>
                </a:lnTo>
                <a:cubicBezTo>
                  <a:pt x="54293" y="0"/>
                  <a:pt x="69968" y="15676"/>
                  <a:pt x="69968" y="34984"/>
                </a:cubicBezTo>
                <a:lnTo>
                  <a:pt x="69968" y="34984"/>
                </a:lnTo>
                <a:cubicBezTo>
                  <a:pt x="69968" y="54293"/>
                  <a:pt x="54293" y="69968"/>
                  <a:pt x="34984" y="69968"/>
                </a:cubicBezTo>
                <a:lnTo>
                  <a:pt x="34984" y="69968"/>
                </a:lnTo>
                <a:cubicBezTo>
                  <a:pt x="15676" y="69968"/>
                  <a:pt x="0" y="54293"/>
                  <a:pt x="0" y="34984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30" name="Text 28"/>
          <p:cNvSpPr/>
          <p:nvPr/>
        </p:nvSpPr>
        <p:spPr>
          <a:xfrm>
            <a:off x="769653" y="5282399"/>
            <a:ext cx="2023072" cy="2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Combines retrieval + generation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4732" y="5667226"/>
            <a:ext cx="69968" cy="69968"/>
          </a:xfrm>
          <a:custGeom>
            <a:avLst/>
            <a:gdLst/>
            <a:ahLst/>
            <a:cxnLst/>
            <a:rect l="l" t="t" r="r" b="b"/>
            <a:pathLst>
              <a:path w="69968" h="69968">
                <a:moveTo>
                  <a:pt x="34984" y="0"/>
                </a:moveTo>
                <a:lnTo>
                  <a:pt x="34984" y="0"/>
                </a:lnTo>
                <a:cubicBezTo>
                  <a:pt x="54293" y="0"/>
                  <a:pt x="69968" y="15676"/>
                  <a:pt x="69968" y="34984"/>
                </a:cubicBezTo>
                <a:lnTo>
                  <a:pt x="69968" y="34984"/>
                </a:lnTo>
                <a:cubicBezTo>
                  <a:pt x="69968" y="54293"/>
                  <a:pt x="54293" y="69968"/>
                  <a:pt x="34984" y="69968"/>
                </a:cubicBezTo>
                <a:lnTo>
                  <a:pt x="34984" y="69968"/>
                </a:lnTo>
                <a:cubicBezTo>
                  <a:pt x="15676" y="69968"/>
                  <a:pt x="0" y="54293"/>
                  <a:pt x="0" y="34984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32" name="Text 30"/>
          <p:cNvSpPr/>
          <p:nvPr/>
        </p:nvSpPr>
        <p:spPr>
          <a:xfrm>
            <a:off x="769653" y="5597257"/>
            <a:ext cx="2247736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Produces </a:t>
            </a:r>
            <a:r>
              <a:rPr lang="en-US" sz="1102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context-aware responses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4732" y="5982083"/>
            <a:ext cx="69968" cy="69968"/>
          </a:xfrm>
          <a:custGeom>
            <a:avLst/>
            <a:gdLst/>
            <a:ahLst/>
            <a:cxnLst/>
            <a:rect l="l" t="t" r="r" b="b"/>
            <a:pathLst>
              <a:path w="69968" h="69968">
                <a:moveTo>
                  <a:pt x="34984" y="0"/>
                </a:moveTo>
                <a:lnTo>
                  <a:pt x="34984" y="0"/>
                </a:lnTo>
                <a:cubicBezTo>
                  <a:pt x="54293" y="0"/>
                  <a:pt x="69968" y="15676"/>
                  <a:pt x="69968" y="34984"/>
                </a:cubicBezTo>
                <a:lnTo>
                  <a:pt x="69968" y="34984"/>
                </a:lnTo>
                <a:cubicBezTo>
                  <a:pt x="69968" y="54293"/>
                  <a:pt x="54293" y="69968"/>
                  <a:pt x="34984" y="69968"/>
                </a:cubicBezTo>
                <a:lnTo>
                  <a:pt x="34984" y="69968"/>
                </a:lnTo>
                <a:cubicBezTo>
                  <a:pt x="15676" y="69968"/>
                  <a:pt x="0" y="54293"/>
                  <a:pt x="0" y="34984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34" name="Text 32"/>
          <p:cNvSpPr/>
          <p:nvPr/>
        </p:nvSpPr>
        <p:spPr>
          <a:xfrm>
            <a:off x="769653" y="5912115"/>
            <a:ext cx="3078611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LLM hallucination via grounded retrieval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4732" y="6261957"/>
            <a:ext cx="7469131" cy="384826"/>
          </a:xfrm>
          <a:custGeom>
            <a:avLst/>
            <a:gdLst/>
            <a:ahLst/>
            <a:cxnLst/>
            <a:rect l="l" t="t" r="r" b="b"/>
            <a:pathLst>
              <a:path w="7469131" h="384826">
                <a:moveTo>
                  <a:pt x="69969" y="0"/>
                </a:moveTo>
                <a:lnTo>
                  <a:pt x="7399161" y="0"/>
                </a:lnTo>
                <a:cubicBezTo>
                  <a:pt x="7437804" y="0"/>
                  <a:pt x="7469131" y="31326"/>
                  <a:pt x="7469131" y="69969"/>
                </a:cubicBezTo>
                <a:lnTo>
                  <a:pt x="7469131" y="314857"/>
                </a:lnTo>
                <a:cubicBezTo>
                  <a:pt x="7469131" y="353500"/>
                  <a:pt x="7437804" y="384826"/>
                  <a:pt x="7399161" y="384826"/>
                </a:cubicBezTo>
                <a:lnTo>
                  <a:pt x="69969" y="384826"/>
                </a:lnTo>
                <a:cubicBezTo>
                  <a:pt x="31352" y="384826"/>
                  <a:pt x="0" y="353474"/>
                  <a:pt x="0" y="314857"/>
                </a:cubicBezTo>
                <a:lnTo>
                  <a:pt x="0" y="69969"/>
                </a:lnTo>
                <a:cubicBezTo>
                  <a:pt x="0" y="31352"/>
                  <a:pt x="31352" y="0"/>
                  <a:pt x="6996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6" name="Shape 34"/>
          <p:cNvSpPr/>
          <p:nvPr/>
        </p:nvSpPr>
        <p:spPr>
          <a:xfrm>
            <a:off x="709524" y="6394897"/>
            <a:ext cx="137750" cy="122445"/>
          </a:xfrm>
          <a:custGeom>
            <a:avLst/>
            <a:gdLst/>
            <a:ahLst/>
            <a:cxnLst/>
            <a:rect l="l" t="t" r="r" b="b"/>
            <a:pathLst>
              <a:path w="137750" h="122445">
                <a:moveTo>
                  <a:pt x="74017" y="-4520"/>
                </a:moveTo>
                <a:cubicBezTo>
                  <a:pt x="73036" y="-6433"/>
                  <a:pt x="71051" y="-7653"/>
                  <a:pt x="68899" y="-7653"/>
                </a:cubicBezTo>
                <a:cubicBezTo>
                  <a:pt x="66747" y="-7653"/>
                  <a:pt x="64762" y="-6433"/>
                  <a:pt x="63781" y="-4520"/>
                </a:cubicBezTo>
                <a:lnTo>
                  <a:pt x="46180" y="29965"/>
                </a:lnTo>
                <a:lnTo>
                  <a:pt x="7940" y="36040"/>
                </a:lnTo>
                <a:cubicBezTo>
                  <a:pt x="5811" y="36375"/>
                  <a:pt x="4042" y="37881"/>
                  <a:pt x="3372" y="39938"/>
                </a:cubicBezTo>
                <a:cubicBezTo>
                  <a:pt x="2702" y="41995"/>
                  <a:pt x="3252" y="44243"/>
                  <a:pt x="4759" y="45773"/>
                </a:cubicBezTo>
                <a:lnTo>
                  <a:pt x="32118" y="73156"/>
                </a:lnTo>
                <a:lnTo>
                  <a:pt x="26091" y="111396"/>
                </a:lnTo>
                <a:cubicBezTo>
                  <a:pt x="25756" y="113524"/>
                  <a:pt x="26641" y="115677"/>
                  <a:pt x="28387" y="116944"/>
                </a:cubicBezTo>
                <a:cubicBezTo>
                  <a:pt x="30133" y="118212"/>
                  <a:pt x="32429" y="118403"/>
                  <a:pt x="34366" y="117423"/>
                </a:cubicBezTo>
                <a:lnTo>
                  <a:pt x="68899" y="99869"/>
                </a:lnTo>
                <a:lnTo>
                  <a:pt x="103408" y="117423"/>
                </a:lnTo>
                <a:cubicBezTo>
                  <a:pt x="105322" y="118403"/>
                  <a:pt x="107641" y="118212"/>
                  <a:pt x="109387" y="116944"/>
                </a:cubicBezTo>
                <a:cubicBezTo>
                  <a:pt x="111133" y="115677"/>
                  <a:pt x="112018" y="113548"/>
                  <a:pt x="111683" y="111396"/>
                </a:cubicBezTo>
                <a:lnTo>
                  <a:pt x="105633" y="73156"/>
                </a:lnTo>
                <a:lnTo>
                  <a:pt x="132991" y="45773"/>
                </a:lnTo>
                <a:cubicBezTo>
                  <a:pt x="134522" y="44243"/>
                  <a:pt x="135048" y="41995"/>
                  <a:pt x="134378" y="39938"/>
                </a:cubicBezTo>
                <a:cubicBezTo>
                  <a:pt x="133709" y="37881"/>
                  <a:pt x="131963" y="36375"/>
                  <a:pt x="129811" y="36040"/>
                </a:cubicBezTo>
                <a:lnTo>
                  <a:pt x="91594" y="29965"/>
                </a:lnTo>
                <a:lnTo>
                  <a:pt x="74017" y="-452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37" name="Text 35"/>
          <p:cNvSpPr/>
          <p:nvPr/>
        </p:nvSpPr>
        <p:spPr>
          <a:xfrm>
            <a:off x="905298" y="6366910"/>
            <a:ext cx="7114834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State-of-the-art for knowledge-intensive tasks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85204" y="1157978"/>
            <a:ext cx="3347990" cy="5691932"/>
          </a:xfrm>
          <a:custGeom>
            <a:avLst/>
            <a:gdLst/>
            <a:ahLst/>
            <a:cxnLst/>
            <a:rect l="l" t="t" r="r" b="b"/>
            <a:pathLst>
              <a:path w="3347990" h="5691932">
                <a:moveTo>
                  <a:pt x="0" y="0"/>
                </a:moveTo>
                <a:lnTo>
                  <a:pt x="3347990" y="0"/>
                </a:lnTo>
                <a:lnTo>
                  <a:pt x="3347990" y="5691932"/>
                </a:lnTo>
                <a:lnTo>
                  <a:pt x="0" y="5691932"/>
                </a:lnTo>
                <a:lnTo>
                  <a:pt x="0" y="0"/>
                </a:lnTo>
                <a:close/>
              </a:path>
            </a:pathLst>
          </a:custGeom>
          <a:solidFill>
            <a:srgbClr val="82181A">
              <a:alpha val="20000"/>
            </a:srgbClr>
          </a:solidFill>
          <a:ln w="10160">
            <a:solidFill>
              <a:srgbClr val="FF6467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51042" y="1941515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209905" y="0"/>
                </a:moveTo>
                <a:cubicBezTo>
                  <a:pt x="221958" y="0"/>
                  <a:pt x="233028" y="6642"/>
                  <a:pt x="238767" y="17219"/>
                </a:cubicBezTo>
                <a:lnTo>
                  <a:pt x="415875" y="345196"/>
                </a:lnTo>
                <a:cubicBezTo>
                  <a:pt x="421369" y="355363"/>
                  <a:pt x="421123" y="367662"/>
                  <a:pt x="415219" y="377584"/>
                </a:cubicBezTo>
                <a:cubicBezTo>
                  <a:pt x="409315" y="387505"/>
                  <a:pt x="398574" y="393572"/>
                  <a:pt x="387013" y="393572"/>
                </a:cubicBezTo>
                <a:lnTo>
                  <a:pt x="32798" y="393572"/>
                </a:lnTo>
                <a:cubicBezTo>
                  <a:pt x="21237" y="393572"/>
                  <a:pt x="10577" y="387505"/>
                  <a:pt x="4592" y="377584"/>
                </a:cubicBezTo>
                <a:cubicBezTo>
                  <a:pt x="-1394" y="367662"/>
                  <a:pt x="-1558" y="355363"/>
                  <a:pt x="3936" y="345196"/>
                </a:cubicBezTo>
                <a:lnTo>
                  <a:pt x="181043" y="17219"/>
                </a:lnTo>
                <a:cubicBezTo>
                  <a:pt x="186783" y="6642"/>
                  <a:pt x="197852" y="0"/>
                  <a:pt x="209905" y="0"/>
                </a:cubicBezTo>
                <a:close/>
                <a:moveTo>
                  <a:pt x="209905" y="137750"/>
                </a:moveTo>
                <a:cubicBezTo>
                  <a:pt x="199000" y="137750"/>
                  <a:pt x="190227" y="146524"/>
                  <a:pt x="190227" y="157429"/>
                </a:cubicBezTo>
                <a:lnTo>
                  <a:pt x="190227" y="249263"/>
                </a:lnTo>
                <a:cubicBezTo>
                  <a:pt x="190227" y="260168"/>
                  <a:pt x="199000" y="268941"/>
                  <a:pt x="209905" y="268941"/>
                </a:cubicBezTo>
                <a:cubicBezTo>
                  <a:pt x="220811" y="268941"/>
                  <a:pt x="229584" y="260168"/>
                  <a:pt x="229584" y="249263"/>
                </a:cubicBezTo>
                <a:lnTo>
                  <a:pt x="229584" y="157429"/>
                </a:lnTo>
                <a:cubicBezTo>
                  <a:pt x="229584" y="146524"/>
                  <a:pt x="220811" y="137750"/>
                  <a:pt x="209905" y="137750"/>
                </a:cubicBezTo>
                <a:close/>
                <a:moveTo>
                  <a:pt x="231798" y="314858"/>
                </a:moveTo>
                <a:cubicBezTo>
                  <a:pt x="232296" y="306732"/>
                  <a:pt x="228243" y="299000"/>
                  <a:pt x="221277" y="294787"/>
                </a:cubicBezTo>
                <a:cubicBezTo>
                  <a:pt x="214311" y="290573"/>
                  <a:pt x="205582" y="290573"/>
                  <a:pt x="198616" y="294787"/>
                </a:cubicBezTo>
                <a:cubicBezTo>
                  <a:pt x="191649" y="299000"/>
                  <a:pt x="187597" y="306732"/>
                  <a:pt x="188095" y="314858"/>
                </a:cubicBezTo>
                <a:cubicBezTo>
                  <a:pt x="187597" y="322984"/>
                  <a:pt x="191649" y="330716"/>
                  <a:pt x="198616" y="334929"/>
                </a:cubicBezTo>
                <a:cubicBezTo>
                  <a:pt x="205582" y="339143"/>
                  <a:pt x="214311" y="339143"/>
                  <a:pt x="221277" y="334929"/>
                </a:cubicBezTo>
                <a:cubicBezTo>
                  <a:pt x="228243" y="330716"/>
                  <a:pt x="232296" y="322984"/>
                  <a:pt x="231798" y="314858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0" name="Text 38"/>
          <p:cNvSpPr/>
          <p:nvPr/>
        </p:nvSpPr>
        <p:spPr>
          <a:xfrm>
            <a:off x="8646131" y="2501263"/>
            <a:ext cx="3026135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53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Limitations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698607" y="3060901"/>
            <a:ext cx="2921182" cy="909590"/>
          </a:xfrm>
          <a:custGeom>
            <a:avLst/>
            <a:gdLst/>
            <a:ahLst/>
            <a:cxnLst/>
            <a:rect l="l" t="t" r="r" b="b"/>
            <a:pathLst>
              <a:path w="2921182" h="909590">
                <a:moveTo>
                  <a:pt x="69966" y="0"/>
                </a:moveTo>
                <a:lnTo>
                  <a:pt x="2851217" y="0"/>
                </a:lnTo>
                <a:cubicBezTo>
                  <a:pt x="2889858" y="0"/>
                  <a:pt x="2921182" y="31325"/>
                  <a:pt x="2921182" y="69966"/>
                </a:cubicBezTo>
                <a:lnTo>
                  <a:pt x="2921182" y="839624"/>
                </a:lnTo>
                <a:cubicBezTo>
                  <a:pt x="2921182" y="878265"/>
                  <a:pt x="2889858" y="909590"/>
                  <a:pt x="2851217" y="909590"/>
                </a:cubicBezTo>
                <a:lnTo>
                  <a:pt x="69966" y="909590"/>
                </a:lnTo>
                <a:cubicBezTo>
                  <a:pt x="31325" y="909590"/>
                  <a:pt x="0" y="878265"/>
                  <a:pt x="0" y="839624"/>
                </a:cubicBezTo>
                <a:lnTo>
                  <a:pt x="0" y="69966"/>
                </a:lnTo>
                <a:cubicBezTo>
                  <a:pt x="0" y="31351"/>
                  <a:pt x="31351" y="0"/>
                  <a:pt x="69966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Shape 40"/>
          <p:cNvSpPr/>
          <p:nvPr/>
        </p:nvSpPr>
        <p:spPr>
          <a:xfrm>
            <a:off x="8864782" y="3235822"/>
            <a:ext cx="122445" cy="139937"/>
          </a:xfrm>
          <a:custGeom>
            <a:avLst/>
            <a:gdLst/>
            <a:ahLst/>
            <a:cxnLst/>
            <a:rect l="l" t="t" r="r" b="b"/>
            <a:pathLst>
              <a:path w="122445" h="139937">
                <a:moveTo>
                  <a:pt x="17492" y="8746"/>
                </a:moveTo>
                <a:cubicBezTo>
                  <a:pt x="7844" y="8746"/>
                  <a:pt x="0" y="16590"/>
                  <a:pt x="0" y="26238"/>
                </a:cubicBezTo>
                <a:lnTo>
                  <a:pt x="0" y="43730"/>
                </a:lnTo>
                <a:cubicBezTo>
                  <a:pt x="0" y="53378"/>
                  <a:pt x="7844" y="61222"/>
                  <a:pt x="17492" y="61222"/>
                </a:cubicBezTo>
                <a:lnTo>
                  <a:pt x="104953" y="61222"/>
                </a:lnTo>
                <a:cubicBezTo>
                  <a:pt x="114601" y="61222"/>
                  <a:pt x="122445" y="53378"/>
                  <a:pt x="122445" y="43730"/>
                </a:cubicBezTo>
                <a:lnTo>
                  <a:pt x="122445" y="26238"/>
                </a:lnTo>
                <a:cubicBezTo>
                  <a:pt x="122445" y="16590"/>
                  <a:pt x="114601" y="8746"/>
                  <a:pt x="104953" y="8746"/>
                </a:cubicBezTo>
                <a:lnTo>
                  <a:pt x="17492" y="8746"/>
                </a:lnTo>
                <a:close/>
                <a:moveTo>
                  <a:pt x="76528" y="28425"/>
                </a:moveTo>
                <a:cubicBezTo>
                  <a:pt x="80148" y="28425"/>
                  <a:pt x="83088" y="31364"/>
                  <a:pt x="83088" y="34984"/>
                </a:cubicBezTo>
                <a:cubicBezTo>
                  <a:pt x="83088" y="38605"/>
                  <a:pt x="80148" y="41544"/>
                  <a:pt x="76528" y="41544"/>
                </a:cubicBezTo>
                <a:cubicBezTo>
                  <a:pt x="72908" y="41544"/>
                  <a:pt x="69968" y="38605"/>
                  <a:pt x="69968" y="34984"/>
                </a:cubicBezTo>
                <a:cubicBezTo>
                  <a:pt x="69968" y="31364"/>
                  <a:pt x="72908" y="28425"/>
                  <a:pt x="76528" y="28425"/>
                </a:cubicBezTo>
                <a:close/>
                <a:moveTo>
                  <a:pt x="91834" y="34984"/>
                </a:moveTo>
                <a:cubicBezTo>
                  <a:pt x="91834" y="31364"/>
                  <a:pt x="94773" y="28425"/>
                  <a:pt x="98393" y="28425"/>
                </a:cubicBezTo>
                <a:cubicBezTo>
                  <a:pt x="102013" y="28425"/>
                  <a:pt x="104953" y="31364"/>
                  <a:pt x="104953" y="34984"/>
                </a:cubicBezTo>
                <a:cubicBezTo>
                  <a:pt x="104953" y="38605"/>
                  <a:pt x="102013" y="41544"/>
                  <a:pt x="98393" y="41544"/>
                </a:cubicBezTo>
                <a:cubicBezTo>
                  <a:pt x="94773" y="41544"/>
                  <a:pt x="91834" y="38605"/>
                  <a:pt x="91834" y="34984"/>
                </a:cubicBezTo>
                <a:close/>
                <a:moveTo>
                  <a:pt x="17492" y="78714"/>
                </a:moveTo>
                <a:cubicBezTo>
                  <a:pt x="7844" y="78714"/>
                  <a:pt x="0" y="86559"/>
                  <a:pt x="0" y="96207"/>
                </a:cubicBezTo>
                <a:lnTo>
                  <a:pt x="0" y="113699"/>
                </a:lnTo>
                <a:cubicBezTo>
                  <a:pt x="0" y="123347"/>
                  <a:pt x="7844" y="131191"/>
                  <a:pt x="17492" y="131191"/>
                </a:cubicBezTo>
                <a:lnTo>
                  <a:pt x="104953" y="131191"/>
                </a:lnTo>
                <a:cubicBezTo>
                  <a:pt x="114601" y="131191"/>
                  <a:pt x="122445" y="123347"/>
                  <a:pt x="122445" y="113699"/>
                </a:cubicBezTo>
                <a:lnTo>
                  <a:pt x="122445" y="96207"/>
                </a:lnTo>
                <a:cubicBezTo>
                  <a:pt x="122445" y="86559"/>
                  <a:pt x="114601" y="78714"/>
                  <a:pt x="104953" y="78714"/>
                </a:cubicBezTo>
                <a:lnTo>
                  <a:pt x="17492" y="78714"/>
                </a:lnTo>
                <a:close/>
                <a:moveTo>
                  <a:pt x="76528" y="98393"/>
                </a:moveTo>
                <a:cubicBezTo>
                  <a:pt x="80148" y="98393"/>
                  <a:pt x="83088" y="101332"/>
                  <a:pt x="83088" y="104953"/>
                </a:cubicBezTo>
                <a:cubicBezTo>
                  <a:pt x="83088" y="108573"/>
                  <a:pt x="80148" y="111512"/>
                  <a:pt x="76528" y="111512"/>
                </a:cubicBezTo>
                <a:cubicBezTo>
                  <a:pt x="72908" y="111512"/>
                  <a:pt x="69968" y="108573"/>
                  <a:pt x="69968" y="104953"/>
                </a:cubicBezTo>
                <a:cubicBezTo>
                  <a:pt x="69968" y="101332"/>
                  <a:pt x="72908" y="98393"/>
                  <a:pt x="76528" y="98393"/>
                </a:cubicBezTo>
                <a:close/>
                <a:moveTo>
                  <a:pt x="91834" y="104953"/>
                </a:moveTo>
                <a:cubicBezTo>
                  <a:pt x="91834" y="101332"/>
                  <a:pt x="94773" y="98393"/>
                  <a:pt x="98393" y="98393"/>
                </a:cubicBezTo>
                <a:cubicBezTo>
                  <a:pt x="102013" y="98393"/>
                  <a:pt x="104953" y="101332"/>
                  <a:pt x="104953" y="104953"/>
                </a:cubicBezTo>
                <a:cubicBezTo>
                  <a:pt x="104953" y="108573"/>
                  <a:pt x="102013" y="111512"/>
                  <a:pt x="98393" y="111512"/>
                </a:cubicBezTo>
                <a:cubicBezTo>
                  <a:pt x="94773" y="111512"/>
                  <a:pt x="91834" y="108573"/>
                  <a:pt x="91834" y="104953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3" name="Text 41"/>
          <p:cNvSpPr/>
          <p:nvPr/>
        </p:nvSpPr>
        <p:spPr>
          <a:xfrm>
            <a:off x="9118418" y="3200838"/>
            <a:ext cx="1618020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Computational Cost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838544" y="3480712"/>
            <a:ext cx="2702531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GPU-intensive embedding generation and storage requirements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698607" y="4110428"/>
            <a:ext cx="2921182" cy="909590"/>
          </a:xfrm>
          <a:custGeom>
            <a:avLst/>
            <a:gdLst/>
            <a:ahLst/>
            <a:cxnLst/>
            <a:rect l="l" t="t" r="r" b="b"/>
            <a:pathLst>
              <a:path w="2921182" h="909590">
                <a:moveTo>
                  <a:pt x="69966" y="0"/>
                </a:moveTo>
                <a:lnTo>
                  <a:pt x="2851217" y="0"/>
                </a:lnTo>
                <a:cubicBezTo>
                  <a:pt x="2889858" y="0"/>
                  <a:pt x="2921182" y="31325"/>
                  <a:pt x="2921182" y="69966"/>
                </a:cubicBezTo>
                <a:lnTo>
                  <a:pt x="2921182" y="839624"/>
                </a:lnTo>
                <a:cubicBezTo>
                  <a:pt x="2921182" y="878265"/>
                  <a:pt x="2889858" y="909590"/>
                  <a:pt x="2851217" y="909590"/>
                </a:cubicBezTo>
                <a:lnTo>
                  <a:pt x="69966" y="909590"/>
                </a:lnTo>
                <a:cubicBezTo>
                  <a:pt x="31325" y="909590"/>
                  <a:pt x="0" y="878265"/>
                  <a:pt x="0" y="839624"/>
                </a:cubicBezTo>
                <a:lnTo>
                  <a:pt x="0" y="69966"/>
                </a:lnTo>
                <a:cubicBezTo>
                  <a:pt x="0" y="31351"/>
                  <a:pt x="31351" y="0"/>
                  <a:pt x="69966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6" name="Shape 44"/>
          <p:cNvSpPr/>
          <p:nvPr/>
        </p:nvSpPr>
        <p:spPr>
          <a:xfrm>
            <a:off x="8856036" y="4285349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69968" y="139937"/>
                </a:moveTo>
                <a:cubicBezTo>
                  <a:pt x="108585" y="139937"/>
                  <a:pt x="139937" y="108585"/>
                  <a:pt x="139937" y="69968"/>
                </a:cubicBezTo>
                <a:cubicBezTo>
                  <a:pt x="139937" y="31352"/>
                  <a:pt x="108585" y="0"/>
                  <a:pt x="69968" y="0"/>
                </a:cubicBezTo>
                <a:cubicBezTo>
                  <a:pt x="31352" y="0"/>
                  <a:pt x="0" y="31352"/>
                  <a:pt x="0" y="69968"/>
                </a:cubicBezTo>
                <a:cubicBezTo>
                  <a:pt x="0" y="108585"/>
                  <a:pt x="31352" y="139937"/>
                  <a:pt x="69968" y="139937"/>
                </a:cubicBezTo>
                <a:close/>
                <a:moveTo>
                  <a:pt x="69968" y="48103"/>
                </a:moveTo>
                <a:cubicBezTo>
                  <a:pt x="65131" y="48103"/>
                  <a:pt x="61222" y="52012"/>
                  <a:pt x="61222" y="56849"/>
                </a:cubicBezTo>
                <a:cubicBezTo>
                  <a:pt x="61222" y="60484"/>
                  <a:pt x="58298" y="63409"/>
                  <a:pt x="54663" y="63409"/>
                </a:cubicBezTo>
                <a:cubicBezTo>
                  <a:pt x="51028" y="63409"/>
                  <a:pt x="48103" y="60484"/>
                  <a:pt x="48103" y="56849"/>
                </a:cubicBezTo>
                <a:cubicBezTo>
                  <a:pt x="48103" y="44769"/>
                  <a:pt x="57888" y="34984"/>
                  <a:pt x="69968" y="34984"/>
                </a:cubicBezTo>
                <a:cubicBezTo>
                  <a:pt x="82049" y="34984"/>
                  <a:pt x="91834" y="44769"/>
                  <a:pt x="91834" y="56849"/>
                </a:cubicBezTo>
                <a:cubicBezTo>
                  <a:pt x="91834" y="69750"/>
                  <a:pt x="81994" y="75216"/>
                  <a:pt x="76528" y="77211"/>
                </a:cubicBezTo>
                <a:lnTo>
                  <a:pt x="76528" y="78250"/>
                </a:lnTo>
                <a:cubicBezTo>
                  <a:pt x="76528" y="81885"/>
                  <a:pt x="73604" y="84809"/>
                  <a:pt x="69968" y="84809"/>
                </a:cubicBezTo>
                <a:cubicBezTo>
                  <a:pt x="66333" y="84809"/>
                  <a:pt x="63409" y="81885"/>
                  <a:pt x="63409" y="78250"/>
                </a:cubicBezTo>
                <a:lnTo>
                  <a:pt x="63409" y="76036"/>
                </a:lnTo>
                <a:cubicBezTo>
                  <a:pt x="63409" y="70433"/>
                  <a:pt x="67454" y="66415"/>
                  <a:pt x="71636" y="65049"/>
                </a:cubicBezTo>
                <a:cubicBezTo>
                  <a:pt x="73385" y="64475"/>
                  <a:pt x="75243" y="63546"/>
                  <a:pt x="76610" y="62234"/>
                </a:cubicBezTo>
                <a:cubicBezTo>
                  <a:pt x="77785" y="61086"/>
                  <a:pt x="78714" y="59501"/>
                  <a:pt x="78714" y="56877"/>
                </a:cubicBezTo>
                <a:cubicBezTo>
                  <a:pt x="78714" y="52039"/>
                  <a:pt x="74806" y="48131"/>
                  <a:pt x="69968" y="48131"/>
                </a:cubicBezTo>
                <a:close/>
                <a:moveTo>
                  <a:pt x="61222" y="100580"/>
                </a:moveTo>
                <a:cubicBezTo>
                  <a:pt x="61222" y="95753"/>
                  <a:pt x="65141" y="91834"/>
                  <a:pt x="69968" y="91834"/>
                </a:cubicBezTo>
                <a:cubicBezTo>
                  <a:pt x="74796" y="91834"/>
                  <a:pt x="78714" y="95753"/>
                  <a:pt x="78714" y="100580"/>
                </a:cubicBezTo>
                <a:cubicBezTo>
                  <a:pt x="78714" y="105407"/>
                  <a:pt x="74796" y="109326"/>
                  <a:pt x="69968" y="109326"/>
                </a:cubicBezTo>
                <a:cubicBezTo>
                  <a:pt x="65141" y="109326"/>
                  <a:pt x="61222" y="105407"/>
                  <a:pt x="61222" y="10058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7" name="Text 45"/>
          <p:cNvSpPr/>
          <p:nvPr/>
        </p:nvSpPr>
        <p:spPr>
          <a:xfrm>
            <a:off x="9118418" y="4250365"/>
            <a:ext cx="1180717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Explainability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838544" y="4530238"/>
            <a:ext cx="2702531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vectors lack interpretability; black-box scoring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698607" y="5159954"/>
            <a:ext cx="2921182" cy="909590"/>
          </a:xfrm>
          <a:custGeom>
            <a:avLst/>
            <a:gdLst/>
            <a:ahLst/>
            <a:cxnLst/>
            <a:rect l="l" t="t" r="r" b="b"/>
            <a:pathLst>
              <a:path w="2921182" h="909590">
                <a:moveTo>
                  <a:pt x="69966" y="0"/>
                </a:moveTo>
                <a:lnTo>
                  <a:pt x="2851217" y="0"/>
                </a:lnTo>
                <a:cubicBezTo>
                  <a:pt x="2889858" y="0"/>
                  <a:pt x="2921182" y="31325"/>
                  <a:pt x="2921182" y="69966"/>
                </a:cubicBezTo>
                <a:lnTo>
                  <a:pt x="2921182" y="839624"/>
                </a:lnTo>
                <a:cubicBezTo>
                  <a:pt x="2921182" y="878265"/>
                  <a:pt x="2889858" y="909590"/>
                  <a:pt x="2851217" y="909590"/>
                </a:cubicBezTo>
                <a:lnTo>
                  <a:pt x="69966" y="909590"/>
                </a:lnTo>
                <a:cubicBezTo>
                  <a:pt x="31325" y="909590"/>
                  <a:pt x="0" y="878265"/>
                  <a:pt x="0" y="839624"/>
                </a:cubicBezTo>
                <a:lnTo>
                  <a:pt x="0" y="69966"/>
                </a:lnTo>
                <a:cubicBezTo>
                  <a:pt x="0" y="31351"/>
                  <a:pt x="31351" y="0"/>
                  <a:pt x="69966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0" name="Shape 48"/>
          <p:cNvSpPr/>
          <p:nvPr/>
        </p:nvSpPr>
        <p:spPr>
          <a:xfrm>
            <a:off x="8864782" y="5334875"/>
            <a:ext cx="122445" cy="139937"/>
          </a:xfrm>
          <a:custGeom>
            <a:avLst/>
            <a:gdLst/>
            <a:ahLst/>
            <a:cxnLst/>
            <a:rect l="l" t="t" r="r" b="b"/>
            <a:pathLst>
              <a:path w="122445" h="139937">
                <a:moveTo>
                  <a:pt x="122445" y="56248"/>
                </a:moveTo>
                <a:cubicBezTo>
                  <a:pt x="118400" y="58927"/>
                  <a:pt x="113753" y="61086"/>
                  <a:pt x="108916" y="62808"/>
                </a:cubicBezTo>
                <a:cubicBezTo>
                  <a:pt x="96070" y="67399"/>
                  <a:pt x="79206" y="69968"/>
                  <a:pt x="61222" y="69968"/>
                </a:cubicBezTo>
                <a:cubicBezTo>
                  <a:pt x="43238" y="69968"/>
                  <a:pt x="26347" y="67372"/>
                  <a:pt x="13529" y="62808"/>
                </a:cubicBezTo>
                <a:cubicBezTo>
                  <a:pt x="8719" y="61086"/>
                  <a:pt x="4045" y="58927"/>
                  <a:pt x="0" y="56248"/>
                </a:cubicBezTo>
                <a:lnTo>
                  <a:pt x="0" y="78714"/>
                </a:lnTo>
                <a:cubicBezTo>
                  <a:pt x="0" y="90795"/>
                  <a:pt x="27413" y="100580"/>
                  <a:pt x="61222" y="100580"/>
                </a:cubicBezTo>
                <a:cubicBezTo>
                  <a:pt x="95031" y="100580"/>
                  <a:pt x="122445" y="90795"/>
                  <a:pt x="122445" y="78714"/>
                </a:cubicBezTo>
                <a:lnTo>
                  <a:pt x="122445" y="56248"/>
                </a:lnTo>
                <a:close/>
                <a:moveTo>
                  <a:pt x="122445" y="34984"/>
                </a:moveTo>
                <a:lnTo>
                  <a:pt x="122445" y="21865"/>
                </a:lnTo>
                <a:cubicBezTo>
                  <a:pt x="122445" y="9785"/>
                  <a:pt x="95031" y="0"/>
                  <a:pt x="61222" y="0"/>
                </a:cubicBezTo>
                <a:cubicBezTo>
                  <a:pt x="27413" y="0"/>
                  <a:pt x="0" y="9785"/>
                  <a:pt x="0" y="21865"/>
                </a:cubicBezTo>
                <a:lnTo>
                  <a:pt x="0" y="34984"/>
                </a:lnTo>
                <a:cubicBezTo>
                  <a:pt x="0" y="47065"/>
                  <a:pt x="27413" y="56849"/>
                  <a:pt x="61222" y="56849"/>
                </a:cubicBezTo>
                <a:cubicBezTo>
                  <a:pt x="95031" y="56849"/>
                  <a:pt x="122445" y="47065"/>
                  <a:pt x="122445" y="34984"/>
                </a:cubicBezTo>
                <a:close/>
                <a:moveTo>
                  <a:pt x="108916" y="106538"/>
                </a:moveTo>
                <a:cubicBezTo>
                  <a:pt x="96097" y="111102"/>
                  <a:pt x="79234" y="113699"/>
                  <a:pt x="61222" y="113699"/>
                </a:cubicBezTo>
                <a:cubicBezTo>
                  <a:pt x="43211" y="113699"/>
                  <a:pt x="26347" y="111102"/>
                  <a:pt x="13529" y="106538"/>
                </a:cubicBezTo>
                <a:cubicBezTo>
                  <a:pt x="8719" y="104816"/>
                  <a:pt x="4045" y="102657"/>
                  <a:pt x="0" y="99978"/>
                </a:cubicBezTo>
                <a:lnTo>
                  <a:pt x="0" y="118072"/>
                </a:lnTo>
                <a:cubicBezTo>
                  <a:pt x="0" y="130152"/>
                  <a:pt x="27413" y="139937"/>
                  <a:pt x="61222" y="139937"/>
                </a:cubicBezTo>
                <a:cubicBezTo>
                  <a:pt x="95031" y="139937"/>
                  <a:pt x="122445" y="130152"/>
                  <a:pt x="122445" y="118072"/>
                </a:cubicBezTo>
                <a:lnTo>
                  <a:pt x="122445" y="99978"/>
                </a:lnTo>
                <a:cubicBezTo>
                  <a:pt x="118400" y="102657"/>
                  <a:pt x="113753" y="104816"/>
                  <a:pt x="108916" y="106538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1" name="Text 49"/>
          <p:cNvSpPr/>
          <p:nvPr/>
        </p:nvSpPr>
        <p:spPr>
          <a:xfrm>
            <a:off x="9118418" y="5299891"/>
            <a:ext cx="185416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Metadata Integration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838544" y="5579765"/>
            <a:ext cx="2702531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Difficulty incorporating structured metadata signals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of Existing Approaches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2995" y="1815428"/>
            <a:ext cx="11418570" cy="4065270"/>
          </a:xfrm>
          <a:custGeom>
            <a:avLst/>
            <a:gdLst/>
            <a:ahLst/>
            <a:cxnLst/>
            <a:rect l="l" t="t" r="r" b="b"/>
            <a:pathLst>
              <a:path w="11418570" h="4065270">
                <a:moveTo>
                  <a:pt x="76183" y="0"/>
                </a:moveTo>
                <a:lnTo>
                  <a:pt x="11342387" y="0"/>
                </a:lnTo>
                <a:cubicBezTo>
                  <a:pt x="11384462" y="0"/>
                  <a:pt x="11418570" y="34108"/>
                  <a:pt x="11418570" y="76183"/>
                </a:cubicBezTo>
                <a:lnTo>
                  <a:pt x="11418570" y="3989087"/>
                </a:lnTo>
                <a:cubicBezTo>
                  <a:pt x="11418570" y="4031162"/>
                  <a:pt x="11384462" y="4065270"/>
                  <a:pt x="11342387" y="4065270"/>
                </a:cubicBezTo>
                <a:lnTo>
                  <a:pt x="76183" y="4065270"/>
                </a:lnTo>
                <a:cubicBezTo>
                  <a:pt x="34108" y="4065270"/>
                  <a:pt x="0" y="4031162"/>
                  <a:pt x="0" y="3989087"/>
                </a:cubicBezTo>
                <a:lnTo>
                  <a:pt x="0" y="76183"/>
                </a:lnTo>
                <a:cubicBezTo>
                  <a:pt x="0" y="34108"/>
                  <a:pt x="34108" y="0"/>
                  <a:pt x="76183" y="0"/>
                </a:cubicBezTo>
                <a:close/>
              </a:path>
            </a:pathLst>
          </a:custGeom>
          <a:solidFill>
            <a:srgbClr val="2C3138"/>
          </a:solidFill>
          <a:ln w="10160">
            <a:solidFill>
              <a:srgbClr val="3A5F7A">
                <a:alpha val="30196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942210"/>
              </p:ext>
            </p:extLst>
          </p:nvPr>
        </p:nvGraphicFramePr>
        <p:xfrm>
          <a:off x="320615" y="1104900"/>
          <a:ext cx="11410950" cy="4932818"/>
        </p:xfrm>
        <a:graphic>
          <a:graphicData uri="http://schemas.openxmlformats.org/drawingml/2006/table">
            <a:tbl>
              <a:tblPr/>
              <a:tblGrid>
                <a:gridCol w="31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5618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Approach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5F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Strength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5F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Limitation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5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27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TF-IDF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Fast, simple implementation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 semantic understanding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27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BM25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Better probabilistic ranking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Still keyword-based matching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27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FAISS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Semantic similarity search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 computational cost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27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Context-aware generation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Depends on retrieval quality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327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Feature-based IR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Multi-signal combination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Weak metadata utilization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5">
            <a:extLst>
              <a:ext uri="{FF2B5EF4-FFF2-40B4-BE49-F238E27FC236}">
                <a16:creationId xmlns:a16="http://schemas.microsoft.com/office/drawing/2014/main" id="{F83978D6-0E0B-BEF2-F0A1-AA9C2D515BDF}"/>
              </a:ext>
            </a:extLst>
          </p:cNvPr>
          <p:cNvSpPr/>
          <p:nvPr/>
        </p:nvSpPr>
        <p:spPr>
          <a:xfrm>
            <a:off x="381494" y="63341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CACE41B2-A4B7-C0E7-8A89-F4E2F5D443C4}"/>
              </a:ext>
            </a:extLst>
          </p:cNvPr>
          <p:cNvSpPr/>
          <p:nvPr/>
        </p:nvSpPr>
        <p:spPr>
          <a:xfrm>
            <a:off x="817263" y="6191250"/>
            <a:ext cx="1057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Conclusion</a:t>
            </a:r>
            <a:endParaRPr lang="en-US" sz="16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6704681-84C1-934F-ABD4-F13A34E9B4EF}"/>
              </a:ext>
            </a:extLst>
          </p:cNvPr>
          <p:cNvSpPr/>
          <p:nvPr/>
        </p:nvSpPr>
        <p:spPr>
          <a:xfrm>
            <a:off x="817263" y="6534150"/>
            <a:ext cx="10553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single approach</a:t>
            </a: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effectively combines </a:t>
            </a:r>
            <a:r>
              <a:rPr lang="en-US" sz="120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understanding</a:t>
            </a: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20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computational efficiency</a:t>
            </a: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r>
              <a:rPr lang="en-US" sz="120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awareness</a:t>
            </a: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This gap motivates our hybrid solution.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608" y="351608"/>
            <a:ext cx="11550316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kern="0" spc="48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Contribution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1608" y="597733"/>
            <a:ext cx="11647008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2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Identified Research Gaps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9188" y="1160306"/>
            <a:ext cx="5634515" cy="2303031"/>
          </a:xfrm>
          <a:custGeom>
            <a:avLst/>
            <a:gdLst/>
            <a:ahLst/>
            <a:cxnLst/>
            <a:rect l="l" t="t" r="r" b="b"/>
            <a:pathLst>
              <a:path w="5634515" h="2303031">
                <a:moveTo>
                  <a:pt x="0" y="0"/>
                </a:moveTo>
                <a:lnTo>
                  <a:pt x="5634515" y="0"/>
                </a:lnTo>
                <a:lnTo>
                  <a:pt x="5634515" y="2303031"/>
                </a:lnTo>
                <a:lnTo>
                  <a:pt x="0" y="2303031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5" name="Shape 3"/>
          <p:cNvSpPr/>
          <p:nvPr/>
        </p:nvSpPr>
        <p:spPr>
          <a:xfrm>
            <a:off x="369188" y="1160306"/>
            <a:ext cx="35161" cy="2303031"/>
          </a:xfrm>
          <a:custGeom>
            <a:avLst/>
            <a:gdLst/>
            <a:ahLst/>
            <a:cxnLst/>
            <a:rect l="l" t="t" r="r" b="b"/>
            <a:pathLst>
              <a:path w="35161" h="2303031">
                <a:moveTo>
                  <a:pt x="0" y="0"/>
                </a:moveTo>
                <a:lnTo>
                  <a:pt x="35161" y="0"/>
                </a:lnTo>
                <a:lnTo>
                  <a:pt x="35161" y="2303031"/>
                </a:lnTo>
                <a:lnTo>
                  <a:pt x="0" y="2303031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Shape 4"/>
          <p:cNvSpPr/>
          <p:nvPr/>
        </p:nvSpPr>
        <p:spPr>
          <a:xfrm>
            <a:off x="597733" y="1371270"/>
            <a:ext cx="492251" cy="492251"/>
          </a:xfrm>
          <a:custGeom>
            <a:avLst/>
            <a:gdLst/>
            <a:ahLst/>
            <a:cxnLst/>
            <a:rect l="l" t="t" r="r" b="b"/>
            <a:pathLst>
              <a:path w="492251" h="492251">
                <a:moveTo>
                  <a:pt x="105484" y="0"/>
                </a:moveTo>
                <a:lnTo>
                  <a:pt x="386766" y="0"/>
                </a:lnTo>
                <a:cubicBezTo>
                  <a:pt x="445024" y="0"/>
                  <a:pt x="492251" y="47227"/>
                  <a:pt x="492251" y="105484"/>
                </a:cubicBezTo>
                <a:lnTo>
                  <a:pt x="492251" y="386766"/>
                </a:lnTo>
                <a:cubicBezTo>
                  <a:pt x="492251" y="445024"/>
                  <a:pt x="445024" y="492251"/>
                  <a:pt x="386766" y="492251"/>
                </a:cubicBezTo>
                <a:lnTo>
                  <a:pt x="105484" y="492251"/>
                </a:lnTo>
                <a:cubicBezTo>
                  <a:pt x="47227" y="492251"/>
                  <a:pt x="0" y="445024"/>
                  <a:pt x="0" y="386766"/>
                </a:cubicBezTo>
                <a:lnTo>
                  <a:pt x="0" y="105484"/>
                </a:lnTo>
                <a:cubicBezTo>
                  <a:pt x="0" y="47266"/>
                  <a:pt x="47266" y="0"/>
                  <a:pt x="105484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8376" y="1511913"/>
            <a:ext cx="210965" cy="210965"/>
          </a:xfrm>
          <a:custGeom>
            <a:avLst/>
            <a:gdLst/>
            <a:ahLst/>
            <a:cxnLst/>
            <a:rect l="l" t="t" r="r" b="b"/>
            <a:pathLst>
              <a:path w="210965" h="210965">
                <a:moveTo>
                  <a:pt x="92297" y="0"/>
                </a:moveTo>
                <a:cubicBezTo>
                  <a:pt x="106842" y="0"/>
                  <a:pt x="118668" y="8859"/>
                  <a:pt x="118668" y="19778"/>
                </a:cubicBezTo>
                <a:cubicBezTo>
                  <a:pt x="118668" y="24063"/>
                  <a:pt x="116855" y="28019"/>
                  <a:pt x="113723" y="31274"/>
                </a:cubicBezTo>
                <a:cubicBezTo>
                  <a:pt x="111004" y="34117"/>
                  <a:pt x="108779" y="37578"/>
                  <a:pt x="108779" y="41534"/>
                </a:cubicBezTo>
                <a:cubicBezTo>
                  <a:pt x="108779" y="47714"/>
                  <a:pt x="113806" y="52741"/>
                  <a:pt x="119986" y="52741"/>
                </a:cubicBezTo>
                <a:lnTo>
                  <a:pt x="138446" y="52741"/>
                </a:lnTo>
                <a:cubicBezTo>
                  <a:pt x="149365" y="52741"/>
                  <a:pt x="158224" y="61600"/>
                  <a:pt x="158224" y="72519"/>
                </a:cubicBezTo>
                <a:lnTo>
                  <a:pt x="158224" y="90979"/>
                </a:lnTo>
                <a:cubicBezTo>
                  <a:pt x="158224" y="97159"/>
                  <a:pt x="163250" y="102186"/>
                  <a:pt x="169431" y="102186"/>
                </a:cubicBezTo>
                <a:cubicBezTo>
                  <a:pt x="173345" y="102186"/>
                  <a:pt x="176848" y="99961"/>
                  <a:pt x="179691" y="97242"/>
                </a:cubicBezTo>
                <a:cubicBezTo>
                  <a:pt x="182946" y="94151"/>
                  <a:pt x="186902" y="92297"/>
                  <a:pt x="191187" y="92297"/>
                </a:cubicBezTo>
                <a:cubicBezTo>
                  <a:pt x="202106" y="92297"/>
                  <a:pt x="210965" y="104123"/>
                  <a:pt x="210965" y="118668"/>
                </a:cubicBezTo>
                <a:cubicBezTo>
                  <a:pt x="210965" y="133213"/>
                  <a:pt x="202106" y="145038"/>
                  <a:pt x="191187" y="145038"/>
                </a:cubicBezTo>
                <a:cubicBezTo>
                  <a:pt x="186902" y="145038"/>
                  <a:pt x="182905" y="143225"/>
                  <a:pt x="179691" y="140094"/>
                </a:cubicBezTo>
                <a:cubicBezTo>
                  <a:pt x="176848" y="137374"/>
                  <a:pt x="173387" y="135149"/>
                  <a:pt x="169431" y="135149"/>
                </a:cubicBezTo>
                <a:cubicBezTo>
                  <a:pt x="163250" y="135149"/>
                  <a:pt x="158224" y="140176"/>
                  <a:pt x="158224" y="146357"/>
                </a:cubicBezTo>
                <a:lnTo>
                  <a:pt x="158224" y="191187"/>
                </a:lnTo>
                <a:cubicBezTo>
                  <a:pt x="158224" y="202106"/>
                  <a:pt x="149365" y="210965"/>
                  <a:pt x="138446" y="210965"/>
                </a:cubicBezTo>
                <a:lnTo>
                  <a:pt x="115042" y="210965"/>
                </a:lnTo>
                <a:cubicBezTo>
                  <a:pt x="109768" y="210965"/>
                  <a:pt x="105482" y="206679"/>
                  <a:pt x="105482" y="201405"/>
                </a:cubicBezTo>
                <a:cubicBezTo>
                  <a:pt x="105482" y="197615"/>
                  <a:pt x="107872" y="194277"/>
                  <a:pt x="110921" y="192011"/>
                </a:cubicBezTo>
                <a:cubicBezTo>
                  <a:pt x="115701" y="188426"/>
                  <a:pt x="118668" y="183482"/>
                  <a:pt x="118668" y="178001"/>
                </a:cubicBezTo>
                <a:cubicBezTo>
                  <a:pt x="118668" y="167082"/>
                  <a:pt x="106842" y="158224"/>
                  <a:pt x="92297" y="158224"/>
                </a:cubicBezTo>
                <a:cubicBezTo>
                  <a:pt x="77752" y="158224"/>
                  <a:pt x="65926" y="167082"/>
                  <a:pt x="65926" y="178001"/>
                </a:cubicBezTo>
                <a:cubicBezTo>
                  <a:pt x="65926" y="183482"/>
                  <a:pt x="68893" y="188426"/>
                  <a:pt x="73673" y="192011"/>
                </a:cubicBezTo>
                <a:cubicBezTo>
                  <a:pt x="76722" y="194277"/>
                  <a:pt x="79112" y="197573"/>
                  <a:pt x="79112" y="201405"/>
                </a:cubicBezTo>
                <a:cubicBezTo>
                  <a:pt x="79112" y="206679"/>
                  <a:pt x="74827" y="210965"/>
                  <a:pt x="69552" y="210965"/>
                </a:cubicBezTo>
                <a:lnTo>
                  <a:pt x="19778" y="210965"/>
                </a:lnTo>
                <a:cubicBezTo>
                  <a:pt x="8859" y="210965"/>
                  <a:pt x="0" y="202106"/>
                  <a:pt x="0" y="191187"/>
                </a:cubicBezTo>
                <a:lnTo>
                  <a:pt x="0" y="141412"/>
                </a:lnTo>
                <a:cubicBezTo>
                  <a:pt x="0" y="136138"/>
                  <a:pt x="4285" y="131853"/>
                  <a:pt x="9559" y="131853"/>
                </a:cubicBezTo>
                <a:cubicBezTo>
                  <a:pt x="13350" y="131853"/>
                  <a:pt x="16688" y="134243"/>
                  <a:pt x="18954" y="137292"/>
                </a:cubicBezTo>
                <a:cubicBezTo>
                  <a:pt x="22539" y="142072"/>
                  <a:pt x="27483" y="145038"/>
                  <a:pt x="32963" y="145038"/>
                </a:cubicBezTo>
                <a:cubicBezTo>
                  <a:pt x="43882" y="145038"/>
                  <a:pt x="52741" y="133213"/>
                  <a:pt x="52741" y="118668"/>
                </a:cubicBezTo>
                <a:cubicBezTo>
                  <a:pt x="52741" y="104123"/>
                  <a:pt x="43882" y="92297"/>
                  <a:pt x="32963" y="92297"/>
                </a:cubicBezTo>
                <a:cubicBezTo>
                  <a:pt x="27483" y="92297"/>
                  <a:pt x="22539" y="95264"/>
                  <a:pt x="18954" y="100043"/>
                </a:cubicBezTo>
                <a:cubicBezTo>
                  <a:pt x="16688" y="103093"/>
                  <a:pt x="13391" y="105482"/>
                  <a:pt x="9559" y="105482"/>
                </a:cubicBezTo>
                <a:cubicBezTo>
                  <a:pt x="4285" y="105482"/>
                  <a:pt x="0" y="101197"/>
                  <a:pt x="0" y="95923"/>
                </a:cubicBezTo>
                <a:lnTo>
                  <a:pt x="0" y="72519"/>
                </a:lnTo>
                <a:cubicBezTo>
                  <a:pt x="0" y="61600"/>
                  <a:pt x="8859" y="52741"/>
                  <a:pt x="19778" y="52741"/>
                </a:cubicBezTo>
                <a:lnTo>
                  <a:pt x="64608" y="52741"/>
                </a:lnTo>
                <a:cubicBezTo>
                  <a:pt x="70789" y="52741"/>
                  <a:pt x="75815" y="47714"/>
                  <a:pt x="75815" y="41534"/>
                </a:cubicBezTo>
                <a:cubicBezTo>
                  <a:pt x="75815" y="37619"/>
                  <a:pt x="73590" y="34117"/>
                  <a:pt x="70871" y="31274"/>
                </a:cubicBezTo>
                <a:cubicBezTo>
                  <a:pt x="67781" y="28019"/>
                  <a:pt x="65926" y="24063"/>
                  <a:pt x="65926" y="19778"/>
                </a:cubicBezTo>
                <a:cubicBezTo>
                  <a:pt x="65926" y="8859"/>
                  <a:pt x="77752" y="0"/>
                  <a:pt x="92297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1230627" y="1371270"/>
            <a:ext cx="4430258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Unified System Absence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0627" y="1722878"/>
            <a:ext cx="4412678" cy="22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existing solution effectively combines all three critical components: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0627" y="2056906"/>
            <a:ext cx="4342356" cy="351608"/>
          </a:xfrm>
          <a:custGeom>
            <a:avLst/>
            <a:gdLst/>
            <a:ahLst/>
            <a:cxnLst/>
            <a:rect l="l" t="t" r="r" b="b"/>
            <a:pathLst>
              <a:path w="4342356" h="351608">
                <a:moveTo>
                  <a:pt x="35161" y="0"/>
                </a:moveTo>
                <a:lnTo>
                  <a:pt x="4307195" y="0"/>
                </a:lnTo>
                <a:cubicBezTo>
                  <a:pt x="4326614" y="0"/>
                  <a:pt x="4342356" y="15742"/>
                  <a:pt x="4342356" y="35161"/>
                </a:cubicBezTo>
                <a:lnTo>
                  <a:pt x="4342356" y="316447"/>
                </a:lnTo>
                <a:cubicBezTo>
                  <a:pt x="4342356" y="335866"/>
                  <a:pt x="4326614" y="351608"/>
                  <a:pt x="4307195" y="351608"/>
                </a:cubicBezTo>
                <a:lnTo>
                  <a:pt x="35161" y="351608"/>
                </a:lnTo>
                <a:cubicBezTo>
                  <a:pt x="15755" y="351608"/>
                  <a:pt x="0" y="335853"/>
                  <a:pt x="0" y="3164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Shape 9"/>
          <p:cNvSpPr/>
          <p:nvPr/>
        </p:nvSpPr>
        <p:spPr>
          <a:xfrm>
            <a:off x="1300949" y="2197549"/>
            <a:ext cx="70322" cy="70322"/>
          </a:xfrm>
          <a:custGeom>
            <a:avLst/>
            <a:gdLst/>
            <a:ahLst/>
            <a:cxnLst/>
            <a:rect l="l" t="t" r="r" b="b"/>
            <a:pathLst>
              <a:path w="70322" h="70322">
                <a:moveTo>
                  <a:pt x="35161" y="0"/>
                </a:moveTo>
                <a:lnTo>
                  <a:pt x="35161" y="0"/>
                </a:lnTo>
                <a:cubicBezTo>
                  <a:pt x="54567" y="0"/>
                  <a:pt x="70322" y="15755"/>
                  <a:pt x="70322" y="35161"/>
                </a:cubicBezTo>
                <a:lnTo>
                  <a:pt x="70322" y="35161"/>
                </a:lnTo>
                <a:cubicBezTo>
                  <a:pt x="70322" y="54567"/>
                  <a:pt x="54567" y="70322"/>
                  <a:pt x="35161" y="70322"/>
                </a:cubicBezTo>
                <a:lnTo>
                  <a:pt x="35161" y="70322"/>
                </a:lnTo>
                <a:cubicBezTo>
                  <a:pt x="15755" y="70322"/>
                  <a:pt x="0" y="54567"/>
                  <a:pt x="0" y="35161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10"/>
          <p:cNvSpPr/>
          <p:nvPr/>
        </p:nvSpPr>
        <p:spPr>
          <a:xfrm>
            <a:off x="1441592" y="2127227"/>
            <a:ext cx="1547074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Lexical retrieval (BM25)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0627" y="2478835"/>
            <a:ext cx="4342356" cy="351608"/>
          </a:xfrm>
          <a:custGeom>
            <a:avLst/>
            <a:gdLst/>
            <a:ahLst/>
            <a:cxnLst/>
            <a:rect l="l" t="t" r="r" b="b"/>
            <a:pathLst>
              <a:path w="4342356" h="351608">
                <a:moveTo>
                  <a:pt x="35161" y="0"/>
                </a:moveTo>
                <a:lnTo>
                  <a:pt x="4307195" y="0"/>
                </a:lnTo>
                <a:cubicBezTo>
                  <a:pt x="4326614" y="0"/>
                  <a:pt x="4342356" y="15742"/>
                  <a:pt x="4342356" y="35161"/>
                </a:cubicBezTo>
                <a:lnTo>
                  <a:pt x="4342356" y="316447"/>
                </a:lnTo>
                <a:cubicBezTo>
                  <a:pt x="4342356" y="335866"/>
                  <a:pt x="4326614" y="351608"/>
                  <a:pt x="4307195" y="351608"/>
                </a:cubicBezTo>
                <a:lnTo>
                  <a:pt x="35161" y="351608"/>
                </a:lnTo>
                <a:cubicBezTo>
                  <a:pt x="15755" y="351608"/>
                  <a:pt x="0" y="335853"/>
                  <a:pt x="0" y="3164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Shape 12"/>
          <p:cNvSpPr/>
          <p:nvPr/>
        </p:nvSpPr>
        <p:spPr>
          <a:xfrm>
            <a:off x="1300949" y="2619478"/>
            <a:ext cx="70322" cy="70322"/>
          </a:xfrm>
          <a:custGeom>
            <a:avLst/>
            <a:gdLst/>
            <a:ahLst/>
            <a:cxnLst/>
            <a:rect l="l" t="t" r="r" b="b"/>
            <a:pathLst>
              <a:path w="70322" h="70322">
                <a:moveTo>
                  <a:pt x="35161" y="0"/>
                </a:moveTo>
                <a:lnTo>
                  <a:pt x="35161" y="0"/>
                </a:lnTo>
                <a:cubicBezTo>
                  <a:pt x="54567" y="0"/>
                  <a:pt x="70322" y="15755"/>
                  <a:pt x="70322" y="35161"/>
                </a:cubicBezTo>
                <a:lnTo>
                  <a:pt x="70322" y="35161"/>
                </a:lnTo>
                <a:cubicBezTo>
                  <a:pt x="70322" y="54567"/>
                  <a:pt x="54567" y="70322"/>
                  <a:pt x="35161" y="70322"/>
                </a:cubicBezTo>
                <a:lnTo>
                  <a:pt x="35161" y="70322"/>
                </a:lnTo>
                <a:cubicBezTo>
                  <a:pt x="15755" y="70322"/>
                  <a:pt x="0" y="54567"/>
                  <a:pt x="0" y="35161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1441592" y="2549156"/>
            <a:ext cx="210085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understanding (FAISS)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30627" y="2900764"/>
            <a:ext cx="4342356" cy="351608"/>
          </a:xfrm>
          <a:custGeom>
            <a:avLst/>
            <a:gdLst/>
            <a:ahLst/>
            <a:cxnLst/>
            <a:rect l="l" t="t" r="r" b="b"/>
            <a:pathLst>
              <a:path w="4342356" h="351608">
                <a:moveTo>
                  <a:pt x="35161" y="0"/>
                </a:moveTo>
                <a:lnTo>
                  <a:pt x="4307195" y="0"/>
                </a:lnTo>
                <a:cubicBezTo>
                  <a:pt x="4326614" y="0"/>
                  <a:pt x="4342356" y="15742"/>
                  <a:pt x="4342356" y="35161"/>
                </a:cubicBezTo>
                <a:lnTo>
                  <a:pt x="4342356" y="316447"/>
                </a:lnTo>
                <a:cubicBezTo>
                  <a:pt x="4342356" y="335866"/>
                  <a:pt x="4326614" y="351608"/>
                  <a:pt x="4307195" y="351608"/>
                </a:cubicBezTo>
                <a:lnTo>
                  <a:pt x="35161" y="351608"/>
                </a:lnTo>
                <a:cubicBezTo>
                  <a:pt x="15755" y="351608"/>
                  <a:pt x="0" y="335853"/>
                  <a:pt x="0" y="3164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Shape 15"/>
          <p:cNvSpPr/>
          <p:nvPr/>
        </p:nvSpPr>
        <p:spPr>
          <a:xfrm>
            <a:off x="1300949" y="3041407"/>
            <a:ext cx="70322" cy="70322"/>
          </a:xfrm>
          <a:custGeom>
            <a:avLst/>
            <a:gdLst/>
            <a:ahLst/>
            <a:cxnLst/>
            <a:rect l="l" t="t" r="r" b="b"/>
            <a:pathLst>
              <a:path w="70322" h="70322">
                <a:moveTo>
                  <a:pt x="35161" y="0"/>
                </a:moveTo>
                <a:lnTo>
                  <a:pt x="35161" y="0"/>
                </a:lnTo>
                <a:cubicBezTo>
                  <a:pt x="54567" y="0"/>
                  <a:pt x="70322" y="15755"/>
                  <a:pt x="70322" y="35161"/>
                </a:cubicBezTo>
                <a:lnTo>
                  <a:pt x="70322" y="35161"/>
                </a:lnTo>
                <a:cubicBezTo>
                  <a:pt x="70322" y="54567"/>
                  <a:pt x="54567" y="70322"/>
                  <a:pt x="35161" y="70322"/>
                </a:cubicBezTo>
                <a:lnTo>
                  <a:pt x="35161" y="70322"/>
                </a:lnTo>
                <a:cubicBezTo>
                  <a:pt x="15755" y="70322"/>
                  <a:pt x="0" y="54567"/>
                  <a:pt x="0" y="35161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Text 16"/>
          <p:cNvSpPr/>
          <p:nvPr/>
        </p:nvSpPr>
        <p:spPr>
          <a:xfrm>
            <a:off x="1441592" y="2971086"/>
            <a:ext cx="237335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signals (recency, authority)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9188" y="3639141"/>
            <a:ext cx="5634515" cy="2303031"/>
          </a:xfrm>
          <a:custGeom>
            <a:avLst/>
            <a:gdLst/>
            <a:ahLst/>
            <a:cxnLst/>
            <a:rect l="l" t="t" r="r" b="b"/>
            <a:pathLst>
              <a:path w="5634515" h="2303031">
                <a:moveTo>
                  <a:pt x="0" y="0"/>
                </a:moveTo>
                <a:lnTo>
                  <a:pt x="5634515" y="0"/>
                </a:lnTo>
                <a:lnTo>
                  <a:pt x="5634515" y="2303031"/>
                </a:lnTo>
                <a:lnTo>
                  <a:pt x="0" y="2303031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20" name="Shape 18"/>
          <p:cNvSpPr/>
          <p:nvPr/>
        </p:nvSpPr>
        <p:spPr>
          <a:xfrm>
            <a:off x="369188" y="3639141"/>
            <a:ext cx="35161" cy="2303031"/>
          </a:xfrm>
          <a:custGeom>
            <a:avLst/>
            <a:gdLst/>
            <a:ahLst/>
            <a:cxnLst/>
            <a:rect l="l" t="t" r="r" b="b"/>
            <a:pathLst>
              <a:path w="35161" h="2303031">
                <a:moveTo>
                  <a:pt x="0" y="0"/>
                </a:moveTo>
                <a:lnTo>
                  <a:pt x="35161" y="0"/>
                </a:lnTo>
                <a:lnTo>
                  <a:pt x="35161" y="2303031"/>
                </a:lnTo>
                <a:lnTo>
                  <a:pt x="0" y="2303031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1" name="Shape 19"/>
          <p:cNvSpPr/>
          <p:nvPr/>
        </p:nvSpPr>
        <p:spPr>
          <a:xfrm>
            <a:off x="597733" y="3850105"/>
            <a:ext cx="492251" cy="492251"/>
          </a:xfrm>
          <a:custGeom>
            <a:avLst/>
            <a:gdLst/>
            <a:ahLst/>
            <a:cxnLst/>
            <a:rect l="l" t="t" r="r" b="b"/>
            <a:pathLst>
              <a:path w="492251" h="492251">
                <a:moveTo>
                  <a:pt x="105484" y="0"/>
                </a:moveTo>
                <a:lnTo>
                  <a:pt x="386766" y="0"/>
                </a:lnTo>
                <a:cubicBezTo>
                  <a:pt x="445024" y="0"/>
                  <a:pt x="492251" y="47227"/>
                  <a:pt x="492251" y="105484"/>
                </a:cubicBezTo>
                <a:lnTo>
                  <a:pt x="492251" y="386766"/>
                </a:lnTo>
                <a:cubicBezTo>
                  <a:pt x="492251" y="445024"/>
                  <a:pt x="445024" y="492251"/>
                  <a:pt x="386766" y="492251"/>
                </a:cubicBezTo>
                <a:lnTo>
                  <a:pt x="105484" y="492251"/>
                </a:lnTo>
                <a:cubicBezTo>
                  <a:pt x="47227" y="492251"/>
                  <a:pt x="0" y="445024"/>
                  <a:pt x="0" y="386766"/>
                </a:cubicBezTo>
                <a:lnTo>
                  <a:pt x="0" y="105484"/>
                </a:lnTo>
                <a:cubicBezTo>
                  <a:pt x="0" y="47266"/>
                  <a:pt x="47266" y="0"/>
                  <a:pt x="105484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25191" y="3990748"/>
            <a:ext cx="237335" cy="210965"/>
          </a:xfrm>
          <a:custGeom>
            <a:avLst/>
            <a:gdLst/>
            <a:ahLst/>
            <a:cxnLst/>
            <a:rect l="l" t="t" r="r" b="b"/>
            <a:pathLst>
              <a:path w="237335" h="210965">
                <a:moveTo>
                  <a:pt x="16894" y="-10260"/>
                </a:moveTo>
                <a:cubicBezTo>
                  <a:pt x="13020" y="-14133"/>
                  <a:pt x="6757" y="-14133"/>
                  <a:pt x="2925" y="-10260"/>
                </a:cubicBezTo>
                <a:cubicBezTo>
                  <a:pt x="-906" y="-6387"/>
                  <a:pt x="-948" y="-124"/>
                  <a:pt x="2884" y="3750"/>
                </a:cubicBezTo>
                <a:lnTo>
                  <a:pt x="220442" y="221307"/>
                </a:lnTo>
                <a:cubicBezTo>
                  <a:pt x="224315" y="225180"/>
                  <a:pt x="230578" y="225180"/>
                  <a:pt x="234410" y="221307"/>
                </a:cubicBezTo>
                <a:cubicBezTo>
                  <a:pt x="238242" y="217434"/>
                  <a:pt x="238283" y="211171"/>
                  <a:pt x="234410" y="207339"/>
                </a:cubicBezTo>
                <a:lnTo>
                  <a:pt x="194689" y="167618"/>
                </a:lnTo>
                <a:cubicBezTo>
                  <a:pt x="195802" y="166629"/>
                  <a:pt x="196914" y="165640"/>
                  <a:pt x="197985" y="164651"/>
                </a:cubicBezTo>
                <a:cubicBezTo>
                  <a:pt x="217269" y="146728"/>
                  <a:pt x="230166" y="125343"/>
                  <a:pt x="236305" y="110633"/>
                </a:cubicBezTo>
                <a:cubicBezTo>
                  <a:pt x="237665" y="107378"/>
                  <a:pt x="237665" y="103752"/>
                  <a:pt x="236305" y="100497"/>
                </a:cubicBezTo>
                <a:cubicBezTo>
                  <a:pt x="230166" y="85787"/>
                  <a:pt x="217269" y="64361"/>
                  <a:pt x="197985" y="46478"/>
                </a:cubicBezTo>
                <a:cubicBezTo>
                  <a:pt x="178578" y="28472"/>
                  <a:pt x="151919" y="13268"/>
                  <a:pt x="118626" y="13268"/>
                </a:cubicBezTo>
                <a:cubicBezTo>
                  <a:pt x="95223" y="13268"/>
                  <a:pt x="75115" y="20767"/>
                  <a:pt x="58469" y="31480"/>
                </a:cubicBezTo>
                <a:lnTo>
                  <a:pt x="16894" y="-10260"/>
                </a:lnTo>
                <a:close/>
                <a:moveTo>
                  <a:pt x="84262" y="57150"/>
                </a:moveTo>
                <a:cubicBezTo>
                  <a:pt x="93945" y="50228"/>
                  <a:pt x="105853" y="46149"/>
                  <a:pt x="118668" y="46149"/>
                </a:cubicBezTo>
                <a:cubicBezTo>
                  <a:pt x="151425" y="46149"/>
                  <a:pt x="178001" y="72725"/>
                  <a:pt x="178001" y="105482"/>
                </a:cubicBezTo>
                <a:cubicBezTo>
                  <a:pt x="178001" y="118297"/>
                  <a:pt x="173922" y="130164"/>
                  <a:pt x="167000" y="139888"/>
                </a:cubicBezTo>
                <a:lnTo>
                  <a:pt x="152702" y="125590"/>
                </a:lnTo>
                <a:cubicBezTo>
                  <a:pt x="157935" y="116772"/>
                  <a:pt x="159707" y="105936"/>
                  <a:pt x="156864" y="95223"/>
                </a:cubicBezTo>
                <a:cubicBezTo>
                  <a:pt x="151219" y="74126"/>
                  <a:pt x="129504" y="61600"/>
                  <a:pt x="108408" y="67245"/>
                </a:cubicBezTo>
                <a:cubicBezTo>
                  <a:pt x="104864" y="68193"/>
                  <a:pt x="101527" y="69594"/>
                  <a:pt x="98519" y="71365"/>
                </a:cubicBezTo>
                <a:lnTo>
                  <a:pt x="84221" y="57068"/>
                </a:lnTo>
                <a:close/>
                <a:moveTo>
                  <a:pt x="134037" y="162797"/>
                </a:moveTo>
                <a:cubicBezTo>
                  <a:pt x="129133" y="164116"/>
                  <a:pt x="123983" y="164816"/>
                  <a:pt x="118668" y="164816"/>
                </a:cubicBezTo>
                <a:cubicBezTo>
                  <a:pt x="85910" y="164816"/>
                  <a:pt x="59334" y="138240"/>
                  <a:pt x="59334" y="105482"/>
                </a:cubicBezTo>
                <a:cubicBezTo>
                  <a:pt x="59334" y="100167"/>
                  <a:pt x="60034" y="95017"/>
                  <a:pt x="61353" y="90113"/>
                </a:cubicBezTo>
                <a:lnTo>
                  <a:pt x="28596" y="57356"/>
                </a:lnTo>
                <a:cubicBezTo>
                  <a:pt x="15163" y="72519"/>
                  <a:pt x="5933" y="88589"/>
                  <a:pt x="1030" y="100414"/>
                </a:cubicBezTo>
                <a:cubicBezTo>
                  <a:pt x="-330" y="103669"/>
                  <a:pt x="-330" y="107295"/>
                  <a:pt x="1030" y="110550"/>
                </a:cubicBezTo>
                <a:cubicBezTo>
                  <a:pt x="7170" y="125260"/>
                  <a:pt x="20066" y="146686"/>
                  <a:pt x="39350" y="164569"/>
                </a:cubicBezTo>
                <a:cubicBezTo>
                  <a:pt x="58757" y="182575"/>
                  <a:pt x="85416" y="197779"/>
                  <a:pt x="118709" y="197779"/>
                </a:cubicBezTo>
                <a:cubicBezTo>
                  <a:pt x="134078" y="197779"/>
                  <a:pt x="148046" y="194524"/>
                  <a:pt x="160531" y="189291"/>
                </a:cubicBezTo>
                <a:lnTo>
                  <a:pt x="134078" y="162838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3" name="Text 21"/>
          <p:cNvSpPr/>
          <p:nvPr/>
        </p:nvSpPr>
        <p:spPr>
          <a:xfrm>
            <a:off x="1230627" y="3850105"/>
            <a:ext cx="2637058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 Gap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0627" y="4201713"/>
            <a:ext cx="2619478" cy="22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IR systems lack transparency: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30627" y="4535740"/>
            <a:ext cx="2549156" cy="351608"/>
          </a:xfrm>
          <a:custGeom>
            <a:avLst/>
            <a:gdLst/>
            <a:ahLst/>
            <a:cxnLst/>
            <a:rect l="l" t="t" r="r" b="b"/>
            <a:pathLst>
              <a:path w="2549156" h="351608">
                <a:moveTo>
                  <a:pt x="35161" y="0"/>
                </a:moveTo>
                <a:lnTo>
                  <a:pt x="2513996" y="0"/>
                </a:lnTo>
                <a:cubicBezTo>
                  <a:pt x="2533414" y="0"/>
                  <a:pt x="2549156" y="15742"/>
                  <a:pt x="2549156" y="35161"/>
                </a:cubicBezTo>
                <a:lnTo>
                  <a:pt x="2549156" y="316447"/>
                </a:lnTo>
                <a:cubicBezTo>
                  <a:pt x="2549156" y="335866"/>
                  <a:pt x="2533414" y="351608"/>
                  <a:pt x="2513996" y="351608"/>
                </a:cubicBezTo>
                <a:lnTo>
                  <a:pt x="35161" y="351608"/>
                </a:lnTo>
                <a:cubicBezTo>
                  <a:pt x="15755" y="351608"/>
                  <a:pt x="0" y="335853"/>
                  <a:pt x="0" y="3164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Shape 24"/>
          <p:cNvSpPr/>
          <p:nvPr/>
        </p:nvSpPr>
        <p:spPr>
          <a:xfrm>
            <a:off x="1333912" y="4650013"/>
            <a:ext cx="92297" cy="123063"/>
          </a:xfrm>
          <a:custGeom>
            <a:avLst/>
            <a:gdLst/>
            <a:ahLst/>
            <a:cxnLst/>
            <a:rect l="l" t="t" r="r" b="b"/>
            <a:pathLst>
              <a:path w="92297" h="123063">
                <a:moveTo>
                  <a:pt x="13244" y="17642"/>
                </a:moveTo>
                <a:cubicBezTo>
                  <a:pt x="10239" y="14638"/>
                  <a:pt x="5360" y="14638"/>
                  <a:pt x="2355" y="17642"/>
                </a:cubicBezTo>
                <a:cubicBezTo>
                  <a:pt x="-649" y="20647"/>
                  <a:pt x="-649" y="25526"/>
                  <a:pt x="2355" y="28530"/>
                </a:cubicBezTo>
                <a:lnTo>
                  <a:pt x="35381" y="61531"/>
                </a:lnTo>
                <a:lnTo>
                  <a:pt x="2380" y="94556"/>
                </a:lnTo>
                <a:cubicBezTo>
                  <a:pt x="-625" y="97561"/>
                  <a:pt x="-625" y="102440"/>
                  <a:pt x="2380" y="105445"/>
                </a:cubicBezTo>
                <a:cubicBezTo>
                  <a:pt x="5384" y="108449"/>
                  <a:pt x="10263" y="108449"/>
                  <a:pt x="13268" y="105445"/>
                </a:cubicBezTo>
                <a:lnTo>
                  <a:pt x="46269" y="72420"/>
                </a:lnTo>
                <a:lnTo>
                  <a:pt x="79294" y="105421"/>
                </a:lnTo>
                <a:cubicBezTo>
                  <a:pt x="82298" y="108425"/>
                  <a:pt x="87177" y="108425"/>
                  <a:pt x="90182" y="105421"/>
                </a:cubicBezTo>
                <a:cubicBezTo>
                  <a:pt x="93186" y="102416"/>
                  <a:pt x="93186" y="97537"/>
                  <a:pt x="90182" y="94532"/>
                </a:cubicBezTo>
                <a:lnTo>
                  <a:pt x="57157" y="61531"/>
                </a:lnTo>
                <a:lnTo>
                  <a:pt x="90158" y="28506"/>
                </a:lnTo>
                <a:cubicBezTo>
                  <a:pt x="93162" y="25502"/>
                  <a:pt x="93162" y="20623"/>
                  <a:pt x="90158" y="17618"/>
                </a:cubicBezTo>
                <a:cubicBezTo>
                  <a:pt x="87153" y="14614"/>
                  <a:pt x="82274" y="14614"/>
                  <a:pt x="79270" y="17618"/>
                </a:cubicBezTo>
                <a:lnTo>
                  <a:pt x="46269" y="50643"/>
                </a:lnTo>
                <a:lnTo>
                  <a:pt x="13244" y="17642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7" name="Text 25"/>
          <p:cNvSpPr/>
          <p:nvPr/>
        </p:nvSpPr>
        <p:spPr>
          <a:xfrm>
            <a:off x="1525099" y="4606062"/>
            <a:ext cx="225029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embeddings are black boxes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30627" y="4957670"/>
            <a:ext cx="2549156" cy="351608"/>
          </a:xfrm>
          <a:custGeom>
            <a:avLst/>
            <a:gdLst/>
            <a:ahLst/>
            <a:cxnLst/>
            <a:rect l="l" t="t" r="r" b="b"/>
            <a:pathLst>
              <a:path w="2549156" h="351608">
                <a:moveTo>
                  <a:pt x="35161" y="0"/>
                </a:moveTo>
                <a:lnTo>
                  <a:pt x="2513996" y="0"/>
                </a:lnTo>
                <a:cubicBezTo>
                  <a:pt x="2533414" y="0"/>
                  <a:pt x="2549156" y="15742"/>
                  <a:pt x="2549156" y="35161"/>
                </a:cubicBezTo>
                <a:lnTo>
                  <a:pt x="2549156" y="316447"/>
                </a:lnTo>
                <a:cubicBezTo>
                  <a:pt x="2549156" y="335866"/>
                  <a:pt x="2533414" y="351608"/>
                  <a:pt x="2513996" y="351608"/>
                </a:cubicBezTo>
                <a:lnTo>
                  <a:pt x="35161" y="351608"/>
                </a:lnTo>
                <a:cubicBezTo>
                  <a:pt x="15755" y="351608"/>
                  <a:pt x="0" y="335853"/>
                  <a:pt x="0" y="3164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Shape 27"/>
          <p:cNvSpPr/>
          <p:nvPr/>
        </p:nvSpPr>
        <p:spPr>
          <a:xfrm>
            <a:off x="1333912" y="5071942"/>
            <a:ext cx="92297" cy="123063"/>
          </a:xfrm>
          <a:custGeom>
            <a:avLst/>
            <a:gdLst/>
            <a:ahLst/>
            <a:cxnLst/>
            <a:rect l="l" t="t" r="r" b="b"/>
            <a:pathLst>
              <a:path w="92297" h="123063">
                <a:moveTo>
                  <a:pt x="13244" y="17642"/>
                </a:moveTo>
                <a:cubicBezTo>
                  <a:pt x="10239" y="14638"/>
                  <a:pt x="5360" y="14638"/>
                  <a:pt x="2355" y="17642"/>
                </a:cubicBezTo>
                <a:cubicBezTo>
                  <a:pt x="-649" y="20647"/>
                  <a:pt x="-649" y="25526"/>
                  <a:pt x="2355" y="28530"/>
                </a:cubicBezTo>
                <a:lnTo>
                  <a:pt x="35381" y="61531"/>
                </a:lnTo>
                <a:lnTo>
                  <a:pt x="2380" y="94556"/>
                </a:lnTo>
                <a:cubicBezTo>
                  <a:pt x="-625" y="97561"/>
                  <a:pt x="-625" y="102440"/>
                  <a:pt x="2380" y="105445"/>
                </a:cubicBezTo>
                <a:cubicBezTo>
                  <a:pt x="5384" y="108449"/>
                  <a:pt x="10263" y="108449"/>
                  <a:pt x="13268" y="105445"/>
                </a:cubicBezTo>
                <a:lnTo>
                  <a:pt x="46269" y="72420"/>
                </a:lnTo>
                <a:lnTo>
                  <a:pt x="79294" y="105421"/>
                </a:lnTo>
                <a:cubicBezTo>
                  <a:pt x="82298" y="108425"/>
                  <a:pt x="87177" y="108425"/>
                  <a:pt x="90182" y="105421"/>
                </a:cubicBezTo>
                <a:cubicBezTo>
                  <a:pt x="93186" y="102416"/>
                  <a:pt x="93186" y="97537"/>
                  <a:pt x="90182" y="94532"/>
                </a:cubicBezTo>
                <a:lnTo>
                  <a:pt x="57157" y="61531"/>
                </a:lnTo>
                <a:lnTo>
                  <a:pt x="90158" y="28506"/>
                </a:lnTo>
                <a:cubicBezTo>
                  <a:pt x="93162" y="25502"/>
                  <a:pt x="93162" y="20623"/>
                  <a:pt x="90158" y="17618"/>
                </a:cubicBezTo>
                <a:cubicBezTo>
                  <a:pt x="87153" y="14614"/>
                  <a:pt x="82274" y="14614"/>
                  <a:pt x="79270" y="17618"/>
                </a:cubicBezTo>
                <a:lnTo>
                  <a:pt x="46269" y="50643"/>
                </a:lnTo>
                <a:lnTo>
                  <a:pt x="13244" y="17642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0" name="Text 28"/>
          <p:cNvSpPr/>
          <p:nvPr/>
        </p:nvSpPr>
        <p:spPr>
          <a:xfrm>
            <a:off x="1525099" y="5027991"/>
            <a:ext cx="220633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reasoning for ranking decisions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30627" y="5379599"/>
            <a:ext cx="2549156" cy="351608"/>
          </a:xfrm>
          <a:custGeom>
            <a:avLst/>
            <a:gdLst/>
            <a:ahLst/>
            <a:cxnLst/>
            <a:rect l="l" t="t" r="r" b="b"/>
            <a:pathLst>
              <a:path w="2549156" h="351608">
                <a:moveTo>
                  <a:pt x="35161" y="0"/>
                </a:moveTo>
                <a:lnTo>
                  <a:pt x="2513996" y="0"/>
                </a:lnTo>
                <a:cubicBezTo>
                  <a:pt x="2533414" y="0"/>
                  <a:pt x="2549156" y="15742"/>
                  <a:pt x="2549156" y="35161"/>
                </a:cubicBezTo>
                <a:lnTo>
                  <a:pt x="2549156" y="316447"/>
                </a:lnTo>
                <a:cubicBezTo>
                  <a:pt x="2549156" y="335866"/>
                  <a:pt x="2533414" y="351608"/>
                  <a:pt x="2513996" y="351608"/>
                </a:cubicBezTo>
                <a:lnTo>
                  <a:pt x="35161" y="351608"/>
                </a:lnTo>
                <a:cubicBezTo>
                  <a:pt x="15755" y="351608"/>
                  <a:pt x="0" y="335853"/>
                  <a:pt x="0" y="3164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2" name="Shape 30"/>
          <p:cNvSpPr/>
          <p:nvPr/>
        </p:nvSpPr>
        <p:spPr>
          <a:xfrm>
            <a:off x="1333912" y="5493872"/>
            <a:ext cx="92297" cy="123063"/>
          </a:xfrm>
          <a:custGeom>
            <a:avLst/>
            <a:gdLst/>
            <a:ahLst/>
            <a:cxnLst/>
            <a:rect l="l" t="t" r="r" b="b"/>
            <a:pathLst>
              <a:path w="92297" h="123063">
                <a:moveTo>
                  <a:pt x="13244" y="17642"/>
                </a:moveTo>
                <a:cubicBezTo>
                  <a:pt x="10239" y="14638"/>
                  <a:pt x="5360" y="14638"/>
                  <a:pt x="2355" y="17642"/>
                </a:cubicBezTo>
                <a:cubicBezTo>
                  <a:pt x="-649" y="20647"/>
                  <a:pt x="-649" y="25526"/>
                  <a:pt x="2355" y="28530"/>
                </a:cubicBezTo>
                <a:lnTo>
                  <a:pt x="35381" y="61531"/>
                </a:lnTo>
                <a:lnTo>
                  <a:pt x="2380" y="94556"/>
                </a:lnTo>
                <a:cubicBezTo>
                  <a:pt x="-625" y="97561"/>
                  <a:pt x="-625" y="102440"/>
                  <a:pt x="2380" y="105445"/>
                </a:cubicBezTo>
                <a:cubicBezTo>
                  <a:pt x="5384" y="108449"/>
                  <a:pt x="10263" y="108449"/>
                  <a:pt x="13268" y="105445"/>
                </a:cubicBezTo>
                <a:lnTo>
                  <a:pt x="46269" y="72420"/>
                </a:lnTo>
                <a:lnTo>
                  <a:pt x="79294" y="105421"/>
                </a:lnTo>
                <a:cubicBezTo>
                  <a:pt x="82298" y="108425"/>
                  <a:pt x="87177" y="108425"/>
                  <a:pt x="90182" y="105421"/>
                </a:cubicBezTo>
                <a:cubicBezTo>
                  <a:pt x="93186" y="102416"/>
                  <a:pt x="93186" y="97537"/>
                  <a:pt x="90182" y="94532"/>
                </a:cubicBezTo>
                <a:lnTo>
                  <a:pt x="57157" y="61531"/>
                </a:lnTo>
                <a:lnTo>
                  <a:pt x="90158" y="28506"/>
                </a:lnTo>
                <a:cubicBezTo>
                  <a:pt x="93162" y="25502"/>
                  <a:pt x="93162" y="20623"/>
                  <a:pt x="90158" y="17618"/>
                </a:cubicBezTo>
                <a:cubicBezTo>
                  <a:pt x="87153" y="14614"/>
                  <a:pt x="82274" y="14614"/>
                  <a:pt x="79270" y="17618"/>
                </a:cubicBezTo>
                <a:lnTo>
                  <a:pt x="46269" y="50643"/>
                </a:lnTo>
                <a:lnTo>
                  <a:pt x="13244" y="17642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3" name="Text 31"/>
          <p:cNvSpPr/>
          <p:nvPr/>
        </p:nvSpPr>
        <p:spPr>
          <a:xfrm>
            <a:off x="1525099" y="5449921"/>
            <a:ext cx="206569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cannot understand results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9944" y="1160306"/>
            <a:ext cx="5634515" cy="2303031"/>
          </a:xfrm>
          <a:custGeom>
            <a:avLst/>
            <a:gdLst/>
            <a:ahLst/>
            <a:cxnLst/>
            <a:rect l="l" t="t" r="r" b="b"/>
            <a:pathLst>
              <a:path w="5634515" h="2303031">
                <a:moveTo>
                  <a:pt x="0" y="0"/>
                </a:moveTo>
                <a:lnTo>
                  <a:pt x="5634515" y="0"/>
                </a:lnTo>
                <a:lnTo>
                  <a:pt x="5634515" y="2303031"/>
                </a:lnTo>
                <a:lnTo>
                  <a:pt x="0" y="2303031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35" name="Shape 33"/>
          <p:cNvSpPr/>
          <p:nvPr/>
        </p:nvSpPr>
        <p:spPr>
          <a:xfrm>
            <a:off x="6199944" y="1160306"/>
            <a:ext cx="35161" cy="2303031"/>
          </a:xfrm>
          <a:custGeom>
            <a:avLst/>
            <a:gdLst/>
            <a:ahLst/>
            <a:cxnLst/>
            <a:rect l="l" t="t" r="r" b="b"/>
            <a:pathLst>
              <a:path w="35161" h="2303031">
                <a:moveTo>
                  <a:pt x="0" y="0"/>
                </a:moveTo>
                <a:lnTo>
                  <a:pt x="35161" y="0"/>
                </a:lnTo>
                <a:lnTo>
                  <a:pt x="35161" y="2303031"/>
                </a:lnTo>
                <a:lnTo>
                  <a:pt x="0" y="2303031"/>
                </a:lnTo>
                <a:lnTo>
                  <a:pt x="0" y="0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36" name="Shape 34"/>
          <p:cNvSpPr/>
          <p:nvPr/>
        </p:nvSpPr>
        <p:spPr>
          <a:xfrm>
            <a:off x="6428489" y="1371270"/>
            <a:ext cx="492251" cy="492251"/>
          </a:xfrm>
          <a:custGeom>
            <a:avLst/>
            <a:gdLst/>
            <a:ahLst/>
            <a:cxnLst/>
            <a:rect l="l" t="t" r="r" b="b"/>
            <a:pathLst>
              <a:path w="492251" h="492251">
                <a:moveTo>
                  <a:pt x="105484" y="0"/>
                </a:moveTo>
                <a:lnTo>
                  <a:pt x="386766" y="0"/>
                </a:lnTo>
                <a:cubicBezTo>
                  <a:pt x="445024" y="0"/>
                  <a:pt x="492251" y="47227"/>
                  <a:pt x="492251" y="105484"/>
                </a:cubicBezTo>
                <a:lnTo>
                  <a:pt x="492251" y="386766"/>
                </a:lnTo>
                <a:cubicBezTo>
                  <a:pt x="492251" y="445024"/>
                  <a:pt x="445024" y="492251"/>
                  <a:pt x="386766" y="492251"/>
                </a:cubicBezTo>
                <a:lnTo>
                  <a:pt x="105484" y="492251"/>
                </a:lnTo>
                <a:cubicBezTo>
                  <a:pt x="47227" y="492251"/>
                  <a:pt x="0" y="445024"/>
                  <a:pt x="0" y="386766"/>
                </a:cubicBezTo>
                <a:lnTo>
                  <a:pt x="0" y="105484"/>
                </a:lnTo>
                <a:cubicBezTo>
                  <a:pt x="0" y="47266"/>
                  <a:pt x="47266" y="0"/>
                  <a:pt x="105484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55947" y="1511913"/>
            <a:ext cx="237335" cy="210965"/>
          </a:xfrm>
          <a:custGeom>
            <a:avLst/>
            <a:gdLst/>
            <a:ahLst/>
            <a:cxnLst/>
            <a:rect l="l" t="t" r="r" b="b"/>
            <a:pathLst>
              <a:path w="237335" h="210965">
                <a:moveTo>
                  <a:pt x="0" y="138446"/>
                </a:moveTo>
                <a:cubicBezTo>
                  <a:pt x="0" y="171203"/>
                  <a:pt x="26577" y="197779"/>
                  <a:pt x="59334" y="197779"/>
                </a:cubicBezTo>
                <a:lnTo>
                  <a:pt x="184594" y="197779"/>
                </a:lnTo>
                <a:cubicBezTo>
                  <a:pt x="213725" y="197779"/>
                  <a:pt x="237335" y="174169"/>
                  <a:pt x="237335" y="145038"/>
                </a:cubicBezTo>
                <a:cubicBezTo>
                  <a:pt x="237335" y="123777"/>
                  <a:pt x="224768" y="105441"/>
                  <a:pt x="206638" y="97118"/>
                </a:cubicBezTo>
                <a:cubicBezTo>
                  <a:pt x="209399" y="91720"/>
                  <a:pt x="210965" y="85581"/>
                  <a:pt x="210965" y="79112"/>
                </a:cubicBezTo>
                <a:cubicBezTo>
                  <a:pt x="210965" y="57274"/>
                  <a:pt x="193247" y="39556"/>
                  <a:pt x="171409" y="39556"/>
                </a:cubicBezTo>
                <a:cubicBezTo>
                  <a:pt x="164116" y="39556"/>
                  <a:pt x="157317" y="41534"/>
                  <a:pt x="151466" y="44954"/>
                </a:cubicBezTo>
                <a:cubicBezTo>
                  <a:pt x="141536" y="26082"/>
                  <a:pt x="121717" y="13185"/>
                  <a:pt x="98890" y="13185"/>
                </a:cubicBezTo>
                <a:cubicBezTo>
                  <a:pt x="66132" y="13185"/>
                  <a:pt x="39556" y="39762"/>
                  <a:pt x="39556" y="72519"/>
                </a:cubicBezTo>
                <a:cubicBezTo>
                  <a:pt x="39556" y="75815"/>
                  <a:pt x="39844" y="79071"/>
                  <a:pt x="40339" y="82202"/>
                </a:cubicBezTo>
                <a:cubicBezTo>
                  <a:pt x="16894" y="90113"/>
                  <a:pt x="0" y="112322"/>
                  <a:pt x="0" y="138446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38" name="Text 36"/>
          <p:cNvSpPr/>
          <p:nvPr/>
        </p:nvSpPr>
        <p:spPr>
          <a:xfrm>
            <a:off x="7061383" y="1371270"/>
            <a:ext cx="2953505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Dependency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61383" y="1722878"/>
            <a:ext cx="2935925" cy="22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Heavy reliance on cloud infrastructure creates: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061383" y="2056906"/>
            <a:ext cx="2865603" cy="351608"/>
          </a:xfrm>
          <a:custGeom>
            <a:avLst/>
            <a:gdLst/>
            <a:ahLst/>
            <a:cxnLst/>
            <a:rect l="l" t="t" r="r" b="b"/>
            <a:pathLst>
              <a:path w="2865603" h="351608">
                <a:moveTo>
                  <a:pt x="35161" y="0"/>
                </a:moveTo>
                <a:lnTo>
                  <a:pt x="2830443" y="0"/>
                </a:lnTo>
                <a:cubicBezTo>
                  <a:pt x="2849861" y="0"/>
                  <a:pt x="2865603" y="15742"/>
                  <a:pt x="2865603" y="35161"/>
                </a:cubicBezTo>
                <a:lnTo>
                  <a:pt x="2865603" y="316447"/>
                </a:lnTo>
                <a:cubicBezTo>
                  <a:pt x="2865603" y="335866"/>
                  <a:pt x="2849861" y="351608"/>
                  <a:pt x="2830443" y="351608"/>
                </a:cubicBezTo>
                <a:lnTo>
                  <a:pt x="35161" y="351608"/>
                </a:lnTo>
                <a:cubicBezTo>
                  <a:pt x="15755" y="351608"/>
                  <a:pt x="0" y="335853"/>
                  <a:pt x="0" y="3164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Shape 39"/>
          <p:cNvSpPr/>
          <p:nvPr/>
        </p:nvSpPr>
        <p:spPr>
          <a:xfrm>
            <a:off x="7172359" y="2171178"/>
            <a:ext cx="76914" cy="123063"/>
          </a:xfrm>
          <a:custGeom>
            <a:avLst/>
            <a:gdLst/>
            <a:ahLst/>
            <a:cxnLst/>
            <a:rect l="l" t="t" r="r" b="b"/>
            <a:pathLst>
              <a:path w="76914" h="123063">
                <a:moveTo>
                  <a:pt x="32689" y="5769"/>
                </a:moveTo>
                <a:cubicBezTo>
                  <a:pt x="32689" y="2572"/>
                  <a:pt x="35260" y="0"/>
                  <a:pt x="38457" y="0"/>
                </a:cubicBezTo>
                <a:cubicBezTo>
                  <a:pt x="41654" y="0"/>
                  <a:pt x="44226" y="2572"/>
                  <a:pt x="44226" y="5769"/>
                </a:cubicBezTo>
                <a:lnTo>
                  <a:pt x="44226" y="15383"/>
                </a:lnTo>
                <a:lnTo>
                  <a:pt x="57686" y="15383"/>
                </a:lnTo>
                <a:cubicBezTo>
                  <a:pt x="61940" y="15383"/>
                  <a:pt x="65377" y="18820"/>
                  <a:pt x="65377" y="23074"/>
                </a:cubicBezTo>
                <a:cubicBezTo>
                  <a:pt x="65377" y="27329"/>
                  <a:pt x="61940" y="30766"/>
                  <a:pt x="57686" y="30766"/>
                </a:cubicBezTo>
                <a:lnTo>
                  <a:pt x="30069" y="30766"/>
                </a:lnTo>
                <a:cubicBezTo>
                  <a:pt x="24084" y="30766"/>
                  <a:pt x="19229" y="35621"/>
                  <a:pt x="19229" y="41606"/>
                </a:cubicBezTo>
                <a:cubicBezTo>
                  <a:pt x="19229" y="47014"/>
                  <a:pt x="23194" y="51581"/>
                  <a:pt x="28530" y="52350"/>
                </a:cubicBezTo>
                <a:lnTo>
                  <a:pt x="50547" y="55498"/>
                </a:lnTo>
                <a:cubicBezTo>
                  <a:pt x="63478" y="57349"/>
                  <a:pt x="73068" y="68406"/>
                  <a:pt x="73068" y="81457"/>
                </a:cubicBezTo>
                <a:cubicBezTo>
                  <a:pt x="73068" y="95950"/>
                  <a:pt x="61315" y="107680"/>
                  <a:pt x="46846" y="107680"/>
                </a:cubicBezTo>
                <a:lnTo>
                  <a:pt x="44226" y="107680"/>
                </a:lnTo>
                <a:lnTo>
                  <a:pt x="44226" y="117294"/>
                </a:lnTo>
                <a:cubicBezTo>
                  <a:pt x="44226" y="120491"/>
                  <a:pt x="41654" y="123063"/>
                  <a:pt x="38457" y="123063"/>
                </a:cubicBezTo>
                <a:cubicBezTo>
                  <a:pt x="35260" y="123063"/>
                  <a:pt x="32689" y="120491"/>
                  <a:pt x="32689" y="117294"/>
                </a:cubicBezTo>
                <a:lnTo>
                  <a:pt x="32689" y="107680"/>
                </a:lnTo>
                <a:lnTo>
                  <a:pt x="15383" y="107680"/>
                </a:lnTo>
                <a:cubicBezTo>
                  <a:pt x="11129" y="107680"/>
                  <a:pt x="7691" y="104243"/>
                  <a:pt x="7691" y="99988"/>
                </a:cubicBezTo>
                <a:cubicBezTo>
                  <a:pt x="7691" y="95734"/>
                  <a:pt x="11129" y="92297"/>
                  <a:pt x="15383" y="92297"/>
                </a:cubicBezTo>
                <a:lnTo>
                  <a:pt x="46846" y="92297"/>
                </a:lnTo>
                <a:cubicBezTo>
                  <a:pt x="52830" y="92297"/>
                  <a:pt x="57686" y="87442"/>
                  <a:pt x="57686" y="81457"/>
                </a:cubicBezTo>
                <a:cubicBezTo>
                  <a:pt x="57686" y="76049"/>
                  <a:pt x="53720" y="71482"/>
                  <a:pt x="48384" y="70713"/>
                </a:cubicBezTo>
                <a:lnTo>
                  <a:pt x="26367" y="67564"/>
                </a:lnTo>
                <a:cubicBezTo>
                  <a:pt x="13436" y="65738"/>
                  <a:pt x="3846" y="54657"/>
                  <a:pt x="3846" y="41606"/>
                </a:cubicBezTo>
                <a:cubicBezTo>
                  <a:pt x="3846" y="27136"/>
                  <a:pt x="15599" y="15383"/>
                  <a:pt x="30069" y="15383"/>
                </a:cubicBezTo>
                <a:lnTo>
                  <a:pt x="32689" y="15383"/>
                </a:lnTo>
                <a:lnTo>
                  <a:pt x="32689" y="5769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2" name="Text 40"/>
          <p:cNvSpPr/>
          <p:nvPr/>
        </p:nvSpPr>
        <p:spPr>
          <a:xfrm>
            <a:off x="7355855" y="2127227"/>
            <a:ext cx="1459172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operational costs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061383" y="2478835"/>
            <a:ext cx="2865603" cy="351608"/>
          </a:xfrm>
          <a:custGeom>
            <a:avLst/>
            <a:gdLst/>
            <a:ahLst/>
            <a:cxnLst/>
            <a:rect l="l" t="t" r="r" b="b"/>
            <a:pathLst>
              <a:path w="2865603" h="351608">
                <a:moveTo>
                  <a:pt x="35161" y="0"/>
                </a:moveTo>
                <a:lnTo>
                  <a:pt x="2830443" y="0"/>
                </a:lnTo>
                <a:cubicBezTo>
                  <a:pt x="2849861" y="0"/>
                  <a:pt x="2865603" y="15742"/>
                  <a:pt x="2865603" y="35161"/>
                </a:cubicBezTo>
                <a:lnTo>
                  <a:pt x="2865603" y="316447"/>
                </a:lnTo>
                <a:cubicBezTo>
                  <a:pt x="2865603" y="335866"/>
                  <a:pt x="2849861" y="351608"/>
                  <a:pt x="2830443" y="351608"/>
                </a:cubicBezTo>
                <a:lnTo>
                  <a:pt x="35161" y="351608"/>
                </a:lnTo>
                <a:cubicBezTo>
                  <a:pt x="15755" y="351608"/>
                  <a:pt x="0" y="335853"/>
                  <a:pt x="0" y="3164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4" name="Shape 42"/>
          <p:cNvSpPr/>
          <p:nvPr/>
        </p:nvSpPr>
        <p:spPr>
          <a:xfrm>
            <a:off x="7164668" y="2593107"/>
            <a:ext cx="92297" cy="123063"/>
          </a:xfrm>
          <a:custGeom>
            <a:avLst/>
            <a:gdLst/>
            <a:ahLst/>
            <a:cxnLst/>
            <a:rect l="l" t="t" r="r" b="b"/>
            <a:pathLst>
              <a:path w="92297" h="123063">
                <a:moveTo>
                  <a:pt x="30766" y="23074"/>
                </a:moveTo>
                <a:lnTo>
                  <a:pt x="30766" y="38457"/>
                </a:lnTo>
                <a:lnTo>
                  <a:pt x="61531" y="38457"/>
                </a:lnTo>
                <a:lnTo>
                  <a:pt x="61531" y="23074"/>
                </a:lnTo>
                <a:cubicBezTo>
                  <a:pt x="61531" y="14590"/>
                  <a:pt x="54633" y="7691"/>
                  <a:pt x="46149" y="7691"/>
                </a:cubicBezTo>
                <a:cubicBezTo>
                  <a:pt x="37664" y="7691"/>
                  <a:pt x="30766" y="14590"/>
                  <a:pt x="30766" y="23074"/>
                </a:cubicBezTo>
                <a:close/>
                <a:moveTo>
                  <a:pt x="15383" y="38457"/>
                </a:moveTo>
                <a:lnTo>
                  <a:pt x="15383" y="23074"/>
                </a:lnTo>
                <a:cubicBezTo>
                  <a:pt x="15383" y="6081"/>
                  <a:pt x="29155" y="-7691"/>
                  <a:pt x="46149" y="-7691"/>
                </a:cubicBezTo>
                <a:cubicBezTo>
                  <a:pt x="63142" y="-7691"/>
                  <a:pt x="76914" y="6081"/>
                  <a:pt x="76914" y="23074"/>
                </a:cubicBezTo>
                <a:lnTo>
                  <a:pt x="76914" y="38457"/>
                </a:lnTo>
                <a:cubicBezTo>
                  <a:pt x="85399" y="38457"/>
                  <a:pt x="92297" y="45355"/>
                  <a:pt x="92297" y="53840"/>
                </a:cubicBezTo>
                <a:lnTo>
                  <a:pt x="92297" y="107680"/>
                </a:lnTo>
                <a:cubicBezTo>
                  <a:pt x="92297" y="116164"/>
                  <a:pt x="85399" y="123063"/>
                  <a:pt x="76914" y="123063"/>
                </a:cubicBezTo>
                <a:lnTo>
                  <a:pt x="15383" y="123063"/>
                </a:lnTo>
                <a:cubicBezTo>
                  <a:pt x="6898" y="123063"/>
                  <a:pt x="0" y="116164"/>
                  <a:pt x="0" y="107680"/>
                </a:cubicBezTo>
                <a:lnTo>
                  <a:pt x="0" y="53840"/>
                </a:lnTo>
                <a:cubicBezTo>
                  <a:pt x="0" y="45355"/>
                  <a:pt x="6898" y="38457"/>
                  <a:pt x="15383" y="38457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5" name="Text 43"/>
          <p:cNvSpPr/>
          <p:nvPr/>
        </p:nvSpPr>
        <p:spPr>
          <a:xfrm>
            <a:off x="7355855" y="2549156"/>
            <a:ext cx="1441592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privacy concerns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061383" y="2900764"/>
            <a:ext cx="2865603" cy="351608"/>
          </a:xfrm>
          <a:custGeom>
            <a:avLst/>
            <a:gdLst/>
            <a:ahLst/>
            <a:cxnLst/>
            <a:rect l="l" t="t" r="r" b="b"/>
            <a:pathLst>
              <a:path w="2865603" h="351608">
                <a:moveTo>
                  <a:pt x="35161" y="0"/>
                </a:moveTo>
                <a:lnTo>
                  <a:pt x="2830443" y="0"/>
                </a:lnTo>
                <a:cubicBezTo>
                  <a:pt x="2849861" y="0"/>
                  <a:pt x="2865603" y="15742"/>
                  <a:pt x="2865603" y="35161"/>
                </a:cubicBezTo>
                <a:lnTo>
                  <a:pt x="2865603" y="316447"/>
                </a:lnTo>
                <a:cubicBezTo>
                  <a:pt x="2865603" y="335866"/>
                  <a:pt x="2849861" y="351608"/>
                  <a:pt x="2830443" y="351608"/>
                </a:cubicBezTo>
                <a:lnTo>
                  <a:pt x="35161" y="351608"/>
                </a:lnTo>
                <a:cubicBezTo>
                  <a:pt x="15755" y="351608"/>
                  <a:pt x="0" y="335853"/>
                  <a:pt x="0" y="3164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7" name="Shape 45"/>
          <p:cNvSpPr/>
          <p:nvPr/>
        </p:nvSpPr>
        <p:spPr>
          <a:xfrm>
            <a:off x="7141594" y="3015037"/>
            <a:ext cx="138446" cy="123063"/>
          </a:xfrm>
          <a:custGeom>
            <a:avLst/>
            <a:gdLst/>
            <a:ahLst/>
            <a:cxnLst/>
            <a:rect l="l" t="t" r="r" b="b"/>
            <a:pathLst>
              <a:path w="138446" h="123063">
                <a:moveTo>
                  <a:pt x="69223" y="23074"/>
                </a:moveTo>
                <a:cubicBezTo>
                  <a:pt x="47374" y="23074"/>
                  <a:pt x="27593" y="31727"/>
                  <a:pt x="13051" y="45812"/>
                </a:cubicBezTo>
                <a:cubicBezTo>
                  <a:pt x="9999" y="48768"/>
                  <a:pt x="5120" y="48696"/>
                  <a:pt x="2187" y="45644"/>
                </a:cubicBezTo>
                <a:cubicBezTo>
                  <a:pt x="-745" y="42591"/>
                  <a:pt x="-697" y="37712"/>
                  <a:pt x="2355" y="34780"/>
                </a:cubicBezTo>
                <a:cubicBezTo>
                  <a:pt x="19637" y="18003"/>
                  <a:pt x="43240" y="7691"/>
                  <a:pt x="69223" y="7691"/>
                </a:cubicBezTo>
                <a:cubicBezTo>
                  <a:pt x="95205" y="7691"/>
                  <a:pt x="118808" y="18003"/>
                  <a:pt x="136114" y="34780"/>
                </a:cubicBezTo>
                <a:cubicBezTo>
                  <a:pt x="139167" y="37736"/>
                  <a:pt x="139239" y="42615"/>
                  <a:pt x="136282" y="45644"/>
                </a:cubicBezTo>
                <a:cubicBezTo>
                  <a:pt x="133326" y="48672"/>
                  <a:pt x="128447" y="48768"/>
                  <a:pt x="125418" y="45812"/>
                </a:cubicBezTo>
                <a:cubicBezTo>
                  <a:pt x="110853" y="31727"/>
                  <a:pt x="91071" y="23074"/>
                  <a:pt x="69223" y="23074"/>
                </a:cubicBezTo>
                <a:close/>
                <a:moveTo>
                  <a:pt x="57686" y="103834"/>
                </a:moveTo>
                <a:cubicBezTo>
                  <a:pt x="57686" y="97467"/>
                  <a:pt x="62855" y="92297"/>
                  <a:pt x="69223" y="92297"/>
                </a:cubicBezTo>
                <a:cubicBezTo>
                  <a:pt x="75590" y="92297"/>
                  <a:pt x="80760" y="97467"/>
                  <a:pt x="80760" y="103834"/>
                </a:cubicBezTo>
                <a:cubicBezTo>
                  <a:pt x="80760" y="110202"/>
                  <a:pt x="75590" y="115371"/>
                  <a:pt x="69223" y="115371"/>
                </a:cubicBezTo>
                <a:cubicBezTo>
                  <a:pt x="62855" y="115371"/>
                  <a:pt x="57686" y="110202"/>
                  <a:pt x="57686" y="103834"/>
                </a:cubicBezTo>
                <a:close/>
                <a:moveTo>
                  <a:pt x="40380" y="78404"/>
                </a:moveTo>
                <a:cubicBezTo>
                  <a:pt x="37568" y="81601"/>
                  <a:pt x="32713" y="81890"/>
                  <a:pt x="29516" y="79077"/>
                </a:cubicBezTo>
                <a:cubicBezTo>
                  <a:pt x="26319" y="76265"/>
                  <a:pt x="26031" y="71410"/>
                  <a:pt x="28843" y="68213"/>
                </a:cubicBezTo>
                <a:cubicBezTo>
                  <a:pt x="38697" y="57061"/>
                  <a:pt x="53143" y="49994"/>
                  <a:pt x="69223" y="49994"/>
                </a:cubicBezTo>
                <a:cubicBezTo>
                  <a:pt x="85303" y="49994"/>
                  <a:pt x="99748" y="57061"/>
                  <a:pt x="109603" y="68213"/>
                </a:cubicBezTo>
                <a:cubicBezTo>
                  <a:pt x="112415" y="71410"/>
                  <a:pt x="112102" y="76265"/>
                  <a:pt x="108930" y="79077"/>
                </a:cubicBezTo>
                <a:cubicBezTo>
                  <a:pt x="105757" y="81890"/>
                  <a:pt x="100878" y="81577"/>
                  <a:pt x="98066" y="78404"/>
                </a:cubicBezTo>
                <a:cubicBezTo>
                  <a:pt x="90999" y="70401"/>
                  <a:pt x="80712" y="65377"/>
                  <a:pt x="69223" y="65377"/>
                </a:cubicBezTo>
                <a:cubicBezTo>
                  <a:pt x="57734" y="65377"/>
                  <a:pt x="47446" y="70401"/>
                  <a:pt x="40380" y="78404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8" name="Text 46"/>
          <p:cNvSpPr/>
          <p:nvPr/>
        </p:nvSpPr>
        <p:spPr>
          <a:xfrm>
            <a:off x="7355855" y="2971086"/>
            <a:ext cx="150312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latency issues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99944" y="3639141"/>
            <a:ext cx="5634515" cy="2303031"/>
          </a:xfrm>
          <a:custGeom>
            <a:avLst/>
            <a:gdLst/>
            <a:ahLst/>
            <a:cxnLst/>
            <a:rect l="l" t="t" r="r" b="b"/>
            <a:pathLst>
              <a:path w="5634515" h="2303031">
                <a:moveTo>
                  <a:pt x="0" y="0"/>
                </a:moveTo>
                <a:lnTo>
                  <a:pt x="5634515" y="0"/>
                </a:lnTo>
                <a:lnTo>
                  <a:pt x="5634515" y="2303031"/>
                </a:lnTo>
                <a:lnTo>
                  <a:pt x="0" y="2303031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50" name="Shape 48"/>
          <p:cNvSpPr/>
          <p:nvPr/>
        </p:nvSpPr>
        <p:spPr>
          <a:xfrm>
            <a:off x="6199944" y="3639141"/>
            <a:ext cx="35161" cy="2303031"/>
          </a:xfrm>
          <a:custGeom>
            <a:avLst/>
            <a:gdLst/>
            <a:ahLst/>
            <a:cxnLst/>
            <a:rect l="l" t="t" r="r" b="b"/>
            <a:pathLst>
              <a:path w="35161" h="2303031">
                <a:moveTo>
                  <a:pt x="0" y="0"/>
                </a:moveTo>
                <a:lnTo>
                  <a:pt x="35161" y="0"/>
                </a:lnTo>
                <a:lnTo>
                  <a:pt x="35161" y="2303031"/>
                </a:lnTo>
                <a:lnTo>
                  <a:pt x="0" y="2303031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1" name="Shape 49"/>
          <p:cNvSpPr/>
          <p:nvPr/>
        </p:nvSpPr>
        <p:spPr>
          <a:xfrm>
            <a:off x="6428489" y="3850105"/>
            <a:ext cx="492251" cy="492251"/>
          </a:xfrm>
          <a:custGeom>
            <a:avLst/>
            <a:gdLst/>
            <a:ahLst/>
            <a:cxnLst/>
            <a:rect l="l" t="t" r="r" b="b"/>
            <a:pathLst>
              <a:path w="492251" h="492251">
                <a:moveTo>
                  <a:pt x="105484" y="0"/>
                </a:moveTo>
                <a:lnTo>
                  <a:pt x="386766" y="0"/>
                </a:lnTo>
                <a:cubicBezTo>
                  <a:pt x="445024" y="0"/>
                  <a:pt x="492251" y="47227"/>
                  <a:pt x="492251" y="105484"/>
                </a:cubicBezTo>
                <a:lnTo>
                  <a:pt x="492251" y="386766"/>
                </a:lnTo>
                <a:cubicBezTo>
                  <a:pt x="492251" y="445024"/>
                  <a:pt x="445024" y="492251"/>
                  <a:pt x="386766" y="492251"/>
                </a:cubicBezTo>
                <a:lnTo>
                  <a:pt x="105484" y="492251"/>
                </a:lnTo>
                <a:cubicBezTo>
                  <a:pt x="47227" y="492251"/>
                  <a:pt x="0" y="445024"/>
                  <a:pt x="0" y="386766"/>
                </a:cubicBezTo>
                <a:lnTo>
                  <a:pt x="0" y="105484"/>
                </a:lnTo>
                <a:cubicBezTo>
                  <a:pt x="0" y="47266"/>
                  <a:pt x="47266" y="0"/>
                  <a:pt x="105484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569132" y="3990748"/>
            <a:ext cx="210965" cy="210965"/>
          </a:xfrm>
          <a:custGeom>
            <a:avLst/>
            <a:gdLst/>
            <a:ahLst/>
            <a:cxnLst/>
            <a:rect l="l" t="t" r="r" b="b"/>
            <a:pathLst>
              <a:path w="210965" h="210965">
                <a:moveTo>
                  <a:pt x="197821" y="79112"/>
                </a:moveTo>
                <a:lnTo>
                  <a:pt x="201076" y="79112"/>
                </a:lnTo>
                <a:cubicBezTo>
                  <a:pt x="206556" y="79112"/>
                  <a:pt x="210965" y="74703"/>
                  <a:pt x="210965" y="69223"/>
                </a:cubicBezTo>
                <a:lnTo>
                  <a:pt x="210965" y="9889"/>
                </a:lnTo>
                <a:cubicBezTo>
                  <a:pt x="210965" y="5892"/>
                  <a:pt x="208575" y="2266"/>
                  <a:pt x="204866" y="742"/>
                </a:cubicBezTo>
                <a:cubicBezTo>
                  <a:pt x="201158" y="-783"/>
                  <a:pt x="196914" y="82"/>
                  <a:pt x="194071" y="2884"/>
                </a:cubicBezTo>
                <a:lnTo>
                  <a:pt x="172769" y="24228"/>
                </a:lnTo>
                <a:cubicBezTo>
                  <a:pt x="154515" y="9106"/>
                  <a:pt x="131029" y="0"/>
                  <a:pt x="105482" y="0"/>
                </a:cubicBezTo>
                <a:cubicBezTo>
                  <a:pt x="52329" y="0"/>
                  <a:pt x="8364" y="39309"/>
                  <a:pt x="1071" y="90443"/>
                </a:cubicBezTo>
                <a:cubicBezTo>
                  <a:pt x="41" y="97654"/>
                  <a:pt x="5027" y="104329"/>
                  <a:pt x="12238" y="105359"/>
                </a:cubicBezTo>
                <a:cubicBezTo>
                  <a:pt x="19448" y="106389"/>
                  <a:pt x="26123" y="101362"/>
                  <a:pt x="27153" y="94192"/>
                </a:cubicBezTo>
                <a:cubicBezTo>
                  <a:pt x="32634" y="55831"/>
                  <a:pt x="65638" y="26371"/>
                  <a:pt x="105482" y="26371"/>
                </a:cubicBezTo>
                <a:cubicBezTo>
                  <a:pt x="123777" y="26371"/>
                  <a:pt x="140588" y="32551"/>
                  <a:pt x="153979" y="42976"/>
                </a:cubicBezTo>
                <a:lnTo>
                  <a:pt x="134737" y="62218"/>
                </a:lnTo>
                <a:cubicBezTo>
                  <a:pt x="131894" y="65061"/>
                  <a:pt x="131070" y="69305"/>
                  <a:pt x="132595" y="73014"/>
                </a:cubicBezTo>
                <a:cubicBezTo>
                  <a:pt x="134119" y="76722"/>
                  <a:pt x="137745" y="79112"/>
                  <a:pt x="141742" y="79112"/>
                </a:cubicBezTo>
                <a:lnTo>
                  <a:pt x="197821" y="79112"/>
                </a:lnTo>
                <a:close/>
                <a:moveTo>
                  <a:pt x="209935" y="120522"/>
                </a:moveTo>
                <a:cubicBezTo>
                  <a:pt x="210965" y="113311"/>
                  <a:pt x="205938" y="106636"/>
                  <a:pt x="198768" y="105606"/>
                </a:cubicBezTo>
                <a:cubicBezTo>
                  <a:pt x="191599" y="104576"/>
                  <a:pt x="184883" y="109603"/>
                  <a:pt x="183852" y="116772"/>
                </a:cubicBezTo>
                <a:cubicBezTo>
                  <a:pt x="178372" y="155092"/>
                  <a:pt x="145368" y="184553"/>
                  <a:pt x="105524" y="184553"/>
                </a:cubicBezTo>
                <a:cubicBezTo>
                  <a:pt x="87229" y="184553"/>
                  <a:pt x="70418" y="178372"/>
                  <a:pt x="57026" y="167948"/>
                </a:cubicBezTo>
                <a:lnTo>
                  <a:pt x="76227" y="148747"/>
                </a:lnTo>
                <a:cubicBezTo>
                  <a:pt x="79071" y="145903"/>
                  <a:pt x="79895" y="141659"/>
                  <a:pt x="78370" y="137951"/>
                </a:cubicBezTo>
                <a:cubicBezTo>
                  <a:pt x="76846" y="134243"/>
                  <a:pt x="73220" y="131853"/>
                  <a:pt x="69223" y="131853"/>
                </a:cubicBezTo>
                <a:lnTo>
                  <a:pt x="9889" y="131853"/>
                </a:lnTo>
                <a:cubicBezTo>
                  <a:pt x="4409" y="131853"/>
                  <a:pt x="0" y="136262"/>
                  <a:pt x="0" y="141742"/>
                </a:cubicBezTo>
                <a:lnTo>
                  <a:pt x="0" y="201076"/>
                </a:lnTo>
                <a:cubicBezTo>
                  <a:pt x="0" y="205072"/>
                  <a:pt x="2390" y="208698"/>
                  <a:pt x="6098" y="210223"/>
                </a:cubicBezTo>
                <a:cubicBezTo>
                  <a:pt x="9807" y="211748"/>
                  <a:pt x="14051" y="210882"/>
                  <a:pt x="16894" y="208080"/>
                </a:cubicBezTo>
                <a:lnTo>
                  <a:pt x="38237" y="186737"/>
                </a:lnTo>
                <a:cubicBezTo>
                  <a:pt x="56450" y="201859"/>
                  <a:pt x="79936" y="210965"/>
                  <a:pt x="105482" y="210965"/>
                </a:cubicBezTo>
                <a:cubicBezTo>
                  <a:pt x="158636" y="210965"/>
                  <a:pt x="202600" y="171656"/>
                  <a:pt x="209893" y="12052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3" name="Text 51"/>
          <p:cNvSpPr/>
          <p:nvPr/>
        </p:nvSpPr>
        <p:spPr>
          <a:xfrm>
            <a:off x="7061383" y="3850105"/>
            <a:ext cx="2136017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Pipeline Gap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061383" y="4201713"/>
            <a:ext cx="2118437" cy="22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Absence of continuous ingestion: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061383" y="4535740"/>
            <a:ext cx="2048115" cy="351608"/>
          </a:xfrm>
          <a:custGeom>
            <a:avLst/>
            <a:gdLst/>
            <a:ahLst/>
            <a:cxnLst/>
            <a:rect l="l" t="t" r="r" b="b"/>
            <a:pathLst>
              <a:path w="2048115" h="351608">
                <a:moveTo>
                  <a:pt x="35161" y="0"/>
                </a:moveTo>
                <a:lnTo>
                  <a:pt x="2012955" y="0"/>
                </a:lnTo>
                <a:cubicBezTo>
                  <a:pt x="2032373" y="0"/>
                  <a:pt x="2048115" y="15742"/>
                  <a:pt x="2048115" y="35161"/>
                </a:cubicBezTo>
                <a:lnTo>
                  <a:pt x="2048115" y="316447"/>
                </a:lnTo>
                <a:cubicBezTo>
                  <a:pt x="2048115" y="335866"/>
                  <a:pt x="2032373" y="351608"/>
                  <a:pt x="2012955" y="351608"/>
                </a:cubicBezTo>
                <a:lnTo>
                  <a:pt x="35161" y="351608"/>
                </a:lnTo>
                <a:cubicBezTo>
                  <a:pt x="15755" y="351608"/>
                  <a:pt x="0" y="335853"/>
                  <a:pt x="0" y="3164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6" name="Shape 54"/>
          <p:cNvSpPr/>
          <p:nvPr/>
        </p:nvSpPr>
        <p:spPr>
          <a:xfrm>
            <a:off x="7149285" y="4650013"/>
            <a:ext cx="123063" cy="123063"/>
          </a:xfrm>
          <a:custGeom>
            <a:avLst/>
            <a:gdLst/>
            <a:ahLst/>
            <a:cxnLst/>
            <a:rect l="l" t="t" r="r" b="b"/>
            <a:pathLst>
              <a:path w="123063" h="123063">
                <a:moveTo>
                  <a:pt x="61531" y="0"/>
                </a:moveTo>
                <a:cubicBezTo>
                  <a:pt x="95491" y="0"/>
                  <a:pt x="123063" y="27571"/>
                  <a:pt x="123063" y="61531"/>
                </a:cubicBezTo>
                <a:cubicBezTo>
                  <a:pt x="123063" y="95491"/>
                  <a:pt x="95491" y="123063"/>
                  <a:pt x="61531" y="123063"/>
                </a:cubicBezTo>
                <a:cubicBezTo>
                  <a:pt x="27571" y="123063"/>
                  <a:pt x="0" y="95491"/>
                  <a:pt x="0" y="61531"/>
                </a:cubicBezTo>
                <a:cubicBezTo>
                  <a:pt x="0" y="27571"/>
                  <a:pt x="27571" y="0"/>
                  <a:pt x="61531" y="0"/>
                </a:cubicBezTo>
                <a:close/>
                <a:moveTo>
                  <a:pt x="55763" y="28843"/>
                </a:moveTo>
                <a:lnTo>
                  <a:pt x="55763" y="61531"/>
                </a:lnTo>
                <a:cubicBezTo>
                  <a:pt x="55763" y="63454"/>
                  <a:pt x="56724" y="65257"/>
                  <a:pt x="58335" y="66339"/>
                </a:cubicBezTo>
                <a:lnTo>
                  <a:pt x="81409" y="81721"/>
                </a:lnTo>
                <a:cubicBezTo>
                  <a:pt x="84053" y="83500"/>
                  <a:pt x="87634" y="82779"/>
                  <a:pt x="89413" y="80111"/>
                </a:cubicBezTo>
                <a:cubicBezTo>
                  <a:pt x="91191" y="77443"/>
                  <a:pt x="90470" y="73886"/>
                  <a:pt x="87802" y="72107"/>
                </a:cubicBezTo>
                <a:lnTo>
                  <a:pt x="67300" y="58455"/>
                </a:lnTo>
                <a:lnTo>
                  <a:pt x="67300" y="28843"/>
                </a:lnTo>
                <a:cubicBezTo>
                  <a:pt x="67300" y="25646"/>
                  <a:pt x="64728" y="23074"/>
                  <a:pt x="61531" y="23074"/>
                </a:cubicBezTo>
                <a:cubicBezTo>
                  <a:pt x="58335" y="23074"/>
                  <a:pt x="55763" y="25646"/>
                  <a:pt x="55763" y="28843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7" name="Text 55"/>
          <p:cNvSpPr/>
          <p:nvPr/>
        </p:nvSpPr>
        <p:spPr>
          <a:xfrm>
            <a:off x="7355855" y="4606062"/>
            <a:ext cx="1573445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 processing delays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061383" y="4957670"/>
            <a:ext cx="2048115" cy="351608"/>
          </a:xfrm>
          <a:custGeom>
            <a:avLst/>
            <a:gdLst/>
            <a:ahLst/>
            <a:cxnLst/>
            <a:rect l="l" t="t" r="r" b="b"/>
            <a:pathLst>
              <a:path w="2048115" h="351608">
                <a:moveTo>
                  <a:pt x="35161" y="0"/>
                </a:moveTo>
                <a:lnTo>
                  <a:pt x="2012955" y="0"/>
                </a:lnTo>
                <a:cubicBezTo>
                  <a:pt x="2032373" y="0"/>
                  <a:pt x="2048115" y="15742"/>
                  <a:pt x="2048115" y="35161"/>
                </a:cubicBezTo>
                <a:lnTo>
                  <a:pt x="2048115" y="316447"/>
                </a:lnTo>
                <a:cubicBezTo>
                  <a:pt x="2048115" y="335866"/>
                  <a:pt x="2032373" y="351608"/>
                  <a:pt x="2012955" y="351608"/>
                </a:cubicBezTo>
                <a:lnTo>
                  <a:pt x="35161" y="351608"/>
                </a:lnTo>
                <a:cubicBezTo>
                  <a:pt x="15755" y="351608"/>
                  <a:pt x="0" y="335853"/>
                  <a:pt x="0" y="3164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9" name="Shape 57"/>
          <p:cNvSpPr/>
          <p:nvPr/>
        </p:nvSpPr>
        <p:spPr>
          <a:xfrm>
            <a:off x="7156977" y="5071942"/>
            <a:ext cx="107680" cy="123063"/>
          </a:xfrm>
          <a:custGeom>
            <a:avLst/>
            <a:gdLst/>
            <a:ahLst/>
            <a:cxnLst/>
            <a:rect l="l" t="t" r="r" b="b"/>
            <a:pathLst>
              <a:path w="107680" h="123063">
                <a:moveTo>
                  <a:pt x="107680" y="49465"/>
                </a:moveTo>
                <a:cubicBezTo>
                  <a:pt x="104123" y="51821"/>
                  <a:pt x="100037" y="53720"/>
                  <a:pt x="95782" y="55234"/>
                </a:cubicBezTo>
                <a:cubicBezTo>
                  <a:pt x="84485" y="59272"/>
                  <a:pt x="69655" y="61531"/>
                  <a:pt x="53840" y="61531"/>
                </a:cubicBezTo>
                <a:cubicBezTo>
                  <a:pt x="38024" y="61531"/>
                  <a:pt x="23170" y="59248"/>
                  <a:pt x="11898" y="55234"/>
                </a:cubicBezTo>
                <a:cubicBezTo>
                  <a:pt x="7667" y="53720"/>
                  <a:pt x="3557" y="51821"/>
                  <a:pt x="0" y="49465"/>
                </a:cubicBezTo>
                <a:lnTo>
                  <a:pt x="0" y="69223"/>
                </a:lnTo>
                <a:cubicBezTo>
                  <a:pt x="0" y="79847"/>
                  <a:pt x="24108" y="88451"/>
                  <a:pt x="53840" y="88451"/>
                </a:cubicBezTo>
                <a:cubicBezTo>
                  <a:pt x="83572" y="88451"/>
                  <a:pt x="107680" y="79847"/>
                  <a:pt x="107680" y="69223"/>
                </a:cubicBezTo>
                <a:lnTo>
                  <a:pt x="107680" y="49465"/>
                </a:lnTo>
                <a:close/>
                <a:moveTo>
                  <a:pt x="107680" y="30766"/>
                </a:moveTo>
                <a:lnTo>
                  <a:pt x="107680" y="19229"/>
                </a:lnTo>
                <a:cubicBezTo>
                  <a:pt x="107680" y="8605"/>
                  <a:pt x="83572" y="0"/>
                  <a:pt x="53840" y="0"/>
                </a:cubicBezTo>
                <a:cubicBezTo>
                  <a:pt x="24108" y="0"/>
                  <a:pt x="0" y="8605"/>
                  <a:pt x="0" y="19229"/>
                </a:cubicBezTo>
                <a:lnTo>
                  <a:pt x="0" y="30766"/>
                </a:lnTo>
                <a:cubicBezTo>
                  <a:pt x="0" y="41389"/>
                  <a:pt x="24108" y="49994"/>
                  <a:pt x="53840" y="49994"/>
                </a:cubicBezTo>
                <a:cubicBezTo>
                  <a:pt x="83572" y="49994"/>
                  <a:pt x="107680" y="41389"/>
                  <a:pt x="107680" y="30766"/>
                </a:cubicBezTo>
                <a:close/>
                <a:moveTo>
                  <a:pt x="95782" y="93691"/>
                </a:moveTo>
                <a:cubicBezTo>
                  <a:pt x="84509" y="97705"/>
                  <a:pt x="69679" y="99988"/>
                  <a:pt x="53840" y="99988"/>
                </a:cubicBezTo>
                <a:cubicBezTo>
                  <a:pt x="38000" y="99988"/>
                  <a:pt x="23170" y="97705"/>
                  <a:pt x="11898" y="93691"/>
                </a:cubicBezTo>
                <a:cubicBezTo>
                  <a:pt x="7667" y="92177"/>
                  <a:pt x="3557" y="90278"/>
                  <a:pt x="0" y="87923"/>
                </a:cubicBezTo>
                <a:lnTo>
                  <a:pt x="0" y="103834"/>
                </a:lnTo>
                <a:cubicBezTo>
                  <a:pt x="0" y="114458"/>
                  <a:pt x="24108" y="123063"/>
                  <a:pt x="53840" y="123063"/>
                </a:cubicBezTo>
                <a:cubicBezTo>
                  <a:pt x="83572" y="123063"/>
                  <a:pt x="107680" y="114458"/>
                  <a:pt x="107680" y="103834"/>
                </a:cubicBezTo>
                <a:lnTo>
                  <a:pt x="107680" y="87923"/>
                </a:lnTo>
                <a:cubicBezTo>
                  <a:pt x="104123" y="90278"/>
                  <a:pt x="100037" y="92177"/>
                  <a:pt x="95782" y="93691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60" name="Text 58"/>
          <p:cNvSpPr/>
          <p:nvPr/>
        </p:nvSpPr>
        <p:spPr>
          <a:xfrm>
            <a:off x="7355855" y="5027991"/>
            <a:ext cx="136248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Stale index problems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061383" y="5379599"/>
            <a:ext cx="2048115" cy="351608"/>
          </a:xfrm>
          <a:custGeom>
            <a:avLst/>
            <a:gdLst/>
            <a:ahLst/>
            <a:cxnLst/>
            <a:rect l="l" t="t" r="r" b="b"/>
            <a:pathLst>
              <a:path w="2048115" h="351608">
                <a:moveTo>
                  <a:pt x="35161" y="0"/>
                </a:moveTo>
                <a:lnTo>
                  <a:pt x="2012955" y="0"/>
                </a:lnTo>
                <a:cubicBezTo>
                  <a:pt x="2032373" y="0"/>
                  <a:pt x="2048115" y="15742"/>
                  <a:pt x="2048115" y="35161"/>
                </a:cubicBezTo>
                <a:lnTo>
                  <a:pt x="2048115" y="316447"/>
                </a:lnTo>
                <a:cubicBezTo>
                  <a:pt x="2048115" y="335866"/>
                  <a:pt x="2032373" y="351608"/>
                  <a:pt x="2012955" y="351608"/>
                </a:cubicBezTo>
                <a:lnTo>
                  <a:pt x="35161" y="351608"/>
                </a:lnTo>
                <a:cubicBezTo>
                  <a:pt x="15755" y="351608"/>
                  <a:pt x="0" y="335853"/>
                  <a:pt x="0" y="316447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2" name="Shape 60"/>
          <p:cNvSpPr/>
          <p:nvPr/>
        </p:nvSpPr>
        <p:spPr>
          <a:xfrm>
            <a:off x="7149285" y="5493872"/>
            <a:ext cx="123063" cy="123063"/>
          </a:xfrm>
          <a:custGeom>
            <a:avLst/>
            <a:gdLst/>
            <a:ahLst/>
            <a:cxnLst/>
            <a:rect l="l" t="t" r="r" b="b"/>
            <a:pathLst>
              <a:path w="123063" h="123063">
                <a:moveTo>
                  <a:pt x="0" y="99988"/>
                </a:moveTo>
                <a:lnTo>
                  <a:pt x="0" y="28843"/>
                </a:lnTo>
                <a:cubicBezTo>
                  <a:pt x="0" y="25646"/>
                  <a:pt x="2572" y="23074"/>
                  <a:pt x="5769" y="23074"/>
                </a:cubicBezTo>
                <a:cubicBezTo>
                  <a:pt x="8965" y="23074"/>
                  <a:pt x="11537" y="25646"/>
                  <a:pt x="11537" y="28843"/>
                </a:cubicBezTo>
                <a:lnTo>
                  <a:pt x="11537" y="98066"/>
                </a:lnTo>
                <a:cubicBezTo>
                  <a:pt x="11537" y="101262"/>
                  <a:pt x="14109" y="103834"/>
                  <a:pt x="17306" y="103834"/>
                </a:cubicBezTo>
                <a:cubicBezTo>
                  <a:pt x="20502" y="103834"/>
                  <a:pt x="23074" y="101262"/>
                  <a:pt x="23074" y="98066"/>
                </a:cubicBezTo>
                <a:lnTo>
                  <a:pt x="23074" y="23074"/>
                </a:lnTo>
                <a:cubicBezTo>
                  <a:pt x="23074" y="14590"/>
                  <a:pt x="29973" y="7691"/>
                  <a:pt x="38457" y="7691"/>
                </a:cubicBezTo>
                <a:lnTo>
                  <a:pt x="107680" y="7691"/>
                </a:lnTo>
                <a:cubicBezTo>
                  <a:pt x="116164" y="7691"/>
                  <a:pt x="123063" y="14590"/>
                  <a:pt x="123063" y="23074"/>
                </a:cubicBezTo>
                <a:lnTo>
                  <a:pt x="123063" y="99988"/>
                </a:lnTo>
                <a:cubicBezTo>
                  <a:pt x="123063" y="108473"/>
                  <a:pt x="116164" y="115371"/>
                  <a:pt x="107680" y="115371"/>
                </a:cubicBezTo>
                <a:lnTo>
                  <a:pt x="15383" y="115371"/>
                </a:lnTo>
                <a:cubicBezTo>
                  <a:pt x="6898" y="115371"/>
                  <a:pt x="0" y="108473"/>
                  <a:pt x="0" y="99988"/>
                </a:cubicBezTo>
                <a:close/>
                <a:moveTo>
                  <a:pt x="38457" y="30766"/>
                </a:moveTo>
                <a:lnTo>
                  <a:pt x="38457" y="46149"/>
                </a:lnTo>
                <a:cubicBezTo>
                  <a:pt x="38457" y="50403"/>
                  <a:pt x="41894" y="53840"/>
                  <a:pt x="46149" y="53840"/>
                </a:cubicBezTo>
                <a:lnTo>
                  <a:pt x="61531" y="53840"/>
                </a:lnTo>
                <a:cubicBezTo>
                  <a:pt x="65786" y="53840"/>
                  <a:pt x="69223" y="50403"/>
                  <a:pt x="69223" y="46149"/>
                </a:cubicBezTo>
                <a:lnTo>
                  <a:pt x="69223" y="30766"/>
                </a:lnTo>
                <a:cubicBezTo>
                  <a:pt x="69223" y="26511"/>
                  <a:pt x="65786" y="23074"/>
                  <a:pt x="61531" y="23074"/>
                </a:cubicBezTo>
                <a:lnTo>
                  <a:pt x="46149" y="23074"/>
                </a:lnTo>
                <a:cubicBezTo>
                  <a:pt x="41894" y="23074"/>
                  <a:pt x="38457" y="26511"/>
                  <a:pt x="38457" y="30766"/>
                </a:cubicBezTo>
                <a:close/>
                <a:moveTo>
                  <a:pt x="44226" y="88451"/>
                </a:moveTo>
                <a:cubicBezTo>
                  <a:pt x="41029" y="88451"/>
                  <a:pt x="38457" y="91023"/>
                  <a:pt x="38457" y="94220"/>
                </a:cubicBezTo>
                <a:cubicBezTo>
                  <a:pt x="38457" y="97417"/>
                  <a:pt x="41029" y="99988"/>
                  <a:pt x="44226" y="99988"/>
                </a:cubicBezTo>
                <a:lnTo>
                  <a:pt x="101911" y="99988"/>
                </a:lnTo>
                <a:cubicBezTo>
                  <a:pt x="105108" y="99988"/>
                  <a:pt x="107680" y="97417"/>
                  <a:pt x="107680" y="94220"/>
                </a:cubicBezTo>
                <a:cubicBezTo>
                  <a:pt x="107680" y="91023"/>
                  <a:pt x="105108" y="88451"/>
                  <a:pt x="101911" y="88451"/>
                </a:cubicBezTo>
                <a:lnTo>
                  <a:pt x="44226" y="88451"/>
                </a:lnTo>
                <a:close/>
                <a:moveTo>
                  <a:pt x="38457" y="71146"/>
                </a:moveTo>
                <a:cubicBezTo>
                  <a:pt x="38457" y="74342"/>
                  <a:pt x="41029" y="76914"/>
                  <a:pt x="44226" y="76914"/>
                </a:cubicBezTo>
                <a:lnTo>
                  <a:pt x="101911" y="76914"/>
                </a:lnTo>
                <a:cubicBezTo>
                  <a:pt x="105108" y="76914"/>
                  <a:pt x="107680" y="74342"/>
                  <a:pt x="107680" y="71146"/>
                </a:cubicBezTo>
                <a:cubicBezTo>
                  <a:pt x="107680" y="67949"/>
                  <a:pt x="105108" y="65377"/>
                  <a:pt x="101911" y="65377"/>
                </a:cubicBezTo>
                <a:lnTo>
                  <a:pt x="44226" y="65377"/>
                </a:lnTo>
                <a:cubicBezTo>
                  <a:pt x="41029" y="65377"/>
                  <a:pt x="38457" y="67949"/>
                  <a:pt x="38457" y="71146"/>
                </a:cubicBezTo>
                <a:close/>
                <a:moveTo>
                  <a:pt x="86528" y="42303"/>
                </a:moveTo>
                <a:cubicBezTo>
                  <a:pt x="83332" y="42303"/>
                  <a:pt x="80760" y="44875"/>
                  <a:pt x="80760" y="48071"/>
                </a:cubicBezTo>
                <a:cubicBezTo>
                  <a:pt x="80760" y="51268"/>
                  <a:pt x="83332" y="53840"/>
                  <a:pt x="86528" y="53840"/>
                </a:cubicBezTo>
                <a:lnTo>
                  <a:pt x="101911" y="53840"/>
                </a:lnTo>
                <a:cubicBezTo>
                  <a:pt x="105108" y="53840"/>
                  <a:pt x="107680" y="51268"/>
                  <a:pt x="107680" y="48071"/>
                </a:cubicBezTo>
                <a:cubicBezTo>
                  <a:pt x="107680" y="44875"/>
                  <a:pt x="105108" y="42303"/>
                  <a:pt x="101911" y="42303"/>
                </a:cubicBezTo>
                <a:lnTo>
                  <a:pt x="86528" y="42303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63" name="Text 61"/>
          <p:cNvSpPr/>
          <p:nvPr/>
        </p:nvSpPr>
        <p:spPr>
          <a:xfrm>
            <a:off x="7355855" y="5449921"/>
            <a:ext cx="14855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breaking news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55124" y="6086331"/>
            <a:ext cx="11478236" cy="534444"/>
          </a:xfrm>
          <a:custGeom>
            <a:avLst/>
            <a:gdLst/>
            <a:ahLst/>
            <a:cxnLst/>
            <a:rect l="l" t="t" r="r" b="b"/>
            <a:pathLst>
              <a:path w="11478236" h="534444">
                <a:moveTo>
                  <a:pt x="70322" y="0"/>
                </a:moveTo>
                <a:lnTo>
                  <a:pt x="11407914" y="0"/>
                </a:lnTo>
                <a:cubicBezTo>
                  <a:pt x="11446752" y="0"/>
                  <a:pt x="11478236" y="31484"/>
                  <a:pt x="11478236" y="70322"/>
                </a:cubicBezTo>
                <a:lnTo>
                  <a:pt x="11478236" y="464122"/>
                </a:lnTo>
                <a:cubicBezTo>
                  <a:pt x="11478236" y="502960"/>
                  <a:pt x="11446752" y="534444"/>
                  <a:pt x="11407914" y="534444"/>
                </a:cubicBezTo>
                <a:lnTo>
                  <a:pt x="70322" y="534444"/>
                </a:lnTo>
                <a:cubicBezTo>
                  <a:pt x="31484" y="534444"/>
                  <a:pt x="0" y="502960"/>
                  <a:pt x="0" y="464122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21259" y="6265653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172576" y="95662"/>
                </a:moveTo>
                <a:cubicBezTo>
                  <a:pt x="176868" y="91370"/>
                  <a:pt x="176868" y="84400"/>
                  <a:pt x="172576" y="80108"/>
                </a:cubicBezTo>
                <a:lnTo>
                  <a:pt x="117638" y="25169"/>
                </a:lnTo>
                <a:cubicBezTo>
                  <a:pt x="113345" y="20877"/>
                  <a:pt x="106375" y="20877"/>
                  <a:pt x="102083" y="25169"/>
                </a:cubicBezTo>
                <a:cubicBezTo>
                  <a:pt x="97791" y="29461"/>
                  <a:pt x="97791" y="36431"/>
                  <a:pt x="102083" y="40723"/>
                </a:cubicBezTo>
                <a:lnTo>
                  <a:pt x="138274" y="76914"/>
                </a:lnTo>
                <a:lnTo>
                  <a:pt x="10988" y="76914"/>
                </a:lnTo>
                <a:cubicBezTo>
                  <a:pt x="4910" y="76914"/>
                  <a:pt x="0" y="81824"/>
                  <a:pt x="0" y="87902"/>
                </a:cubicBezTo>
                <a:cubicBezTo>
                  <a:pt x="0" y="93980"/>
                  <a:pt x="4910" y="98890"/>
                  <a:pt x="10988" y="98890"/>
                </a:cubicBezTo>
                <a:lnTo>
                  <a:pt x="138274" y="98890"/>
                </a:lnTo>
                <a:lnTo>
                  <a:pt x="102083" y="135081"/>
                </a:lnTo>
                <a:cubicBezTo>
                  <a:pt x="97791" y="139373"/>
                  <a:pt x="97791" y="146343"/>
                  <a:pt x="102083" y="150635"/>
                </a:cubicBezTo>
                <a:cubicBezTo>
                  <a:pt x="106375" y="154927"/>
                  <a:pt x="113345" y="154927"/>
                  <a:pt x="117638" y="150635"/>
                </a:cubicBezTo>
                <a:lnTo>
                  <a:pt x="172576" y="95696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6" name="Text 64"/>
          <p:cNvSpPr/>
          <p:nvPr/>
        </p:nvSpPr>
        <p:spPr>
          <a:xfrm>
            <a:off x="859681" y="6237523"/>
            <a:ext cx="925388" cy="225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Gap: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737602" y="6237523"/>
            <a:ext cx="6339488" cy="225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(recency, source authority) is severely underutilized in modern retrieval systems.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197" y="338197"/>
            <a:ext cx="11574791" cy="16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2" b="1" kern="0" spc="47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8197" y="574935"/>
            <a:ext cx="11667795" cy="338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97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 System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8197" y="980771"/>
            <a:ext cx="11591700" cy="23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8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Metadata-Driven Hybrid Retrieval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5107" y="1386607"/>
            <a:ext cx="5673254" cy="2460383"/>
          </a:xfrm>
          <a:custGeom>
            <a:avLst/>
            <a:gdLst/>
            <a:ahLst/>
            <a:cxnLst/>
            <a:rect l="l" t="t" r="r" b="b"/>
            <a:pathLst>
              <a:path w="5673254" h="2460383">
                <a:moveTo>
                  <a:pt x="0" y="0"/>
                </a:moveTo>
                <a:lnTo>
                  <a:pt x="5673254" y="0"/>
                </a:lnTo>
                <a:lnTo>
                  <a:pt x="5673254" y="2460383"/>
                </a:lnTo>
                <a:lnTo>
                  <a:pt x="0" y="2460383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6" name="Shape 4"/>
          <p:cNvSpPr/>
          <p:nvPr/>
        </p:nvSpPr>
        <p:spPr>
          <a:xfrm>
            <a:off x="355107" y="1386607"/>
            <a:ext cx="33820" cy="2460383"/>
          </a:xfrm>
          <a:custGeom>
            <a:avLst/>
            <a:gdLst/>
            <a:ahLst/>
            <a:cxnLst/>
            <a:rect l="l" t="t" r="r" b="b"/>
            <a:pathLst>
              <a:path w="33820" h="2460383">
                <a:moveTo>
                  <a:pt x="0" y="0"/>
                </a:moveTo>
                <a:lnTo>
                  <a:pt x="33820" y="0"/>
                </a:lnTo>
                <a:lnTo>
                  <a:pt x="33820" y="2460383"/>
                </a:lnTo>
                <a:lnTo>
                  <a:pt x="0" y="2460383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541115" y="1555706"/>
            <a:ext cx="473476" cy="473476"/>
          </a:xfrm>
          <a:custGeom>
            <a:avLst/>
            <a:gdLst/>
            <a:ahLst/>
            <a:cxnLst/>
            <a:rect l="l" t="t" r="r" b="b"/>
            <a:pathLst>
              <a:path w="473476" h="473476">
                <a:moveTo>
                  <a:pt x="101461" y="0"/>
                </a:moveTo>
                <a:lnTo>
                  <a:pt x="372015" y="0"/>
                </a:lnTo>
                <a:cubicBezTo>
                  <a:pt x="428013" y="0"/>
                  <a:pt x="473476" y="45463"/>
                  <a:pt x="473476" y="101461"/>
                </a:cubicBezTo>
                <a:lnTo>
                  <a:pt x="473476" y="372015"/>
                </a:lnTo>
                <a:cubicBezTo>
                  <a:pt x="473476" y="428050"/>
                  <a:pt x="428050" y="473476"/>
                  <a:pt x="372015" y="473476"/>
                </a:cubicBezTo>
                <a:lnTo>
                  <a:pt x="101461" y="473476"/>
                </a:lnTo>
                <a:cubicBezTo>
                  <a:pt x="45463" y="473476"/>
                  <a:pt x="0" y="428013"/>
                  <a:pt x="0" y="372015"/>
                </a:cubicBezTo>
                <a:lnTo>
                  <a:pt x="0" y="101461"/>
                </a:lnTo>
                <a:cubicBezTo>
                  <a:pt x="0" y="45463"/>
                  <a:pt x="45463" y="0"/>
                  <a:pt x="10146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76394" y="1690985"/>
            <a:ext cx="202918" cy="202918"/>
          </a:xfrm>
          <a:custGeom>
            <a:avLst/>
            <a:gdLst/>
            <a:ahLst/>
            <a:cxnLst/>
            <a:rect l="l" t="t" r="r" b="b"/>
            <a:pathLst>
              <a:path w="202918" h="202918">
                <a:moveTo>
                  <a:pt x="92145" y="2061"/>
                </a:moveTo>
                <a:cubicBezTo>
                  <a:pt x="98051" y="-674"/>
                  <a:pt x="104867" y="-674"/>
                  <a:pt x="110773" y="2061"/>
                </a:cubicBezTo>
                <a:lnTo>
                  <a:pt x="197409" y="42090"/>
                </a:lnTo>
                <a:cubicBezTo>
                  <a:pt x="200778" y="43635"/>
                  <a:pt x="202918" y="47004"/>
                  <a:pt x="202918" y="50730"/>
                </a:cubicBezTo>
                <a:cubicBezTo>
                  <a:pt x="202918" y="54455"/>
                  <a:pt x="200778" y="57824"/>
                  <a:pt x="197409" y="59369"/>
                </a:cubicBezTo>
                <a:lnTo>
                  <a:pt x="110773" y="99398"/>
                </a:lnTo>
                <a:cubicBezTo>
                  <a:pt x="104867" y="102133"/>
                  <a:pt x="98051" y="102133"/>
                  <a:pt x="92145" y="99398"/>
                </a:cubicBezTo>
                <a:lnTo>
                  <a:pt x="5509" y="59369"/>
                </a:lnTo>
                <a:cubicBezTo>
                  <a:pt x="2140" y="57784"/>
                  <a:pt x="0" y="54415"/>
                  <a:pt x="0" y="50730"/>
                </a:cubicBezTo>
                <a:cubicBezTo>
                  <a:pt x="0" y="47044"/>
                  <a:pt x="2140" y="43635"/>
                  <a:pt x="5509" y="42090"/>
                </a:cubicBezTo>
                <a:lnTo>
                  <a:pt x="92145" y="2061"/>
                </a:lnTo>
                <a:close/>
                <a:moveTo>
                  <a:pt x="19063" y="86557"/>
                </a:moveTo>
                <a:lnTo>
                  <a:pt x="84179" y="116638"/>
                </a:lnTo>
                <a:cubicBezTo>
                  <a:pt x="95158" y="121711"/>
                  <a:pt x="107800" y="121711"/>
                  <a:pt x="118778" y="116638"/>
                </a:cubicBezTo>
                <a:lnTo>
                  <a:pt x="183895" y="86557"/>
                </a:lnTo>
                <a:lnTo>
                  <a:pt x="197409" y="92819"/>
                </a:lnTo>
                <a:cubicBezTo>
                  <a:pt x="200778" y="94365"/>
                  <a:pt x="202918" y="97734"/>
                  <a:pt x="202918" y="101459"/>
                </a:cubicBezTo>
                <a:cubicBezTo>
                  <a:pt x="202918" y="105185"/>
                  <a:pt x="200778" y="108553"/>
                  <a:pt x="197409" y="110099"/>
                </a:cubicBezTo>
                <a:lnTo>
                  <a:pt x="110773" y="150128"/>
                </a:lnTo>
                <a:cubicBezTo>
                  <a:pt x="104867" y="152862"/>
                  <a:pt x="98051" y="152862"/>
                  <a:pt x="92145" y="150128"/>
                </a:cubicBezTo>
                <a:lnTo>
                  <a:pt x="5509" y="110099"/>
                </a:lnTo>
                <a:cubicBezTo>
                  <a:pt x="2140" y="108514"/>
                  <a:pt x="0" y="105145"/>
                  <a:pt x="0" y="101459"/>
                </a:cubicBezTo>
                <a:cubicBezTo>
                  <a:pt x="0" y="97773"/>
                  <a:pt x="2140" y="94365"/>
                  <a:pt x="5509" y="92819"/>
                </a:cubicBezTo>
                <a:lnTo>
                  <a:pt x="19024" y="86557"/>
                </a:lnTo>
                <a:close/>
                <a:moveTo>
                  <a:pt x="5509" y="143549"/>
                </a:moveTo>
                <a:lnTo>
                  <a:pt x="19024" y="137287"/>
                </a:lnTo>
                <a:lnTo>
                  <a:pt x="84140" y="167368"/>
                </a:lnTo>
                <a:cubicBezTo>
                  <a:pt x="95118" y="172441"/>
                  <a:pt x="107761" y="172441"/>
                  <a:pt x="118739" y="167368"/>
                </a:cubicBezTo>
                <a:lnTo>
                  <a:pt x="183855" y="137287"/>
                </a:lnTo>
                <a:lnTo>
                  <a:pt x="197370" y="143549"/>
                </a:lnTo>
                <a:cubicBezTo>
                  <a:pt x="200738" y="145094"/>
                  <a:pt x="202879" y="148463"/>
                  <a:pt x="202879" y="152189"/>
                </a:cubicBezTo>
                <a:cubicBezTo>
                  <a:pt x="202879" y="155914"/>
                  <a:pt x="200738" y="159283"/>
                  <a:pt x="197370" y="160829"/>
                </a:cubicBezTo>
                <a:lnTo>
                  <a:pt x="110733" y="200857"/>
                </a:lnTo>
                <a:cubicBezTo>
                  <a:pt x="104828" y="203592"/>
                  <a:pt x="98011" y="203592"/>
                  <a:pt x="92106" y="200857"/>
                </a:cubicBezTo>
                <a:lnTo>
                  <a:pt x="5509" y="160829"/>
                </a:lnTo>
                <a:cubicBezTo>
                  <a:pt x="2140" y="159243"/>
                  <a:pt x="0" y="155874"/>
                  <a:pt x="0" y="152189"/>
                </a:cubicBezTo>
                <a:cubicBezTo>
                  <a:pt x="0" y="148503"/>
                  <a:pt x="2140" y="145094"/>
                  <a:pt x="5509" y="14354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9" name="Text 7"/>
          <p:cNvSpPr/>
          <p:nvPr/>
        </p:nvSpPr>
        <p:spPr>
          <a:xfrm>
            <a:off x="1149870" y="1674075"/>
            <a:ext cx="1141415" cy="23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1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Search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4497" y="2134023"/>
            <a:ext cx="5308001" cy="716978"/>
          </a:xfrm>
          <a:custGeom>
            <a:avLst/>
            <a:gdLst/>
            <a:ahLst/>
            <a:cxnLst/>
            <a:rect l="l" t="t" r="r" b="b"/>
            <a:pathLst>
              <a:path w="5308001" h="716978">
                <a:moveTo>
                  <a:pt x="67640" y="0"/>
                </a:moveTo>
                <a:lnTo>
                  <a:pt x="5240361" y="0"/>
                </a:lnTo>
                <a:cubicBezTo>
                  <a:pt x="5277718" y="0"/>
                  <a:pt x="5308001" y="30283"/>
                  <a:pt x="5308001" y="67640"/>
                </a:cubicBezTo>
                <a:lnTo>
                  <a:pt x="5308001" y="649338"/>
                </a:lnTo>
                <a:cubicBezTo>
                  <a:pt x="5308001" y="686694"/>
                  <a:pt x="5277718" y="716978"/>
                  <a:pt x="5240361" y="716978"/>
                </a:cubicBezTo>
                <a:lnTo>
                  <a:pt x="67640" y="716978"/>
                </a:lnTo>
                <a:cubicBezTo>
                  <a:pt x="30283" y="716978"/>
                  <a:pt x="0" y="686694"/>
                  <a:pt x="0" y="649338"/>
                </a:cubicBezTo>
                <a:lnTo>
                  <a:pt x="0" y="67640"/>
                </a:lnTo>
                <a:cubicBezTo>
                  <a:pt x="0" y="30283"/>
                  <a:pt x="30283" y="0"/>
                  <a:pt x="67640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338" y="2238866"/>
            <a:ext cx="270558" cy="270558"/>
          </a:xfrm>
          <a:custGeom>
            <a:avLst/>
            <a:gdLst/>
            <a:ahLst/>
            <a:cxnLst/>
            <a:rect l="l" t="t" r="r" b="b"/>
            <a:pathLst>
              <a:path w="270558" h="270558">
                <a:moveTo>
                  <a:pt x="67639" y="0"/>
                </a:moveTo>
                <a:lnTo>
                  <a:pt x="202918" y="0"/>
                </a:lnTo>
                <a:cubicBezTo>
                  <a:pt x="240274" y="0"/>
                  <a:pt x="270558" y="30283"/>
                  <a:pt x="270558" y="67639"/>
                </a:cubicBezTo>
                <a:lnTo>
                  <a:pt x="270558" y="202918"/>
                </a:lnTo>
                <a:cubicBezTo>
                  <a:pt x="270558" y="240274"/>
                  <a:pt x="240274" y="270558"/>
                  <a:pt x="202918" y="270558"/>
                </a:cubicBezTo>
                <a:lnTo>
                  <a:pt x="67639" y="270558"/>
                </a:lnTo>
                <a:cubicBezTo>
                  <a:pt x="30283" y="270558"/>
                  <a:pt x="0" y="240274"/>
                  <a:pt x="0" y="202918"/>
                </a:cubicBezTo>
                <a:lnTo>
                  <a:pt x="0" y="67639"/>
                </a:lnTo>
                <a:cubicBezTo>
                  <a:pt x="0" y="30283"/>
                  <a:pt x="30283" y="0"/>
                  <a:pt x="6763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51748" y="2289596"/>
            <a:ext cx="126824" cy="16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2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1355" y="2272686"/>
            <a:ext cx="1023046" cy="2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65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 — Lexical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338" y="2577063"/>
            <a:ext cx="5157503" cy="16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2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Keyword matching with probabilistic ranking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4497" y="2959224"/>
            <a:ext cx="5308001" cy="716978"/>
          </a:xfrm>
          <a:custGeom>
            <a:avLst/>
            <a:gdLst/>
            <a:ahLst/>
            <a:cxnLst/>
            <a:rect l="l" t="t" r="r" b="b"/>
            <a:pathLst>
              <a:path w="5308001" h="716978">
                <a:moveTo>
                  <a:pt x="67640" y="0"/>
                </a:moveTo>
                <a:lnTo>
                  <a:pt x="5240361" y="0"/>
                </a:lnTo>
                <a:cubicBezTo>
                  <a:pt x="5277718" y="0"/>
                  <a:pt x="5308001" y="30283"/>
                  <a:pt x="5308001" y="67640"/>
                </a:cubicBezTo>
                <a:lnTo>
                  <a:pt x="5308001" y="649338"/>
                </a:lnTo>
                <a:cubicBezTo>
                  <a:pt x="5308001" y="686694"/>
                  <a:pt x="5277718" y="716978"/>
                  <a:pt x="5240361" y="716978"/>
                </a:cubicBezTo>
                <a:lnTo>
                  <a:pt x="67640" y="716978"/>
                </a:lnTo>
                <a:cubicBezTo>
                  <a:pt x="30283" y="716978"/>
                  <a:pt x="0" y="686694"/>
                  <a:pt x="0" y="649338"/>
                </a:cubicBezTo>
                <a:lnTo>
                  <a:pt x="0" y="67640"/>
                </a:lnTo>
                <a:cubicBezTo>
                  <a:pt x="0" y="30283"/>
                  <a:pt x="30283" y="0"/>
                  <a:pt x="67640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338" y="3064064"/>
            <a:ext cx="270558" cy="270558"/>
          </a:xfrm>
          <a:custGeom>
            <a:avLst/>
            <a:gdLst/>
            <a:ahLst/>
            <a:cxnLst/>
            <a:rect l="l" t="t" r="r" b="b"/>
            <a:pathLst>
              <a:path w="270558" h="270558">
                <a:moveTo>
                  <a:pt x="67639" y="0"/>
                </a:moveTo>
                <a:lnTo>
                  <a:pt x="202918" y="0"/>
                </a:lnTo>
                <a:cubicBezTo>
                  <a:pt x="240274" y="0"/>
                  <a:pt x="270558" y="30283"/>
                  <a:pt x="270558" y="67639"/>
                </a:cubicBezTo>
                <a:lnTo>
                  <a:pt x="270558" y="202918"/>
                </a:lnTo>
                <a:cubicBezTo>
                  <a:pt x="270558" y="240274"/>
                  <a:pt x="240274" y="270558"/>
                  <a:pt x="202918" y="270558"/>
                </a:cubicBezTo>
                <a:lnTo>
                  <a:pt x="67639" y="270558"/>
                </a:lnTo>
                <a:cubicBezTo>
                  <a:pt x="30283" y="270558"/>
                  <a:pt x="0" y="240274"/>
                  <a:pt x="0" y="202918"/>
                </a:cubicBezTo>
                <a:lnTo>
                  <a:pt x="0" y="67639"/>
                </a:lnTo>
                <a:cubicBezTo>
                  <a:pt x="0" y="30283"/>
                  <a:pt x="30283" y="0"/>
                  <a:pt x="67639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48261" y="3114793"/>
            <a:ext cx="135279" cy="16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2" b="1" dirty="0">
                <a:solidFill>
                  <a:srgbClr val="3A5F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1355" y="3097883"/>
            <a:ext cx="1166779" cy="2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65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FAISS — Semantic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338" y="3402260"/>
            <a:ext cx="5157503" cy="16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2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vector similarity search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5107" y="3983962"/>
            <a:ext cx="5673254" cy="2232100"/>
          </a:xfrm>
          <a:custGeom>
            <a:avLst/>
            <a:gdLst/>
            <a:ahLst/>
            <a:cxnLst/>
            <a:rect l="l" t="t" r="r" b="b"/>
            <a:pathLst>
              <a:path w="5673254" h="2232100">
                <a:moveTo>
                  <a:pt x="0" y="0"/>
                </a:moveTo>
                <a:lnTo>
                  <a:pt x="5673254" y="0"/>
                </a:lnTo>
                <a:lnTo>
                  <a:pt x="5673254" y="2232100"/>
                </a:lnTo>
                <a:lnTo>
                  <a:pt x="0" y="2232100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21" name="Shape 19"/>
          <p:cNvSpPr/>
          <p:nvPr/>
        </p:nvSpPr>
        <p:spPr>
          <a:xfrm>
            <a:off x="355107" y="3983962"/>
            <a:ext cx="33820" cy="2232100"/>
          </a:xfrm>
          <a:custGeom>
            <a:avLst/>
            <a:gdLst/>
            <a:ahLst/>
            <a:cxnLst/>
            <a:rect l="l" t="t" r="r" b="b"/>
            <a:pathLst>
              <a:path w="33820" h="2232100">
                <a:moveTo>
                  <a:pt x="0" y="0"/>
                </a:moveTo>
                <a:lnTo>
                  <a:pt x="33820" y="0"/>
                </a:lnTo>
                <a:lnTo>
                  <a:pt x="33820" y="2232100"/>
                </a:lnTo>
                <a:lnTo>
                  <a:pt x="0" y="2232100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2" name="Shape 20"/>
          <p:cNvSpPr/>
          <p:nvPr/>
        </p:nvSpPr>
        <p:spPr>
          <a:xfrm>
            <a:off x="541115" y="4153060"/>
            <a:ext cx="473476" cy="473476"/>
          </a:xfrm>
          <a:custGeom>
            <a:avLst/>
            <a:gdLst/>
            <a:ahLst/>
            <a:cxnLst/>
            <a:rect l="l" t="t" r="r" b="b"/>
            <a:pathLst>
              <a:path w="473476" h="473476">
                <a:moveTo>
                  <a:pt x="101461" y="0"/>
                </a:moveTo>
                <a:lnTo>
                  <a:pt x="372015" y="0"/>
                </a:lnTo>
                <a:cubicBezTo>
                  <a:pt x="428013" y="0"/>
                  <a:pt x="473476" y="45463"/>
                  <a:pt x="473476" y="101461"/>
                </a:cubicBezTo>
                <a:lnTo>
                  <a:pt x="473476" y="372015"/>
                </a:lnTo>
                <a:cubicBezTo>
                  <a:pt x="473476" y="428050"/>
                  <a:pt x="428050" y="473476"/>
                  <a:pt x="372015" y="473476"/>
                </a:cubicBezTo>
                <a:lnTo>
                  <a:pt x="101461" y="473476"/>
                </a:lnTo>
                <a:cubicBezTo>
                  <a:pt x="45463" y="473476"/>
                  <a:pt x="0" y="428013"/>
                  <a:pt x="0" y="372015"/>
                </a:cubicBezTo>
                <a:lnTo>
                  <a:pt x="0" y="101461"/>
                </a:lnTo>
                <a:cubicBezTo>
                  <a:pt x="0" y="45463"/>
                  <a:pt x="45463" y="0"/>
                  <a:pt x="101461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6394" y="4288339"/>
            <a:ext cx="202918" cy="202918"/>
          </a:xfrm>
          <a:custGeom>
            <a:avLst/>
            <a:gdLst/>
            <a:ahLst/>
            <a:cxnLst/>
            <a:rect l="l" t="t" r="r" b="b"/>
            <a:pathLst>
              <a:path w="202918" h="202918">
                <a:moveTo>
                  <a:pt x="25365" y="25365"/>
                </a:moveTo>
                <a:cubicBezTo>
                  <a:pt x="25365" y="18350"/>
                  <a:pt x="19697" y="12682"/>
                  <a:pt x="12682" y="12682"/>
                </a:cubicBezTo>
                <a:cubicBezTo>
                  <a:pt x="5667" y="12682"/>
                  <a:pt x="0" y="18350"/>
                  <a:pt x="0" y="25365"/>
                </a:cubicBezTo>
                <a:lnTo>
                  <a:pt x="0" y="158530"/>
                </a:lnTo>
                <a:cubicBezTo>
                  <a:pt x="0" y="176047"/>
                  <a:pt x="14188" y="190236"/>
                  <a:pt x="31706" y="190236"/>
                </a:cubicBezTo>
                <a:lnTo>
                  <a:pt x="190236" y="190236"/>
                </a:lnTo>
                <a:cubicBezTo>
                  <a:pt x="197251" y="190236"/>
                  <a:pt x="202918" y="184568"/>
                  <a:pt x="202918" y="177553"/>
                </a:cubicBezTo>
                <a:cubicBezTo>
                  <a:pt x="202918" y="170538"/>
                  <a:pt x="197251" y="164871"/>
                  <a:pt x="190236" y="164871"/>
                </a:cubicBezTo>
                <a:lnTo>
                  <a:pt x="31706" y="164871"/>
                </a:lnTo>
                <a:cubicBezTo>
                  <a:pt x="28218" y="164871"/>
                  <a:pt x="25365" y="162017"/>
                  <a:pt x="25365" y="158530"/>
                </a:cubicBezTo>
                <a:lnTo>
                  <a:pt x="25365" y="25365"/>
                </a:lnTo>
                <a:close/>
                <a:moveTo>
                  <a:pt x="186510" y="59686"/>
                </a:moveTo>
                <a:cubicBezTo>
                  <a:pt x="191464" y="54732"/>
                  <a:pt x="191464" y="46687"/>
                  <a:pt x="186510" y="41733"/>
                </a:cubicBezTo>
                <a:cubicBezTo>
                  <a:pt x="181556" y="36779"/>
                  <a:pt x="173511" y="36779"/>
                  <a:pt x="168557" y="41733"/>
                </a:cubicBezTo>
                <a:lnTo>
                  <a:pt x="126824" y="83506"/>
                </a:lnTo>
                <a:lnTo>
                  <a:pt x="104075" y="60796"/>
                </a:lnTo>
                <a:cubicBezTo>
                  <a:pt x="99121" y="55842"/>
                  <a:pt x="91075" y="55842"/>
                  <a:pt x="86121" y="60796"/>
                </a:cubicBezTo>
                <a:lnTo>
                  <a:pt x="48074" y="98843"/>
                </a:lnTo>
                <a:cubicBezTo>
                  <a:pt x="43120" y="103797"/>
                  <a:pt x="43120" y="111843"/>
                  <a:pt x="48074" y="116797"/>
                </a:cubicBezTo>
                <a:cubicBezTo>
                  <a:pt x="53028" y="121751"/>
                  <a:pt x="61074" y="121751"/>
                  <a:pt x="66028" y="116797"/>
                </a:cubicBezTo>
                <a:lnTo>
                  <a:pt x="95118" y="87707"/>
                </a:lnTo>
                <a:lnTo>
                  <a:pt x="117867" y="110456"/>
                </a:lnTo>
                <a:cubicBezTo>
                  <a:pt x="122821" y="115410"/>
                  <a:pt x="130866" y="115410"/>
                  <a:pt x="135820" y="110456"/>
                </a:cubicBezTo>
                <a:lnTo>
                  <a:pt x="186550" y="59726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4" name="Text 22"/>
          <p:cNvSpPr/>
          <p:nvPr/>
        </p:nvSpPr>
        <p:spPr>
          <a:xfrm>
            <a:off x="1149870" y="4271429"/>
            <a:ext cx="1496521" cy="23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1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Boosting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1115" y="4727995"/>
            <a:ext cx="5318147" cy="608755"/>
          </a:xfrm>
          <a:custGeom>
            <a:avLst/>
            <a:gdLst/>
            <a:ahLst/>
            <a:cxnLst/>
            <a:rect l="l" t="t" r="r" b="b"/>
            <a:pathLst>
              <a:path w="5318147" h="608755">
                <a:moveTo>
                  <a:pt x="67639" y="0"/>
                </a:moveTo>
                <a:lnTo>
                  <a:pt x="5250508" y="0"/>
                </a:lnTo>
                <a:cubicBezTo>
                  <a:pt x="5287864" y="0"/>
                  <a:pt x="5318147" y="30283"/>
                  <a:pt x="5318147" y="67639"/>
                </a:cubicBezTo>
                <a:lnTo>
                  <a:pt x="5318147" y="541116"/>
                </a:lnTo>
                <a:cubicBezTo>
                  <a:pt x="5318147" y="578472"/>
                  <a:pt x="5287864" y="608755"/>
                  <a:pt x="5250508" y="608755"/>
                </a:cubicBezTo>
                <a:lnTo>
                  <a:pt x="67639" y="608755"/>
                </a:lnTo>
                <a:cubicBezTo>
                  <a:pt x="30283" y="608755"/>
                  <a:pt x="0" y="578472"/>
                  <a:pt x="0" y="541116"/>
                </a:cubicBezTo>
                <a:lnTo>
                  <a:pt x="0" y="67639"/>
                </a:lnTo>
                <a:cubicBezTo>
                  <a:pt x="0" y="30308"/>
                  <a:pt x="30308" y="0"/>
                  <a:pt x="6763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Shape 24"/>
          <p:cNvSpPr/>
          <p:nvPr/>
        </p:nvSpPr>
        <p:spPr>
          <a:xfrm>
            <a:off x="659484" y="4964733"/>
            <a:ext cx="135279" cy="135279"/>
          </a:xfrm>
          <a:custGeom>
            <a:avLst/>
            <a:gdLst/>
            <a:ahLst/>
            <a:cxnLst/>
            <a:rect l="l" t="t" r="r" b="b"/>
            <a:pathLst>
              <a:path w="135279" h="135279">
                <a:moveTo>
                  <a:pt x="67639" y="0"/>
                </a:moveTo>
                <a:cubicBezTo>
                  <a:pt x="104971" y="0"/>
                  <a:pt x="135279" y="30308"/>
                  <a:pt x="135279" y="67639"/>
                </a:cubicBezTo>
                <a:cubicBezTo>
                  <a:pt x="135279" y="104971"/>
                  <a:pt x="104971" y="135279"/>
                  <a:pt x="67639" y="135279"/>
                </a:cubicBezTo>
                <a:cubicBezTo>
                  <a:pt x="30308" y="135279"/>
                  <a:pt x="0" y="104971"/>
                  <a:pt x="0" y="67639"/>
                </a:cubicBezTo>
                <a:cubicBezTo>
                  <a:pt x="0" y="30308"/>
                  <a:pt x="30308" y="0"/>
                  <a:pt x="67639" y="0"/>
                </a:cubicBezTo>
                <a:close/>
                <a:moveTo>
                  <a:pt x="61298" y="31706"/>
                </a:moveTo>
                <a:lnTo>
                  <a:pt x="61298" y="67639"/>
                </a:lnTo>
                <a:cubicBezTo>
                  <a:pt x="61298" y="69753"/>
                  <a:pt x="62355" y="71735"/>
                  <a:pt x="64125" y="72924"/>
                </a:cubicBezTo>
                <a:lnTo>
                  <a:pt x="89490" y="89834"/>
                </a:lnTo>
                <a:cubicBezTo>
                  <a:pt x="92396" y="91789"/>
                  <a:pt x="96333" y="90996"/>
                  <a:pt x="98288" y="88063"/>
                </a:cubicBezTo>
                <a:cubicBezTo>
                  <a:pt x="100244" y="85131"/>
                  <a:pt x="99451" y="81220"/>
                  <a:pt x="96518" y="79265"/>
                </a:cubicBezTo>
                <a:lnTo>
                  <a:pt x="73981" y="64257"/>
                </a:lnTo>
                <a:lnTo>
                  <a:pt x="73981" y="31706"/>
                </a:lnTo>
                <a:cubicBezTo>
                  <a:pt x="73981" y="28192"/>
                  <a:pt x="71153" y="25365"/>
                  <a:pt x="67639" y="25365"/>
                </a:cubicBezTo>
                <a:cubicBezTo>
                  <a:pt x="64125" y="25365"/>
                  <a:pt x="61298" y="28192"/>
                  <a:pt x="61298" y="3170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7" name="Text 25"/>
          <p:cNvSpPr/>
          <p:nvPr/>
        </p:nvSpPr>
        <p:spPr>
          <a:xfrm>
            <a:off x="913132" y="4829454"/>
            <a:ext cx="1564161" cy="2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65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Recency Weighting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3132" y="5052663"/>
            <a:ext cx="1555283" cy="16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2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Time-decay scoring function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1115" y="5438209"/>
            <a:ext cx="5318147" cy="608755"/>
          </a:xfrm>
          <a:custGeom>
            <a:avLst/>
            <a:gdLst/>
            <a:ahLst/>
            <a:cxnLst/>
            <a:rect l="l" t="t" r="r" b="b"/>
            <a:pathLst>
              <a:path w="5318147" h="608755">
                <a:moveTo>
                  <a:pt x="67639" y="0"/>
                </a:moveTo>
                <a:lnTo>
                  <a:pt x="5250508" y="0"/>
                </a:lnTo>
                <a:cubicBezTo>
                  <a:pt x="5287864" y="0"/>
                  <a:pt x="5318147" y="30283"/>
                  <a:pt x="5318147" y="67639"/>
                </a:cubicBezTo>
                <a:lnTo>
                  <a:pt x="5318147" y="541116"/>
                </a:lnTo>
                <a:cubicBezTo>
                  <a:pt x="5318147" y="578472"/>
                  <a:pt x="5287864" y="608755"/>
                  <a:pt x="5250508" y="608755"/>
                </a:cubicBezTo>
                <a:lnTo>
                  <a:pt x="67639" y="608755"/>
                </a:lnTo>
                <a:cubicBezTo>
                  <a:pt x="30283" y="608755"/>
                  <a:pt x="0" y="578472"/>
                  <a:pt x="0" y="541116"/>
                </a:cubicBezTo>
                <a:lnTo>
                  <a:pt x="0" y="67639"/>
                </a:lnTo>
                <a:cubicBezTo>
                  <a:pt x="0" y="30308"/>
                  <a:pt x="30308" y="0"/>
                  <a:pt x="6763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Shape 28"/>
          <p:cNvSpPr/>
          <p:nvPr/>
        </p:nvSpPr>
        <p:spPr>
          <a:xfrm>
            <a:off x="659484" y="5674946"/>
            <a:ext cx="135279" cy="135279"/>
          </a:xfrm>
          <a:custGeom>
            <a:avLst/>
            <a:gdLst/>
            <a:ahLst/>
            <a:cxnLst/>
            <a:rect l="l" t="t" r="r" b="b"/>
            <a:pathLst>
              <a:path w="135279" h="135279">
                <a:moveTo>
                  <a:pt x="67639" y="0"/>
                </a:moveTo>
                <a:cubicBezTo>
                  <a:pt x="68855" y="0"/>
                  <a:pt x="70070" y="264"/>
                  <a:pt x="71180" y="766"/>
                </a:cubicBezTo>
                <a:lnTo>
                  <a:pt x="120958" y="21877"/>
                </a:lnTo>
                <a:cubicBezTo>
                  <a:pt x="126771" y="24334"/>
                  <a:pt x="131104" y="30068"/>
                  <a:pt x="131078" y="36990"/>
                </a:cubicBezTo>
                <a:cubicBezTo>
                  <a:pt x="130946" y="63201"/>
                  <a:pt x="120166" y="111156"/>
                  <a:pt x="74641" y="132954"/>
                </a:cubicBezTo>
                <a:cubicBezTo>
                  <a:pt x="70229" y="135067"/>
                  <a:pt x="65103" y="135067"/>
                  <a:pt x="60690" y="132954"/>
                </a:cubicBezTo>
                <a:cubicBezTo>
                  <a:pt x="15140" y="111156"/>
                  <a:pt x="4386" y="63201"/>
                  <a:pt x="4254" y="36990"/>
                </a:cubicBezTo>
                <a:cubicBezTo>
                  <a:pt x="4227" y="30068"/>
                  <a:pt x="8561" y="24334"/>
                  <a:pt x="14373" y="21877"/>
                </a:cubicBezTo>
                <a:lnTo>
                  <a:pt x="64125" y="766"/>
                </a:lnTo>
                <a:cubicBezTo>
                  <a:pt x="65235" y="264"/>
                  <a:pt x="66424" y="0"/>
                  <a:pt x="67639" y="0"/>
                </a:cubicBezTo>
                <a:close/>
                <a:moveTo>
                  <a:pt x="67639" y="17650"/>
                </a:moveTo>
                <a:lnTo>
                  <a:pt x="67639" y="117550"/>
                </a:lnTo>
                <a:cubicBezTo>
                  <a:pt x="104101" y="99900"/>
                  <a:pt x="113904" y="60796"/>
                  <a:pt x="114141" y="37387"/>
                </a:cubicBezTo>
                <a:lnTo>
                  <a:pt x="67639" y="17676"/>
                </a:lnTo>
                <a:lnTo>
                  <a:pt x="67639" y="17676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1" name="Text 29"/>
          <p:cNvSpPr/>
          <p:nvPr/>
        </p:nvSpPr>
        <p:spPr>
          <a:xfrm>
            <a:off x="913132" y="5539668"/>
            <a:ext cx="1699440" cy="2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65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Authority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3132" y="5762877"/>
            <a:ext cx="1693944" cy="16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2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Credibility-based ranking boost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9598" y="1386607"/>
            <a:ext cx="5673254" cy="2350469"/>
          </a:xfrm>
          <a:custGeom>
            <a:avLst/>
            <a:gdLst/>
            <a:ahLst/>
            <a:cxnLst/>
            <a:rect l="l" t="t" r="r" b="b"/>
            <a:pathLst>
              <a:path w="5673254" h="2350469">
                <a:moveTo>
                  <a:pt x="0" y="0"/>
                </a:moveTo>
                <a:lnTo>
                  <a:pt x="5673254" y="0"/>
                </a:lnTo>
                <a:lnTo>
                  <a:pt x="5673254" y="2350469"/>
                </a:lnTo>
                <a:lnTo>
                  <a:pt x="0" y="2350469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34" name="Shape 32"/>
          <p:cNvSpPr/>
          <p:nvPr/>
        </p:nvSpPr>
        <p:spPr>
          <a:xfrm>
            <a:off x="6179598" y="1386607"/>
            <a:ext cx="33820" cy="2350469"/>
          </a:xfrm>
          <a:custGeom>
            <a:avLst/>
            <a:gdLst/>
            <a:ahLst/>
            <a:cxnLst/>
            <a:rect l="l" t="t" r="r" b="b"/>
            <a:pathLst>
              <a:path w="33820" h="2350469">
                <a:moveTo>
                  <a:pt x="0" y="0"/>
                </a:moveTo>
                <a:lnTo>
                  <a:pt x="33820" y="0"/>
                </a:lnTo>
                <a:lnTo>
                  <a:pt x="33820" y="2350469"/>
                </a:lnTo>
                <a:lnTo>
                  <a:pt x="0" y="2350469"/>
                </a:lnTo>
                <a:lnTo>
                  <a:pt x="0" y="0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35" name="Shape 33"/>
          <p:cNvSpPr/>
          <p:nvPr/>
        </p:nvSpPr>
        <p:spPr>
          <a:xfrm>
            <a:off x="6365606" y="1555706"/>
            <a:ext cx="473476" cy="473476"/>
          </a:xfrm>
          <a:custGeom>
            <a:avLst/>
            <a:gdLst/>
            <a:ahLst/>
            <a:cxnLst/>
            <a:rect l="l" t="t" r="r" b="b"/>
            <a:pathLst>
              <a:path w="473476" h="473476">
                <a:moveTo>
                  <a:pt x="101461" y="0"/>
                </a:moveTo>
                <a:lnTo>
                  <a:pt x="372015" y="0"/>
                </a:lnTo>
                <a:cubicBezTo>
                  <a:pt x="428013" y="0"/>
                  <a:pt x="473476" y="45463"/>
                  <a:pt x="473476" y="101461"/>
                </a:cubicBezTo>
                <a:lnTo>
                  <a:pt x="473476" y="372015"/>
                </a:lnTo>
                <a:cubicBezTo>
                  <a:pt x="473476" y="428050"/>
                  <a:pt x="428050" y="473476"/>
                  <a:pt x="372015" y="473476"/>
                </a:cubicBezTo>
                <a:lnTo>
                  <a:pt x="101461" y="473476"/>
                </a:lnTo>
                <a:cubicBezTo>
                  <a:pt x="45463" y="473476"/>
                  <a:pt x="0" y="428013"/>
                  <a:pt x="0" y="372015"/>
                </a:cubicBezTo>
                <a:lnTo>
                  <a:pt x="0" y="101461"/>
                </a:lnTo>
                <a:cubicBezTo>
                  <a:pt x="0" y="45463"/>
                  <a:pt x="45463" y="0"/>
                  <a:pt x="101461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13568" y="1690985"/>
            <a:ext cx="177553" cy="202918"/>
          </a:xfrm>
          <a:custGeom>
            <a:avLst/>
            <a:gdLst/>
            <a:ahLst/>
            <a:cxnLst/>
            <a:rect l="l" t="t" r="r" b="b"/>
            <a:pathLst>
              <a:path w="177553" h="202918">
                <a:moveTo>
                  <a:pt x="177553" y="81564"/>
                </a:moveTo>
                <a:cubicBezTo>
                  <a:pt x="171688" y="85448"/>
                  <a:pt x="164950" y="88579"/>
                  <a:pt x="157935" y="91075"/>
                </a:cubicBezTo>
                <a:cubicBezTo>
                  <a:pt x="139308" y="97734"/>
                  <a:pt x="114855" y="101459"/>
                  <a:pt x="88777" y="101459"/>
                </a:cubicBezTo>
                <a:cubicBezTo>
                  <a:pt x="62699" y="101459"/>
                  <a:pt x="38206" y="97694"/>
                  <a:pt x="19618" y="91075"/>
                </a:cubicBezTo>
                <a:cubicBezTo>
                  <a:pt x="12643" y="88579"/>
                  <a:pt x="5866" y="85448"/>
                  <a:pt x="0" y="81564"/>
                </a:cubicBezTo>
                <a:lnTo>
                  <a:pt x="0" y="114141"/>
                </a:lnTo>
                <a:cubicBezTo>
                  <a:pt x="0" y="131659"/>
                  <a:pt x="39751" y="145847"/>
                  <a:pt x="88777" y="145847"/>
                </a:cubicBezTo>
                <a:cubicBezTo>
                  <a:pt x="137802" y="145847"/>
                  <a:pt x="177553" y="131659"/>
                  <a:pt x="177553" y="114141"/>
                </a:cubicBezTo>
                <a:lnTo>
                  <a:pt x="177553" y="81564"/>
                </a:lnTo>
                <a:close/>
                <a:moveTo>
                  <a:pt x="177553" y="50730"/>
                </a:moveTo>
                <a:lnTo>
                  <a:pt x="177553" y="31706"/>
                </a:lnTo>
                <a:cubicBezTo>
                  <a:pt x="177553" y="14188"/>
                  <a:pt x="137802" y="0"/>
                  <a:pt x="88777" y="0"/>
                </a:cubicBezTo>
                <a:cubicBezTo>
                  <a:pt x="39751" y="0"/>
                  <a:pt x="0" y="14188"/>
                  <a:pt x="0" y="31706"/>
                </a:cubicBezTo>
                <a:lnTo>
                  <a:pt x="0" y="50730"/>
                </a:lnTo>
                <a:cubicBezTo>
                  <a:pt x="0" y="68247"/>
                  <a:pt x="39751" y="82436"/>
                  <a:pt x="88777" y="82436"/>
                </a:cubicBezTo>
                <a:cubicBezTo>
                  <a:pt x="137802" y="82436"/>
                  <a:pt x="177553" y="68247"/>
                  <a:pt x="177553" y="50730"/>
                </a:cubicBezTo>
                <a:close/>
                <a:moveTo>
                  <a:pt x="157935" y="154487"/>
                </a:moveTo>
                <a:cubicBezTo>
                  <a:pt x="139348" y="161106"/>
                  <a:pt x="114894" y="164871"/>
                  <a:pt x="88777" y="164871"/>
                </a:cubicBezTo>
                <a:cubicBezTo>
                  <a:pt x="62659" y="164871"/>
                  <a:pt x="38206" y="161106"/>
                  <a:pt x="19618" y="154487"/>
                </a:cubicBezTo>
                <a:cubicBezTo>
                  <a:pt x="12643" y="151990"/>
                  <a:pt x="5866" y="148860"/>
                  <a:pt x="0" y="144976"/>
                </a:cubicBezTo>
                <a:lnTo>
                  <a:pt x="0" y="171212"/>
                </a:lnTo>
                <a:cubicBezTo>
                  <a:pt x="0" y="188730"/>
                  <a:pt x="39751" y="202918"/>
                  <a:pt x="88777" y="202918"/>
                </a:cubicBezTo>
                <a:cubicBezTo>
                  <a:pt x="137802" y="202918"/>
                  <a:pt x="177553" y="188730"/>
                  <a:pt x="177553" y="171212"/>
                </a:cubicBezTo>
                <a:lnTo>
                  <a:pt x="177553" y="144976"/>
                </a:lnTo>
                <a:cubicBezTo>
                  <a:pt x="171688" y="148860"/>
                  <a:pt x="164950" y="151990"/>
                  <a:pt x="157935" y="154487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37" name="Text 35"/>
          <p:cNvSpPr/>
          <p:nvPr/>
        </p:nvSpPr>
        <p:spPr>
          <a:xfrm>
            <a:off x="6974361" y="1674075"/>
            <a:ext cx="1555706" cy="23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1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 Architecture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68988" y="2134023"/>
            <a:ext cx="5308001" cy="1359552"/>
          </a:xfrm>
          <a:custGeom>
            <a:avLst/>
            <a:gdLst/>
            <a:ahLst/>
            <a:cxnLst/>
            <a:rect l="l" t="t" r="r" b="b"/>
            <a:pathLst>
              <a:path w="5308001" h="1359552">
                <a:moveTo>
                  <a:pt x="67638" y="0"/>
                </a:moveTo>
                <a:lnTo>
                  <a:pt x="5240363" y="0"/>
                </a:lnTo>
                <a:cubicBezTo>
                  <a:pt x="5277719" y="0"/>
                  <a:pt x="5308001" y="30282"/>
                  <a:pt x="5308001" y="67638"/>
                </a:cubicBezTo>
                <a:lnTo>
                  <a:pt x="5308001" y="1291914"/>
                </a:lnTo>
                <a:cubicBezTo>
                  <a:pt x="5308001" y="1329269"/>
                  <a:pt x="5277719" y="1359552"/>
                  <a:pt x="5240363" y="1359552"/>
                </a:cubicBezTo>
                <a:lnTo>
                  <a:pt x="67638" y="1359552"/>
                </a:lnTo>
                <a:cubicBezTo>
                  <a:pt x="30282" y="1359552"/>
                  <a:pt x="0" y="1329269"/>
                  <a:pt x="0" y="1291914"/>
                </a:cubicBezTo>
                <a:lnTo>
                  <a:pt x="0" y="67638"/>
                </a:lnTo>
                <a:cubicBezTo>
                  <a:pt x="0" y="30307"/>
                  <a:pt x="30307" y="0"/>
                  <a:pt x="6763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5E7A8E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39355" y="2306506"/>
            <a:ext cx="147961" cy="169098"/>
          </a:xfrm>
          <a:custGeom>
            <a:avLst/>
            <a:gdLst/>
            <a:ahLst/>
            <a:cxnLst/>
            <a:rect l="l" t="t" r="r" b="b"/>
            <a:pathLst>
              <a:path w="147961" h="169098">
                <a:moveTo>
                  <a:pt x="21137" y="10569"/>
                </a:moveTo>
                <a:cubicBezTo>
                  <a:pt x="9479" y="10569"/>
                  <a:pt x="0" y="20047"/>
                  <a:pt x="0" y="31706"/>
                </a:cubicBezTo>
                <a:lnTo>
                  <a:pt x="0" y="52843"/>
                </a:lnTo>
                <a:cubicBezTo>
                  <a:pt x="0" y="64502"/>
                  <a:pt x="9479" y="73981"/>
                  <a:pt x="21137" y="73981"/>
                </a:cubicBezTo>
                <a:lnTo>
                  <a:pt x="126824" y="73981"/>
                </a:lnTo>
                <a:cubicBezTo>
                  <a:pt x="138482" y="73981"/>
                  <a:pt x="147961" y="64502"/>
                  <a:pt x="147961" y="52843"/>
                </a:cubicBezTo>
                <a:lnTo>
                  <a:pt x="147961" y="31706"/>
                </a:lnTo>
                <a:cubicBezTo>
                  <a:pt x="147961" y="20047"/>
                  <a:pt x="138482" y="10569"/>
                  <a:pt x="126824" y="10569"/>
                </a:cubicBezTo>
                <a:lnTo>
                  <a:pt x="21137" y="10569"/>
                </a:lnTo>
                <a:close/>
                <a:moveTo>
                  <a:pt x="92476" y="34348"/>
                </a:moveTo>
                <a:cubicBezTo>
                  <a:pt x="96850" y="34348"/>
                  <a:pt x="100402" y="37900"/>
                  <a:pt x="100402" y="42275"/>
                </a:cubicBezTo>
                <a:cubicBezTo>
                  <a:pt x="100402" y="46649"/>
                  <a:pt x="96850" y="50201"/>
                  <a:pt x="92476" y="50201"/>
                </a:cubicBezTo>
                <a:cubicBezTo>
                  <a:pt x="88101" y="50201"/>
                  <a:pt x="84549" y="46649"/>
                  <a:pt x="84549" y="42275"/>
                </a:cubicBezTo>
                <a:cubicBezTo>
                  <a:pt x="84549" y="37900"/>
                  <a:pt x="88101" y="34348"/>
                  <a:pt x="92476" y="34348"/>
                </a:cubicBezTo>
                <a:close/>
                <a:moveTo>
                  <a:pt x="110971" y="42275"/>
                </a:moveTo>
                <a:cubicBezTo>
                  <a:pt x="110971" y="37900"/>
                  <a:pt x="114523" y="34348"/>
                  <a:pt x="118897" y="34348"/>
                </a:cubicBezTo>
                <a:cubicBezTo>
                  <a:pt x="123272" y="34348"/>
                  <a:pt x="126824" y="37900"/>
                  <a:pt x="126824" y="42275"/>
                </a:cubicBezTo>
                <a:cubicBezTo>
                  <a:pt x="126824" y="46649"/>
                  <a:pt x="123272" y="50201"/>
                  <a:pt x="118897" y="50201"/>
                </a:cubicBezTo>
                <a:cubicBezTo>
                  <a:pt x="114523" y="50201"/>
                  <a:pt x="110971" y="46649"/>
                  <a:pt x="110971" y="42275"/>
                </a:cubicBezTo>
                <a:close/>
                <a:moveTo>
                  <a:pt x="21137" y="95118"/>
                </a:moveTo>
                <a:cubicBezTo>
                  <a:pt x="9479" y="95118"/>
                  <a:pt x="0" y="104597"/>
                  <a:pt x="0" y="116255"/>
                </a:cubicBezTo>
                <a:lnTo>
                  <a:pt x="0" y="137393"/>
                </a:lnTo>
                <a:cubicBezTo>
                  <a:pt x="0" y="149051"/>
                  <a:pt x="9479" y="158530"/>
                  <a:pt x="21137" y="158530"/>
                </a:cubicBezTo>
                <a:lnTo>
                  <a:pt x="126824" y="158530"/>
                </a:lnTo>
                <a:cubicBezTo>
                  <a:pt x="138482" y="158530"/>
                  <a:pt x="147961" y="149051"/>
                  <a:pt x="147961" y="137393"/>
                </a:cubicBezTo>
                <a:lnTo>
                  <a:pt x="147961" y="116255"/>
                </a:lnTo>
                <a:cubicBezTo>
                  <a:pt x="147961" y="104597"/>
                  <a:pt x="138482" y="95118"/>
                  <a:pt x="126824" y="95118"/>
                </a:cubicBezTo>
                <a:lnTo>
                  <a:pt x="21137" y="95118"/>
                </a:lnTo>
                <a:close/>
                <a:moveTo>
                  <a:pt x="92476" y="118897"/>
                </a:moveTo>
                <a:cubicBezTo>
                  <a:pt x="96850" y="118897"/>
                  <a:pt x="100402" y="122449"/>
                  <a:pt x="100402" y="126824"/>
                </a:cubicBezTo>
                <a:cubicBezTo>
                  <a:pt x="100402" y="131199"/>
                  <a:pt x="96850" y="134750"/>
                  <a:pt x="92476" y="134750"/>
                </a:cubicBezTo>
                <a:cubicBezTo>
                  <a:pt x="88101" y="134750"/>
                  <a:pt x="84549" y="131199"/>
                  <a:pt x="84549" y="126824"/>
                </a:cubicBezTo>
                <a:cubicBezTo>
                  <a:pt x="84549" y="122449"/>
                  <a:pt x="88101" y="118897"/>
                  <a:pt x="92476" y="118897"/>
                </a:cubicBezTo>
                <a:close/>
                <a:moveTo>
                  <a:pt x="110971" y="126824"/>
                </a:moveTo>
                <a:cubicBezTo>
                  <a:pt x="110971" y="122449"/>
                  <a:pt x="114523" y="118897"/>
                  <a:pt x="118897" y="118897"/>
                </a:cubicBezTo>
                <a:cubicBezTo>
                  <a:pt x="123272" y="118897"/>
                  <a:pt x="126824" y="122449"/>
                  <a:pt x="126824" y="126824"/>
                </a:cubicBezTo>
                <a:cubicBezTo>
                  <a:pt x="126824" y="131199"/>
                  <a:pt x="123272" y="134750"/>
                  <a:pt x="118897" y="134750"/>
                </a:cubicBezTo>
                <a:cubicBezTo>
                  <a:pt x="114523" y="134750"/>
                  <a:pt x="110971" y="131199"/>
                  <a:pt x="110971" y="12682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0" name="Text 38"/>
          <p:cNvSpPr/>
          <p:nvPr/>
        </p:nvSpPr>
        <p:spPr>
          <a:xfrm>
            <a:off x="6820481" y="2272686"/>
            <a:ext cx="1386607" cy="23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8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 Embedded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531957" y="2653158"/>
            <a:ext cx="103573" cy="118369"/>
          </a:xfrm>
          <a:custGeom>
            <a:avLst/>
            <a:gdLst/>
            <a:ahLst/>
            <a:cxnLst/>
            <a:rect l="l" t="t" r="r" b="b"/>
            <a:pathLst>
              <a:path w="103573" h="118369">
                <a:moveTo>
                  <a:pt x="100521" y="16206"/>
                </a:moveTo>
                <a:cubicBezTo>
                  <a:pt x="103827" y="18611"/>
                  <a:pt x="104567" y="23235"/>
                  <a:pt x="102163" y="26541"/>
                </a:cubicBezTo>
                <a:lnTo>
                  <a:pt x="42978" y="107919"/>
                </a:lnTo>
                <a:cubicBezTo>
                  <a:pt x="41707" y="109676"/>
                  <a:pt x="39741" y="110763"/>
                  <a:pt x="37568" y="110948"/>
                </a:cubicBezTo>
                <a:cubicBezTo>
                  <a:pt x="35395" y="111133"/>
                  <a:pt x="33291" y="110324"/>
                  <a:pt x="31765" y="108798"/>
                </a:cubicBezTo>
                <a:lnTo>
                  <a:pt x="2173" y="79205"/>
                </a:lnTo>
                <a:cubicBezTo>
                  <a:pt x="-717" y="76316"/>
                  <a:pt x="-717" y="71622"/>
                  <a:pt x="2173" y="68733"/>
                </a:cubicBezTo>
                <a:cubicBezTo>
                  <a:pt x="5063" y="65843"/>
                  <a:pt x="9756" y="65843"/>
                  <a:pt x="12646" y="68733"/>
                </a:cubicBezTo>
                <a:lnTo>
                  <a:pt x="36112" y="92198"/>
                </a:lnTo>
                <a:lnTo>
                  <a:pt x="90210" y="17825"/>
                </a:lnTo>
                <a:cubicBezTo>
                  <a:pt x="92614" y="14519"/>
                  <a:pt x="97238" y="13779"/>
                  <a:pt x="100544" y="1618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2" name="Text 40"/>
          <p:cNvSpPr/>
          <p:nvPr/>
        </p:nvSpPr>
        <p:spPr>
          <a:xfrm>
            <a:off x="6723250" y="2610883"/>
            <a:ext cx="1369698" cy="2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65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cloud dependency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31957" y="2923715"/>
            <a:ext cx="103573" cy="118369"/>
          </a:xfrm>
          <a:custGeom>
            <a:avLst/>
            <a:gdLst/>
            <a:ahLst/>
            <a:cxnLst/>
            <a:rect l="l" t="t" r="r" b="b"/>
            <a:pathLst>
              <a:path w="103573" h="118369">
                <a:moveTo>
                  <a:pt x="100521" y="16206"/>
                </a:moveTo>
                <a:cubicBezTo>
                  <a:pt x="103827" y="18611"/>
                  <a:pt x="104567" y="23235"/>
                  <a:pt x="102163" y="26541"/>
                </a:cubicBezTo>
                <a:lnTo>
                  <a:pt x="42978" y="107919"/>
                </a:lnTo>
                <a:cubicBezTo>
                  <a:pt x="41707" y="109676"/>
                  <a:pt x="39741" y="110763"/>
                  <a:pt x="37568" y="110948"/>
                </a:cubicBezTo>
                <a:cubicBezTo>
                  <a:pt x="35395" y="111133"/>
                  <a:pt x="33291" y="110324"/>
                  <a:pt x="31765" y="108798"/>
                </a:cubicBezTo>
                <a:lnTo>
                  <a:pt x="2173" y="79205"/>
                </a:lnTo>
                <a:cubicBezTo>
                  <a:pt x="-717" y="76316"/>
                  <a:pt x="-717" y="71622"/>
                  <a:pt x="2173" y="68733"/>
                </a:cubicBezTo>
                <a:cubicBezTo>
                  <a:pt x="5063" y="65843"/>
                  <a:pt x="9756" y="65843"/>
                  <a:pt x="12646" y="68733"/>
                </a:cubicBezTo>
                <a:lnTo>
                  <a:pt x="36112" y="92198"/>
                </a:lnTo>
                <a:lnTo>
                  <a:pt x="90210" y="17825"/>
                </a:lnTo>
                <a:cubicBezTo>
                  <a:pt x="92614" y="14519"/>
                  <a:pt x="97238" y="13779"/>
                  <a:pt x="100544" y="1618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4" name="Text 42"/>
          <p:cNvSpPr/>
          <p:nvPr/>
        </p:nvSpPr>
        <p:spPr>
          <a:xfrm>
            <a:off x="6723250" y="2881440"/>
            <a:ext cx="1166779" cy="2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65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Lightweight &amp; fast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531957" y="3194273"/>
            <a:ext cx="103573" cy="118369"/>
          </a:xfrm>
          <a:custGeom>
            <a:avLst/>
            <a:gdLst/>
            <a:ahLst/>
            <a:cxnLst/>
            <a:rect l="l" t="t" r="r" b="b"/>
            <a:pathLst>
              <a:path w="103573" h="118369">
                <a:moveTo>
                  <a:pt x="100521" y="16206"/>
                </a:moveTo>
                <a:cubicBezTo>
                  <a:pt x="103827" y="18611"/>
                  <a:pt x="104567" y="23235"/>
                  <a:pt x="102163" y="26541"/>
                </a:cubicBezTo>
                <a:lnTo>
                  <a:pt x="42978" y="107919"/>
                </a:lnTo>
                <a:cubicBezTo>
                  <a:pt x="41707" y="109676"/>
                  <a:pt x="39741" y="110763"/>
                  <a:pt x="37568" y="110948"/>
                </a:cubicBezTo>
                <a:cubicBezTo>
                  <a:pt x="35395" y="111133"/>
                  <a:pt x="33291" y="110324"/>
                  <a:pt x="31765" y="108798"/>
                </a:cubicBezTo>
                <a:lnTo>
                  <a:pt x="2173" y="79205"/>
                </a:lnTo>
                <a:cubicBezTo>
                  <a:pt x="-717" y="76316"/>
                  <a:pt x="-717" y="71622"/>
                  <a:pt x="2173" y="68733"/>
                </a:cubicBezTo>
                <a:cubicBezTo>
                  <a:pt x="5063" y="65843"/>
                  <a:pt x="9756" y="65843"/>
                  <a:pt x="12646" y="68733"/>
                </a:cubicBezTo>
                <a:lnTo>
                  <a:pt x="36112" y="92198"/>
                </a:lnTo>
                <a:lnTo>
                  <a:pt x="90210" y="17825"/>
                </a:lnTo>
                <a:cubicBezTo>
                  <a:pt x="92614" y="14519"/>
                  <a:pt x="97238" y="13779"/>
                  <a:pt x="100544" y="1618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6" name="Text 44"/>
          <p:cNvSpPr/>
          <p:nvPr/>
        </p:nvSpPr>
        <p:spPr>
          <a:xfrm>
            <a:off x="6723250" y="3151998"/>
            <a:ext cx="1048411" cy="2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65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SQL-compatible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79598" y="3868974"/>
            <a:ext cx="5673254" cy="2350469"/>
          </a:xfrm>
          <a:custGeom>
            <a:avLst/>
            <a:gdLst/>
            <a:ahLst/>
            <a:cxnLst/>
            <a:rect l="l" t="t" r="r" b="b"/>
            <a:pathLst>
              <a:path w="5673254" h="2350469">
                <a:moveTo>
                  <a:pt x="0" y="0"/>
                </a:moveTo>
                <a:lnTo>
                  <a:pt x="5673254" y="0"/>
                </a:lnTo>
                <a:lnTo>
                  <a:pt x="5673254" y="2350469"/>
                </a:lnTo>
                <a:lnTo>
                  <a:pt x="0" y="2350469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48" name="Shape 46"/>
          <p:cNvSpPr/>
          <p:nvPr/>
        </p:nvSpPr>
        <p:spPr>
          <a:xfrm>
            <a:off x="6179598" y="3868974"/>
            <a:ext cx="33820" cy="2350469"/>
          </a:xfrm>
          <a:custGeom>
            <a:avLst/>
            <a:gdLst/>
            <a:ahLst/>
            <a:cxnLst/>
            <a:rect l="l" t="t" r="r" b="b"/>
            <a:pathLst>
              <a:path w="33820" h="2350469">
                <a:moveTo>
                  <a:pt x="0" y="0"/>
                </a:moveTo>
                <a:lnTo>
                  <a:pt x="33820" y="0"/>
                </a:lnTo>
                <a:lnTo>
                  <a:pt x="33820" y="2350469"/>
                </a:lnTo>
                <a:lnTo>
                  <a:pt x="0" y="2350469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9" name="Shape 47"/>
          <p:cNvSpPr/>
          <p:nvPr/>
        </p:nvSpPr>
        <p:spPr>
          <a:xfrm>
            <a:off x="6365606" y="4038072"/>
            <a:ext cx="473476" cy="473476"/>
          </a:xfrm>
          <a:custGeom>
            <a:avLst/>
            <a:gdLst/>
            <a:ahLst/>
            <a:cxnLst/>
            <a:rect l="l" t="t" r="r" b="b"/>
            <a:pathLst>
              <a:path w="473476" h="473476">
                <a:moveTo>
                  <a:pt x="101461" y="0"/>
                </a:moveTo>
                <a:lnTo>
                  <a:pt x="372015" y="0"/>
                </a:lnTo>
                <a:cubicBezTo>
                  <a:pt x="428013" y="0"/>
                  <a:pt x="473476" y="45463"/>
                  <a:pt x="473476" y="101461"/>
                </a:cubicBezTo>
                <a:lnTo>
                  <a:pt x="473476" y="372015"/>
                </a:lnTo>
                <a:cubicBezTo>
                  <a:pt x="473476" y="428050"/>
                  <a:pt x="428050" y="473476"/>
                  <a:pt x="372015" y="473476"/>
                </a:cubicBezTo>
                <a:lnTo>
                  <a:pt x="101461" y="473476"/>
                </a:lnTo>
                <a:cubicBezTo>
                  <a:pt x="45463" y="473476"/>
                  <a:pt x="0" y="428013"/>
                  <a:pt x="0" y="372015"/>
                </a:cubicBezTo>
                <a:lnTo>
                  <a:pt x="0" y="101461"/>
                </a:lnTo>
                <a:cubicBezTo>
                  <a:pt x="0" y="45463"/>
                  <a:pt x="45463" y="0"/>
                  <a:pt x="10146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500885" y="4173351"/>
            <a:ext cx="202918" cy="202918"/>
          </a:xfrm>
          <a:custGeom>
            <a:avLst/>
            <a:gdLst/>
            <a:ahLst/>
            <a:cxnLst/>
            <a:rect l="l" t="t" r="r" b="b"/>
            <a:pathLst>
              <a:path w="202918" h="202918">
                <a:moveTo>
                  <a:pt x="47559" y="22194"/>
                </a:moveTo>
                <a:cubicBezTo>
                  <a:pt x="47559" y="9948"/>
                  <a:pt x="57507" y="0"/>
                  <a:pt x="69753" y="0"/>
                </a:cubicBezTo>
                <a:lnTo>
                  <a:pt x="79265" y="0"/>
                </a:lnTo>
                <a:cubicBezTo>
                  <a:pt x="86280" y="0"/>
                  <a:pt x="91947" y="5667"/>
                  <a:pt x="91947" y="12682"/>
                </a:cubicBezTo>
                <a:lnTo>
                  <a:pt x="91947" y="190236"/>
                </a:lnTo>
                <a:cubicBezTo>
                  <a:pt x="91947" y="197251"/>
                  <a:pt x="86280" y="202918"/>
                  <a:pt x="79265" y="202918"/>
                </a:cubicBezTo>
                <a:lnTo>
                  <a:pt x="66583" y="202918"/>
                </a:lnTo>
                <a:cubicBezTo>
                  <a:pt x="54772" y="202918"/>
                  <a:pt x="44824" y="194833"/>
                  <a:pt x="42010" y="183895"/>
                </a:cubicBezTo>
                <a:cubicBezTo>
                  <a:pt x="41733" y="183895"/>
                  <a:pt x="41495" y="183895"/>
                  <a:pt x="41218" y="183895"/>
                </a:cubicBezTo>
                <a:cubicBezTo>
                  <a:pt x="23700" y="183895"/>
                  <a:pt x="9512" y="169706"/>
                  <a:pt x="9512" y="152189"/>
                </a:cubicBezTo>
                <a:cubicBezTo>
                  <a:pt x="9512" y="145055"/>
                  <a:pt x="11890" y="138476"/>
                  <a:pt x="15853" y="133165"/>
                </a:cubicBezTo>
                <a:cubicBezTo>
                  <a:pt x="8164" y="127379"/>
                  <a:pt x="3171" y="118184"/>
                  <a:pt x="3171" y="107800"/>
                </a:cubicBezTo>
                <a:cubicBezTo>
                  <a:pt x="3171" y="95554"/>
                  <a:pt x="10146" y="84893"/>
                  <a:pt x="20292" y="79622"/>
                </a:cubicBezTo>
                <a:cubicBezTo>
                  <a:pt x="17478" y="74866"/>
                  <a:pt x="15853" y="69317"/>
                  <a:pt x="15853" y="63412"/>
                </a:cubicBezTo>
                <a:cubicBezTo>
                  <a:pt x="15853" y="45894"/>
                  <a:pt x="30041" y="31706"/>
                  <a:pt x="47559" y="31706"/>
                </a:cubicBezTo>
                <a:lnTo>
                  <a:pt x="47559" y="22194"/>
                </a:lnTo>
                <a:close/>
                <a:moveTo>
                  <a:pt x="155359" y="22194"/>
                </a:moveTo>
                <a:lnTo>
                  <a:pt x="155359" y="31706"/>
                </a:lnTo>
                <a:cubicBezTo>
                  <a:pt x="172877" y="31706"/>
                  <a:pt x="187065" y="45894"/>
                  <a:pt x="187065" y="63412"/>
                </a:cubicBezTo>
                <a:cubicBezTo>
                  <a:pt x="187065" y="69357"/>
                  <a:pt x="185440" y="74905"/>
                  <a:pt x="182626" y="79622"/>
                </a:cubicBezTo>
                <a:cubicBezTo>
                  <a:pt x="192812" y="84893"/>
                  <a:pt x="199748" y="95514"/>
                  <a:pt x="199748" y="107800"/>
                </a:cubicBezTo>
                <a:cubicBezTo>
                  <a:pt x="199748" y="118184"/>
                  <a:pt x="194754" y="127379"/>
                  <a:pt x="187065" y="133165"/>
                </a:cubicBezTo>
                <a:cubicBezTo>
                  <a:pt x="191028" y="138476"/>
                  <a:pt x="193406" y="145055"/>
                  <a:pt x="193406" y="152189"/>
                </a:cubicBezTo>
                <a:cubicBezTo>
                  <a:pt x="193406" y="169706"/>
                  <a:pt x="179218" y="183895"/>
                  <a:pt x="161700" y="183895"/>
                </a:cubicBezTo>
                <a:cubicBezTo>
                  <a:pt x="161423" y="183895"/>
                  <a:pt x="161185" y="183895"/>
                  <a:pt x="160908" y="183895"/>
                </a:cubicBezTo>
                <a:cubicBezTo>
                  <a:pt x="158094" y="194833"/>
                  <a:pt x="148146" y="202918"/>
                  <a:pt x="136336" y="202918"/>
                </a:cubicBezTo>
                <a:lnTo>
                  <a:pt x="123653" y="202918"/>
                </a:lnTo>
                <a:cubicBezTo>
                  <a:pt x="116638" y="202918"/>
                  <a:pt x="110971" y="197251"/>
                  <a:pt x="110971" y="190236"/>
                </a:cubicBezTo>
                <a:lnTo>
                  <a:pt x="110971" y="12682"/>
                </a:lnTo>
                <a:cubicBezTo>
                  <a:pt x="110971" y="5667"/>
                  <a:pt x="116638" y="0"/>
                  <a:pt x="123653" y="0"/>
                </a:cubicBezTo>
                <a:lnTo>
                  <a:pt x="133165" y="0"/>
                </a:lnTo>
                <a:cubicBezTo>
                  <a:pt x="145411" y="0"/>
                  <a:pt x="155359" y="9948"/>
                  <a:pt x="155359" y="2219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1" name="Text 49"/>
          <p:cNvSpPr/>
          <p:nvPr/>
        </p:nvSpPr>
        <p:spPr>
          <a:xfrm>
            <a:off x="6974361" y="4156441"/>
            <a:ext cx="1268239" cy="23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1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Integration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68988" y="4616389"/>
            <a:ext cx="5308001" cy="1359552"/>
          </a:xfrm>
          <a:custGeom>
            <a:avLst/>
            <a:gdLst/>
            <a:ahLst/>
            <a:cxnLst/>
            <a:rect l="l" t="t" r="r" b="b"/>
            <a:pathLst>
              <a:path w="5308001" h="1359552">
                <a:moveTo>
                  <a:pt x="67638" y="0"/>
                </a:moveTo>
                <a:lnTo>
                  <a:pt x="5240363" y="0"/>
                </a:lnTo>
                <a:cubicBezTo>
                  <a:pt x="5277719" y="0"/>
                  <a:pt x="5308001" y="30282"/>
                  <a:pt x="5308001" y="67638"/>
                </a:cubicBezTo>
                <a:lnTo>
                  <a:pt x="5308001" y="1291914"/>
                </a:lnTo>
                <a:cubicBezTo>
                  <a:pt x="5308001" y="1329269"/>
                  <a:pt x="5277719" y="1359552"/>
                  <a:pt x="5240363" y="1359552"/>
                </a:cubicBezTo>
                <a:lnTo>
                  <a:pt x="67638" y="1359552"/>
                </a:lnTo>
                <a:cubicBezTo>
                  <a:pt x="30282" y="1359552"/>
                  <a:pt x="0" y="1329269"/>
                  <a:pt x="0" y="1291914"/>
                </a:cubicBezTo>
                <a:lnTo>
                  <a:pt x="0" y="67638"/>
                </a:lnTo>
                <a:cubicBezTo>
                  <a:pt x="0" y="30307"/>
                  <a:pt x="30307" y="0"/>
                  <a:pt x="6763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07649" y="4788868"/>
            <a:ext cx="211373" cy="169098"/>
          </a:xfrm>
          <a:custGeom>
            <a:avLst/>
            <a:gdLst/>
            <a:ahLst/>
            <a:cxnLst/>
            <a:rect l="l" t="t" r="r" b="b"/>
            <a:pathLst>
              <a:path w="211373" h="169098">
                <a:moveTo>
                  <a:pt x="116255" y="0"/>
                </a:moveTo>
                <a:cubicBezTo>
                  <a:pt x="116255" y="-5846"/>
                  <a:pt x="111532" y="-10569"/>
                  <a:pt x="105687" y="-10569"/>
                </a:cubicBezTo>
                <a:cubicBezTo>
                  <a:pt x="99841" y="-10569"/>
                  <a:pt x="95118" y="-5846"/>
                  <a:pt x="95118" y="0"/>
                </a:cubicBezTo>
                <a:lnTo>
                  <a:pt x="95118" y="21137"/>
                </a:lnTo>
                <a:lnTo>
                  <a:pt x="63412" y="21137"/>
                </a:lnTo>
                <a:cubicBezTo>
                  <a:pt x="45908" y="21137"/>
                  <a:pt x="31706" y="35339"/>
                  <a:pt x="31706" y="52843"/>
                </a:cubicBezTo>
                <a:lnTo>
                  <a:pt x="31706" y="126824"/>
                </a:lnTo>
                <a:cubicBezTo>
                  <a:pt x="31706" y="144328"/>
                  <a:pt x="45908" y="158530"/>
                  <a:pt x="63412" y="158530"/>
                </a:cubicBezTo>
                <a:lnTo>
                  <a:pt x="147961" y="158530"/>
                </a:lnTo>
                <a:cubicBezTo>
                  <a:pt x="165465" y="158530"/>
                  <a:pt x="179667" y="144328"/>
                  <a:pt x="179667" y="126824"/>
                </a:cubicBezTo>
                <a:lnTo>
                  <a:pt x="179667" y="52843"/>
                </a:lnTo>
                <a:cubicBezTo>
                  <a:pt x="179667" y="35339"/>
                  <a:pt x="165465" y="21137"/>
                  <a:pt x="147961" y="21137"/>
                </a:cubicBezTo>
                <a:lnTo>
                  <a:pt x="116255" y="21137"/>
                </a:lnTo>
                <a:lnTo>
                  <a:pt x="116255" y="0"/>
                </a:lnTo>
                <a:close/>
                <a:moveTo>
                  <a:pt x="52843" y="121540"/>
                </a:moveTo>
                <a:cubicBezTo>
                  <a:pt x="52843" y="117147"/>
                  <a:pt x="56377" y="113613"/>
                  <a:pt x="60770" y="113613"/>
                </a:cubicBezTo>
                <a:lnTo>
                  <a:pt x="71338" y="113613"/>
                </a:lnTo>
                <a:cubicBezTo>
                  <a:pt x="75731" y="113613"/>
                  <a:pt x="79265" y="117147"/>
                  <a:pt x="79265" y="121540"/>
                </a:cubicBezTo>
                <a:cubicBezTo>
                  <a:pt x="79265" y="125932"/>
                  <a:pt x="75731" y="129466"/>
                  <a:pt x="71338" y="129466"/>
                </a:cubicBezTo>
                <a:lnTo>
                  <a:pt x="60770" y="129466"/>
                </a:lnTo>
                <a:cubicBezTo>
                  <a:pt x="56377" y="129466"/>
                  <a:pt x="52843" y="125932"/>
                  <a:pt x="52843" y="121540"/>
                </a:cubicBezTo>
                <a:close/>
                <a:moveTo>
                  <a:pt x="92476" y="121540"/>
                </a:moveTo>
                <a:cubicBezTo>
                  <a:pt x="92476" y="117147"/>
                  <a:pt x="96010" y="113613"/>
                  <a:pt x="100402" y="113613"/>
                </a:cubicBezTo>
                <a:lnTo>
                  <a:pt x="110971" y="113613"/>
                </a:lnTo>
                <a:cubicBezTo>
                  <a:pt x="115363" y="113613"/>
                  <a:pt x="118897" y="117147"/>
                  <a:pt x="118897" y="121540"/>
                </a:cubicBezTo>
                <a:cubicBezTo>
                  <a:pt x="118897" y="125932"/>
                  <a:pt x="115363" y="129466"/>
                  <a:pt x="110971" y="129466"/>
                </a:cubicBezTo>
                <a:lnTo>
                  <a:pt x="100402" y="129466"/>
                </a:lnTo>
                <a:cubicBezTo>
                  <a:pt x="96010" y="129466"/>
                  <a:pt x="92476" y="125932"/>
                  <a:pt x="92476" y="121540"/>
                </a:cubicBezTo>
                <a:close/>
                <a:moveTo>
                  <a:pt x="132108" y="121540"/>
                </a:moveTo>
                <a:cubicBezTo>
                  <a:pt x="132108" y="117147"/>
                  <a:pt x="135642" y="113613"/>
                  <a:pt x="140035" y="113613"/>
                </a:cubicBezTo>
                <a:lnTo>
                  <a:pt x="150603" y="113613"/>
                </a:lnTo>
                <a:cubicBezTo>
                  <a:pt x="154996" y="113613"/>
                  <a:pt x="158530" y="117147"/>
                  <a:pt x="158530" y="121540"/>
                </a:cubicBezTo>
                <a:cubicBezTo>
                  <a:pt x="158530" y="125932"/>
                  <a:pt x="154996" y="129466"/>
                  <a:pt x="150603" y="129466"/>
                </a:cubicBezTo>
                <a:lnTo>
                  <a:pt x="140035" y="129466"/>
                </a:lnTo>
                <a:cubicBezTo>
                  <a:pt x="135642" y="129466"/>
                  <a:pt x="132108" y="125932"/>
                  <a:pt x="132108" y="121540"/>
                </a:cubicBezTo>
                <a:close/>
                <a:moveTo>
                  <a:pt x="73981" y="58128"/>
                </a:moveTo>
                <a:cubicBezTo>
                  <a:pt x="82730" y="58128"/>
                  <a:pt x="89834" y="65231"/>
                  <a:pt x="89834" y="73981"/>
                </a:cubicBezTo>
                <a:cubicBezTo>
                  <a:pt x="89834" y="82730"/>
                  <a:pt x="82730" y="89834"/>
                  <a:pt x="73981" y="89834"/>
                </a:cubicBezTo>
                <a:cubicBezTo>
                  <a:pt x="65231" y="89834"/>
                  <a:pt x="58128" y="82730"/>
                  <a:pt x="58128" y="73981"/>
                </a:cubicBezTo>
                <a:cubicBezTo>
                  <a:pt x="58128" y="65231"/>
                  <a:pt x="65231" y="58128"/>
                  <a:pt x="73981" y="58128"/>
                </a:cubicBezTo>
                <a:close/>
                <a:moveTo>
                  <a:pt x="121540" y="73981"/>
                </a:moveTo>
                <a:cubicBezTo>
                  <a:pt x="121540" y="65231"/>
                  <a:pt x="128643" y="58128"/>
                  <a:pt x="137393" y="58128"/>
                </a:cubicBezTo>
                <a:cubicBezTo>
                  <a:pt x="146142" y="58128"/>
                  <a:pt x="153245" y="65231"/>
                  <a:pt x="153245" y="73981"/>
                </a:cubicBezTo>
                <a:cubicBezTo>
                  <a:pt x="153245" y="82730"/>
                  <a:pt x="146142" y="89834"/>
                  <a:pt x="137393" y="89834"/>
                </a:cubicBezTo>
                <a:cubicBezTo>
                  <a:pt x="128643" y="89834"/>
                  <a:pt x="121540" y="82730"/>
                  <a:pt x="121540" y="73981"/>
                </a:cubicBezTo>
                <a:close/>
                <a:moveTo>
                  <a:pt x="21137" y="73981"/>
                </a:moveTo>
                <a:cubicBezTo>
                  <a:pt x="21137" y="68135"/>
                  <a:pt x="16414" y="63412"/>
                  <a:pt x="10569" y="63412"/>
                </a:cubicBezTo>
                <a:cubicBezTo>
                  <a:pt x="4723" y="63412"/>
                  <a:pt x="0" y="68135"/>
                  <a:pt x="0" y="73981"/>
                </a:cubicBezTo>
                <a:lnTo>
                  <a:pt x="0" y="105687"/>
                </a:lnTo>
                <a:cubicBezTo>
                  <a:pt x="0" y="111532"/>
                  <a:pt x="4723" y="116255"/>
                  <a:pt x="10569" y="116255"/>
                </a:cubicBezTo>
                <a:cubicBezTo>
                  <a:pt x="16414" y="116255"/>
                  <a:pt x="21137" y="111532"/>
                  <a:pt x="21137" y="105687"/>
                </a:cubicBezTo>
                <a:lnTo>
                  <a:pt x="21137" y="73981"/>
                </a:lnTo>
                <a:close/>
                <a:moveTo>
                  <a:pt x="200804" y="63412"/>
                </a:moveTo>
                <a:cubicBezTo>
                  <a:pt x="194959" y="63412"/>
                  <a:pt x="190236" y="68135"/>
                  <a:pt x="190236" y="73981"/>
                </a:cubicBezTo>
                <a:lnTo>
                  <a:pt x="190236" y="105687"/>
                </a:lnTo>
                <a:cubicBezTo>
                  <a:pt x="190236" y="111532"/>
                  <a:pt x="194959" y="116255"/>
                  <a:pt x="200804" y="116255"/>
                </a:cubicBezTo>
                <a:cubicBezTo>
                  <a:pt x="206650" y="116255"/>
                  <a:pt x="211373" y="111532"/>
                  <a:pt x="211373" y="105687"/>
                </a:cubicBezTo>
                <a:lnTo>
                  <a:pt x="211373" y="73981"/>
                </a:lnTo>
                <a:cubicBezTo>
                  <a:pt x="211373" y="68135"/>
                  <a:pt x="206650" y="63412"/>
                  <a:pt x="200804" y="6341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4" name="Text 52"/>
          <p:cNvSpPr/>
          <p:nvPr/>
        </p:nvSpPr>
        <p:spPr>
          <a:xfrm>
            <a:off x="6820481" y="4755048"/>
            <a:ext cx="1386607" cy="23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8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LLM (Ollama)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531957" y="5135520"/>
            <a:ext cx="103573" cy="118369"/>
          </a:xfrm>
          <a:custGeom>
            <a:avLst/>
            <a:gdLst/>
            <a:ahLst/>
            <a:cxnLst/>
            <a:rect l="l" t="t" r="r" b="b"/>
            <a:pathLst>
              <a:path w="103573" h="118369">
                <a:moveTo>
                  <a:pt x="100521" y="16206"/>
                </a:moveTo>
                <a:cubicBezTo>
                  <a:pt x="103827" y="18611"/>
                  <a:pt x="104567" y="23235"/>
                  <a:pt x="102163" y="26541"/>
                </a:cubicBezTo>
                <a:lnTo>
                  <a:pt x="42978" y="107919"/>
                </a:lnTo>
                <a:cubicBezTo>
                  <a:pt x="41707" y="109676"/>
                  <a:pt x="39741" y="110763"/>
                  <a:pt x="37568" y="110948"/>
                </a:cubicBezTo>
                <a:cubicBezTo>
                  <a:pt x="35395" y="111133"/>
                  <a:pt x="33291" y="110324"/>
                  <a:pt x="31765" y="108798"/>
                </a:cubicBezTo>
                <a:lnTo>
                  <a:pt x="2173" y="79205"/>
                </a:lnTo>
                <a:cubicBezTo>
                  <a:pt x="-717" y="76316"/>
                  <a:pt x="-717" y="71622"/>
                  <a:pt x="2173" y="68733"/>
                </a:cubicBezTo>
                <a:cubicBezTo>
                  <a:pt x="5063" y="65843"/>
                  <a:pt x="9756" y="65843"/>
                  <a:pt x="12646" y="68733"/>
                </a:cubicBezTo>
                <a:lnTo>
                  <a:pt x="36112" y="92198"/>
                </a:lnTo>
                <a:lnTo>
                  <a:pt x="90210" y="17825"/>
                </a:lnTo>
                <a:cubicBezTo>
                  <a:pt x="92614" y="14519"/>
                  <a:pt x="97238" y="13779"/>
                  <a:pt x="100544" y="1618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6" name="Text 54"/>
          <p:cNvSpPr/>
          <p:nvPr/>
        </p:nvSpPr>
        <p:spPr>
          <a:xfrm>
            <a:off x="6723250" y="5093245"/>
            <a:ext cx="1471157" cy="2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65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Post-retrieval synthesis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531957" y="5406077"/>
            <a:ext cx="103573" cy="118369"/>
          </a:xfrm>
          <a:custGeom>
            <a:avLst/>
            <a:gdLst/>
            <a:ahLst/>
            <a:cxnLst/>
            <a:rect l="l" t="t" r="r" b="b"/>
            <a:pathLst>
              <a:path w="103573" h="118369">
                <a:moveTo>
                  <a:pt x="100521" y="16206"/>
                </a:moveTo>
                <a:cubicBezTo>
                  <a:pt x="103827" y="18611"/>
                  <a:pt x="104567" y="23235"/>
                  <a:pt x="102163" y="26541"/>
                </a:cubicBezTo>
                <a:lnTo>
                  <a:pt x="42978" y="107919"/>
                </a:lnTo>
                <a:cubicBezTo>
                  <a:pt x="41707" y="109676"/>
                  <a:pt x="39741" y="110763"/>
                  <a:pt x="37568" y="110948"/>
                </a:cubicBezTo>
                <a:cubicBezTo>
                  <a:pt x="35395" y="111133"/>
                  <a:pt x="33291" y="110324"/>
                  <a:pt x="31765" y="108798"/>
                </a:cubicBezTo>
                <a:lnTo>
                  <a:pt x="2173" y="79205"/>
                </a:lnTo>
                <a:cubicBezTo>
                  <a:pt x="-717" y="76316"/>
                  <a:pt x="-717" y="71622"/>
                  <a:pt x="2173" y="68733"/>
                </a:cubicBezTo>
                <a:cubicBezTo>
                  <a:pt x="5063" y="65843"/>
                  <a:pt x="9756" y="65843"/>
                  <a:pt x="12646" y="68733"/>
                </a:cubicBezTo>
                <a:lnTo>
                  <a:pt x="36112" y="92198"/>
                </a:lnTo>
                <a:lnTo>
                  <a:pt x="90210" y="17825"/>
                </a:lnTo>
                <a:cubicBezTo>
                  <a:pt x="92614" y="14519"/>
                  <a:pt x="97238" y="13779"/>
                  <a:pt x="100544" y="1618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8" name="Text 56"/>
          <p:cNvSpPr/>
          <p:nvPr/>
        </p:nvSpPr>
        <p:spPr>
          <a:xfrm>
            <a:off x="6723250" y="5363803"/>
            <a:ext cx="1809354" cy="2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65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Summarization &amp; explanation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531957" y="5676635"/>
            <a:ext cx="103573" cy="118369"/>
          </a:xfrm>
          <a:custGeom>
            <a:avLst/>
            <a:gdLst/>
            <a:ahLst/>
            <a:cxnLst/>
            <a:rect l="l" t="t" r="r" b="b"/>
            <a:pathLst>
              <a:path w="103573" h="118369">
                <a:moveTo>
                  <a:pt x="100521" y="16206"/>
                </a:moveTo>
                <a:cubicBezTo>
                  <a:pt x="103827" y="18611"/>
                  <a:pt x="104567" y="23235"/>
                  <a:pt x="102163" y="26541"/>
                </a:cubicBezTo>
                <a:lnTo>
                  <a:pt x="42978" y="107919"/>
                </a:lnTo>
                <a:cubicBezTo>
                  <a:pt x="41707" y="109676"/>
                  <a:pt x="39741" y="110763"/>
                  <a:pt x="37568" y="110948"/>
                </a:cubicBezTo>
                <a:cubicBezTo>
                  <a:pt x="35395" y="111133"/>
                  <a:pt x="33291" y="110324"/>
                  <a:pt x="31765" y="108798"/>
                </a:cubicBezTo>
                <a:lnTo>
                  <a:pt x="2173" y="79205"/>
                </a:lnTo>
                <a:cubicBezTo>
                  <a:pt x="-717" y="76316"/>
                  <a:pt x="-717" y="71622"/>
                  <a:pt x="2173" y="68733"/>
                </a:cubicBezTo>
                <a:cubicBezTo>
                  <a:pt x="5063" y="65843"/>
                  <a:pt x="9756" y="65843"/>
                  <a:pt x="12646" y="68733"/>
                </a:cubicBezTo>
                <a:lnTo>
                  <a:pt x="36112" y="92198"/>
                </a:lnTo>
                <a:lnTo>
                  <a:pt x="90210" y="17825"/>
                </a:lnTo>
                <a:cubicBezTo>
                  <a:pt x="92614" y="14519"/>
                  <a:pt x="97238" y="13779"/>
                  <a:pt x="100544" y="1618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0" name="Text 58"/>
          <p:cNvSpPr/>
          <p:nvPr/>
        </p:nvSpPr>
        <p:spPr>
          <a:xfrm>
            <a:off x="6723250" y="5634360"/>
            <a:ext cx="1369698" cy="2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65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used for retrieval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46652" y="6351340"/>
            <a:ext cx="11498696" cy="507295"/>
          </a:xfrm>
          <a:custGeom>
            <a:avLst/>
            <a:gdLst/>
            <a:ahLst/>
            <a:cxnLst/>
            <a:rect l="l" t="t" r="r" b="b"/>
            <a:pathLst>
              <a:path w="11498696" h="507295">
                <a:moveTo>
                  <a:pt x="0" y="0"/>
                </a:moveTo>
                <a:lnTo>
                  <a:pt x="11498696" y="0"/>
                </a:lnTo>
                <a:lnTo>
                  <a:pt x="11498696" y="507295"/>
                </a:lnTo>
                <a:lnTo>
                  <a:pt x="0" y="507295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14902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355107" y="6351340"/>
            <a:ext cx="33820" cy="507295"/>
          </a:xfrm>
          <a:custGeom>
            <a:avLst/>
            <a:gdLst/>
            <a:ahLst/>
            <a:cxnLst/>
            <a:rect l="l" t="t" r="r" b="b"/>
            <a:pathLst>
              <a:path w="33820" h="507295">
                <a:moveTo>
                  <a:pt x="0" y="0"/>
                </a:moveTo>
                <a:lnTo>
                  <a:pt x="33820" y="0"/>
                </a:lnTo>
                <a:lnTo>
                  <a:pt x="33820" y="507295"/>
                </a:lnTo>
                <a:lnTo>
                  <a:pt x="0" y="507295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3" name="Shape 61"/>
          <p:cNvSpPr/>
          <p:nvPr/>
        </p:nvSpPr>
        <p:spPr>
          <a:xfrm>
            <a:off x="519978" y="6503529"/>
            <a:ext cx="228283" cy="202918"/>
          </a:xfrm>
          <a:custGeom>
            <a:avLst/>
            <a:gdLst/>
            <a:ahLst/>
            <a:cxnLst/>
            <a:rect l="l" t="t" r="r" b="b"/>
            <a:pathLst>
              <a:path w="228283" h="202918">
                <a:moveTo>
                  <a:pt x="122662" y="-7491"/>
                </a:moveTo>
                <a:cubicBezTo>
                  <a:pt x="121038" y="-10661"/>
                  <a:pt x="117748" y="-12682"/>
                  <a:pt x="114181" y="-12682"/>
                </a:cubicBezTo>
                <a:cubicBezTo>
                  <a:pt x="110614" y="-12682"/>
                  <a:pt x="107325" y="-10661"/>
                  <a:pt x="105700" y="-7491"/>
                </a:cubicBezTo>
                <a:lnTo>
                  <a:pt x="76530" y="49659"/>
                </a:lnTo>
                <a:lnTo>
                  <a:pt x="13158" y="59726"/>
                </a:lnTo>
                <a:cubicBezTo>
                  <a:pt x="9631" y="60281"/>
                  <a:pt x="6698" y="62778"/>
                  <a:pt x="5588" y="66186"/>
                </a:cubicBezTo>
                <a:cubicBezTo>
                  <a:pt x="4478" y="69595"/>
                  <a:pt x="5390" y="73320"/>
                  <a:pt x="7887" y="75857"/>
                </a:cubicBezTo>
                <a:lnTo>
                  <a:pt x="53226" y="121236"/>
                </a:lnTo>
                <a:lnTo>
                  <a:pt x="43239" y="184608"/>
                </a:lnTo>
                <a:cubicBezTo>
                  <a:pt x="42684" y="188135"/>
                  <a:pt x="44151" y="191702"/>
                  <a:pt x="47044" y="193803"/>
                </a:cubicBezTo>
                <a:cubicBezTo>
                  <a:pt x="49937" y="195903"/>
                  <a:pt x="53742" y="196220"/>
                  <a:pt x="56952" y="194595"/>
                </a:cubicBezTo>
                <a:lnTo>
                  <a:pt x="114181" y="165505"/>
                </a:lnTo>
                <a:lnTo>
                  <a:pt x="171371" y="194595"/>
                </a:lnTo>
                <a:cubicBezTo>
                  <a:pt x="174541" y="196220"/>
                  <a:pt x="178386" y="195903"/>
                  <a:pt x="181279" y="193803"/>
                </a:cubicBezTo>
                <a:cubicBezTo>
                  <a:pt x="184172" y="191702"/>
                  <a:pt x="185638" y="188175"/>
                  <a:pt x="185084" y="184608"/>
                </a:cubicBezTo>
                <a:lnTo>
                  <a:pt x="175057" y="121236"/>
                </a:lnTo>
                <a:lnTo>
                  <a:pt x="220396" y="75857"/>
                </a:lnTo>
                <a:cubicBezTo>
                  <a:pt x="222933" y="73320"/>
                  <a:pt x="223804" y="69595"/>
                  <a:pt x="222695" y="66186"/>
                </a:cubicBezTo>
                <a:cubicBezTo>
                  <a:pt x="221585" y="62778"/>
                  <a:pt x="218692" y="60281"/>
                  <a:pt x="215125" y="59726"/>
                </a:cubicBezTo>
                <a:lnTo>
                  <a:pt x="151792" y="49659"/>
                </a:lnTo>
                <a:lnTo>
                  <a:pt x="122662" y="-749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4" name="Text 62"/>
          <p:cNvSpPr/>
          <p:nvPr/>
        </p:nvSpPr>
        <p:spPr>
          <a:xfrm>
            <a:off x="896222" y="6493381"/>
            <a:ext cx="1096604" cy="216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8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Innovation: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947169" y="6493381"/>
            <a:ext cx="5419289" cy="216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8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Transparent ranking with explainable AI — every scoring decision is interpretable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Goals &amp; Metrics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76350"/>
            <a:ext cx="3686175" cy="2638425"/>
          </a:xfrm>
          <a:custGeom>
            <a:avLst/>
            <a:gdLst/>
            <a:ahLst/>
            <a:cxnLst/>
            <a:rect l="l" t="t" r="r" b="b"/>
            <a:pathLst>
              <a:path w="3686175" h="2638425">
                <a:moveTo>
                  <a:pt x="0" y="0"/>
                </a:moveTo>
                <a:lnTo>
                  <a:pt x="3686175" y="0"/>
                </a:lnTo>
                <a:lnTo>
                  <a:pt x="3686175" y="2638425"/>
                </a:lnTo>
                <a:lnTo>
                  <a:pt x="0" y="2638425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763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3900" y="1638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Shape 6"/>
          <p:cNvSpPr/>
          <p:nvPr/>
        </p:nvSpPr>
        <p:spPr>
          <a:xfrm>
            <a:off x="1257300" y="1562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9" name="Text 7"/>
          <p:cNvSpPr/>
          <p:nvPr/>
        </p:nvSpPr>
        <p:spPr>
          <a:xfrm>
            <a:off x="1409700" y="161925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171700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Retrieval Accuracy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552700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Achieve higher precision and recall through hybrid scoring combining lexical and semantic signals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3413760"/>
            <a:ext cx="3305175" cy="7620"/>
          </a:xfrm>
          <a:custGeom>
            <a:avLst/>
            <a:gdLst/>
            <a:ahLst/>
            <a:cxnLst/>
            <a:rect l="l" t="t" r="r" b="b"/>
            <a:pathLst>
              <a:path w="3305175" h="7620">
                <a:moveTo>
                  <a:pt x="0" y="0"/>
                </a:moveTo>
                <a:lnTo>
                  <a:pt x="3305175" y="0"/>
                </a:lnTo>
                <a:lnTo>
                  <a:pt x="33051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90550" y="35509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" y="3531873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+25% F1-score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4460" y="1276350"/>
            <a:ext cx="3686175" cy="2638425"/>
          </a:xfrm>
          <a:custGeom>
            <a:avLst/>
            <a:gdLst/>
            <a:ahLst/>
            <a:cxnLst/>
            <a:rect l="l" t="t" r="r" b="b"/>
            <a:pathLst>
              <a:path w="3686175" h="2638425">
                <a:moveTo>
                  <a:pt x="0" y="0"/>
                </a:moveTo>
                <a:lnTo>
                  <a:pt x="3686175" y="0"/>
                </a:lnTo>
                <a:lnTo>
                  <a:pt x="3686175" y="2638425"/>
                </a:lnTo>
                <a:lnTo>
                  <a:pt x="0" y="2638425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16" name="Shape 14"/>
          <p:cNvSpPr/>
          <p:nvPr/>
        </p:nvSpPr>
        <p:spPr>
          <a:xfrm>
            <a:off x="4254460" y="12763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7" name="Shape 15"/>
          <p:cNvSpPr/>
          <p:nvPr/>
        </p:nvSpPr>
        <p:spPr>
          <a:xfrm>
            <a:off x="4444960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83073" y="1638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9" name="Shape 17"/>
          <p:cNvSpPr/>
          <p:nvPr/>
        </p:nvSpPr>
        <p:spPr>
          <a:xfrm>
            <a:off x="5130761" y="1562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0" name="Text 18"/>
          <p:cNvSpPr/>
          <p:nvPr/>
        </p:nvSpPr>
        <p:spPr>
          <a:xfrm>
            <a:off x="5265897" y="161925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44960" y="2171700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Semantic Meaning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44960" y="2552700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query intent beyond keywords using dense vector embeddings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44960" y="3413760"/>
            <a:ext cx="3305175" cy="7620"/>
          </a:xfrm>
          <a:custGeom>
            <a:avLst/>
            <a:gdLst/>
            <a:ahLst/>
            <a:cxnLst/>
            <a:rect l="l" t="t" r="r" b="b"/>
            <a:pathLst>
              <a:path w="3305175" h="7620">
                <a:moveTo>
                  <a:pt x="0" y="0"/>
                </a:moveTo>
                <a:lnTo>
                  <a:pt x="3305175" y="0"/>
                </a:lnTo>
                <a:lnTo>
                  <a:pt x="33051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464010" y="35509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5" name="Text 23"/>
          <p:cNvSpPr/>
          <p:nvPr/>
        </p:nvSpPr>
        <p:spPr>
          <a:xfrm>
            <a:off x="4711660" y="3531873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BERT-based embeddings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27921" y="1276350"/>
            <a:ext cx="3686175" cy="2638425"/>
          </a:xfrm>
          <a:custGeom>
            <a:avLst/>
            <a:gdLst/>
            <a:ahLst/>
            <a:cxnLst/>
            <a:rect l="l" t="t" r="r" b="b"/>
            <a:pathLst>
              <a:path w="3686175" h="2638425">
                <a:moveTo>
                  <a:pt x="0" y="0"/>
                </a:moveTo>
                <a:lnTo>
                  <a:pt x="3686175" y="0"/>
                </a:lnTo>
                <a:lnTo>
                  <a:pt x="3686175" y="2638425"/>
                </a:lnTo>
                <a:lnTo>
                  <a:pt x="0" y="2638425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27" name="Shape 25"/>
          <p:cNvSpPr/>
          <p:nvPr/>
        </p:nvSpPr>
        <p:spPr>
          <a:xfrm>
            <a:off x="8127921" y="12763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28" name="Shape 26"/>
          <p:cNvSpPr/>
          <p:nvPr/>
        </p:nvSpPr>
        <p:spPr>
          <a:xfrm>
            <a:off x="8318421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456533" y="1638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9130" y="17458"/>
                </a:moveTo>
                <a:lnTo>
                  <a:pt x="245299" y="84564"/>
                </a:lnTo>
                <a:cubicBezTo>
                  <a:pt x="257666" y="97110"/>
                  <a:pt x="257666" y="117202"/>
                  <a:pt x="245299" y="129748"/>
                </a:cubicBezTo>
                <a:lnTo>
                  <a:pt x="175468" y="200427"/>
                </a:lnTo>
                <a:cubicBezTo>
                  <a:pt x="171316" y="204624"/>
                  <a:pt x="164529" y="204668"/>
                  <a:pt x="160333" y="200516"/>
                </a:cubicBezTo>
                <a:cubicBezTo>
                  <a:pt x="156136" y="196364"/>
                  <a:pt x="156091" y="189577"/>
                  <a:pt x="160243" y="185380"/>
                </a:cubicBezTo>
                <a:lnTo>
                  <a:pt x="230073" y="114657"/>
                </a:lnTo>
                <a:cubicBezTo>
                  <a:pt x="234181" y="110505"/>
                  <a:pt x="234181" y="103763"/>
                  <a:pt x="230073" y="99611"/>
                </a:cubicBezTo>
                <a:lnTo>
                  <a:pt x="163860" y="32549"/>
                </a:lnTo>
                <a:cubicBezTo>
                  <a:pt x="159707" y="28352"/>
                  <a:pt x="159752" y="21565"/>
                  <a:pt x="163949" y="17413"/>
                </a:cubicBezTo>
                <a:cubicBezTo>
                  <a:pt x="168146" y="13261"/>
                  <a:pt x="174933" y="13305"/>
                  <a:pt x="179085" y="17502"/>
                </a:cubicBezTo>
                <a:close/>
                <a:moveTo>
                  <a:pt x="14332" y="102468"/>
                </a:moveTo>
                <a:lnTo>
                  <a:pt x="14332" y="42863"/>
                </a:lnTo>
                <a:cubicBezTo>
                  <a:pt x="14332" y="27102"/>
                  <a:pt x="27146" y="14288"/>
                  <a:pt x="42907" y="14288"/>
                </a:cubicBezTo>
                <a:lnTo>
                  <a:pt x="102513" y="14288"/>
                </a:lnTo>
                <a:cubicBezTo>
                  <a:pt x="110103" y="14288"/>
                  <a:pt x="117381" y="17279"/>
                  <a:pt x="122739" y="22637"/>
                </a:cubicBezTo>
                <a:lnTo>
                  <a:pt x="187032" y="86931"/>
                </a:lnTo>
                <a:cubicBezTo>
                  <a:pt x="198194" y="98093"/>
                  <a:pt x="198194" y="116175"/>
                  <a:pt x="187032" y="127337"/>
                </a:cubicBezTo>
                <a:lnTo>
                  <a:pt x="127427" y="186943"/>
                </a:lnTo>
                <a:cubicBezTo>
                  <a:pt x="116265" y="198105"/>
                  <a:pt x="98182" y="198105"/>
                  <a:pt x="87020" y="186943"/>
                </a:cubicBezTo>
                <a:lnTo>
                  <a:pt x="22726" y="122649"/>
                </a:lnTo>
                <a:cubicBezTo>
                  <a:pt x="17368" y="117291"/>
                  <a:pt x="14377" y="110014"/>
                  <a:pt x="14377" y="102424"/>
                </a:cubicBezTo>
                <a:close/>
                <a:moveTo>
                  <a:pt x="78626" y="64294"/>
                </a:moveTo>
                <a:cubicBezTo>
                  <a:pt x="78626" y="56408"/>
                  <a:pt x="72224" y="50006"/>
                  <a:pt x="64338" y="50006"/>
                </a:cubicBezTo>
                <a:cubicBezTo>
                  <a:pt x="56453" y="50006"/>
                  <a:pt x="50051" y="56408"/>
                  <a:pt x="50051" y="64294"/>
                </a:cubicBezTo>
                <a:cubicBezTo>
                  <a:pt x="50051" y="72179"/>
                  <a:pt x="56453" y="78581"/>
                  <a:pt x="64338" y="78581"/>
                </a:cubicBezTo>
                <a:cubicBezTo>
                  <a:pt x="72224" y="78581"/>
                  <a:pt x="78626" y="72179"/>
                  <a:pt x="78626" y="64294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30" name="Shape 28"/>
          <p:cNvSpPr/>
          <p:nvPr/>
        </p:nvSpPr>
        <p:spPr>
          <a:xfrm>
            <a:off x="9004221" y="1562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31" name="Text 29"/>
          <p:cNvSpPr/>
          <p:nvPr/>
        </p:nvSpPr>
        <p:spPr>
          <a:xfrm>
            <a:off x="9138523" y="161925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18421" y="2171700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Utilize Metadata Effectively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18421" y="2552700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Leverage recency, source credibility, and content tags for ranking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18421" y="3413760"/>
            <a:ext cx="3305175" cy="7620"/>
          </a:xfrm>
          <a:custGeom>
            <a:avLst/>
            <a:gdLst/>
            <a:ahLst/>
            <a:cxnLst/>
            <a:rect l="l" t="t" r="r" b="b"/>
            <a:pathLst>
              <a:path w="3305175" h="7620">
                <a:moveTo>
                  <a:pt x="0" y="0"/>
                </a:moveTo>
                <a:lnTo>
                  <a:pt x="3305175" y="0"/>
                </a:lnTo>
                <a:lnTo>
                  <a:pt x="33051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5E7A8E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337471" y="35509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19050"/>
                </a:moveTo>
                <a:cubicBezTo>
                  <a:pt x="4256" y="19050"/>
                  <a:pt x="0" y="23306"/>
                  <a:pt x="0" y="28575"/>
                </a:cubicBezTo>
                <a:cubicBezTo>
                  <a:pt x="0" y="33844"/>
                  <a:pt x="4256" y="38100"/>
                  <a:pt x="9525" y="38100"/>
                </a:cubicBezTo>
                <a:lnTo>
                  <a:pt x="35332" y="38100"/>
                </a:lnTo>
                <a:cubicBezTo>
                  <a:pt x="38993" y="46524"/>
                  <a:pt x="47387" y="52388"/>
                  <a:pt x="57150" y="52388"/>
                </a:cubicBezTo>
                <a:cubicBezTo>
                  <a:pt x="66913" y="52388"/>
                  <a:pt x="75307" y="46524"/>
                  <a:pt x="78968" y="38100"/>
                </a:cubicBezTo>
                <a:lnTo>
                  <a:pt x="142875" y="38100"/>
                </a:lnTo>
                <a:cubicBezTo>
                  <a:pt x="148144" y="38100"/>
                  <a:pt x="152400" y="33844"/>
                  <a:pt x="152400" y="28575"/>
                </a:cubicBezTo>
                <a:cubicBezTo>
                  <a:pt x="152400" y="23306"/>
                  <a:pt x="148144" y="19050"/>
                  <a:pt x="142875" y="19050"/>
                </a:cubicBezTo>
                <a:lnTo>
                  <a:pt x="78968" y="19050"/>
                </a:lnTo>
                <a:cubicBezTo>
                  <a:pt x="75307" y="10626"/>
                  <a:pt x="66913" y="4763"/>
                  <a:pt x="57150" y="4763"/>
                </a:cubicBezTo>
                <a:cubicBezTo>
                  <a:pt x="47387" y="4763"/>
                  <a:pt x="38993" y="10626"/>
                  <a:pt x="35332" y="19050"/>
                </a:cubicBezTo>
                <a:lnTo>
                  <a:pt x="9525" y="19050"/>
                </a:lnTo>
                <a:close/>
                <a:moveTo>
                  <a:pt x="9525" y="66675"/>
                </a:move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82957" y="85725"/>
                </a:lnTo>
                <a:cubicBezTo>
                  <a:pt x="86618" y="94149"/>
                  <a:pt x="95012" y="100013"/>
                  <a:pt x="104775" y="100013"/>
                </a:cubicBezTo>
                <a:cubicBezTo>
                  <a:pt x="114538" y="100013"/>
                  <a:pt x="122932" y="94149"/>
                  <a:pt x="126593" y="85725"/>
                </a:cubicBezTo>
                <a:lnTo>
                  <a:pt x="142875" y="85725"/>
                </a:lnTo>
                <a:cubicBezTo>
                  <a:pt x="148144" y="85725"/>
                  <a:pt x="152400" y="81469"/>
                  <a:pt x="152400" y="76200"/>
                </a:cubicBezTo>
                <a:cubicBezTo>
                  <a:pt x="152400" y="70931"/>
                  <a:pt x="148144" y="66675"/>
                  <a:pt x="142875" y="66675"/>
                </a:cubicBezTo>
                <a:lnTo>
                  <a:pt x="126593" y="66675"/>
                </a:lnTo>
                <a:cubicBezTo>
                  <a:pt x="122932" y="58251"/>
                  <a:pt x="114538" y="52388"/>
                  <a:pt x="104775" y="52388"/>
                </a:cubicBezTo>
                <a:cubicBezTo>
                  <a:pt x="95012" y="52388"/>
                  <a:pt x="86618" y="58251"/>
                  <a:pt x="82957" y="66675"/>
                </a:cubicBezTo>
                <a:lnTo>
                  <a:pt x="9525" y="66675"/>
                </a:lnTo>
                <a:close/>
                <a:moveTo>
                  <a:pt x="9525" y="114300"/>
                </a:moveTo>
                <a:cubicBezTo>
                  <a:pt x="4256" y="114300"/>
                  <a:pt x="0" y="118556"/>
                  <a:pt x="0" y="123825"/>
                </a:cubicBezTo>
                <a:cubicBezTo>
                  <a:pt x="0" y="129094"/>
                  <a:pt x="4256" y="133350"/>
                  <a:pt x="9525" y="133350"/>
                </a:cubicBezTo>
                <a:lnTo>
                  <a:pt x="25807" y="133350"/>
                </a:lnTo>
                <a:cubicBezTo>
                  <a:pt x="29468" y="141774"/>
                  <a:pt x="37862" y="147638"/>
                  <a:pt x="47625" y="147638"/>
                </a:cubicBezTo>
                <a:cubicBezTo>
                  <a:pt x="57388" y="147638"/>
                  <a:pt x="65782" y="141774"/>
                  <a:pt x="69443" y="133350"/>
                </a:cubicBez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cubicBezTo>
                  <a:pt x="152400" y="118556"/>
                  <a:pt x="148144" y="114300"/>
                  <a:pt x="142875" y="114300"/>
                </a:cubicBezTo>
                <a:lnTo>
                  <a:pt x="69443" y="114300"/>
                </a:lnTo>
                <a:cubicBezTo>
                  <a:pt x="65782" y="105876"/>
                  <a:pt x="57388" y="100013"/>
                  <a:pt x="47625" y="100013"/>
                </a:cubicBezTo>
                <a:cubicBezTo>
                  <a:pt x="37862" y="100013"/>
                  <a:pt x="29468" y="105876"/>
                  <a:pt x="25807" y="114300"/>
                </a:cubicBezTo>
                <a:lnTo>
                  <a:pt x="9525" y="114300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36" name="Text 34"/>
          <p:cNvSpPr/>
          <p:nvPr/>
        </p:nvSpPr>
        <p:spPr>
          <a:xfrm>
            <a:off x="8585121" y="3531873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boosting factors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1000" y="4122423"/>
            <a:ext cx="3686175" cy="2638425"/>
          </a:xfrm>
          <a:custGeom>
            <a:avLst/>
            <a:gdLst/>
            <a:ahLst/>
            <a:cxnLst/>
            <a:rect l="l" t="t" r="r" b="b"/>
            <a:pathLst>
              <a:path w="3686175" h="2638425">
                <a:moveTo>
                  <a:pt x="0" y="0"/>
                </a:moveTo>
                <a:lnTo>
                  <a:pt x="3686175" y="0"/>
                </a:lnTo>
                <a:lnTo>
                  <a:pt x="3686175" y="2638425"/>
                </a:lnTo>
                <a:lnTo>
                  <a:pt x="0" y="2638425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38" name="Shape 36"/>
          <p:cNvSpPr/>
          <p:nvPr/>
        </p:nvSpPr>
        <p:spPr>
          <a:xfrm>
            <a:off x="381000" y="4122423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" y="433197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23900" y="44843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7300" y="44081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2" name="Text 40"/>
          <p:cNvSpPr/>
          <p:nvPr/>
        </p:nvSpPr>
        <p:spPr>
          <a:xfrm>
            <a:off x="1391603" y="446532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71500" y="5017773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Real-Time Ingestion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71500" y="5398773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pipeline for live news updates without batch delays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71500" y="6259833"/>
            <a:ext cx="3305175" cy="7620"/>
          </a:xfrm>
          <a:custGeom>
            <a:avLst/>
            <a:gdLst/>
            <a:ahLst/>
            <a:cxnLst/>
            <a:rect l="l" t="t" r="r" b="b"/>
            <a:pathLst>
              <a:path w="3305175" h="7620">
                <a:moveTo>
                  <a:pt x="0" y="0"/>
                </a:moveTo>
                <a:lnTo>
                  <a:pt x="3305175" y="0"/>
                </a:lnTo>
                <a:lnTo>
                  <a:pt x="33051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0075" y="639699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7" name="Text 45"/>
          <p:cNvSpPr/>
          <p:nvPr/>
        </p:nvSpPr>
        <p:spPr>
          <a:xfrm>
            <a:off x="838200" y="6377941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&lt;5 min latency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254460" y="4122423"/>
            <a:ext cx="3686175" cy="2638425"/>
          </a:xfrm>
          <a:custGeom>
            <a:avLst/>
            <a:gdLst/>
            <a:ahLst/>
            <a:cxnLst/>
            <a:rect l="l" t="t" r="r" b="b"/>
            <a:pathLst>
              <a:path w="3686175" h="2638425">
                <a:moveTo>
                  <a:pt x="0" y="0"/>
                </a:moveTo>
                <a:lnTo>
                  <a:pt x="3686175" y="0"/>
                </a:lnTo>
                <a:lnTo>
                  <a:pt x="3686175" y="2638425"/>
                </a:lnTo>
                <a:lnTo>
                  <a:pt x="0" y="2638425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49" name="Shape 47"/>
          <p:cNvSpPr/>
          <p:nvPr/>
        </p:nvSpPr>
        <p:spPr>
          <a:xfrm>
            <a:off x="4254460" y="4122423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50" name="Shape 48"/>
          <p:cNvSpPr/>
          <p:nvPr/>
        </p:nvSpPr>
        <p:spPr>
          <a:xfrm>
            <a:off x="4444960" y="433197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583073" y="448437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52" name="Shape 50"/>
          <p:cNvSpPr/>
          <p:nvPr/>
        </p:nvSpPr>
        <p:spPr>
          <a:xfrm>
            <a:off x="5130761" y="44081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53" name="Text 51"/>
          <p:cNvSpPr/>
          <p:nvPr/>
        </p:nvSpPr>
        <p:spPr>
          <a:xfrm>
            <a:off x="5266373" y="446532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444960" y="5017773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 Explainability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444960" y="5398773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Transparent scoring with interpretable ranking factors and reasoning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444960" y="6259833"/>
            <a:ext cx="3305175" cy="7620"/>
          </a:xfrm>
          <a:custGeom>
            <a:avLst/>
            <a:gdLst/>
            <a:ahLst/>
            <a:cxnLst/>
            <a:rect l="l" t="t" r="r" b="b"/>
            <a:pathLst>
              <a:path w="3305175" h="7620">
                <a:moveTo>
                  <a:pt x="0" y="0"/>
                </a:moveTo>
                <a:lnTo>
                  <a:pt x="3305175" y="0"/>
                </a:lnTo>
                <a:lnTo>
                  <a:pt x="33051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464010" y="639699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42863"/>
                </a:moveTo>
                <a:cubicBezTo>
                  <a:pt x="22173" y="42863"/>
                  <a:pt x="28575" y="36460"/>
                  <a:pt x="28575" y="28575"/>
                </a:cubicBezTo>
                <a:cubicBezTo>
                  <a:pt x="28575" y="20690"/>
                  <a:pt x="22173" y="14288"/>
                  <a:pt x="14288" y="14288"/>
                </a:cubicBezTo>
                <a:cubicBezTo>
                  <a:pt x="6402" y="14288"/>
                  <a:pt x="0" y="20690"/>
                  <a:pt x="0" y="28575"/>
                </a:cubicBezTo>
                <a:cubicBezTo>
                  <a:pt x="0" y="36460"/>
                  <a:pt x="6402" y="42863"/>
                  <a:pt x="14287" y="42863"/>
                </a:cubicBezTo>
                <a:close/>
                <a:moveTo>
                  <a:pt x="57150" y="19050"/>
                </a:moveTo>
                <a:cubicBezTo>
                  <a:pt x="51881" y="19050"/>
                  <a:pt x="47625" y="23306"/>
                  <a:pt x="47625" y="28575"/>
                </a:cubicBezTo>
                <a:cubicBezTo>
                  <a:pt x="47625" y="33844"/>
                  <a:pt x="51881" y="38100"/>
                  <a:pt x="57150" y="38100"/>
                </a:cubicBezTo>
                <a:lnTo>
                  <a:pt x="142875" y="38100"/>
                </a:lnTo>
                <a:cubicBezTo>
                  <a:pt x="148144" y="38100"/>
                  <a:pt x="152400" y="33844"/>
                  <a:pt x="152400" y="28575"/>
                </a:cubicBezTo>
                <a:cubicBezTo>
                  <a:pt x="152400" y="23306"/>
                  <a:pt x="148144" y="19050"/>
                  <a:pt x="142875" y="19050"/>
                </a:cubicBezTo>
                <a:lnTo>
                  <a:pt x="57150" y="19050"/>
                </a:lnTo>
                <a:close/>
                <a:moveTo>
                  <a:pt x="57150" y="66675"/>
                </a:moveTo>
                <a:cubicBezTo>
                  <a:pt x="51881" y="66675"/>
                  <a:pt x="47625" y="70931"/>
                  <a:pt x="47625" y="76200"/>
                </a:cubicBezTo>
                <a:cubicBezTo>
                  <a:pt x="47625" y="81469"/>
                  <a:pt x="51881" y="85725"/>
                  <a:pt x="57150" y="85725"/>
                </a:cubicBezTo>
                <a:lnTo>
                  <a:pt x="142875" y="85725"/>
                </a:lnTo>
                <a:cubicBezTo>
                  <a:pt x="148144" y="85725"/>
                  <a:pt x="152400" y="81469"/>
                  <a:pt x="152400" y="76200"/>
                </a:cubicBezTo>
                <a:cubicBezTo>
                  <a:pt x="152400" y="70931"/>
                  <a:pt x="148144" y="66675"/>
                  <a:pt x="142875" y="66675"/>
                </a:cubicBezTo>
                <a:lnTo>
                  <a:pt x="57150" y="66675"/>
                </a:lnTo>
                <a:close/>
                <a:moveTo>
                  <a:pt x="57150" y="114300"/>
                </a:moveTo>
                <a:cubicBezTo>
                  <a:pt x="51881" y="114300"/>
                  <a:pt x="47625" y="118556"/>
                  <a:pt x="47625" y="123825"/>
                </a:cubicBezTo>
                <a:cubicBezTo>
                  <a:pt x="47625" y="129094"/>
                  <a:pt x="51881" y="133350"/>
                  <a:pt x="57150" y="133350"/>
                </a:cubicBez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cubicBezTo>
                  <a:pt x="152400" y="118556"/>
                  <a:pt x="148144" y="114300"/>
                  <a:pt x="142875" y="114300"/>
                </a:cubicBezTo>
                <a:lnTo>
                  <a:pt x="57150" y="114300"/>
                </a:lnTo>
                <a:close/>
                <a:moveTo>
                  <a:pt x="14288" y="138113"/>
                </a:moveTo>
                <a:cubicBezTo>
                  <a:pt x="22173" y="138113"/>
                  <a:pt x="28575" y="131710"/>
                  <a:pt x="28575" y="123825"/>
                </a:cubicBezTo>
                <a:cubicBezTo>
                  <a:pt x="28575" y="115940"/>
                  <a:pt x="22173" y="109537"/>
                  <a:pt x="14288" y="109537"/>
                </a:cubicBezTo>
                <a:cubicBezTo>
                  <a:pt x="6402" y="109537"/>
                  <a:pt x="0" y="115940"/>
                  <a:pt x="0" y="123825"/>
                </a:cubicBezTo>
                <a:cubicBezTo>
                  <a:pt x="0" y="131710"/>
                  <a:pt x="6402" y="138113"/>
                  <a:pt x="14287" y="138113"/>
                </a:cubicBezTo>
                <a:close/>
                <a:moveTo>
                  <a:pt x="28575" y="76200"/>
                </a:moveTo>
                <a:cubicBezTo>
                  <a:pt x="28575" y="68315"/>
                  <a:pt x="22173" y="61912"/>
                  <a:pt x="14288" y="61912"/>
                </a:cubicBezTo>
                <a:cubicBezTo>
                  <a:pt x="6402" y="61912"/>
                  <a:pt x="0" y="68315"/>
                  <a:pt x="0" y="76200"/>
                </a:cubicBezTo>
                <a:cubicBezTo>
                  <a:pt x="0" y="84085"/>
                  <a:pt x="6402" y="90488"/>
                  <a:pt x="14288" y="90488"/>
                </a:cubicBezTo>
                <a:cubicBezTo>
                  <a:pt x="22173" y="90488"/>
                  <a:pt x="28575" y="84085"/>
                  <a:pt x="28575" y="7620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58" name="Text 56"/>
          <p:cNvSpPr/>
          <p:nvPr/>
        </p:nvSpPr>
        <p:spPr>
          <a:xfrm>
            <a:off x="4711660" y="6377941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 breakdown per result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127921" y="4122423"/>
            <a:ext cx="3686175" cy="2638425"/>
          </a:xfrm>
          <a:custGeom>
            <a:avLst/>
            <a:gdLst/>
            <a:ahLst/>
            <a:cxnLst/>
            <a:rect l="l" t="t" r="r" b="b"/>
            <a:pathLst>
              <a:path w="3686175" h="2638425">
                <a:moveTo>
                  <a:pt x="0" y="0"/>
                </a:moveTo>
                <a:lnTo>
                  <a:pt x="3686175" y="0"/>
                </a:lnTo>
                <a:lnTo>
                  <a:pt x="3686175" y="2638425"/>
                </a:lnTo>
                <a:lnTo>
                  <a:pt x="0" y="2638425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60" name="Shape 58"/>
          <p:cNvSpPr/>
          <p:nvPr/>
        </p:nvSpPr>
        <p:spPr>
          <a:xfrm>
            <a:off x="8127921" y="4122423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0" y="0"/>
                </a:moveTo>
                <a:lnTo>
                  <a:pt x="3686175" y="0"/>
                </a:lnTo>
                <a:lnTo>
                  <a:pt x="368617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61" name="Shape 59"/>
          <p:cNvSpPr/>
          <p:nvPr/>
        </p:nvSpPr>
        <p:spPr>
          <a:xfrm>
            <a:off x="8318421" y="433197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442246" y="448437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8575" y="42863"/>
                </a:moveTo>
                <a:cubicBezTo>
                  <a:pt x="28575" y="27102"/>
                  <a:pt x="41389" y="14288"/>
                  <a:pt x="57150" y="14288"/>
                </a:cubicBezTo>
                <a:lnTo>
                  <a:pt x="228600" y="14288"/>
                </a:lnTo>
                <a:cubicBezTo>
                  <a:pt x="244361" y="14288"/>
                  <a:pt x="257175" y="27102"/>
                  <a:pt x="257175" y="42863"/>
                </a:cubicBezTo>
                <a:lnTo>
                  <a:pt x="257175" y="150019"/>
                </a:lnTo>
                <a:lnTo>
                  <a:pt x="228600" y="150019"/>
                </a:lnTo>
                <a:lnTo>
                  <a:pt x="228600" y="42863"/>
                </a:lnTo>
                <a:lnTo>
                  <a:pt x="57150" y="42863"/>
                </a:lnTo>
                <a:lnTo>
                  <a:pt x="57150" y="150019"/>
                </a:lnTo>
                <a:lnTo>
                  <a:pt x="28575" y="150019"/>
                </a:lnTo>
                <a:lnTo>
                  <a:pt x="28575" y="42863"/>
                </a:lnTo>
                <a:close/>
                <a:moveTo>
                  <a:pt x="0" y="180023"/>
                </a:moveTo>
                <a:cubicBezTo>
                  <a:pt x="0" y="175290"/>
                  <a:pt x="3840" y="171450"/>
                  <a:pt x="8573" y="171450"/>
                </a:cubicBezTo>
                <a:lnTo>
                  <a:pt x="277178" y="171450"/>
                </a:lnTo>
                <a:cubicBezTo>
                  <a:pt x="281910" y="171450"/>
                  <a:pt x="285750" y="175290"/>
                  <a:pt x="285750" y="180023"/>
                </a:cubicBezTo>
                <a:cubicBezTo>
                  <a:pt x="285750" y="198953"/>
                  <a:pt x="270391" y="214313"/>
                  <a:pt x="251460" y="214313"/>
                </a:cubicBezTo>
                <a:lnTo>
                  <a:pt x="34290" y="214313"/>
                </a:lnTo>
                <a:cubicBezTo>
                  <a:pt x="15359" y="214313"/>
                  <a:pt x="0" y="198953"/>
                  <a:pt x="0" y="180023"/>
                </a:cubicBezTo>
                <a:close/>
                <a:moveTo>
                  <a:pt x="125462" y="93315"/>
                </a:moveTo>
                <a:lnTo>
                  <a:pt x="111621" y="107156"/>
                </a:lnTo>
                <a:lnTo>
                  <a:pt x="125462" y="120997"/>
                </a:lnTo>
                <a:cubicBezTo>
                  <a:pt x="129659" y="125194"/>
                  <a:pt x="129659" y="131981"/>
                  <a:pt x="125462" y="136133"/>
                </a:cubicBezTo>
                <a:cubicBezTo>
                  <a:pt x="121265" y="140285"/>
                  <a:pt x="114479" y="140330"/>
                  <a:pt x="110326" y="136133"/>
                </a:cubicBezTo>
                <a:lnTo>
                  <a:pt x="88895" y="114702"/>
                </a:lnTo>
                <a:cubicBezTo>
                  <a:pt x="84698" y="110505"/>
                  <a:pt x="84698" y="103718"/>
                  <a:pt x="88895" y="99566"/>
                </a:cubicBezTo>
                <a:lnTo>
                  <a:pt x="110326" y="78135"/>
                </a:lnTo>
                <a:cubicBezTo>
                  <a:pt x="114523" y="73938"/>
                  <a:pt x="121310" y="73938"/>
                  <a:pt x="125462" y="78135"/>
                </a:cubicBezTo>
                <a:cubicBezTo>
                  <a:pt x="129614" y="82332"/>
                  <a:pt x="129659" y="89118"/>
                  <a:pt x="125462" y="93271"/>
                </a:cubicBezTo>
                <a:close/>
                <a:moveTo>
                  <a:pt x="175468" y="78135"/>
                </a:moveTo>
                <a:lnTo>
                  <a:pt x="196900" y="99566"/>
                </a:lnTo>
                <a:cubicBezTo>
                  <a:pt x="201097" y="103763"/>
                  <a:pt x="201097" y="110550"/>
                  <a:pt x="196900" y="114702"/>
                </a:cubicBezTo>
                <a:lnTo>
                  <a:pt x="175468" y="136133"/>
                </a:lnTo>
                <a:cubicBezTo>
                  <a:pt x="171271" y="140330"/>
                  <a:pt x="164485" y="140330"/>
                  <a:pt x="160333" y="136133"/>
                </a:cubicBezTo>
                <a:cubicBezTo>
                  <a:pt x="156180" y="131936"/>
                  <a:pt x="156136" y="125150"/>
                  <a:pt x="160333" y="120997"/>
                </a:cubicBezTo>
                <a:lnTo>
                  <a:pt x="174174" y="107156"/>
                </a:lnTo>
                <a:lnTo>
                  <a:pt x="160333" y="93315"/>
                </a:lnTo>
                <a:cubicBezTo>
                  <a:pt x="156136" y="89118"/>
                  <a:pt x="156136" y="82332"/>
                  <a:pt x="160333" y="78179"/>
                </a:cubicBezTo>
                <a:cubicBezTo>
                  <a:pt x="164529" y="74027"/>
                  <a:pt x="171316" y="73982"/>
                  <a:pt x="175468" y="78179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63" name="Shape 61"/>
          <p:cNvSpPr/>
          <p:nvPr/>
        </p:nvSpPr>
        <p:spPr>
          <a:xfrm>
            <a:off x="9004221" y="44081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64" name="Text 62"/>
          <p:cNvSpPr/>
          <p:nvPr/>
        </p:nvSpPr>
        <p:spPr>
          <a:xfrm>
            <a:off x="9137690" y="446532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318421" y="5017773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 Offline Capability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318421" y="5398773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functionality without cloud dependencies or external APIs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318421" y="6259833"/>
            <a:ext cx="3305175" cy="7620"/>
          </a:xfrm>
          <a:custGeom>
            <a:avLst/>
            <a:gdLst/>
            <a:ahLst/>
            <a:cxnLst/>
            <a:rect l="l" t="t" r="r" b="b"/>
            <a:pathLst>
              <a:path w="3305175" h="7620">
                <a:moveTo>
                  <a:pt x="0" y="0"/>
                </a:moveTo>
                <a:lnTo>
                  <a:pt x="3305175" y="0"/>
                </a:lnTo>
                <a:lnTo>
                  <a:pt x="33051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5E7A8E">
              <a:alpha val="2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337471" y="639699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69" name="Text 67"/>
          <p:cNvSpPr/>
          <p:nvPr/>
        </p:nvSpPr>
        <p:spPr>
          <a:xfrm>
            <a:off x="8585121" y="6377941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Privacy-preserving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11418570" cy="1798320"/>
          </a:xfrm>
          <a:custGeom>
            <a:avLst/>
            <a:gdLst/>
            <a:ahLst/>
            <a:cxnLst/>
            <a:rect l="l" t="t" r="r" b="b"/>
            <a:pathLst>
              <a:path w="11418570" h="1798320">
                <a:moveTo>
                  <a:pt x="114301" y="0"/>
                </a:moveTo>
                <a:lnTo>
                  <a:pt x="11304269" y="0"/>
                </a:lnTo>
                <a:cubicBezTo>
                  <a:pt x="11367396" y="0"/>
                  <a:pt x="11418570" y="51174"/>
                  <a:pt x="11418570" y="114301"/>
                </a:cubicBezTo>
                <a:lnTo>
                  <a:pt x="11418570" y="1684019"/>
                </a:lnTo>
                <a:cubicBezTo>
                  <a:pt x="11418570" y="1747103"/>
                  <a:pt x="11367353" y="1798320"/>
                  <a:pt x="11304269" y="1798320"/>
                </a:cubicBezTo>
                <a:lnTo>
                  <a:pt x="114301" y="1798320"/>
                </a:lnTo>
                <a:cubicBezTo>
                  <a:pt x="51174" y="1798320"/>
                  <a:pt x="0" y="1747146"/>
                  <a:pt x="0" y="168401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2C3138"/>
          </a:solidFill>
          <a:ln w="1016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4840" y="1463043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20320">
            <a:solidFill>
              <a:srgbClr val="4DB6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26" y="169354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16086" y="232172"/>
                </a:lnTo>
                <a:lnTo>
                  <a:pt x="107156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218777" y="285750"/>
                </a:lnTo>
                <a:cubicBezTo>
                  <a:pt x="226200" y="285750"/>
                  <a:pt x="232172" y="279778"/>
                  <a:pt x="232172" y="272355"/>
                </a:cubicBezTo>
                <a:cubicBezTo>
                  <a:pt x="232172" y="264933"/>
                  <a:pt x="226200" y="258961"/>
                  <a:pt x="218777" y="258961"/>
                </a:cubicBezTo>
                <a:lnTo>
                  <a:pt x="178594" y="258961"/>
                </a:lnTo>
                <a:lnTo>
                  <a:pt x="169664" y="232172"/>
                </a:lnTo>
                <a:lnTo>
                  <a:pt x="250031" y="232172"/>
                </a:lnTo>
                <a:cubicBezTo>
                  <a:pt x="269732" y="232172"/>
                  <a:pt x="285750" y="216154"/>
                  <a:pt x="285750" y="196453"/>
                </a:cubicBezTo>
                <a:lnTo>
                  <a:pt x="285750" y="53578"/>
                </a:lnTo>
                <a:cubicBezTo>
                  <a:pt x="285750" y="33877"/>
                  <a:pt x="269732" y="17859"/>
                  <a:pt x="250031" y="17859"/>
                </a:cubicBezTo>
                <a:lnTo>
                  <a:pt x="35719" y="17859"/>
                </a:lnTo>
                <a:close/>
                <a:moveTo>
                  <a:pt x="53578" y="53578"/>
                </a:move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160734"/>
                </a:lnTo>
                <a:cubicBezTo>
                  <a:pt x="250031" y="170613"/>
                  <a:pt x="242050" y="178594"/>
                  <a:pt x="232172" y="178594"/>
                </a:cubicBezTo>
                <a:lnTo>
                  <a:pt x="53578" y="178594"/>
                </a:lnTo>
                <a:cubicBezTo>
                  <a:pt x="43700" y="178594"/>
                  <a:pt x="35719" y="170613"/>
                  <a:pt x="35719" y="160734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Text 5"/>
          <p:cNvSpPr/>
          <p:nvPr/>
        </p:nvSpPr>
        <p:spPr>
          <a:xfrm>
            <a:off x="654368" y="2331723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1523" y="2598423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UI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17765" y="20078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0" name="Shape 8"/>
          <p:cNvSpPr/>
          <p:nvPr/>
        </p:nvSpPr>
        <p:spPr>
          <a:xfrm>
            <a:off x="3188851" y="1463043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 w="20320">
            <a:solidFill>
              <a:srgbClr val="3A5F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39597" y="169354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89297"/>
                </a:lnTo>
                <a:cubicBezTo>
                  <a:pt x="0" y="108998"/>
                  <a:pt x="16018" y="125016"/>
                  <a:pt x="35719" y="125016"/>
                </a:cubicBezTo>
                <a:lnTo>
                  <a:pt x="214313" y="125016"/>
                </a:lnTo>
                <a:cubicBezTo>
                  <a:pt x="234014" y="125016"/>
                  <a:pt x="250031" y="108998"/>
                  <a:pt x="250031" y="89297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156270" y="58043"/>
                </a:moveTo>
                <a:cubicBezTo>
                  <a:pt x="163662" y="58043"/>
                  <a:pt x="169664" y="64045"/>
                  <a:pt x="169664" y="71438"/>
                </a:cubicBezTo>
                <a:cubicBezTo>
                  <a:pt x="169664" y="78830"/>
                  <a:pt x="163662" y="84832"/>
                  <a:pt x="156270" y="84832"/>
                </a:cubicBezTo>
                <a:cubicBezTo>
                  <a:pt x="148877" y="84832"/>
                  <a:pt x="142875" y="78830"/>
                  <a:pt x="142875" y="71438"/>
                </a:cubicBezTo>
                <a:cubicBezTo>
                  <a:pt x="142875" y="64045"/>
                  <a:pt x="148877" y="58043"/>
                  <a:pt x="156270" y="58043"/>
                </a:cubicBezTo>
                <a:close/>
                <a:moveTo>
                  <a:pt x="187523" y="71438"/>
                </a:moveTo>
                <a:cubicBezTo>
                  <a:pt x="187523" y="64045"/>
                  <a:pt x="193525" y="58043"/>
                  <a:pt x="200918" y="58043"/>
                </a:cubicBezTo>
                <a:cubicBezTo>
                  <a:pt x="208311" y="58043"/>
                  <a:pt x="214313" y="64045"/>
                  <a:pt x="214313" y="71438"/>
                </a:cubicBezTo>
                <a:cubicBezTo>
                  <a:pt x="214313" y="78830"/>
                  <a:pt x="208311" y="84832"/>
                  <a:pt x="200918" y="84832"/>
                </a:cubicBezTo>
                <a:cubicBezTo>
                  <a:pt x="193525" y="84832"/>
                  <a:pt x="187523" y="78830"/>
                  <a:pt x="187523" y="71438"/>
                </a:cubicBezTo>
                <a:close/>
                <a:moveTo>
                  <a:pt x="35719" y="160734"/>
                </a:move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lose/>
                <a:moveTo>
                  <a:pt x="156270" y="200918"/>
                </a:moveTo>
                <a:cubicBezTo>
                  <a:pt x="163662" y="200918"/>
                  <a:pt x="169664" y="206920"/>
                  <a:pt x="169664" y="214313"/>
                </a:cubicBezTo>
                <a:cubicBezTo>
                  <a:pt x="169664" y="221705"/>
                  <a:pt x="163662" y="227707"/>
                  <a:pt x="156270" y="227707"/>
                </a:cubicBezTo>
                <a:cubicBezTo>
                  <a:pt x="148877" y="227707"/>
                  <a:pt x="142875" y="221705"/>
                  <a:pt x="142875" y="214313"/>
                </a:cubicBezTo>
                <a:cubicBezTo>
                  <a:pt x="142875" y="206920"/>
                  <a:pt x="148877" y="200918"/>
                  <a:pt x="156270" y="200918"/>
                </a:cubicBezTo>
                <a:close/>
                <a:moveTo>
                  <a:pt x="187523" y="214313"/>
                </a:moveTo>
                <a:cubicBezTo>
                  <a:pt x="187523" y="206920"/>
                  <a:pt x="193525" y="200918"/>
                  <a:pt x="200918" y="200918"/>
                </a:cubicBezTo>
                <a:cubicBezTo>
                  <a:pt x="208311" y="200918"/>
                  <a:pt x="214313" y="206920"/>
                  <a:pt x="214313" y="214313"/>
                </a:cubicBezTo>
                <a:cubicBezTo>
                  <a:pt x="214313" y="221705"/>
                  <a:pt x="208311" y="227707"/>
                  <a:pt x="200918" y="227707"/>
                </a:cubicBezTo>
                <a:cubicBezTo>
                  <a:pt x="193525" y="227707"/>
                  <a:pt x="187523" y="221705"/>
                  <a:pt x="187523" y="214313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2" name="Text 10"/>
          <p:cNvSpPr/>
          <p:nvPr/>
        </p:nvSpPr>
        <p:spPr>
          <a:xfrm>
            <a:off x="3085029" y="2331723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2440" y="2598423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77978" y="20078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Shape 13"/>
          <p:cNvSpPr/>
          <p:nvPr/>
        </p:nvSpPr>
        <p:spPr>
          <a:xfrm>
            <a:off x="5795010" y="1463043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20320">
            <a:solidFill>
              <a:srgbClr val="4DB6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27897" y="169354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32172" y="116086"/>
                </a:moveTo>
                <a:cubicBezTo>
                  <a:pt x="232172" y="141703"/>
                  <a:pt x="223856" y="165367"/>
                  <a:pt x="209848" y="184565"/>
                </a:cubicBezTo>
                <a:lnTo>
                  <a:pt x="280504" y="255277"/>
                </a:lnTo>
                <a:cubicBezTo>
                  <a:pt x="287480" y="262254"/>
                  <a:pt x="287480" y="273583"/>
                  <a:pt x="280504" y="280560"/>
                </a:cubicBezTo>
                <a:cubicBezTo>
                  <a:pt x="273527" y="287536"/>
                  <a:pt x="262198" y="287536"/>
                  <a:pt x="255222" y="280560"/>
                </a:cubicBezTo>
                <a:lnTo>
                  <a:pt x="184565" y="209848"/>
                </a:lnTo>
                <a:cubicBezTo>
                  <a:pt x="165367" y="223856"/>
                  <a:pt x="141703" y="232172"/>
                  <a:pt x="116086" y="232172"/>
                </a:cubicBezTo>
                <a:cubicBezTo>
                  <a:pt x="51960" y="232172"/>
                  <a:pt x="0" y="180212"/>
                  <a:pt x="0" y="116086"/>
                </a:cubicBezTo>
                <a:cubicBezTo>
                  <a:pt x="0" y="51960"/>
                  <a:pt x="51960" y="0"/>
                  <a:pt x="116086" y="0"/>
                </a:cubicBezTo>
                <a:cubicBezTo>
                  <a:pt x="180212" y="0"/>
                  <a:pt x="232172" y="51960"/>
                  <a:pt x="232172" y="116086"/>
                </a:cubicBezTo>
                <a:close/>
                <a:moveTo>
                  <a:pt x="116086" y="196453"/>
                </a:moveTo>
                <a:cubicBezTo>
                  <a:pt x="160442" y="196453"/>
                  <a:pt x="196453" y="160442"/>
                  <a:pt x="196453" y="116086"/>
                </a:cubicBezTo>
                <a:cubicBezTo>
                  <a:pt x="196453" y="71730"/>
                  <a:pt x="160442" y="35719"/>
                  <a:pt x="116086" y="35719"/>
                </a:cubicBezTo>
                <a:cubicBezTo>
                  <a:pt x="71730" y="35719"/>
                  <a:pt x="35719" y="71730"/>
                  <a:pt x="35719" y="116086"/>
                </a:cubicBezTo>
                <a:cubicBezTo>
                  <a:pt x="35719" y="160442"/>
                  <a:pt x="71730" y="196453"/>
                  <a:pt x="116086" y="19645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5815489" y="2331723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IR Engine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45242" y="2598423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 + FAISS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30202" y="20078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Shape 18"/>
          <p:cNvSpPr/>
          <p:nvPr/>
        </p:nvSpPr>
        <p:spPr>
          <a:xfrm>
            <a:off x="8304966" y="1463043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 w="20320">
            <a:solidFill>
              <a:srgbClr val="3A5F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37853" y="169354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6896" y="2331723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73202" y="2598423"/>
            <a:ext cx="47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Ollama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798010" y="20078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96588" y="1463043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 w="20320">
            <a:solidFill>
              <a:srgbClr val="5E7A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47334" y="169354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27" name="Text 25"/>
          <p:cNvSpPr/>
          <p:nvPr/>
        </p:nvSpPr>
        <p:spPr>
          <a:xfrm>
            <a:off x="10765156" y="2331723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30057" y="2598423"/>
            <a:ext cx="54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3215641"/>
            <a:ext cx="5600700" cy="3257550"/>
          </a:xfrm>
          <a:custGeom>
            <a:avLst/>
            <a:gdLst/>
            <a:ahLst/>
            <a:cxnLst/>
            <a:rect l="l" t="t" r="r" b="b"/>
            <a:pathLst>
              <a:path w="5600700" h="3257550">
                <a:moveTo>
                  <a:pt x="0" y="0"/>
                </a:moveTo>
                <a:lnTo>
                  <a:pt x="5600700" y="0"/>
                </a:lnTo>
                <a:lnTo>
                  <a:pt x="560070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3215641"/>
            <a:ext cx="38100" cy="3257550"/>
          </a:xfrm>
          <a:custGeom>
            <a:avLst/>
            <a:gdLst/>
            <a:ahLst/>
            <a:cxnLst/>
            <a:rect l="l" t="t" r="r" b="b"/>
            <a:pathLst>
              <a:path w="38100" h="3257550">
                <a:moveTo>
                  <a:pt x="0" y="0"/>
                </a:moveTo>
                <a:lnTo>
                  <a:pt x="38100" y="0"/>
                </a:lnTo>
                <a:lnTo>
                  <a:pt x="3810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1" name="Shape 29"/>
          <p:cNvSpPr/>
          <p:nvPr/>
        </p:nvSpPr>
        <p:spPr>
          <a:xfrm>
            <a:off x="633413" y="34442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5668" y="-484"/>
                </a:moveTo>
                <a:cubicBezTo>
                  <a:pt x="99231" y="-4204"/>
                  <a:pt x="91269" y="-4204"/>
                  <a:pt x="84832" y="-484"/>
                </a:cubicBezTo>
                <a:lnTo>
                  <a:pt x="53504" y="17599"/>
                </a:lnTo>
                <a:cubicBezTo>
                  <a:pt x="47067" y="21320"/>
                  <a:pt x="43086" y="28203"/>
                  <a:pt x="43086" y="35644"/>
                </a:cubicBezTo>
                <a:lnTo>
                  <a:pt x="43086" y="73558"/>
                </a:lnTo>
                <a:lnTo>
                  <a:pt x="10232" y="92534"/>
                </a:lnTo>
                <a:cubicBezTo>
                  <a:pt x="3795" y="96255"/>
                  <a:pt x="-186" y="103138"/>
                  <a:pt x="-186" y="110579"/>
                </a:cubicBezTo>
                <a:lnTo>
                  <a:pt x="-186" y="146782"/>
                </a:lnTo>
                <a:cubicBezTo>
                  <a:pt x="-186" y="154223"/>
                  <a:pt x="3795" y="161106"/>
                  <a:pt x="10232" y="164827"/>
                </a:cubicBezTo>
                <a:lnTo>
                  <a:pt x="41597" y="182910"/>
                </a:lnTo>
                <a:cubicBezTo>
                  <a:pt x="48034" y="186630"/>
                  <a:pt x="55997" y="186630"/>
                  <a:pt x="62433" y="182910"/>
                </a:cubicBezTo>
                <a:lnTo>
                  <a:pt x="95287" y="163934"/>
                </a:lnTo>
                <a:lnTo>
                  <a:pt x="128141" y="182910"/>
                </a:lnTo>
                <a:cubicBezTo>
                  <a:pt x="134578" y="186630"/>
                  <a:pt x="142540" y="186630"/>
                  <a:pt x="148977" y="182910"/>
                </a:cubicBezTo>
                <a:lnTo>
                  <a:pt x="180268" y="164827"/>
                </a:lnTo>
                <a:cubicBezTo>
                  <a:pt x="186705" y="161106"/>
                  <a:pt x="190686" y="154223"/>
                  <a:pt x="190686" y="146782"/>
                </a:cubicBezTo>
                <a:lnTo>
                  <a:pt x="190686" y="110579"/>
                </a:lnTo>
                <a:cubicBezTo>
                  <a:pt x="190686" y="103138"/>
                  <a:pt x="186705" y="96255"/>
                  <a:pt x="180268" y="92534"/>
                </a:cubicBezTo>
                <a:lnTo>
                  <a:pt x="147414" y="73558"/>
                </a:lnTo>
                <a:lnTo>
                  <a:pt x="147414" y="35644"/>
                </a:lnTo>
                <a:cubicBezTo>
                  <a:pt x="147414" y="28203"/>
                  <a:pt x="143433" y="21320"/>
                  <a:pt x="136996" y="17599"/>
                </a:cubicBezTo>
                <a:lnTo>
                  <a:pt x="105668" y="-484"/>
                </a:lnTo>
                <a:close/>
                <a:moveTo>
                  <a:pt x="86320" y="108868"/>
                </a:moveTo>
                <a:lnTo>
                  <a:pt x="86320" y="148493"/>
                </a:lnTo>
                <a:lnTo>
                  <a:pt x="53467" y="167469"/>
                </a:lnTo>
                <a:cubicBezTo>
                  <a:pt x="53020" y="167729"/>
                  <a:pt x="52499" y="167878"/>
                  <a:pt x="51978" y="167878"/>
                </a:cubicBezTo>
                <a:lnTo>
                  <a:pt x="51978" y="128699"/>
                </a:lnTo>
                <a:lnTo>
                  <a:pt x="86320" y="108868"/>
                </a:lnTo>
                <a:close/>
                <a:moveTo>
                  <a:pt x="172417" y="109091"/>
                </a:moveTo>
                <a:cubicBezTo>
                  <a:pt x="172678" y="109538"/>
                  <a:pt x="172827" y="110058"/>
                  <a:pt x="172827" y="110579"/>
                </a:cubicBezTo>
                <a:lnTo>
                  <a:pt x="172827" y="146782"/>
                </a:lnTo>
                <a:cubicBezTo>
                  <a:pt x="172827" y="147861"/>
                  <a:pt x="172269" y="148828"/>
                  <a:pt x="171338" y="149349"/>
                </a:cubicBezTo>
                <a:lnTo>
                  <a:pt x="139973" y="167432"/>
                </a:lnTo>
                <a:cubicBezTo>
                  <a:pt x="139526" y="167692"/>
                  <a:pt x="139005" y="167841"/>
                  <a:pt x="138485" y="167841"/>
                </a:cubicBezTo>
                <a:lnTo>
                  <a:pt x="138485" y="128662"/>
                </a:lnTo>
                <a:lnTo>
                  <a:pt x="172417" y="109091"/>
                </a:lnTo>
                <a:close/>
                <a:moveTo>
                  <a:pt x="129592" y="35644"/>
                </a:moveTo>
                <a:lnTo>
                  <a:pt x="129592" y="73558"/>
                </a:lnTo>
                <a:lnTo>
                  <a:pt x="95250" y="93390"/>
                </a:lnTo>
                <a:lnTo>
                  <a:pt x="95250" y="53764"/>
                </a:lnTo>
                <a:lnTo>
                  <a:pt x="129183" y="34193"/>
                </a:lnTo>
                <a:cubicBezTo>
                  <a:pt x="129443" y="34640"/>
                  <a:pt x="129592" y="35161"/>
                  <a:pt x="129592" y="3568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Text 30"/>
          <p:cNvSpPr/>
          <p:nvPr/>
        </p:nvSpPr>
        <p:spPr>
          <a:xfrm>
            <a:off x="847725" y="3406141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Design Principles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9600" y="38633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" y="39395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cubicBezTo>
                  <a:pt x="77182" y="0"/>
                  <a:pt x="85725" y="6400"/>
                  <a:pt x="85725" y="14288"/>
                </a:cubicBezTo>
                <a:cubicBezTo>
                  <a:pt x="85725" y="17383"/>
                  <a:pt x="84415" y="20241"/>
                  <a:pt x="82153" y="22592"/>
                </a:cubicBezTo>
                <a:cubicBezTo>
                  <a:pt x="80189" y="24646"/>
                  <a:pt x="78581" y="27146"/>
                  <a:pt x="78581" y="30004"/>
                </a:cubicBezTo>
                <a:cubicBezTo>
                  <a:pt x="78581" y="34469"/>
                  <a:pt x="82213" y="38100"/>
                  <a:pt x="86678" y="38100"/>
                </a:cubicBezTo>
                <a:lnTo>
                  <a:pt x="100013" y="38100"/>
                </a:lnTo>
                <a:cubicBezTo>
                  <a:pt x="107900" y="38100"/>
                  <a:pt x="114300" y="44500"/>
                  <a:pt x="114300" y="52388"/>
                </a:cubicBezTo>
                <a:lnTo>
                  <a:pt x="114300" y="65723"/>
                </a:lnTo>
                <a:cubicBezTo>
                  <a:pt x="114300" y="70187"/>
                  <a:pt x="117931" y="73819"/>
                  <a:pt x="122396" y="73819"/>
                </a:cubicBezTo>
                <a:cubicBezTo>
                  <a:pt x="125224" y="73819"/>
                  <a:pt x="127754" y="72211"/>
                  <a:pt x="129808" y="70247"/>
                </a:cubicBezTo>
                <a:cubicBezTo>
                  <a:pt x="132159" y="68014"/>
                  <a:pt x="135017" y="66675"/>
                  <a:pt x="138113" y="66675"/>
                </a:cubicBezTo>
                <a:cubicBezTo>
                  <a:pt x="146000" y="66675"/>
                  <a:pt x="152400" y="75218"/>
                  <a:pt x="152400" y="85725"/>
                </a:cubicBezTo>
                <a:cubicBezTo>
                  <a:pt x="152400" y="96232"/>
                  <a:pt x="146000" y="104775"/>
                  <a:pt x="138113" y="104775"/>
                </a:cubicBezTo>
                <a:cubicBezTo>
                  <a:pt x="135017" y="104775"/>
                  <a:pt x="132130" y="103465"/>
                  <a:pt x="129808" y="101203"/>
                </a:cubicBezTo>
                <a:cubicBezTo>
                  <a:pt x="127754" y="99239"/>
                  <a:pt x="125254" y="97631"/>
                  <a:pt x="122396" y="97631"/>
                </a:cubicBezTo>
                <a:cubicBezTo>
                  <a:pt x="117931" y="97631"/>
                  <a:pt x="114300" y="101263"/>
                  <a:pt x="114300" y="105728"/>
                </a:cubicBezTo>
                <a:lnTo>
                  <a:pt x="114300" y="138113"/>
                </a:lnTo>
                <a:cubicBezTo>
                  <a:pt x="114300" y="146000"/>
                  <a:pt x="107900" y="152400"/>
                  <a:pt x="100013" y="152400"/>
                </a:cubicBezTo>
                <a:lnTo>
                  <a:pt x="83106" y="152400"/>
                </a:lnTo>
                <a:cubicBezTo>
                  <a:pt x="79296" y="152400"/>
                  <a:pt x="76200" y="149304"/>
                  <a:pt x="76200" y="145494"/>
                </a:cubicBezTo>
                <a:cubicBezTo>
                  <a:pt x="76200" y="142756"/>
                  <a:pt x="77926" y="140345"/>
                  <a:pt x="80129" y="138708"/>
                </a:cubicBezTo>
                <a:cubicBezTo>
                  <a:pt x="83582" y="136118"/>
                  <a:pt x="85725" y="132546"/>
                  <a:pt x="85725" y="128588"/>
                </a:cubicBezTo>
                <a:cubicBezTo>
                  <a:pt x="85725" y="120700"/>
                  <a:pt x="77182" y="114300"/>
                  <a:pt x="66675" y="114300"/>
                </a:cubicBezTo>
                <a:cubicBezTo>
                  <a:pt x="56168" y="114300"/>
                  <a:pt x="47625" y="120700"/>
                  <a:pt x="47625" y="128588"/>
                </a:cubicBezTo>
                <a:cubicBezTo>
                  <a:pt x="47625" y="132546"/>
                  <a:pt x="49768" y="136118"/>
                  <a:pt x="53221" y="138708"/>
                </a:cubicBezTo>
                <a:cubicBezTo>
                  <a:pt x="55424" y="140345"/>
                  <a:pt x="57150" y="142726"/>
                  <a:pt x="57150" y="145494"/>
                </a:cubicBezTo>
                <a:cubicBezTo>
                  <a:pt x="57150" y="149304"/>
                  <a:pt x="54054" y="152400"/>
                  <a:pt x="50244" y="152400"/>
                </a:cubicBezTo>
                <a:lnTo>
                  <a:pt x="14288" y="152400"/>
                </a:lnTo>
                <a:cubicBezTo>
                  <a:pt x="6400" y="152400"/>
                  <a:pt x="0" y="146000"/>
                  <a:pt x="0" y="138113"/>
                </a:cubicBezTo>
                <a:lnTo>
                  <a:pt x="0" y="102156"/>
                </a:lnTo>
                <a:cubicBezTo>
                  <a:pt x="0" y="98346"/>
                  <a:pt x="3096" y="95250"/>
                  <a:pt x="6906" y="95250"/>
                </a:cubicBezTo>
                <a:cubicBezTo>
                  <a:pt x="9644" y="95250"/>
                  <a:pt x="12055" y="96976"/>
                  <a:pt x="13692" y="99179"/>
                </a:cubicBezTo>
                <a:cubicBezTo>
                  <a:pt x="16282" y="102632"/>
                  <a:pt x="19854" y="104775"/>
                  <a:pt x="23813" y="104775"/>
                </a:cubicBezTo>
                <a:cubicBezTo>
                  <a:pt x="31700" y="104775"/>
                  <a:pt x="38100" y="96232"/>
                  <a:pt x="38100" y="85725"/>
                </a:cubicBezTo>
                <a:cubicBezTo>
                  <a:pt x="38100" y="75218"/>
                  <a:pt x="31700" y="66675"/>
                  <a:pt x="23813" y="66675"/>
                </a:cubicBezTo>
                <a:cubicBezTo>
                  <a:pt x="19854" y="66675"/>
                  <a:pt x="16282" y="68818"/>
                  <a:pt x="13692" y="72271"/>
                </a:cubicBezTo>
                <a:cubicBezTo>
                  <a:pt x="12055" y="74474"/>
                  <a:pt x="9674" y="76200"/>
                  <a:pt x="6906" y="76200"/>
                </a:cubicBezTo>
                <a:cubicBezTo>
                  <a:pt x="3096" y="76200"/>
                  <a:pt x="0" y="73104"/>
                  <a:pt x="0" y="69294"/>
                </a:cubicBezTo>
                <a:lnTo>
                  <a:pt x="0" y="52388"/>
                </a:lnTo>
                <a:cubicBezTo>
                  <a:pt x="0" y="44500"/>
                  <a:pt x="6400" y="38100"/>
                  <a:pt x="14288" y="38100"/>
                </a:cubicBezTo>
                <a:lnTo>
                  <a:pt x="46673" y="38100"/>
                </a:lnTo>
                <a:cubicBezTo>
                  <a:pt x="51137" y="38100"/>
                  <a:pt x="54769" y="34469"/>
                  <a:pt x="54769" y="30004"/>
                </a:cubicBezTo>
                <a:cubicBezTo>
                  <a:pt x="54769" y="27176"/>
                  <a:pt x="53161" y="24646"/>
                  <a:pt x="51197" y="22592"/>
                </a:cubicBezTo>
                <a:cubicBezTo>
                  <a:pt x="48964" y="20241"/>
                  <a:pt x="47625" y="17383"/>
                  <a:pt x="47625" y="14288"/>
                </a:cubicBezTo>
                <a:cubicBezTo>
                  <a:pt x="47625" y="6400"/>
                  <a:pt x="56168" y="0"/>
                  <a:pt x="66675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Text 33"/>
          <p:cNvSpPr/>
          <p:nvPr/>
        </p:nvSpPr>
        <p:spPr>
          <a:xfrm>
            <a:off x="1028700" y="3825241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Decoupling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28700" y="4076700"/>
            <a:ext cx="34461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module operates independently with clear interfaces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9600" y="44348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95325" y="45110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-9525"/>
                </a:moveTo>
                <a:cubicBezTo>
                  <a:pt x="43369" y="-9525"/>
                  <a:pt x="47625" y="-5269"/>
                  <a:pt x="47625" y="0"/>
                </a:cubicBezTo>
                <a:lnTo>
                  <a:pt x="47625" y="28575"/>
                </a:lnTo>
                <a:lnTo>
                  <a:pt x="85725" y="28575"/>
                </a:lnTo>
                <a:lnTo>
                  <a:pt x="85725" y="0"/>
                </a:lnTo>
                <a:cubicBezTo>
                  <a:pt x="85725" y="-5269"/>
                  <a:pt x="89981" y="-9525"/>
                  <a:pt x="95250" y="-9525"/>
                </a:cubicBezTo>
                <a:cubicBezTo>
                  <a:pt x="100519" y="-9525"/>
                  <a:pt x="104775" y="-5269"/>
                  <a:pt x="104775" y="0"/>
                </a:cubicBezTo>
                <a:lnTo>
                  <a:pt x="104775" y="28575"/>
                </a:ln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cubicBezTo>
                  <a:pt x="133350" y="43369"/>
                  <a:pt x="129094" y="47625"/>
                  <a:pt x="123825" y="47625"/>
                </a:cubicBezTo>
                <a:lnTo>
                  <a:pt x="123825" y="66675"/>
                </a:lnTo>
                <a:cubicBezTo>
                  <a:pt x="123825" y="94982"/>
                  <a:pt x="103227" y="118497"/>
                  <a:pt x="76200" y="123021"/>
                </a:cubicBezTo>
                <a:lnTo>
                  <a:pt x="76200" y="142875"/>
                </a:lnTo>
                <a:cubicBezTo>
                  <a:pt x="76200" y="148144"/>
                  <a:pt x="71944" y="152400"/>
                  <a:pt x="66675" y="152400"/>
                </a:cubicBezTo>
                <a:cubicBezTo>
                  <a:pt x="61406" y="152400"/>
                  <a:pt x="57150" y="148144"/>
                  <a:pt x="57150" y="142875"/>
                </a:cubicBezTo>
                <a:lnTo>
                  <a:pt x="57150" y="123021"/>
                </a:lnTo>
                <a:cubicBezTo>
                  <a:pt x="30123" y="118497"/>
                  <a:pt x="9525" y="94982"/>
                  <a:pt x="9525" y="66675"/>
                </a:cubicBez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28575" y="28575"/>
                </a:lnTo>
                <a:lnTo>
                  <a:pt x="28575" y="0"/>
                </a:lnTo>
                <a:cubicBezTo>
                  <a:pt x="28575" y="-5269"/>
                  <a:pt x="32831" y="-9525"/>
                  <a:pt x="38100" y="-952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Text 37"/>
          <p:cNvSpPr/>
          <p:nvPr/>
        </p:nvSpPr>
        <p:spPr>
          <a:xfrm>
            <a:off x="1028700" y="4396741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Service-Oriented Architecture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28700" y="4648200"/>
            <a:ext cx="24305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API-first design enables easy integration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09600" y="50063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95325" y="50825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3813" y="30956"/>
                </a:moveTo>
                <a:cubicBezTo>
                  <a:pt x="27755" y="30956"/>
                  <a:pt x="30956" y="27755"/>
                  <a:pt x="30956" y="23813"/>
                </a:cubicBezTo>
                <a:cubicBezTo>
                  <a:pt x="30956" y="19870"/>
                  <a:pt x="27755" y="16669"/>
                  <a:pt x="23813" y="16669"/>
                </a:cubicBezTo>
                <a:cubicBezTo>
                  <a:pt x="19870" y="16669"/>
                  <a:pt x="16669" y="19870"/>
                  <a:pt x="16669" y="23813"/>
                </a:cubicBezTo>
                <a:cubicBezTo>
                  <a:pt x="16669" y="27755"/>
                  <a:pt x="19870" y="30956"/>
                  <a:pt x="23813" y="30956"/>
                </a:cubicBezTo>
                <a:close/>
                <a:moveTo>
                  <a:pt x="47625" y="23813"/>
                </a:moveTo>
                <a:cubicBezTo>
                  <a:pt x="47625" y="33576"/>
                  <a:pt x="41761" y="41970"/>
                  <a:pt x="33338" y="45631"/>
                </a:cubicBezTo>
                <a:lnTo>
                  <a:pt x="33338" y="66675"/>
                </a:lnTo>
                <a:lnTo>
                  <a:pt x="85725" y="66675"/>
                </a:lnTo>
                <a:cubicBezTo>
                  <a:pt x="93613" y="66675"/>
                  <a:pt x="100013" y="60275"/>
                  <a:pt x="100013" y="52388"/>
                </a:cubicBezTo>
                <a:lnTo>
                  <a:pt x="100013" y="45631"/>
                </a:lnTo>
                <a:cubicBezTo>
                  <a:pt x="91589" y="41970"/>
                  <a:pt x="85725" y="33576"/>
                  <a:pt x="85725" y="23813"/>
                </a:cubicBezTo>
                <a:cubicBezTo>
                  <a:pt x="85725" y="10656"/>
                  <a:pt x="96381" y="0"/>
                  <a:pt x="109537" y="0"/>
                </a:cubicBezTo>
                <a:cubicBezTo>
                  <a:pt x="122694" y="0"/>
                  <a:pt x="133350" y="10656"/>
                  <a:pt x="133350" y="23813"/>
                </a:cubicBezTo>
                <a:cubicBezTo>
                  <a:pt x="133350" y="33576"/>
                  <a:pt x="127486" y="41970"/>
                  <a:pt x="119062" y="45631"/>
                </a:cubicBezTo>
                <a:lnTo>
                  <a:pt x="119062" y="52388"/>
                </a:lnTo>
                <a:cubicBezTo>
                  <a:pt x="119062" y="70812"/>
                  <a:pt x="104150" y="85725"/>
                  <a:pt x="85725" y="85725"/>
                </a:cubicBezTo>
                <a:lnTo>
                  <a:pt x="33338" y="85725"/>
                </a:lnTo>
                <a:lnTo>
                  <a:pt x="33338" y="106769"/>
                </a:lnTo>
                <a:cubicBezTo>
                  <a:pt x="41761" y="110430"/>
                  <a:pt x="47625" y="118824"/>
                  <a:pt x="47625" y="128588"/>
                </a:cubicBezTo>
                <a:cubicBezTo>
                  <a:pt x="47625" y="141744"/>
                  <a:pt x="36969" y="152400"/>
                  <a:pt x="23813" y="152400"/>
                </a:cubicBezTo>
                <a:cubicBezTo>
                  <a:pt x="10656" y="152400"/>
                  <a:pt x="0" y="141744"/>
                  <a:pt x="0" y="128588"/>
                </a:cubicBezTo>
                <a:cubicBezTo>
                  <a:pt x="0" y="118824"/>
                  <a:pt x="5864" y="110430"/>
                  <a:pt x="14288" y="106769"/>
                </a:cubicBezTo>
                <a:lnTo>
                  <a:pt x="14288" y="45660"/>
                </a:lnTo>
                <a:cubicBezTo>
                  <a:pt x="5864" y="41970"/>
                  <a:pt x="0" y="33576"/>
                  <a:pt x="0" y="23813"/>
                </a:cubicBezTo>
                <a:cubicBezTo>
                  <a:pt x="0" y="10656"/>
                  <a:pt x="10656" y="0"/>
                  <a:pt x="23813" y="0"/>
                </a:cubicBezTo>
                <a:cubicBezTo>
                  <a:pt x="36969" y="0"/>
                  <a:pt x="47625" y="10656"/>
                  <a:pt x="47625" y="23813"/>
                </a:cubicBezTo>
                <a:close/>
                <a:moveTo>
                  <a:pt x="116681" y="23813"/>
                </a:moveTo>
                <a:cubicBezTo>
                  <a:pt x="116681" y="19870"/>
                  <a:pt x="113480" y="16669"/>
                  <a:pt x="109537" y="16669"/>
                </a:cubicBezTo>
                <a:cubicBezTo>
                  <a:pt x="105595" y="16669"/>
                  <a:pt x="102394" y="19870"/>
                  <a:pt x="102394" y="23813"/>
                </a:cubicBezTo>
                <a:cubicBezTo>
                  <a:pt x="102394" y="27755"/>
                  <a:pt x="105595" y="30956"/>
                  <a:pt x="109537" y="30956"/>
                </a:cubicBezTo>
                <a:cubicBezTo>
                  <a:pt x="113480" y="30956"/>
                  <a:pt x="116681" y="27755"/>
                  <a:pt x="116681" y="23813"/>
                </a:cubicBezTo>
                <a:close/>
                <a:moveTo>
                  <a:pt x="23813" y="135731"/>
                </a:moveTo>
                <a:cubicBezTo>
                  <a:pt x="27755" y="135731"/>
                  <a:pt x="30956" y="132530"/>
                  <a:pt x="30956" y="128588"/>
                </a:cubicBezTo>
                <a:cubicBezTo>
                  <a:pt x="30956" y="124645"/>
                  <a:pt x="27755" y="121444"/>
                  <a:pt x="23813" y="121444"/>
                </a:cubicBezTo>
                <a:cubicBezTo>
                  <a:pt x="19870" y="121444"/>
                  <a:pt x="16669" y="124645"/>
                  <a:pt x="16669" y="128588"/>
                </a:cubicBezTo>
                <a:cubicBezTo>
                  <a:pt x="16669" y="132530"/>
                  <a:pt x="19870" y="135731"/>
                  <a:pt x="23813" y="13573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3" name="Text 41"/>
          <p:cNvSpPr/>
          <p:nvPr/>
        </p:nvSpPr>
        <p:spPr>
          <a:xfrm>
            <a:off x="1028700" y="4968241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28700" y="5219700"/>
            <a:ext cx="2647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 evolution without breaking changes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10300" y="3215641"/>
            <a:ext cx="5600700" cy="3257550"/>
          </a:xfrm>
          <a:custGeom>
            <a:avLst/>
            <a:gdLst/>
            <a:ahLst/>
            <a:cxnLst/>
            <a:rect l="l" t="t" r="r" b="b"/>
            <a:pathLst>
              <a:path w="5600700" h="3257550">
                <a:moveTo>
                  <a:pt x="0" y="0"/>
                </a:moveTo>
                <a:lnTo>
                  <a:pt x="5600700" y="0"/>
                </a:lnTo>
                <a:lnTo>
                  <a:pt x="560070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46" name="Shape 44"/>
          <p:cNvSpPr/>
          <p:nvPr/>
        </p:nvSpPr>
        <p:spPr>
          <a:xfrm>
            <a:off x="6210300" y="3215641"/>
            <a:ext cx="38100" cy="3257550"/>
          </a:xfrm>
          <a:custGeom>
            <a:avLst/>
            <a:gdLst/>
            <a:ahLst/>
            <a:cxnLst/>
            <a:rect l="l" t="t" r="r" b="b"/>
            <a:pathLst>
              <a:path w="38100" h="3257550">
                <a:moveTo>
                  <a:pt x="0" y="0"/>
                </a:moveTo>
                <a:lnTo>
                  <a:pt x="38100" y="0"/>
                </a:lnTo>
                <a:lnTo>
                  <a:pt x="3810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47" name="Shape 45"/>
          <p:cNvSpPr/>
          <p:nvPr/>
        </p:nvSpPr>
        <p:spPr>
          <a:xfrm>
            <a:off x="6455569" y="344424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48" name="Text 46"/>
          <p:cNvSpPr/>
          <p:nvPr/>
        </p:nvSpPr>
        <p:spPr>
          <a:xfrm>
            <a:off x="6657975" y="3406141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 Features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19850" y="38633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96050" y="39395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51" name="Text 49"/>
          <p:cNvSpPr/>
          <p:nvPr/>
        </p:nvSpPr>
        <p:spPr>
          <a:xfrm>
            <a:off x="6838950" y="3825241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Horizontal Scaling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38950" y="4076700"/>
            <a:ext cx="2661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Stateless API servers support load balancing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19850" y="44348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505575" y="45110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55" name="Text 53"/>
          <p:cNvSpPr/>
          <p:nvPr/>
        </p:nvSpPr>
        <p:spPr>
          <a:xfrm>
            <a:off x="6838950" y="4396741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Processing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38950" y="4648200"/>
            <a:ext cx="24776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Non-blocking I/O for concurrent requests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19850" y="50063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496050" y="50825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40303"/>
                </a:lnTo>
                <a:cubicBezTo>
                  <a:pt x="0" y="42327"/>
                  <a:pt x="1310" y="44053"/>
                  <a:pt x="3006" y="45154"/>
                </a:cubicBezTo>
                <a:cubicBezTo>
                  <a:pt x="6935" y="47714"/>
                  <a:pt x="9525" y="52120"/>
                  <a:pt x="9525" y="57150"/>
                </a:cubicBezTo>
                <a:cubicBezTo>
                  <a:pt x="9525" y="62180"/>
                  <a:pt x="6935" y="66586"/>
                  <a:pt x="3006" y="69146"/>
                </a:cubicBezTo>
                <a:cubicBezTo>
                  <a:pt x="1310" y="70247"/>
                  <a:pt x="0" y="71973"/>
                  <a:pt x="0" y="73997"/>
                </a:cubicBezTo>
                <a:lnTo>
                  <a:pt x="0" y="90488"/>
                </a:lnTo>
                <a:lnTo>
                  <a:pt x="152400" y="90488"/>
                </a:lnTo>
                <a:lnTo>
                  <a:pt x="152400" y="73997"/>
                </a:lnTo>
                <a:cubicBezTo>
                  <a:pt x="152400" y="71973"/>
                  <a:pt x="151090" y="70247"/>
                  <a:pt x="149394" y="69146"/>
                </a:cubicBezTo>
                <a:cubicBezTo>
                  <a:pt x="145465" y="66586"/>
                  <a:pt x="142875" y="62180"/>
                  <a:pt x="142875" y="57150"/>
                </a:cubicBezTo>
                <a:cubicBezTo>
                  <a:pt x="142875" y="52120"/>
                  <a:pt x="145465" y="47714"/>
                  <a:pt x="149394" y="45154"/>
                </a:cubicBezTo>
                <a:cubicBezTo>
                  <a:pt x="151090" y="44053"/>
                  <a:pt x="152400" y="42327"/>
                  <a:pt x="152400" y="40303"/>
                </a:cubicBez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lose/>
                <a:moveTo>
                  <a:pt x="152400" y="123825"/>
                </a:moveTo>
                <a:lnTo>
                  <a:pt x="152400" y="104775"/>
                </a:lnTo>
                <a:lnTo>
                  <a:pt x="0" y="104775"/>
                </a:lnTo>
                <a:lnTo>
                  <a:pt x="0" y="123825"/>
                </a:lnTo>
                <a:cubicBezTo>
                  <a:pt x="0" y="129094"/>
                  <a:pt x="4256" y="133350"/>
                  <a:pt x="9525" y="133350"/>
                </a:cubicBezTo>
                <a:lnTo>
                  <a:pt x="28575" y="133350"/>
                </a:lnTo>
                <a:lnTo>
                  <a:pt x="28575" y="126206"/>
                </a:lnTo>
                <a:cubicBezTo>
                  <a:pt x="28575" y="122247"/>
                  <a:pt x="31760" y="119062"/>
                  <a:pt x="35719" y="119062"/>
                </a:cubicBezTo>
                <a:cubicBezTo>
                  <a:pt x="39678" y="119062"/>
                  <a:pt x="42863" y="122247"/>
                  <a:pt x="42863" y="126206"/>
                </a:cubicBezTo>
                <a:lnTo>
                  <a:pt x="42863" y="133350"/>
                </a:lnTo>
                <a:lnTo>
                  <a:pt x="69056" y="133350"/>
                </a:lnTo>
                <a:lnTo>
                  <a:pt x="69056" y="126206"/>
                </a:lnTo>
                <a:cubicBezTo>
                  <a:pt x="69056" y="122247"/>
                  <a:pt x="72241" y="119062"/>
                  <a:pt x="76200" y="119062"/>
                </a:cubicBezTo>
                <a:cubicBezTo>
                  <a:pt x="80159" y="119062"/>
                  <a:pt x="83344" y="122247"/>
                  <a:pt x="83344" y="126206"/>
                </a:cubicBezTo>
                <a:lnTo>
                  <a:pt x="83344" y="133350"/>
                </a:lnTo>
                <a:lnTo>
                  <a:pt x="109537" y="133350"/>
                </a:lnTo>
                <a:lnTo>
                  <a:pt x="109537" y="126206"/>
                </a:lnTo>
                <a:cubicBezTo>
                  <a:pt x="109537" y="122247"/>
                  <a:pt x="112722" y="119062"/>
                  <a:pt x="116681" y="119062"/>
                </a:cubicBezTo>
                <a:cubicBezTo>
                  <a:pt x="120640" y="119062"/>
                  <a:pt x="123825" y="122247"/>
                  <a:pt x="123825" y="126206"/>
                </a:cubicBezTo>
                <a:lnTo>
                  <a:pt x="123825" y="133350"/>
                </a:ln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close/>
                <a:moveTo>
                  <a:pt x="47625" y="47625"/>
                </a:moveTo>
                <a:lnTo>
                  <a:pt x="47625" y="66675"/>
                </a:lnTo>
                <a:cubicBezTo>
                  <a:pt x="47625" y="71944"/>
                  <a:pt x="43369" y="76200"/>
                  <a:pt x="38100" y="76200"/>
                </a:cubicBezTo>
                <a:cubicBezTo>
                  <a:pt x="32831" y="76200"/>
                  <a:pt x="28575" y="71944"/>
                  <a:pt x="28575" y="66675"/>
                </a:cubicBezTo>
                <a:lnTo>
                  <a:pt x="28575" y="47625"/>
                </a:lnTo>
                <a:cubicBezTo>
                  <a:pt x="28575" y="42356"/>
                  <a:pt x="32831" y="38100"/>
                  <a:pt x="38100" y="38100"/>
                </a:cubicBezTo>
                <a:cubicBezTo>
                  <a:pt x="43369" y="38100"/>
                  <a:pt x="47625" y="42356"/>
                  <a:pt x="47625" y="47625"/>
                </a:cubicBezTo>
                <a:close/>
                <a:moveTo>
                  <a:pt x="85725" y="47625"/>
                </a:moveTo>
                <a:lnTo>
                  <a:pt x="85725" y="66675"/>
                </a:lnTo>
                <a:cubicBezTo>
                  <a:pt x="85725" y="71944"/>
                  <a:pt x="81469" y="76200"/>
                  <a:pt x="76200" y="76200"/>
                </a:cubicBezTo>
                <a:cubicBezTo>
                  <a:pt x="70931" y="76200"/>
                  <a:pt x="66675" y="71944"/>
                  <a:pt x="66675" y="66675"/>
                </a:cubicBezTo>
                <a:lnTo>
                  <a:pt x="66675" y="47625"/>
                </a:lnTo>
                <a:cubicBezTo>
                  <a:pt x="66675" y="42356"/>
                  <a:pt x="70931" y="38100"/>
                  <a:pt x="76200" y="38100"/>
                </a:cubicBezTo>
                <a:cubicBezTo>
                  <a:pt x="81469" y="38100"/>
                  <a:pt x="85725" y="42356"/>
                  <a:pt x="85725" y="47625"/>
                </a:cubicBezTo>
                <a:close/>
                <a:moveTo>
                  <a:pt x="123825" y="47625"/>
                </a:moveTo>
                <a:lnTo>
                  <a:pt x="123825" y="66675"/>
                </a:lnTo>
                <a:cubicBezTo>
                  <a:pt x="123825" y="71944"/>
                  <a:pt x="119569" y="76200"/>
                  <a:pt x="114300" y="76200"/>
                </a:cubicBezTo>
                <a:cubicBezTo>
                  <a:pt x="109031" y="76200"/>
                  <a:pt x="104775" y="71944"/>
                  <a:pt x="104775" y="66675"/>
                </a:cubicBezTo>
                <a:lnTo>
                  <a:pt x="104775" y="47625"/>
                </a:lnTo>
                <a:cubicBezTo>
                  <a:pt x="104775" y="42356"/>
                  <a:pt x="109031" y="38100"/>
                  <a:pt x="114300" y="38100"/>
                </a:cubicBezTo>
                <a:cubicBezTo>
                  <a:pt x="119569" y="38100"/>
                  <a:pt x="123825" y="42356"/>
                  <a:pt x="123825" y="47625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59" name="Text 57"/>
          <p:cNvSpPr/>
          <p:nvPr/>
        </p:nvSpPr>
        <p:spPr>
          <a:xfrm>
            <a:off x="6838950" y="4968241"/>
            <a:ext cx="2809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Efficient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38950" y="5219700"/>
            <a:ext cx="27988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responses reduce memory footprint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Pipeline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Ingestion Engine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11418570" cy="1798320"/>
          </a:xfrm>
          <a:custGeom>
            <a:avLst/>
            <a:gdLst/>
            <a:ahLst/>
            <a:cxnLst/>
            <a:rect l="l" t="t" r="r" b="b"/>
            <a:pathLst>
              <a:path w="11418570" h="1798320">
                <a:moveTo>
                  <a:pt x="114301" y="0"/>
                </a:moveTo>
                <a:lnTo>
                  <a:pt x="11304269" y="0"/>
                </a:lnTo>
                <a:cubicBezTo>
                  <a:pt x="11367396" y="0"/>
                  <a:pt x="11418570" y="51174"/>
                  <a:pt x="11418570" y="114301"/>
                </a:cubicBezTo>
                <a:lnTo>
                  <a:pt x="11418570" y="1684019"/>
                </a:lnTo>
                <a:cubicBezTo>
                  <a:pt x="11418570" y="1747103"/>
                  <a:pt x="11367353" y="1798320"/>
                  <a:pt x="11304269" y="1798320"/>
                </a:cubicBezTo>
                <a:lnTo>
                  <a:pt x="114301" y="1798320"/>
                </a:lnTo>
                <a:cubicBezTo>
                  <a:pt x="51174" y="1798320"/>
                  <a:pt x="0" y="1747146"/>
                  <a:pt x="0" y="168401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2C3138"/>
          </a:solidFill>
          <a:ln w="1016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5567" y="1463043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20320">
            <a:solidFill>
              <a:srgbClr val="4DB6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0594" y="169354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80367" y="267891"/>
                </a:moveTo>
                <a:cubicBezTo>
                  <a:pt x="35998" y="267891"/>
                  <a:pt x="0" y="231893"/>
                  <a:pt x="0" y="187523"/>
                </a:cubicBezTo>
                <a:cubicBezTo>
                  <a:pt x="0" y="152140"/>
                  <a:pt x="22882" y="122113"/>
                  <a:pt x="54639" y="111342"/>
                </a:cubicBezTo>
                <a:cubicBezTo>
                  <a:pt x="53913" y="107045"/>
                  <a:pt x="53578" y="102691"/>
                  <a:pt x="53578" y="98227"/>
                </a:cubicBezTo>
                <a:cubicBezTo>
                  <a:pt x="53578" y="53857"/>
                  <a:pt x="89576" y="17859"/>
                  <a:pt x="133945" y="17859"/>
                </a:cubicBezTo>
                <a:cubicBezTo>
                  <a:pt x="164864" y="17859"/>
                  <a:pt x="191709" y="35328"/>
                  <a:pt x="205160" y="60889"/>
                </a:cubicBezTo>
                <a:cubicBezTo>
                  <a:pt x="213085" y="56257"/>
                  <a:pt x="222349" y="53578"/>
                  <a:pt x="232172" y="53578"/>
                </a:cubicBezTo>
                <a:cubicBezTo>
                  <a:pt x="261751" y="53578"/>
                  <a:pt x="285750" y="77577"/>
                  <a:pt x="285750" y="107156"/>
                </a:cubicBezTo>
                <a:cubicBezTo>
                  <a:pt x="285750" y="115919"/>
                  <a:pt x="283629" y="124234"/>
                  <a:pt x="279890" y="131545"/>
                </a:cubicBezTo>
                <a:cubicBezTo>
                  <a:pt x="304447" y="142875"/>
                  <a:pt x="321469" y="167655"/>
                  <a:pt x="321469" y="196453"/>
                </a:cubicBezTo>
                <a:cubicBezTo>
                  <a:pt x="321469" y="235911"/>
                  <a:pt x="289489" y="267891"/>
                  <a:pt x="250031" y="267891"/>
                </a:cubicBezTo>
                <a:lnTo>
                  <a:pt x="80367" y="267891"/>
                </a:lnTo>
                <a:close/>
                <a:moveTo>
                  <a:pt x="210406" y="174687"/>
                </a:moveTo>
                <a:cubicBezTo>
                  <a:pt x="215652" y="169441"/>
                  <a:pt x="215652" y="160958"/>
                  <a:pt x="210406" y="155767"/>
                </a:cubicBezTo>
                <a:cubicBezTo>
                  <a:pt x="205160" y="150577"/>
                  <a:pt x="196676" y="150521"/>
                  <a:pt x="191486" y="155767"/>
                </a:cubicBezTo>
                <a:lnTo>
                  <a:pt x="174185" y="173069"/>
                </a:lnTo>
                <a:lnTo>
                  <a:pt x="174185" y="116086"/>
                </a:lnTo>
                <a:cubicBezTo>
                  <a:pt x="174185" y="108663"/>
                  <a:pt x="168213" y="102691"/>
                  <a:pt x="160790" y="102691"/>
                </a:cubicBezTo>
                <a:cubicBezTo>
                  <a:pt x="153367" y="102691"/>
                  <a:pt x="147396" y="108663"/>
                  <a:pt x="147396" y="116086"/>
                </a:cubicBezTo>
                <a:lnTo>
                  <a:pt x="147396" y="173069"/>
                </a:lnTo>
                <a:lnTo>
                  <a:pt x="130094" y="155767"/>
                </a:lnTo>
                <a:cubicBezTo>
                  <a:pt x="124848" y="150521"/>
                  <a:pt x="116365" y="150521"/>
                  <a:pt x="111175" y="155767"/>
                </a:cubicBezTo>
                <a:cubicBezTo>
                  <a:pt x="105984" y="161013"/>
                  <a:pt x="105928" y="169497"/>
                  <a:pt x="111175" y="174687"/>
                </a:cubicBezTo>
                <a:lnTo>
                  <a:pt x="151358" y="214871"/>
                </a:lnTo>
                <a:cubicBezTo>
                  <a:pt x="156604" y="220117"/>
                  <a:pt x="165088" y="220117"/>
                  <a:pt x="170278" y="214871"/>
                </a:cubicBezTo>
                <a:lnTo>
                  <a:pt x="210462" y="174687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" y="2331723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Fetching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7820" y="2598423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Multi-threaded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99573" y="20078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0" name="Shape 8"/>
          <p:cNvSpPr/>
          <p:nvPr/>
        </p:nvSpPr>
        <p:spPr>
          <a:xfrm>
            <a:off x="3292674" y="1463043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 w="20320">
            <a:solidFill>
              <a:srgbClr val="3A5F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7700" y="169354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316223" y="30473"/>
                </a:moveTo>
                <a:cubicBezTo>
                  <a:pt x="323199" y="23496"/>
                  <a:pt x="323199" y="12167"/>
                  <a:pt x="316223" y="5190"/>
                </a:cubicBezTo>
                <a:cubicBezTo>
                  <a:pt x="309246" y="-1786"/>
                  <a:pt x="297917" y="-1786"/>
                  <a:pt x="290940" y="5190"/>
                </a:cubicBezTo>
                <a:lnTo>
                  <a:pt x="183784" y="112347"/>
                </a:lnTo>
                <a:lnTo>
                  <a:pt x="164418" y="92980"/>
                </a:lnTo>
                <a:cubicBezTo>
                  <a:pt x="162074" y="90636"/>
                  <a:pt x="158837" y="89297"/>
                  <a:pt x="155488" y="89297"/>
                </a:cubicBezTo>
                <a:cubicBezTo>
                  <a:pt x="148512" y="89297"/>
                  <a:pt x="142875" y="94934"/>
                  <a:pt x="142875" y="101910"/>
                </a:cubicBezTo>
                <a:lnTo>
                  <a:pt x="142875" y="118151"/>
                </a:lnTo>
                <a:lnTo>
                  <a:pt x="203318" y="178594"/>
                </a:lnTo>
                <a:lnTo>
                  <a:pt x="219559" y="178594"/>
                </a:lnTo>
                <a:cubicBezTo>
                  <a:pt x="226535" y="178594"/>
                  <a:pt x="232172" y="172957"/>
                  <a:pt x="232172" y="165981"/>
                </a:cubicBezTo>
                <a:cubicBezTo>
                  <a:pt x="232172" y="162632"/>
                  <a:pt x="230832" y="159395"/>
                  <a:pt x="228488" y="157051"/>
                </a:cubicBezTo>
                <a:lnTo>
                  <a:pt x="209122" y="137685"/>
                </a:lnTo>
                <a:lnTo>
                  <a:pt x="316278" y="30528"/>
                </a:lnTo>
                <a:close/>
                <a:moveTo>
                  <a:pt x="190370" y="197234"/>
                </a:moveTo>
                <a:lnTo>
                  <a:pt x="124234" y="131099"/>
                </a:lnTo>
                <a:cubicBezTo>
                  <a:pt x="100403" y="129034"/>
                  <a:pt x="76684" y="137629"/>
                  <a:pt x="59606" y="154707"/>
                </a:cubicBezTo>
                <a:lnTo>
                  <a:pt x="55141" y="159172"/>
                </a:lnTo>
                <a:cubicBezTo>
                  <a:pt x="42695" y="171617"/>
                  <a:pt x="35719" y="188472"/>
                  <a:pt x="35719" y="206053"/>
                </a:cubicBezTo>
                <a:cubicBezTo>
                  <a:pt x="35719" y="209848"/>
                  <a:pt x="39681" y="212303"/>
                  <a:pt x="43086" y="210629"/>
                </a:cubicBezTo>
                <a:lnTo>
                  <a:pt x="71605" y="196397"/>
                </a:lnTo>
                <a:cubicBezTo>
                  <a:pt x="74395" y="195002"/>
                  <a:pt x="76907" y="198686"/>
                  <a:pt x="74619" y="200806"/>
                </a:cubicBezTo>
                <a:lnTo>
                  <a:pt x="4074" y="264207"/>
                </a:lnTo>
                <a:cubicBezTo>
                  <a:pt x="1507" y="266551"/>
                  <a:pt x="0" y="269900"/>
                  <a:pt x="0" y="273416"/>
                </a:cubicBezTo>
                <a:cubicBezTo>
                  <a:pt x="0" y="280225"/>
                  <a:pt x="5525" y="285750"/>
                  <a:pt x="12334" y="285750"/>
                </a:cubicBezTo>
                <a:lnTo>
                  <a:pt x="109054" y="285750"/>
                </a:lnTo>
                <a:cubicBezTo>
                  <a:pt x="130708" y="285750"/>
                  <a:pt x="151414" y="277155"/>
                  <a:pt x="166762" y="261863"/>
                </a:cubicBezTo>
                <a:cubicBezTo>
                  <a:pt x="183840" y="244785"/>
                  <a:pt x="192379" y="221066"/>
                  <a:pt x="190370" y="197234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2" name="Text 10"/>
          <p:cNvSpPr/>
          <p:nvPr/>
        </p:nvSpPr>
        <p:spPr>
          <a:xfrm>
            <a:off x="3332797" y="2331723"/>
            <a:ext cx="75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46954" y="2598423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Noise removal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4053" y="20078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Shape 13"/>
          <p:cNvSpPr/>
          <p:nvPr/>
        </p:nvSpPr>
        <p:spPr>
          <a:xfrm>
            <a:off x="5861566" y="1463043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20320">
            <a:solidFill>
              <a:srgbClr val="4DB6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4452" y="169354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07156" y="142875"/>
                </a:moveTo>
                <a:lnTo>
                  <a:pt x="85111" y="164920"/>
                </a:lnTo>
                <a:cubicBezTo>
                  <a:pt x="78079" y="162185"/>
                  <a:pt x="70489" y="160734"/>
                  <a:pt x="62508" y="160734"/>
                </a:cubicBezTo>
                <a:cubicBezTo>
                  <a:pt x="27961" y="160734"/>
                  <a:pt x="0" y="188695"/>
                  <a:pt x="0" y="223242"/>
                </a:cubicBezTo>
                <a:cubicBezTo>
                  <a:pt x="0" y="257789"/>
                  <a:pt x="27961" y="285750"/>
                  <a:pt x="62508" y="285750"/>
                </a:cubicBezTo>
                <a:cubicBezTo>
                  <a:pt x="97055" y="285750"/>
                  <a:pt x="125016" y="257789"/>
                  <a:pt x="125016" y="223242"/>
                </a:cubicBezTo>
                <a:cubicBezTo>
                  <a:pt x="125016" y="215261"/>
                  <a:pt x="123509" y="207671"/>
                  <a:pt x="120830" y="200639"/>
                </a:cubicBezTo>
                <a:lnTo>
                  <a:pt x="278606" y="42863"/>
                </a:lnTo>
                <a:cubicBezTo>
                  <a:pt x="282569" y="38900"/>
                  <a:pt x="282569" y="32538"/>
                  <a:pt x="278606" y="28575"/>
                </a:cubicBezTo>
                <a:cubicBezTo>
                  <a:pt x="262812" y="12781"/>
                  <a:pt x="237251" y="12781"/>
                  <a:pt x="221456" y="28575"/>
                </a:cubicBezTo>
                <a:lnTo>
                  <a:pt x="142875" y="107156"/>
                </a:lnTo>
                <a:lnTo>
                  <a:pt x="120830" y="85111"/>
                </a:lnTo>
                <a:cubicBezTo>
                  <a:pt x="123565" y="78079"/>
                  <a:pt x="125016" y="70489"/>
                  <a:pt x="125016" y="62508"/>
                </a:cubicBezTo>
                <a:cubicBezTo>
                  <a:pt x="125016" y="27961"/>
                  <a:pt x="97055" y="0"/>
                  <a:pt x="62508" y="0"/>
                </a:cubicBezTo>
                <a:cubicBezTo>
                  <a:pt x="27961" y="0"/>
                  <a:pt x="0" y="27961"/>
                  <a:pt x="0" y="62508"/>
                </a:cubicBezTo>
                <a:cubicBezTo>
                  <a:pt x="0" y="97055"/>
                  <a:pt x="27961" y="125016"/>
                  <a:pt x="62508" y="125016"/>
                </a:cubicBezTo>
                <a:cubicBezTo>
                  <a:pt x="70489" y="125016"/>
                  <a:pt x="78079" y="123509"/>
                  <a:pt x="85111" y="120830"/>
                </a:cubicBezTo>
                <a:lnTo>
                  <a:pt x="107156" y="142875"/>
                </a:lnTo>
                <a:close/>
                <a:moveTo>
                  <a:pt x="161795" y="197514"/>
                </a:moveTo>
                <a:lnTo>
                  <a:pt x="221456" y="257175"/>
                </a:lnTo>
                <a:cubicBezTo>
                  <a:pt x="237251" y="272969"/>
                  <a:pt x="262812" y="272969"/>
                  <a:pt x="278606" y="257175"/>
                </a:cubicBezTo>
                <a:cubicBezTo>
                  <a:pt x="282569" y="253212"/>
                  <a:pt x="282569" y="246850"/>
                  <a:pt x="278606" y="242888"/>
                </a:cubicBezTo>
                <a:lnTo>
                  <a:pt x="197514" y="161795"/>
                </a:lnTo>
                <a:lnTo>
                  <a:pt x="161795" y="197514"/>
                </a:lnTo>
                <a:close/>
                <a:moveTo>
                  <a:pt x="35719" y="62508"/>
                </a:moveTo>
                <a:cubicBezTo>
                  <a:pt x="35719" y="47723"/>
                  <a:pt x="47723" y="35719"/>
                  <a:pt x="62508" y="35719"/>
                </a:cubicBezTo>
                <a:cubicBezTo>
                  <a:pt x="77293" y="35719"/>
                  <a:pt x="89297" y="47723"/>
                  <a:pt x="89297" y="62508"/>
                </a:cubicBezTo>
                <a:cubicBezTo>
                  <a:pt x="89297" y="77293"/>
                  <a:pt x="77293" y="89297"/>
                  <a:pt x="62508" y="89297"/>
                </a:cubicBezTo>
                <a:cubicBezTo>
                  <a:pt x="47723" y="89297"/>
                  <a:pt x="35719" y="77293"/>
                  <a:pt x="35719" y="62508"/>
                </a:cubicBezTo>
                <a:close/>
                <a:moveTo>
                  <a:pt x="62508" y="196453"/>
                </a:moveTo>
                <a:cubicBezTo>
                  <a:pt x="77293" y="196453"/>
                  <a:pt x="89297" y="208457"/>
                  <a:pt x="89297" y="223242"/>
                </a:cubicBezTo>
                <a:cubicBezTo>
                  <a:pt x="89297" y="238027"/>
                  <a:pt x="77293" y="250031"/>
                  <a:pt x="62508" y="250031"/>
                </a:cubicBezTo>
                <a:cubicBezTo>
                  <a:pt x="47723" y="250031"/>
                  <a:pt x="35719" y="238027"/>
                  <a:pt x="35719" y="223242"/>
                </a:cubicBezTo>
                <a:cubicBezTo>
                  <a:pt x="35719" y="208457"/>
                  <a:pt x="47723" y="196453"/>
                  <a:pt x="62508" y="19645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5751433" y="2331723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64411" y="2598423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processing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37239" y="20078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Shape 18"/>
          <p:cNvSpPr/>
          <p:nvPr/>
        </p:nvSpPr>
        <p:spPr>
          <a:xfrm>
            <a:off x="8392240" y="1463043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 w="20320">
            <a:solidFill>
              <a:srgbClr val="3A5F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42985" y="169354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2" name="Text 20"/>
          <p:cNvSpPr/>
          <p:nvPr/>
        </p:nvSpPr>
        <p:spPr>
          <a:xfrm>
            <a:off x="8467487" y="2331723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25709" y="2598423"/>
            <a:ext cx="54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865400" y="20078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20401" y="1463043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 w="20320">
            <a:solidFill>
              <a:srgbClr val="5E7A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53287" y="169354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6779" y="127527"/>
                </a:moveTo>
                <a:cubicBezTo>
                  <a:pt x="44202" y="75623"/>
                  <a:pt x="88906" y="35719"/>
                  <a:pt x="142875" y="35719"/>
                </a:cubicBezTo>
                <a:cubicBezTo>
                  <a:pt x="172455" y="35719"/>
                  <a:pt x="199244" y="47718"/>
                  <a:pt x="218666" y="67084"/>
                </a:cubicBezTo>
                <a:cubicBezTo>
                  <a:pt x="218777" y="67196"/>
                  <a:pt x="218889" y="67308"/>
                  <a:pt x="219001" y="67419"/>
                </a:cubicBezTo>
                <a:lnTo>
                  <a:pt x="223242" y="71438"/>
                </a:lnTo>
                <a:lnTo>
                  <a:pt x="196509" y="71438"/>
                </a:lnTo>
                <a:cubicBezTo>
                  <a:pt x="186630" y="71438"/>
                  <a:pt x="178650" y="79418"/>
                  <a:pt x="178650" y="89297"/>
                </a:cubicBezTo>
                <a:cubicBezTo>
                  <a:pt x="178650" y="99175"/>
                  <a:pt x="186630" y="107156"/>
                  <a:pt x="196509" y="107156"/>
                </a:cubicBezTo>
                <a:lnTo>
                  <a:pt x="267946" y="107156"/>
                </a:lnTo>
                <a:cubicBezTo>
                  <a:pt x="277825" y="107156"/>
                  <a:pt x="285806" y="99175"/>
                  <a:pt x="285806" y="89297"/>
                </a:cubicBezTo>
                <a:lnTo>
                  <a:pt x="285806" y="17859"/>
                </a:lnTo>
                <a:cubicBezTo>
                  <a:pt x="285806" y="7981"/>
                  <a:pt x="277825" y="0"/>
                  <a:pt x="267946" y="0"/>
                </a:cubicBezTo>
                <a:cubicBezTo>
                  <a:pt x="258068" y="0"/>
                  <a:pt x="250087" y="7981"/>
                  <a:pt x="250087" y="17859"/>
                </a:cubicBezTo>
                <a:lnTo>
                  <a:pt x="250087" y="47662"/>
                </a:lnTo>
                <a:lnTo>
                  <a:pt x="243780" y="41690"/>
                </a:lnTo>
                <a:cubicBezTo>
                  <a:pt x="217940" y="15962"/>
                  <a:pt x="182221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lose/>
                <a:moveTo>
                  <a:pt x="284299" y="163246"/>
                </a:moveTo>
                <a:cubicBezTo>
                  <a:pt x="285694" y="153479"/>
                  <a:pt x="278885" y="144438"/>
                  <a:pt x="269174" y="143042"/>
                </a:cubicBezTo>
                <a:cubicBezTo>
                  <a:pt x="259463" y="141647"/>
                  <a:pt x="250366" y="148456"/>
                  <a:pt x="248971" y="158167"/>
                </a:cubicBezTo>
                <a:cubicBezTo>
                  <a:pt x="241548" y="210071"/>
                  <a:pt x="196844" y="249975"/>
                  <a:pt x="142875" y="249975"/>
                </a:cubicBezTo>
                <a:cubicBezTo>
                  <a:pt x="113295" y="249975"/>
                  <a:pt x="86506" y="237976"/>
                  <a:pt x="67084" y="218610"/>
                </a:cubicBezTo>
                <a:cubicBezTo>
                  <a:pt x="66973" y="218498"/>
                  <a:pt x="66861" y="218387"/>
                  <a:pt x="66749" y="218275"/>
                </a:cubicBezTo>
                <a:lnTo>
                  <a:pt x="62508" y="214257"/>
                </a:lnTo>
                <a:lnTo>
                  <a:pt x="89241" y="214257"/>
                </a:lnTo>
                <a:cubicBezTo>
                  <a:pt x="99120" y="214257"/>
                  <a:pt x="107100" y="206276"/>
                  <a:pt x="107100" y="196397"/>
                </a:cubicBezTo>
                <a:cubicBezTo>
                  <a:pt x="107100" y="186519"/>
                  <a:pt x="99120" y="178538"/>
                  <a:pt x="89241" y="178538"/>
                </a:cubicBezTo>
                <a:lnTo>
                  <a:pt x="17859" y="178594"/>
                </a:lnTo>
                <a:cubicBezTo>
                  <a:pt x="13115" y="178594"/>
                  <a:pt x="8539" y="180491"/>
                  <a:pt x="5190" y="183896"/>
                </a:cubicBezTo>
                <a:cubicBezTo>
                  <a:pt x="1842" y="187300"/>
                  <a:pt x="-56" y="191821"/>
                  <a:pt x="0" y="196621"/>
                </a:cubicBezTo>
                <a:lnTo>
                  <a:pt x="558" y="267500"/>
                </a:lnTo>
                <a:cubicBezTo>
                  <a:pt x="614" y="277378"/>
                  <a:pt x="8706" y="285304"/>
                  <a:pt x="18585" y="285192"/>
                </a:cubicBezTo>
                <a:cubicBezTo>
                  <a:pt x="28463" y="285080"/>
                  <a:pt x="36388" y="277044"/>
                  <a:pt x="36277" y="267165"/>
                </a:cubicBezTo>
                <a:lnTo>
                  <a:pt x="36054" y="238423"/>
                </a:lnTo>
                <a:lnTo>
                  <a:pt x="42025" y="244060"/>
                </a:lnTo>
                <a:cubicBezTo>
                  <a:pt x="67866" y="269788"/>
                  <a:pt x="103529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27" name="Text 25"/>
          <p:cNvSpPr/>
          <p:nvPr/>
        </p:nvSpPr>
        <p:spPr>
          <a:xfrm>
            <a:off x="10873503" y="2331723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856000" y="2598423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3215641"/>
            <a:ext cx="5600700" cy="3257550"/>
          </a:xfrm>
          <a:custGeom>
            <a:avLst/>
            <a:gdLst/>
            <a:ahLst/>
            <a:cxnLst/>
            <a:rect l="l" t="t" r="r" b="b"/>
            <a:pathLst>
              <a:path w="5600700" h="3257550">
                <a:moveTo>
                  <a:pt x="0" y="0"/>
                </a:moveTo>
                <a:lnTo>
                  <a:pt x="5600700" y="0"/>
                </a:lnTo>
                <a:lnTo>
                  <a:pt x="560070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3215641"/>
            <a:ext cx="38100" cy="3257550"/>
          </a:xfrm>
          <a:custGeom>
            <a:avLst/>
            <a:gdLst/>
            <a:ahLst/>
            <a:cxnLst/>
            <a:rect l="l" t="t" r="r" b="b"/>
            <a:pathLst>
              <a:path w="38100" h="3257550">
                <a:moveTo>
                  <a:pt x="0" y="0"/>
                </a:moveTo>
                <a:lnTo>
                  <a:pt x="38100" y="0"/>
                </a:lnTo>
                <a:lnTo>
                  <a:pt x="3810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1" name="Shape 29"/>
          <p:cNvSpPr/>
          <p:nvPr/>
        </p:nvSpPr>
        <p:spPr>
          <a:xfrm>
            <a:off x="633413" y="34442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54781"/>
                </a:moveTo>
                <a:lnTo>
                  <a:pt x="0" y="44648"/>
                </a:lnTo>
                <a:cubicBezTo>
                  <a:pt x="0" y="39700"/>
                  <a:pt x="3981" y="35719"/>
                  <a:pt x="8930" y="35719"/>
                </a:cubicBezTo>
                <a:cubicBezTo>
                  <a:pt x="13878" y="35719"/>
                  <a:pt x="17859" y="39700"/>
                  <a:pt x="17859" y="44648"/>
                </a:cubicBezTo>
                <a:lnTo>
                  <a:pt x="17859" y="151805"/>
                </a:lnTo>
                <a:cubicBezTo>
                  <a:pt x="17859" y="156753"/>
                  <a:pt x="21841" y="160734"/>
                  <a:pt x="26789" y="160734"/>
                </a:cubicBezTo>
                <a:cubicBezTo>
                  <a:pt x="31738" y="160734"/>
                  <a:pt x="35719" y="156753"/>
                  <a:pt x="35719" y="151805"/>
                </a:cubicBezTo>
                <a:lnTo>
                  <a:pt x="35719" y="35719"/>
                </a:lnTo>
                <a:cubicBezTo>
                  <a:pt x="35719" y="22585"/>
                  <a:pt x="46397" y="11906"/>
                  <a:pt x="59531" y="11906"/>
                </a:cubicBezTo>
                <a:lnTo>
                  <a:pt x="166688" y="11906"/>
                </a:lnTo>
                <a:cubicBezTo>
                  <a:pt x="179822" y="11906"/>
                  <a:pt x="190500" y="22585"/>
                  <a:pt x="190500" y="35719"/>
                </a:cubicBezTo>
                <a:lnTo>
                  <a:pt x="190500" y="154781"/>
                </a:lnTo>
                <a:cubicBezTo>
                  <a:pt x="190500" y="167915"/>
                  <a:pt x="179822" y="178594"/>
                  <a:pt x="166688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close/>
                <a:moveTo>
                  <a:pt x="59531" y="47625"/>
                </a:moveTo>
                <a:lnTo>
                  <a:pt x="59531" y="71438"/>
                </a:lnTo>
                <a:cubicBezTo>
                  <a:pt x="59531" y="78023"/>
                  <a:pt x="64852" y="83344"/>
                  <a:pt x="71438" y="83344"/>
                </a:cubicBezTo>
                <a:lnTo>
                  <a:pt x="95250" y="83344"/>
                </a:lnTo>
                <a:cubicBezTo>
                  <a:pt x="101836" y="83344"/>
                  <a:pt x="107156" y="78023"/>
                  <a:pt x="107156" y="71438"/>
                </a:cubicBezTo>
                <a:lnTo>
                  <a:pt x="107156" y="47625"/>
                </a:lnTo>
                <a:cubicBezTo>
                  <a:pt x="107156" y="41039"/>
                  <a:pt x="101836" y="35719"/>
                  <a:pt x="95250" y="35719"/>
                </a:cubicBezTo>
                <a:lnTo>
                  <a:pt x="71438" y="35719"/>
                </a:lnTo>
                <a:cubicBezTo>
                  <a:pt x="64852" y="35719"/>
                  <a:pt x="59531" y="41039"/>
                  <a:pt x="59531" y="47625"/>
                </a:cubicBezTo>
                <a:close/>
                <a:moveTo>
                  <a:pt x="68461" y="136922"/>
                </a:moveTo>
                <a:cubicBezTo>
                  <a:pt x="63512" y="136922"/>
                  <a:pt x="59531" y="140903"/>
                  <a:pt x="59531" y="145852"/>
                </a:cubicBezTo>
                <a:cubicBezTo>
                  <a:pt x="59531" y="150800"/>
                  <a:pt x="63512" y="154781"/>
                  <a:pt x="68461" y="154781"/>
                </a:cubicBezTo>
                <a:lnTo>
                  <a:pt x="157758" y="154781"/>
                </a:lnTo>
                <a:cubicBezTo>
                  <a:pt x="162706" y="154781"/>
                  <a:pt x="166688" y="150800"/>
                  <a:pt x="166688" y="145852"/>
                </a:cubicBezTo>
                <a:cubicBezTo>
                  <a:pt x="166688" y="140903"/>
                  <a:pt x="162706" y="136922"/>
                  <a:pt x="157758" y="136922"/>
                </a:cubicBezTo>
                <a:lnTo>
                  <a:pt x="68461" y="136922"/>
                </a:lnTo>
                <a:close/>
                <a:moveTo>
                  <a:pt x="59531" y="110133"/>
                </a:moveTo>
                <a:cubicBezTo>
                  <a:pt x="59531" y="115081"/>
                  <a:pt x="63512" y="119063"/>
                  <a:pt x="68461" y="119063"/>
                </a:cubicBezTo>
                <a:lnTo>
                  <a:pt x="157758" y="119063"/>
                </a:lnTo>
                <a:cubicBezTo>
                  <a:pt x="162706" y="119063"/>
                  <a:pt x="166688" y="115081"/>
                  <a:pt x="166688" y="110133"/>
                </a:cubicBezTo>
                <a:cubicBezTo>
                  <a:pt x="166688" y="105184"/>
                  <a:pt x="162706" y="101203"/>
                  <a:pt x="157758" y="101203"/>
                </a:cubicBezTo>
                <a:lnTo>
                  <a:pt x="68461" y="101203"/>
                </a:lnTo>
                <a:cubicBezTo>
                  <a:pt x="63512" y="101203"/>
                  <a:pt x="59531" y="105184"/>
                  <a:pt x="59531" y="110133"/>
                </a:cubicBezTo>
                <a:close/>
                <a:moveTo>
                  <a:pt x="133945" y="65484"/>
                </a:moveTo>
                <a:cubicBezTo>
                  <a:pt x="128997" y="65484"/>
                  <a:pt x="125016" y="69466"/>
                  <a:pt x="125016" y="74414"/>
                </a:cubicBezTo>
                <a:cubicBezTo>
                  <a:pt x="125016" y="79363"/>
                  <a:pt x="128997" y="83344"/>
                  <a:pt x="133945" y="83344"/>
                </a:cubicBezTo>
                <a:lnTo>
                  <a:pt x="157758" y="83344"/>
                </a:lnTo>
                <a:cubicBezTo>
                  <a:pt x="162706" y="83344"/>
                  <a:pt x="166688" y="79363"/>
                  <a:pt x="166688" y="74414"/>
                </a:cubicBezTo>
                <a:cubicBezTo>
                  <a:pt x="166688" y="69466"/>
                  <a:pt x="162706" y="65484"/>
                  <a:pt x="157758" y="65484"/>
                </a:cubicBezTo>
                <a:lnTo>
                  <a:pt x="133945" y="65484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Text 30"/>
          <p:cNvSpPr/>
          <p:nvPr/>
        </p:nvSpPr>
        <p:spPr>
          <a:xfrm>
            <a:off x="847725" y="3406141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3410" y="3829051"/>
            <a:ext cx="5189220" cy="1036320"/>
          </a:xfrm>
          <a:custGeom>
            <a:avLst/>
            <a:gdLst/>
            <a:ahLst/>
            <a:cxnLst/>
            <a:rect l="l" t="t" r="r" b="b"/>
            <a:pathLst>
              <a:path w="5189220" h="1036320">
                <a:moveTo>
                  <a:pt x="76201" y="0"/>
                </a:moveTo>
                <a:lnTo>
                  <a:pt x="5113019" y="0"/>
                </a:lnTo>
                <a:cubicBezTo>
                  <a:pt x="5155104" y="0"/>
                  <a:pt x="5189220" y="34116"/>
                  <a:pt x="5189220" y="76201"/>
                </a:cubicBezTo>
                <a:lnTo>
                  <a:pt x="5189220" y="960119"/>
                </a:lnTo>
                <a:cubicBezTo>
                  <a:pt x="5189220" y="1002204"/>
                  <a:pt x="5155104" y="1036320"/>
                  <a:pt x="5113019" y="1036320"/>
                </a:cubicBezTo>
                <a:lnTo>
                  <a:pt x="76201" y="1036320"/>
                </a:lnTo>
                <a:cubicBezTo>
                  <a:pt x="34116" y="1036320"/>
                  <a:pt x="0" y="1002204"/>
                  <a:pt x="0" y="960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9620" y="40233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83920" y="413765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6" name="Text 34"/>
          <p:cNvSpPr/>
          <p:nvPr/>
        </p:nvSpPr>
        <p:spPr>
          <a:xfrm>
            <a:off x="1264920" y="3985259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Guardian API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64920" y="4236723"/>
            <a:ext cx="16534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Premium journalism source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88670" y="454723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Text 37"/>
          <p:cNvSpPr/>
          <p:nvPr/>
        </p:nvSpPr>
        <p:spPr>
          <a:xfrm>
            <a:off x="1012508" y="4518659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credibility scores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3410" y="4987292"/>
            <a:ext cx="5189220" cy="1036320"/>
          </a:xfrm>
          <a:custGeom>
            <a:avLst/>
            <a:gdLst/>
            <a:ahLst/>
            <a:cxnLst/>
            <a:rect l="l" t="t" r="r" b="b"/>
            <a:pathLst>
              <a:path w="5189220" h="1036320">
                <a:moveTo>
                  <a:pt x="76201" y="0"/>
                </a:moveTo>
                <a:lnTo>
                  <a:pt x="5113019" y="0"/>
                </a:lnTo>
                <a:cubicBezTo>
                  <a:pt x="5155104" y="0"/>
                  <a:pt x="5189220" y="34116"/>
                  <a:pt x="5189220" y="76201"/>
                </a:cubicBezTo>
                <a:lnTo>
                  <a:pt x="5189220" y="960119"/>
                </a:lnTo>
                <a:cubicBezTo>
                  <a:pt x="5189220" y="1002204"/>
                  <a:pt x="5155104" y="1036320"/>
                  <a:pt x="5113019" y="1036320"/>
                </a:cubicBezTo>
                <a:lnTo>
                  <a:pt x="76201" y="1036320"/>
                </a:lnTo>
                <a:cubicBezTo>
                  <a:pt x="34116" y="1036320"/>
                  <a:pt x="0" y="1002204"/>
                  <a:pt x="0" y="960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3A5F7A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9620" y="5181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93445" y="5295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19050"/>
                </a:moveTo>
                <a:cubicBezTo>
                  <a:pt x="0" y="13781"/>
                  <a:pt x="4256" y="9525"/>
                  <a:pt x="9525" y="9525"/>
                </a:cubicBezTo>
                <a:cubicBezTo>
                  <a:pt x="77926" y="9525"/>
                  <a:pt x="133350" y="64949"/>
                  <a:pt x="133350" y="133350"/>
                </a:cubicBezTo>
                <a:cubicBezTo>
                  <a:pt x="133350" y="138619"/>
                  <a:pt x="129094" y="142875"/>
                  <a:pt x="123825" y="142875"/>
                </a:cubicBezTo>
                <a:cubicBezTo>
                  <a:pt x="118556" y="142875"/>
                  <a:pt x="114300" y="138619"/>
                  <a:pt x="114300" y="133350"/>
                </a:cubicBezTo>
                <a:cubicBezTo>
                  <a:pt x="114300" y="75486"/>
                  <a:pt x="67389" y="28575"/>
                  <a:pt x="9525" y="28575"/>
                </a:cubicBezTo>
                <a:cubicBezTo>
                  <a:pt x="4256" y="28575"/>
                  <a:pt x="0" y="24319"/>
                  <a:pt x="0" y="19050"/>
                </a:cubicBezTo>
                <a:close/>
                <a:moveTo>
                  <a:pt x="0" y="123825"/>
                </a:moveTo>
                <a:cubicBezTo>
                  <a:pt x="0" y="113311"/>
                  <a:pt x="8536" y="104775"/>
                  <a:pt x="19050" y="104775"/>
                </a:cubicBezTo>
                <a:cubicBezTo>
                  <a:pt x="29564" y="104775"/>
                  <a:pt x="38100" y="113311"/>
                  <a:pt x="38100" y="123825"/>
                </a:cubicBezTo>
                <a:cubicBezTo>
                  <a:pt x="38100" y="134339"/>
                  <a:pt x="29564" y="142875"/>
                  <a:pt x="19050" y="142875"/>
                </a:cubicBezTo>
                <a:cubicBezTo>
                  <a:pt x="8536" y="142875"/>
                  <a:pt x="0" y="134339"/>
                  <a:pt x="0" y="123825"/>
                </a:cubicBezTo>
                <a:close/>
                <a:moveTo>
                  <a:pt x="9525" y="47625"/>
                </a:moveTo>
                <a:cubicBezTo>
                  <a:pt x="56882" y="47625"/>
                  <a:pt x="95250" y="85993"/>
                  <a:pt x="95250" y="133350"/>
                </a:cubicBezTo>
                <a:cubicBezTo>
                  <a:pt x="95250" y="138619"/>
                  <a:pt x="90994" y="142875"/>
                  <a:pt x="85725" y="142875"/>
                </a:cubicBezTo>
                <a:cubicBezTo>
                  <a:pt x="80456" y="142875"/>
                  <a:pt x="76200" y="138619"/>
                  <a:pt x="76200" y="133350"/>
                </a:cubicBezTo>
                <a:cubicBezTo>
                  <a:pt x="76200" y="96530"/>
                  <a:pt x="46345" y="66675"/>
                  <a:pt x="9525" y="66675"/>
                </a:cubicBezTo>
                <a:cubicBezTo>
                  <a:pt x="4256" y="66675"/>
                  <a:pt x="0" y="62419"/>
                  <a:pt x="0" y="57150"/>
                </a:cubicBezTo>
                <a:cubicBezTo>
                  <a:pt x="0" y="51881"/>
                  <a:pt x="4256" y="47625"/>
                  <a:pt x="9525" y="47625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43" name="Text 41"/>
          <p:cNvSpPr/>
          <p:nvPr/>
        </p:nvSpPr>
        <p:spPr>
          <a:xfrm>
            <a:off x="1264920" y="5143500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Mediastack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64920" y="5394959"/>
            <a:ext cx="14973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Multi-source aggregator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88670" y="5705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6" name="Text 44"/>
          <p:cNvSpPr/>
          <p:nvPr/>
        </p:nvSpPr>
        <p:spPr>
          <a:xfrm>
            <a:off x="1012508" y="567690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Diverse perspectives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0300" y="3215641"/>
            <a:ext cx="5600700" cy="3257550"/>
          </a:xfrm>
          <a:custGeom>
            <a:avLst/>
            <a:gdLst/>
            <a:ahLst/>
            <a:cxnLst/>
            <a:rect l="l" t="t" r="r" b="b"/>
            <a:pathLst>
              <a:path w="5600700" h="3257550">
                <a:moveTo>
                  <a:pt x="0" y="0"/>
                </a:moveTo>
                <a:lnTo>
                  <a:pt x="5600700" y="0"/>
                </a:lnTo>
                <a:lnTo>
                  <a:pt x="560070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48" name="Shape 46"/>
          <p:cNvSpPr/>
          <p:nvPr/>
        </p:nvSpPr>
        <p:spPr>
          <a:xfrm>
            <a:off x="6210300" y="3215641"/>
            <a:ext cx="38100" cy="3257550"/>
          </a:xfrm>
          <a:custGeom>
            <a:avLst/>
            <a:gdLst/>
            <a:ahLst/>
            <a:cxnLst/>
            <a:rect l="l" t="t" r="r" b="b"/>
            <a:pathLst>
              <a:path w="38100" h="3257550">
                <a:moveTo>
                  <a:pt x="0" y="0"/>
                </a:moveTo>
                <a:lnTo>
                  <a:pt x="38100" y="0"/>
                </a:lnTo>
                <a:lnTo>
                  <a:pt x="3810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49" name="Shape 47"/>
          <p:cNvSpPr/>
          <p:nvPr/>
        </p:nvSpPr>
        <p:spPr>
          <a:xfrm>
            <a:off x="6419850" y="344424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50" name="Text 48"/>
          <p:cNvSpPr/>
          <p:nvPr/>
        </p:nvSpPr>
        <p:spPr>
          <a:xfrm>
            <a:off x="6657975" y="3406141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Features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19850" y="38252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543675" y="39395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53" name="Text 51"/>
          <p:cNvSpPr/>
          <p:nvPr/>
        </p:nvSpPr>
        <p:spPr>
          <a:xfrm>
            <a:off x="6915150" y="3825241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Multi-threaded Fetching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15150" y="4076700"/>
            <a:ext cx="22893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Parallel API calls maximize throughput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19850" y="43967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534150" y="45110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19050"/>
                </a:moveTo>
                <a:cubicBezTo>
                  <a:pt x="5685" y="19050"/>
                  <a:pt x="2203" y="21372"/>
                  <a:pt x="714" y="24944"/>
                </a:cubicBezTo>
                <a:cubicBezTo>
                  <a:pt x="-774" y="28515"/>
                  <a:pt x="60" y="32593"/>
                  <a:pt x="2798" y="35302"/>
                </a:cubicBezTo>
                <a:lnTo>
                  <a:pt x="57150" y="89684"/>
                </a:lnTo>
                <a:lnTo>
                  <a:pt x="57150" y="123825"/>
                </a:lnTo>
                <a:cubicBezTo>
                  <a:pt x="57150" y="126355"/>
                  <a:pt x="58162" y="128766"/>
                  <a:pt x="59948" y="130552"/>
                </a:cubicBezTo>
                <a:lnTo>
                  <a:pt x="78998" y="149602"/>
                </a:lnTo>
                <a:cubicBezTo>
                  <a:pt x="81736" y="152340"/>
                  <a:pt x="85814" y="153144"/>
                  <a:pt x="89386" y="151656"/>
                </a:cubicBezTo>
                <a:cubicBezTo>
                  <a:pt x="92958" y="150168"/>
                  <a:pt x="95250" y="146715"/>
                  <a:pt x="95250" y="142875"/>
                </a:cubicBezTo>
                <a:lnTo>
                  <a:pt x="95250" y="89684"/>
                </a:lnTo>
                <a:lnTo>
                  <a:pt x="149602" y="35332"/>
                </a:lnTo>
                <a:cubicBezTo>
                  <a:pt x="152340" y="32593"/>
                  <a:pt x="153144" y="28515"/>
                  <a:pt x="151656" y="24944"/>
                </a:cubicBezTo>
                <a:cubicBezTo>
                  <a:pt x="150168" y="21372"/>
                  <a:pt x="146715" y="19050"/>
                  <a:pt x="142875" y="19050"/>
                </a:cubicBezTo>
                <a:lnTo>
                  <a:pt x="9525" y="1905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57" name="Text 55"/>
          <p:cNvSpPr/>
          <p:nvPr/>
        </p:nvSpPr>
        <p:spPr>
          <a:xfrm>
            <a:off x="6915150" y="4396741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Preprocessing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915150" y="4648200"/>
            <a:ext cx="22695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 stripping, normalization, dedup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19850" y="49682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524625" y="508254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47625" y="0"/>
                </a:moveTo>
                <a:cubicBezTo>
                  <a:pt x="52894" y="0"/>
                  <a:pt x="57150" y="4256"/>
                  <a:pt x="57150" y="9525"/>
                </a:cubicBezTo>
                <a:lnTo>
                  <a:pt x="57150" y="19050"/>
                </a:lnTo>
                <a:lnTo>
                  <a:pt x="95250" y="19050"/>
                </a:lnTo>
                <a:cubicBezTo>
                  <a:pt x="100519" y="19050"/>
                  <a:pt x="104775" y="23306"/>
                  <a:pt x="104775" y="28575"/>
                </a:cubicBezTo>
                <a:cubicBezTo>
                  <a:pt x="104775" y="33844"/>
                  <a:pt x="100519" y="38100"/>
                  <a:pt x="95250" y="38100"/>
                </a:cubicBezTo>
                <a:lnTo>
                  <a:pt x="92393" y="38100"/>
                </a:lnTo>
                <a:lnTo>
                  <a:pt x="89892" y="44976"/>
                </a:lnTo>
                <a:cubicBezTo>
                  <a:pt x="85011" y="58430"/>
                  <a:pt x="77659" y="70723"/>
                  <a:pt x="68401" y="81290"/>
                </a:cubicBezTo>
                <a:cubicBezTo>
                  <a:pt x="72628" y="83909"/>
                  <a:pt x="77033" y="86231"/>
                  <a:pt x="81617" y="88285"/>
                </a:cubicBezTo>
                <a:lnTo>
                  <a:pt x="96619" y="94952"/>
                </a:lnTo>
                <a:lnTo>
                  <a:pt x="115133" y="53280"/>
                </a:lnTo>
                <a:cubicBezTo>
                  <a:pt x="116651" y="49828"/>
                  <a:pt x="120075" y="47625"/>
                  <a:pt x="123825" y="47625"/>
                </a:cubicBezTo>
                <a:cubicBezTo>
                  <a:pt x="127575" y="47625"/>
                  <a:pt x="130999" y="49828"/>
                  <a:pt x="132517" y="53280"/>
                </a:cubicBezTo>
                <a:lnTo>
                  <a:pt x="170617" y="139005"/>
                </a:lnTo>
                <a:cubicBezTo>
                  <a:pt x="172760" y="143828"/>
                  <a:pt x="170587" y="149453"/>
                  <a:pt x="165795" y="151567"/>
                </a:cubicBezTo>
                <a:cubicBezTo>
                  <a:pt x="161002" y="153680"/>
                  <a:pt x="155347" y="151537"/>
                  <a:pt x="153233" y="146745"/>
                </a:cubicBezTo>
                <a:lnTo>
                  <a:pt x="147280" y="133350"/>
                </a:lnTo>
                <a:lnTo>
                  <a:pt x="100399" y="133350"/>
                </a:lnTo>
                <a:lnTo>
                  <a:pt x="94446" y="146745"/>
                </a:lnTo>
                <a:cubicBezTo>
                  <a:pt x="92303" y="151567"/>
                  <a:pt x="86677" y="153710"/>
                  <a:pt x="81885" y="151567"/>
                </a:cubicBezTo>
                <a:cubicBezTo>
                  <a:pt x="77093" y="149423"/>
                  <a:pt x="74920" y="143798"/>
                  <a:pt x="77063" y="139005"/>
                </a:cubicBezTo>
                <a:lnTo>
                  <a:pt x="88910" y="112365"/>
                </a:lnTo>
                <a:lnTo>
                  <a:pt x="73908" y="105698"/>
                </a:lnTo>
                <a:cubicBezTo>
                  <a:pt x="67062" y="102662"/>
                  <a:pt x="60514" y="99030"/>
                  <a:pt x="54322" y="94863"/>
                </a:cubicBezTo>
                <a:cubicBezTo>
                  <a:pt x="47982" y="99983"/>
                  <a:pt x="41047" y="104448"/>
                  <a:pt x="33635" y="108168"/>
                </a:cubicBezTo>
                <a:lnTo>
                  <a:pt x="23306" y="113288"/>
                </a:lnTo>
                <a:cubicBezTo>
                  <a:pt x="18604" y="115639"/>
                  <a:pt x="12889" y="113734"/>
                  <a:pt x="10537" y="109031"/>
                </a:cubicBezTo>
                <a:cubicBezTo>
                  <a:pt x="8186" y="104329"/>
                  <a:pt x="10091" y="98614"/>
                  <a:pt x="14794" y="96262"/>
                </a:cubicBezTo>
                <a:lnTo>
                  <a:pt x="25063" y="91113"/>
                </a:lnTo>
                <a:cubicBezTo>
                  <a:pt x="29914" y="88672"/>
                  <a:pt x="34528" y="85844"/>
                  <a:pt x="38874" y="82689"/>
                </a:cubicBezTo>
                <a:cubicBezTo>
                  <a:pt x="34766" y="78909"/>
                  <a:pt x="30897" y="74831"/>
                  <a:pt x="27295" y="70515"/>
                </a:cubicBezTo>
                <a:lnTo>
                  <a:pt x="24289" y="66883"/>
                </a:lnTo>
                <a:cubicBezTo>
                  <a:pt x="20925" y="62835"/>
                  <a:pt x="21461" y="56823"/>
                  <a:pt x="25509" y="53459"/>
                </a:cubicBezTo>
                <a:cubicBezTo>
                  <a:pt x="29557" y="50096"/>
                  <a:pt x="35570" y="50631"/>
                  <a:pt x="38933" y="54679"/>
                </a:cubicBezTo>
                <a:lnTo>
                  <a:pt x="41970" y="58311"/>
                </a:lnTo>
                <a:cubicBezTo>
                  <a:pt x="45393" y="62448"/>
                  <a:pt x="49143" y="66288"/>
                  <a:pt x="53102" y="69830"/>
                </a:cubicBezTo>
                <a:cubicBezTo>
                  <a:pt x="61287" y="60781"/>
                  <a:pt x="67747" y="50155"/>
                  <a:pt x="72003" y="38457"/>
                </a:cubicBezTo>
                <a:lnTo>
                  <a:pt x="72152" y="38100"/>
                </a:lnTo>
                <a:lnTo>
                  <a:pt x="9555" y="38100"/>
                </a:lnTo>
                <a:cubicBezTo>
                  <a:pt x="4256" y="38100"/>
                  <a:pt x="0" y="33844"/>
                  <a:pt x="0" y="28575"/>
                </a:cubicBezTo>
                <a:cubicBezTo>
                  <a:pt x="0" y="23306"/>
                  <a:pt x="4256" y="19050"/>
                  <a:pt x="9525" y="19050"/>
                </a:cubicBezTo>
                <a:lnTo>
                  <a:pt x="38100" y="19050"/>
                </a:lnTo>
                <a:lnTo>
                  <a:pt x="38100" y="9525"/>
                </a:lnTo>
                <a:cubicBezTo>
                  <a:pt x="38100" y="4256"/>
                  <a:pt x="42356" y="0"/>
                  <a:pt x="47625" y="0"/>
                </a:cubicBezTo>
                <a:close/>
                <a:moveTo>
                  <a:pt x="123825" y="80605"/>
                </a:moveTo>
                <a:lnTo>
                  <a:pt x="108853" y="114300"/>
                </a:lnTo>
                <a:lnTo>
                  <a:pt x="138797" y="114300"/>
                </a:lnTo>
                <a:lnTo>
                  <a:pt x="123825" y="80605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61" name="Text 59"/>
          <p:cNvSpPr/>
          <p:nvPr/>
        </p:nvSpPr>
        <p:spPr>
          <a:xfrm>
            <a:off x="6915150" y="4968241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Tokenization Pipeline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915150" y="5219700"/>
            <a:ext cx="18483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BERT-compatible tokenization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419850" y="55397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534150" y="56540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9986" y="22235"/>
                </a:moveTo>
                <a:lnTo>
                  <a:pt x="133350" y="25420"/>
                </a:lnTo>
                <a:lnTo>
                  <a:pt x="133350" y="9525"/>
                </a:lnTo>
                <a:cubicBezTo>
                  <a:pt x="133350" y="4256"/>
                  <a:pt x="137606" y="0"/>
                  <a:pt x="142875" y="0"/>
                </a:cubicBezTo>
                <a:cubicBezTo>
                  <a:pt x="148144" y="0"/>
                  <a:pt x="152400" y="4256"/>
                  <a:pt x="152400" y="9525"/>
                </a:cubicBezTo>
                <a:lnTo>
                  <a:pt x="152400" y="47625"/>
                </a:lnTo>
                <a:cubicBezTo>
                  <a:pt x="152400" y="52894"/>
                  <a:pt x="148144" y="57150"/>
                  <a:pt x="142875" y="57150"/>
                </a:cubicBezTo>
                <a:lnTo>
                  <a:pt x="104775" y="57150"/>
                </a:lnTo>
                <a:cubicBezTo>
                  <a:pt x="99506" y="57150"/>
                  <a:pt x="95250" y="52894"/>
                  <a:pt x="95250" y="47625"/>
                </a:cubicBezTo>
                <a:cubicBezTo>
                  <a:pt x="95250" y="42356"/>
                  <a:pt x="99506" y="38100"/>
                  <a:pt x="104775" y="38100"/>
                </a:cubicBezTo>
                <a:lnTo>
                  <a:pt x="119033" y="38100"/>
                </a:lnTo>
                <a:lnTo>
                  <a:pt x="116771" y="35957"/>
                </a:lnTo>
                <a:cubicBezTo>
                  <a:pt x="116711" y="35897"/>
                  <a:pt x="116651" y="35838"/>
                  <a:pt x="116592" y="35778"/>
                </a:cubicBezTo>
                <a:cubicBezTo>
                  <a:pt x="94268" y="13454"/>
                  <a:pt x="58102" y="13454"/>
                  <a:pt x="35778" y="35778"/>
                </a:cubicBezTo>
                <a:cubicBezTo>
                  <a:pt x="13454" y="58103"/>
                  <a:pt x="13454" y="94268"/>
                  <a:pt x="35778" y="116592"/>
                </a:cubicBezTo>
                <a:cubicBezTo>
                  <a:pt x="58102" y="138916"/>
                  <a:pt x="94268" y="138916"/>
                  <a:pt x="116592" y="116592"/>
                </a:cubicBezTo>
                <a:cubicBezTo>
                  <a:pt x="119033" y="114151"/>
                  <a:pt x="121206" y="111562"/>
                  <a:pt x="123111" y="108823"/>
                </a:cubicBezTo>
                <a:cubicBezTo>
                  <a:pt x="126117" y="104507"/>
                  <a:pt x="132070" y="103465"/>
                  <a:pt x="136386" y="106472"/>
                </a:cubicBezTo>
                <a:cubicBezTo>
                  <a:pt x="140702" y="109478"/>
                  <a:pt x="141744" y="115431"/>
                  <a:pt x="138738" y="119747"/>
                </a:cubicBezTo>
                <a:cubicBezTo>
                  <a:pt x="136207" y="123379"/>
                  <a:pt x="133320" y="126831"/>
                  <a:pt x="130076" y="130076"/>
                </a:cubicBezTo>
                <a:cubicBezTo>
                  <a:pt x="100310" y="159841"/>
                  <a:pt x="52060" y="159841"/>
                  <a:pt x="22324" y="130076"/>
                </a:cubicBezTo>
                <a:cubicBezTo>
                  <a:pt x="-7412" y="100310"/>
                  <a:pt x="-7441" y="52090"/>
                  <a:pt x="22324" y="22324"/>
                </a:cubicBezTo>
                <a:cubicBezTo>
                  <a:pt x="52060" y="-7412"/>
                  <a:pt x="100221" y="-7441"/>
                  <a:pt x="129986" y="22235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65" name="Text 63"/>
          <p:cNvSpPr/>
          <p:nvPr/>
        </p:nvSpPr>
        <p:spPr>
          <a:xfrm>
            <a:off x="6915150" y="5539741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Updates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915150" y="5791200"/>
            <a:ext cx="22705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Scheduled ingestion every 15 minutes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Layer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 Data Warehouse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6400800" cy="3448050"/>
          </a:xfrm>
          <a:custGeom>
            <a:avLst/>
            <a:gdLst/>
            <a:ahLst/>
            <a:cxnLst/>
            <a:rect l="l" t="t" r="r" b="b"/>
            <a:pathLst>
              <a:path w="6400800" h="3448050">
                <a:moveTo>
                  <a:pt x="0" y="0"/>
                </a:moveTo>
                <a:lnTo>
                  <a:pt x="6400800" y="0"/>
                </a:lnTo>
                <a:lnTo>
                  <a:pt x="6400800" y="3448050"/>
                </a:lnTo>
                <a:lnTo>
                  <a:pt x="0" y="3448050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19200"/>
            <a:ext cx="38100" cy="3448050"/>
          </a:xfrm>
          <a:custGeom>
            <a:avLst/>
            <a:gdLst/>
            <a:ahLst/>
            <a:cxnLst/>
            <a:rect l="l" t="t" r="r" b="b"/>
            <a:pathLst>
              <a:path w="38100" h="3448050">
                <a:moveTo>
                  <a:pt x="0" y="0"/>
                </a:moveTo>
                <a:lnTo>
                  <a:pt x="38100" y="0"/>
                </a:lnTo>
                <a:lnTo>
                  <a:pt x="38100" y="3448050"/>
                </a:lnTo>
                <a:lnTo>
                  <a:pt x="0" y="344805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Shape 4"/>
          <p:cNvSpPr/>
          <p:nvPr/>
        </p:nvSpPr>
        <p:spPr>
          <a:xfrm>
            <a:off x="655320" y="1455420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20320">
            <a:solidFill>
              <a:srgbClr val="4DB6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8681" y="16573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300038" y="137830"/>
                </a:moveTo>
                <a:cubicBezTo>
                  <a:pt x="290126" y="144393"/>
                  <a:pt x="278740" y="149684"/>
                  <a:pt x="266886" y="153903"/>
                </a:cubicBezTo>
                <a:cubicBezTo>
                  <a:pt x="235409" y="165155"/>
                  <a:pt x="194087" y="171450"/>
                  <a:pt x="150019" y="171450"/>
                </a:cubicBezTo>
                <a:cubicBezTo>
                  <a:pt x="105951" y="171450"/>
                  <a:pt x="64562" y="165088"/>
                  <a:pt x="33151" y="153903"/>
                </a:cubicBezTo>
                <a:cubicBezTo>
                  <a:pt x="21364" y="149684"/>
                  <a:pt x="9912" y="144393"/>
                  <a:pt x="0" y="137830"/>
                </a:cubicBezTo>
                <a:lnTo>
                  <a:pt x="0" y="192881"/>
                </a:lnTo>
                <a:cubicBezTo>
                  <a:pt x="0" y="222483"/>
                  <a:pt x="67174" y="246459"/>
                  <a:pt x="150019" y="246459"/>
                </a:cubicBezTo>
                <a:cubicBezTo>
                  <a:pt x="232864" y="246459"/>
                  <a:pt x="300038" y="222483"/>
                  <a:pt x="300038" y="192881"/>
                </a:cubicBezTo>
                <a:lnTo>
                  <a:pt x="300038" y="137830"/>
                </a:lnTo>
                <a:close/>
                <a:moveTo>
                  <a:pt x="300038" y="85725"/>
                </a:moveTo>
                <a:lnTo>
                  <a:pt x="300038" y="53578"/>
                </a:lnTo>
                <a:cubicBezTo>
                  <a:pt x="300038" y="23976"/>
                  <a:pt x="232864" y="0"/>
                  <a:pt x="150019" y="0"/>
                </a:cubicBezTo>
                <a:cubicBezTo>
                  <a:pt x="67174" y="0"/>
                  <a:pt x="0" y="23976"/>
                  <a:pt x="0" y="53578"/>
                </a:cubicBezTo>
                <a:lnTo>
                  <a:pt x="0" y="85725"/>
                </a:lnTo>
                <a:cubicBezTo>
                  <a:pt x="0" y="115327"/>
                  <a:pt x="67174" y="139303"/>
                  <a:pt x="150019" y="139303"/>
                </a:cubicBezTo>
                <a:cubicBezTo>
                  <a:pt x="232864" y="139303"/>
                  <a:pt x="300038" y="115327"/>
                  <a:pt x="300038" y="85725"/>
                </a:cubicBezTo>
                <a:close/>
                <a:moveTo>
                  <a:pt x="266886" y="261059"/>
                </a:moveTo>
                <a:cubicBezTo>
                  <a:pt x="235476" y="272244"/>
                  <a:pt x="194154" y="278606"/>
                  <a:pt x="150019" y="278606"/>
                </a:cubicBezTo>
                <a:cubicBezTo>
                  <a:pt x="105884" y="278606"/>
                  <a:pt x="64562" y="272244"/>
                  <a:pt x="33151" y="261059"/>
                </a:cubicBezTo>
                <a:cubicBezTo>
                  <a:pt x="21364" y="256840"/>
                  <a:pt x="9912" y="251549"/>
                  <a:pt x="0" y="244986"/>
                </a:cubicBezTo>
                <a:lnTo>
                  <a:pt x="0" y="289322"/>
                </a:lnTo>
                <a:cubicBezTo>
                  <a:pt x="0" y="318924"/>
                  <a:pt x="67174" y="342900"/>
                  <a:pt x="150019" y="342900"/>
                </a:cubicBezTo>
                <a:cubicBezTo>
                  <a:pt x="232864" y="342900"/>
                  <a:pt x="300038" y="318924"/>
                  <a:pt x="300038" y="289322"/>
                </a:cubicBezTo>
                <a:lnTo>
                  <a:pt x="300038" y="244986"/>
                </a:lnTo>
                <a:cubicBezTo>
                  <a:pt x="290126" y="251549"/>
                  <a:pt x="278740" y="256840"/>
                  <a:pt x="266886" y="26105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504950"/>
            <a:ext cx="2495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1885950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Embedded Analytical Database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" y="2400300"/>
            <a:ext cx="6000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 serves as our embedded data warehouse, providing high-performance analytical queries without requiring external server infrastructure.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1510" y="3089910"/>
            <a:ext cx="2884170" cy="807720"/>
          </a:xfrm>
          <a:custGeom>
            <a:avLst/>
            <a:gdLst/>
            <a:ahLst/>
            <a:cxnLst/>
            <a:rect l="l" t="t" r="r" b="b"/>
            <a:pathLst>
              <a:path w="2884170" h="807720">
                <a:moveTo>
                  <a:pt x="76200" y="0"/>
                </a:moveTo>
                <a:lnTo>
                  <a:pt x="2807970" y="0"/>
                </a:lnTo>
                <a:cubicBezTo>
                  <a:pt x="2850054" y="0"/>
                  <a:pt x="2884170" y="34116"/>
                  <a:pt x="2884170" y="76200"/>
                </a:cubicBezTo>
                <a:lnTo>
                  <a:pt x="2884170" y="731520"/>
                </a:lnTo>
                <a:cubicBezTo>
                  <a:pt x="2884170" y="773604"/>
                  <a:pt x="2850054" y="807720"/>
                  <a:pt x="2807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5345" y="326517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1"/>
          <p:cNvSpPr/>
          <p:nvPr/>
        </p:nvSpPr>
        <p:spPr>
          <a:xfrm>
            <a:off x="1160145" y="3246123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Storage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7720" y="3550918"/>
            <a:ext cx="263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Articles, headlines, summaries, full text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91890" y="3089910"/>
            <a:ext cx="2884170" cy="807720"/>
          </a:xfrm>
          <a:custGeom>
            <a:avLst/>
            <a:gdLst/>
            <a:ahLst/>
            <a:cxnLst/>
            <a:rect l="l" t="t" r="r" b="b"/>
            <a:pathLst>
              <a:path w="2884170" h="807720">
                <a:moveTo>
                  <a:pt x="76200" y="0"/>
                </a:moveTo>
                <a:lnTo>
                  <a:pt x="2807970" y="0"/>
                </a:lnTo>
                <a:cubicBezTo>
                  <a:pt x="2850054" y="0"/>
                  <a:pt x="2884170" y="34116"/>
                  <a:pt x="2884170" y="76200"/>
                </a:cubicBezTo>
                <a:lnTo>
                  <a:pt x="2884170" y="731520"/>
                </a:lnTo>
                <a:cubicBezTo>
                  <a:pt x="2884170" y="773604"/>
                  <a:pt x="2850054" y="807720"/>
                  <a:pt x="28079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71913" y="32651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4200525" y="3246123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Storage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8100" y="3550918"/>
            <a:ext cx="263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Timestamps, source IDs, tags, categories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810" y="4865606"/>
            <a:ext cx="6417945" cy="1607820"/>
          </a:xfrm>
          <a:custGeom>
            <a:avLst/>
            <a:gdLst/>
            <a:ahLst/>
            <a:cxnLst/>
            <a:rect l="l" t="t" r="r" b="b"/>
            <a:pathLst>
              <a:path w="6417945" h="1607820">
                <a:moveTo>
                  <a:pt x="114300" y="0"/>
                </a:moveTo>
                <a:lnTo>
                  <a:pt x="6303645" y="0"/>
                </a:lnTo>
                <a:cubicBezTo>
                  <a:pt x="6366771" y="0"/>
                  <a:pt x="6417945" y="51174"/>
                  <a:pt x="6417945" y="114300"/>
                </a:cubicBezTo>
                <a:lnTo>
                  <a:pt x="6417945" y="1493520"/>
                </a:lnTo>
                <a:cubicBezTo>
                  <a:pt x="6417945" y="1556646"/>
                  <a:pt x="6366771" y="1607820"/>
                  <a:pt x="6303645" y="1607820"/>
                </a:cubicBezTo>
                <a:lnTo>
                  <a:pt x="114300" y="1607820"/>
                </a:lnTo>
                <a:cubicBezTo>
                  <a:pt x="51174" y="1607820"/>
                  <a:pt x="0" y="1556646"/>
                  <a:pt x="0" y="14935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C3138"/>
          </a:solidFill>
          <a:ln w="1016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3648" y="5107549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5725" y="53578"/>
                </a:moveTo>
                <a:lnTo>
                  <a:pt x="85725" y="85725"/>
                </a:lnTo>
                <a:lnTo>
                  <a:pt x="128588" y="85725"/>
                </a:lnTo>
                <a:lnTo>
                  <a:pt x="128588" y="53578"/>
                </a:lnTo>
                <a:lnTo>
                  <a:pt x="85725" y="53578"/>
                </a:lnTo>
                <a:close/>
                <a:moveTo>
                  <a:pt x="64294" y="53578"/>
                </a:moveTo>
                <a:lnTo>
                  <a:pt x="21431" y="53578"/>
                </a:lnTo>
                <a:lnTo>
                  <a:pt x="21431" y="85725"/>
                </a:lnTo>
                <a:lnTo>
                  <a:pt x="64294" y="85725"/>
                </a:lnTo>
                <a:lnTo>
                  <a:pt x="64294" y="53578"/>
                </a:lnTo>
                <a:close/>
                <a:moveTo>
                  <a:pt x="0" y="107156"/>
                </a:move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128588" y="10716"/>
                </a:lnTo>
                <a:cubicBezTo>
                  <a:pt x="140408" y="10716"/>
                  <a:pt x="150019" y="20326"/>
                  <a:pt x="150019" y="32147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107156"/>
                </a:lnTo>
                <a:close/>
                <a:moveTo>
                  <a:pt x="128588" y="107156"/>
                </a:moveTo>
                <a:lnTo>
                  <a:pt x="85725" y="107156"/>
                </a:lnTo>
                <a:lnTo>
                  <a:pt x="85725" y="139303"/>
                </a:lnTo>
                <a:lnTo>
                  <a:pt x="128588" y="139303"/>
                </a:lnTo>
                <a:lnTo>
                  <a:pt x="128588" y="107156"/>
                </a:lnTo>
                <a:close/>
                <a:moveTo>
                  <a:pt x="64294" y="139303"/>
                </a:moveTo>
                <a:lnTo>
                  <a:pt x="64294" y="107156"/>
                </a:lnTo>
                <a:lnTo>
                  <a:pt x="21431" y="107156"/>
                </a:lnTo>
                <a:lnTo>
                  <a:pt x="21431" y="139303"/>
                </a:lnTo>
                <a:lnTo>
                  <a:pt x="64294" y="1393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1" name="Text 19"/>
          <p:cNvSpPr/>
          <p:nvPr/>
        </p:nvSpPr>
        <p:spPr>
          <a:xfrm>
            <a:off x="798195" y="5059924"/>
            <a:ext cx="589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 Design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9120" y="5479024"/>
            <a:ext cx="1933575" cy="800100"/>
          </a:xfrm>
          <a:custGeom>
            <a:avLst/>
            <a:gdLst/>
            <a:ahLst/>
            <a:cxnLst/>
            <a:rect l="l" t="t" r="r" b="b"/>
            <a:pathLst>
              <a:path w="1933575" h="800100">
                <a:moveTo>
                  <a:pt x="76202" y="0"/>
                </a:moveTo>
                <a:lnTo>
                  <a:pt x="1857373" y="0"/>
                </a:lnTo>
                <a:cubicBezTo>
                  <a:pt x="1899458" y="0"/>
                  <a:pt x="1933575" y="34117"/>
                  <a:pt x="1933575" y="76202"/>
                </a:cubicBezTo>
                <a:lnTo>
                  <a:pt x="1933575" y="723898"/>
                </a:lnTo>
                <a:cubicBezTo>
                  <a:pt x="1933575" y="765983"/>
                  <a:pt x="1899458" y="800100"/>
                  <a:pt x="18573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Text 21"/>
          <p:cNvSpPr/>
          <p:nvPr/>
        </p:nvSpPr>
        <p:spPr>
          <a:xfrm>
            <a:off x="693420" y="5593324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articles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3420" y="5860024"/>
            <a:ext cx="1762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id, title, content, url, published_at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626281" y="5479024"/>
            <a:ext cx="1933575" cy="800100"/>
          </a:xfrm>
          <a:custGeom>
            <a:avLst/>
            <a:gdLst/>
            <a:ahLst/>
            <a:cxnLst/>
            <a:rect l="l" t="t" r="r" b="b"/>
            <a:pathLst>
              <a:path w="1933575" h="800100">
                <a:moveTo>
                  <a:pt x="76202" y="0"/>
                </a:moveTo>
                <a:lnTo>
                  <a:pt x="1857373" y="0"/>
                </a:lnTo>
                <a:cubicBezTo>
                  <a:pt x="1899458" y="0"/>
                  <a:pt x="1933575" y="34117"/>
                  <a:pt x="1933575" y="76202"/>
                </a:cubicBezTo>
                <a:lnTo>
                  <a:pt x="1933575" y="723898"/>
                </a:lnTo>
                <a:cubicBezTo>
                  <a:pt x="1933575" y="765983"/>
                  <a:pt x="1899458" y="800100"/>
                  <a:pt x="18573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2740581" y="5593324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40581" y="5860024"/>
            <a:ext cx="176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id, name, credibility_score, domain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73560" y="5479024"/>
            <a:ext cx="1933575" cy="800100"/>
          </a:xfrm>
          <a:custGeom>
            <a:avLst/>
            <a:gdLst/>
            <a:ahLst/>
            <a:cxnLst/>
            <a:rect l="l" t="t" r="r" b="b"/>
            <a:pathLst>
              <a:path w="1933575" h="800100">
                <a:moveTo>
                  <a:pt x="76202" y="0"/>
                </a:moveTo>
                <a:lnTo>
                  <a:pt x="1857373" y="0"/>
                </a:lnTo>
                <a:cubicBezTo>
                  <a:pt x="1899458" y="0"/>
                  <a:pt x="1933575" y="34117"/>
                  <a:pt x="1933575" y="76202"/>
                </a:cubicBezTo>
                <a:lnTo>
                  <a:pt x="1933575" y="723898"/>
                </a:lnTo>
                <a:cubicBezTo>
                  <a:pt x="1933575" y="765983"/>
                  <a:pt x="1899458" y="800100"/>
                  <a:pt x="18573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Text 27"/>
          <p:cNvSpPr/>
          <p:nvPr/>
        </p:nvSpPr>
        <p:spPr>
          <a:xfrm>
            <a:off x="4787860" y="5593324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87860" y="5860024"/>
            <a:ext cx="1762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article_id, vector_768d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52310" y="1219200"/>
            <a:ext cx="4762500" cy="5257800"/>
          </a:xfrm>
          <a:custGeom>
            <a:avLst/>
            <a:gdLst/>
            <a:ahLst/>
            <a:cxnLst/>
            <a:rect l="l" t="t" r="r" b="b"/>
            <a:pathLst>
              <a:path w="4762500" h="5257800">
                <a:moveTo>
                  <a:pt x="0" y="0"/>
                </a:moveTo>
                <a:lnTo>
                  <a:pt x="4762500" y="0"/>
                </a:lnTo>
                <a:lnTo>
                  <a:pt x="4762500" y="5257800"/>
                </a:lnTo>
                <a:lnTo>
                  <a:pt x="0" y="5257800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052310" y="1219200"/>
            <a:ext cx="38100" cy="5257800"/>
          </a:xfrm>
          <a:custGeom>
            <a:avLst/>
            <a:gdLst/>
            <a:ahLst/>
            <a:cxnLst/>
            <a:rect l="l" t="t" r="r" b="b"/>
            <a:pathLst>
              <a:path w="38100" h="5257800">
                <a:moveTo>
                  <a:pt x="0" y="0"/>
                </a:moveTo>
                <a:lnTo>
                  <a:pt x="38100" y="0"/>
                </a:lnTo>
                <a:lnTo>
                  <a:pt x="38100" y="5257800"/>
                </a:lnTo>
                <a:lnTo>
                  <a:pt x="0" y="5257800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33" name="Shape 31"/>
          <p:cNvSpPr/>
          <p:nvPr/>
        </p:nvSpPr>
        <p:spPr>
          <a:xfrm>
            <a:off x="7311866" y="14859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34" name="Text 32"/>
          <p:cNvSpPr/>
          <p:nvPr/>
        </p:nvSpPr>
        <p:spPr>
          <a:xfrm>
            <a:off x="7538085" y="1447800"/>
            <a:ext cx="414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Advantages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03770" y="1908810"/>
            <a:ext cx="4274820" cy="1150620"/>
          </a:xfrm>
          <a:custGeom>
            <a:avLst/>
            <a:gdLst/>
            <a:ahLst/>
            <a:cxnLst/>
            <a:rect l="l" t="t" r="r" b="b"/>
            <a:pathLst>
              <a:path w="4274820" h="1150620">
                <a:moveTo>
                  <a:pt x="76206" y="0"/>
                </a:moveTo>
                <a:lnTo>
                  <a:pt x="4198614" y="0"/>
                </a:lnTo>
                <a:cubicBezTo>
                  <a:pt x="4240702" y="0"/>
                  <a:pt x="4274820" y="34118"/>
                  <a:pt x="4274820" y="76206"/>
                </a:cubicBezTo>
                <a:lnTo>
                  <a:pt x="4274820" y="1074414"/>
                </a:lnTo>
                <a:cubicBezTo>
                  <a:pt x="4274820" y="1116502"/>
                  <a:pt x="4240702" y="1150620"/>
                  <a:pt x="4198614" y="1150620"/>
                </a:cubicBezTo>
                <a:lnTo>
                  <a:pt x="76206" y="1150620"/>
                </a:lnTo>
                <a:cubicBezTo>
                  <a:pt x="34118" y="1150620"/>
                  <a:pt x="0" y="1116502"/>
                  <a:pt x="0" y="107441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59980" y="20650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574280" y="21793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8" name="Text 36"/>
          <p:cNvSpPr/>
          <p:nvPr/>
        </p:nvSpPr>
        <p:spPr>
          <a:xfrm>
            <a:off x="7955280" y="2141223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 Queries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59980" y="2522223"/>
            <a:ext cx="4029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Columnar storage enables sub-second analytical queries on millions of rows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03770" y="3219451"/>
            <a:ext cx="4274820" cy="960120"/>
          </a:xfrm>
          <a:custGeom>
            <a:avLst/>
            <a:gdLst/>
            <a:ahLst/>
            <a:cxnLst/>
            <a:rect l="l" t="t" r="r" b="b"/>
            <a:pathLst>
              <a:path w="4274820" h="960120">
                <a:moveTo>
                  <a:pt x="76205" y="0"/>
                </a:moveTo>
                <a:lnTo>
                  <a:pt x="4198615" y="0"/>
                </a:lnTo>
                <a:cubicBezTo>
                  <a:pt x="4240702" y="0"/>
                  <a:pt x="4274820" y="34118"/>
                  <a:pt x="4274820" y="76205"/>
                </a:cubicBezTo>
                <a:lnTo>
                  <a:pt x="4274820" y="883915"/>
                </a:lnTo>
                <a:cubicBezTo>
                  <a:pt x="4274820" y="926002"/>
                  <a:pt x="4240702" y="960120"/>
                  <a:pt x="4198615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59980" y="33756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574280" y="34899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3451864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Cloud Dependency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59980" y="3832864"/>
            <a:ext cx="402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Runs entirely locally without internet or external services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303770" y="4339592"/>
            <a:ext cx="4274820" cy="960120"/>
          </a:xfrm>
          <a:custGeom>
            <a:avLst/>
            <a:gdLst/>
            <a:ahLst/>
            <a:cxnLst/>
            <a:rect l="l" t="t" r="r" b="b"/>
            <a:pathLst>
              <a:path w="4274820" h="960120">
                <a:moveTo>
                  <a:pt x="76205" y="0"/>
                </a:moveTo>
                <a:lnTo>
                  <a:pt x="4198615" y="0"/>
                </a:lnTo>
                <a:cubicBezTo>
                  <a:pt x="4240702" y="0"/>
                  <a:pt x="4274820" y="34118"/>
                  <a:pt x="4274820" y="76205"/>
                </a:cubicBezTo>
                <a:lnTo>
                  <a:pt x="4274820" y="883915"/>
                </a:lnTo>
                <a:cubicBezTo>
                  <a:pt x="4274820" y="926002"/>
                  <a:pt x="4240702" y="960120"/>
                  <a:pt x="4198615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59980" y="4495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4280" y="4610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1476" y="30"/>
                </a:moveTo>
                <a:cubicBezTo>
                  <a:pt x="144423" y="-208"/>
                  <a:pt x="147310" y="923"/>
                  <a:pt x="149394" y="3006"/>
                </a:cubicBezTo>
                <a:cubicBezTo>
                  <a:pt x="151477" y="5090"/>
                  <a:pt x="152608" y="7977"/>
                  <a:pt x="152370" y="10924"/>
                </a:cubicBezTo>
                <a:cubicBezTo>
                  <a:pt x="151180" y="25598"/>
                  <a:pt x="147191" y="48488"/>
                  <a:pt x="138589" y="70366"/>
                </a:cubicBezTo>
                <a:cubicBezTo>
                  <a:pt x="138053" y="71705"/>
                  <a:pt x="136952" y="72717"/>
                  <a:pt x="135553" y="73134"/>
                </a:cubicBezTo>
                <a:lnTo>
                  <a:pt x="111472" y="80367"/>
                </a:lnTo>
                <a:cubicBezTo>
                  <a:pt x="110311" y="80724"/>
                  <a:pt x="109537" y="81766"/>
                  <a:pt x="109537" y="82987"/>
                </a:cubicBezTo>
                <a:cubicBezTo>
                  <a:pt x="109537" y="84505"/>
                  <a:pt x="110758" y="85725"/>
                  <a:pt x="112276" y="85725"/>
                </a:cubicBezTo>
                <a:lnTo>
                  <a:pt x="123765" y="85725"/>
                </a:lnTo>
                <a:cubicBezTo>
                  <a:pt x="127337" y="85725"/>
                  <a:pt x="129629" y="89535"/>
                  <a:pt x="127784" y="92601"/>
                </a:cubicBezTo>
                <a:cubicBezTo>
                  <a:pt x="126593" y="94595"/>
                  <a:pt x="125313" y="96530"/>
                  <a:pt x="124004" y="98435"/>
                </a:cubicBezTo>
                <a:cubicBezTo>
                  <a:pt x="123408" y="99298"/>
                  <a:pt x="122515" y="99923"/>
                  <a:pt x="121503" y="100251"/>
                </a:cubicBezTo>
                <a:lnTo>
                  <a:pt x="92422" y="108942"/>
                </a:lnTo>
                <a:cubicBezTo>
                  <a:pt x="91261" y="109299"/>
                  <a:pt x="90488" y="110341"/>
                  <a:pt x="90488" y="111562"/>
                </a:cubicBezTo>
                <a:cubicBezTo>
                  <a:pt x="90488" y="113080"/>
                  <a:pt x="91708" y="114300"/>
                  <a:pt x="93226" y="114300"/>
                </a:cubicBezTo>
                <a:lnTo>
                  <a:pt x="97988" y="114300"/>
                </a:lnTo>
                <a:cubicBezTo>
                  <a:pt x="102334" y="114300"/>
                  <a:pt x="104239" y="119479"/>
                  <a:pt x="100608" y="121860"/>
                </a:cubicBezTo>
                <a:cubicBezTo>
                  <a:pt x="80367" y="135255"/>
                  <a:pt x="59621" y="134749"/>
                  <a:pt x="46315" y="131177"/>
                </a:cubicBezTo>
                <a:cubicBezTo>
                  <a:pt x="42535" y="130165"/>
                  <a:pt x="39172" y="128230"/>
                  <a:pt x="36076" y="125849"/>
                </a:cubicBezTo>
                <a:lnTo>
                  <a:pt x="14288" y="147638"/>
                </a:lnTo>
                <a:cubicBezTo>
                  <a:pt x="11668" y="150257"/>
                  <a:pt x="7382" y="150257"/>
                  <a:pt x="4763" y="147638"/>
                </a:cubicBezTo>
                <a:cubicBezTo>
                  <a:pt x="2143" y="145018"/>
                  <a:pt x="2143" y="140732"/>
                  <a:pt x="4763" y="138113"/>
                </a:cubicBezTo>
                <a:lnTo>
                  <a:pt x="28575" y="114300"/>
                </a:lnTo>
                <a:lnTo>
                  <a:pt x="28724" y="114449"/>
                </a:lnTo>
                <a:cubicBezTo>
                  <a:pt x="28932" y="114062"/>
                  <a:pt x="29200" y="113705"/>
                  <a:pt x="29527" y="113377"/>
                </a:cubicBezTo>
                <a:lnTo>
                  <a:pt x="76200" y="66675"/>
                </a:lnTo>
                <a:cubicBezTo>
                  <a:pt x="78819" y="64056"/>
                  <a:pt x="78819" y="59769"/>
                  <a:pt x="76200" y="57150"/>
                </a:cubicBezTo>
                <a:cubicBezTo>
                  <a:pt x="73581" y="54531"/>
                  <a:pt x="69294" y="54531"/>
                  <a:pt x="66675" y="57150"/>
                </a:cubicBezTo>
                <a:lnTo>
                  <a:pt x="26700" y="97095"/>
                </a:lnTo>
                <a:cubicBezTo>
                  <a:pt x="24051" y="99745"/>
                  <a:pt x="19556" y="98405"/>
                  <a:pt x="19258" y="94655"/>
                </a:cubicBezTo>
                <a:cubicBezTo>
                  <a:pt x="17978" y="78819"/>
                  <a:pt x="22027" y="58013"/>
                  <a:pt x="40868" y="39172"/>
                </a:cubicBezTo>
                <a:cubicBezTo>
                  <a:pt x="67985" y="12055"/>
                  <a:pt x="116532" y="2054"/>
                  <a:pt x="141446" y="3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8" name="Text 46"/>
          <p:cNvSpPr/>
          <p:nvPr/>
        </p:nvSpPr>
        <p:spPr>
          <a:xfrm>
            <a:off x="7955280" y="4572000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Lightweight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459980" y="4953000"/>
            <a:ext cx="402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binary, minimal memory footprint, easy deployment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303770" y="5474974"/>
            <a:ext cx="4274820" cy="769620"/>
          </a:xfrm>
          <a:custGeom>
            <a:avLst/>
            <a:gdLst/>
            <a:ahLst/>
            <a:cxnLst/>
            <a:rect l="l" t="t" r="r" b="b"/>
            <a:pathLst>
              <a:path w="4274820" h="769620">
                <a:moveTo>
                  <a:pt x="76200" y="0"/>
                </a:moveTo>
                <a:lnTo>
                  <a:pt x="4198620" y="0"/>
                </a:lnTo>
                <a:cubicBezTo>
                  <a:pt x="4240704" y="0"/>
                  <a:pt x="4274820" y="34116"/>
                  <a:pt x="4274820" y="76200"/>
                </a:cubicBezTo>
                <a:lnTo>
                  <a:pt x="4274820" y="693420"/>
                </a:lnTo>
                <a:cubicBezTo>
                  <a:pt x="4274820" y="735504"/>
                  <a:pt x="4240704" y="769620"/>
                  <a:pt x="419862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14902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83793" y="57645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2" name="Text 50"/>
          <p:cNvSpPr/>
          <p:nvPr/>
        </p:nvSpPr>
        <p:spPr>
          <a:xfrm>
            <a:off x="7812405" y="5631182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Privacy-Preserving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812405" y="5882646"/>
            <a:ext cx="19292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never leaves local machine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977" y="360977"/>
            <a:ext cx="1153321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kern="0" spc="5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Algorithm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0977" y="613661"/>
            <a:ext cx="11632486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8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Scoring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4587" y="1158736"/>
            <a:ext cx="11468241" cy="1613567"/>
          </a:xfrm>
          <a:custGeom>
            <a:avLst/>
            <a:gdLst/>
            <a:ahLst/>
            <a:cxnLst/>
            <a:rect l="l" t="t" r="r" b="b"/>
            <a:pathLst>
              <a:path w="11468241" h="1613567">
                <a:moveTo>
                  <a:pt x="108287" y="0"/>
                </a:moveTo>
                <a:lnTo>
                  <a:pt x="11359954" y="0"/>
                </a:lnTo>
                <a:cubicBezTo>
                  <a:pt x="11419759" y="0"/>
                  <a:pt x="11468241" y="48482"/>
                  <a:pt x="11468241" y="108287"/>
                </a:cubicBezTo>
                <a:lnTo>
                  <a:pt x="11468241" y="1505281"/>
                </a:lnTo>
                <a:cubicBezTo>
                  <a:pt x="11468241" y="1565086"/>
                  <a:pt x="11419759" y="1613567"/>
                  <a:pt x="11359954" y="1613567"/>
                </a:cubicBezTo>
                <a:lnTo>
                  <a:pt x="108287" y="1613567"/>
                </a:lnTo>
                <a:cubicBezTo>
                  <a:pt x="48482" y="1613567"/>
                  <a:pt x="0" y="1565086"/>
                  <a:pt x="0" y="1505281"/>
                </a:cubicBezTo>
                <a:lnTo>
                  <a:pt x="0" y="108287"/>
                </a:lnTo>
                <a:cubicBezTo>
                  <a:pt x="0" y="48522"/>
                  <a:pt x="48522" y="0"/>
                  <a:pt x="108287" y="0"/>
                </a:cubicBezTo>
                <a:close/>
              </a:path>
            </a:pathLst>
          </a:custGeom>
          <a:solidFill>
            <a:srgbClr val="2C3138"/>
          </a:solidFill>
          <a:ln w="1016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8075" y="1342833"/>
            <a:ext cx="11181264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9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Fusion Scoring Formula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2295" y="1743517"/>
            <a:ext cx="11089215" cy="837467"/>
          </a:xfrm>
          <a:custGeom>
            <a:avLst/>
            <a:gdLst/>
            <a:ahLst/>
            <a:cxnLst/>
            <a:rect l="l" t="t" r="r" b="b"/>
            <a:pathLst>
              <a:path w="11089215" h="837467">
                <a:moveTo>
                  <a:pt x="72198" y="0"/>
                </a:moveTo>
                <a:lnTo>
                  <a:pt x="11017017" y="0"/>
                </a:lnTo>
                <a:cubicBezTo>
                  <a:pt x="11056891" y="0"/>
                  <a:pt x="11089215" y="32324"/>
                  <a:pt x="11089215" y="72198"/>
                </a:cubicBezTo>
                <a:lnTo>
                  <a:pt x="11089215" y="765269"/>
                </a:lnTo>
                <a:cubicBezTo>
                  <a:pt x="11089215" y="805143"/>
                  <a:pt x="11056891" y="837467"/>
                  <a:pt x="11017017" y="837467"/>
                </a:cubicBezTo>
                <a:lnTo>
                  <a:pt x="72198" y="837467"/>
                </a:lnTo>
                <a:cubicBezTo>
                  <a:pt x="32324" y="837467"/>
                  <a:pt x="0" y="805143"/>
                  <a:pt x="0" y="765269"/>
                </a:cubicBezTo>
                <a:lnTo>
                  <a:pt x="0" y="72198"/>
                </a:lnTo>
                <a:cubicBezTo>
                  <a:pt x="0" y="32324"/>
                  <a:pt x="32324" y="0"/>
                  <a:pt x="7219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149" y="1891525"/>
            <a:ext cx="10901507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5" dirty="0">
                <a:solidFill>
                  <a:srgbClr val="4DB6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</a:t>
            </a:r>
            <a:r>
              <a:rPr lang="en-US" sz="99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final</a:t>
            </a:r>
            <a:r>
              <a:rPr lang="en-US" sz="1705" dirty="0">
                <a:solidFill>
                  <a:srgbClr val="E8E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r>
              <a:rPr lang="en-US" sz="1705" dirty="0">
                <a:solidFill>
                  <a:srgbClr val="4DB6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α</a:t>
            </a:r>
            <a:r>
              <a:rPr lang="en-US" sz="1705" dirty="0">
                <a:solidFill>
                  <a:srgbClr val="E8E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r>
              <a:rPr lang="en-US" sz="1705" dirty="0">
                <a:solidFill>
                  <a:srgbClr val="3A5F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</a:t>
            </a:r>
            <a:r>
              <a:rPr lang="en-US" sz="99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BM25</a:t>
            </a:r>
            <a:r>
              <a:rPr lang="en-US" sz="1705" dirty="0">
                <a:solidFill>
                  <a:srgbClr val="E8E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</a:t>
            </a:r>
            <a:r>
              <a:rPr lang="en-US" sz="1705" dirty="0">
                <a:solidFill>
                  <a:srgbClr val="4DB6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β</a:t>
            </a:r>
            <a:r>
              <a:rPr lang="en-US" sz="1705" dirty="0">
                <a:solidFill>
                  <a:srgbClr val="E8E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r>
              <a:rPr lang="en-US" sz="1705" dirty="0">
                <a:solidFill>
                  <a:srgbClr val="3A5F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</a:t>
            </a:r>
            <a:r>
              <a:rPr lang="en-US" sz="99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FAISS</a:t>
            </a:r>
            <a:r>
              <a:rPr lang="en-US" sz="1705" dirty="0">
                <a:solidFill>
                  <a:srgbClr val="E8E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</a:t>
            </a:r>
            <a:r>
              <a:rPr lang="en-US" sz="1705" dirty="0">
                <a:solidFill>
                  <a:srgbClr val="4DB6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γ</a:t>
            </a:r>
            <a:r>
              <a:rPr lang="en-US" sz="1705" dirty="0">
                <a:solidFill>
                  <a:srgbClr val="E8E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r>
              <a:rPr lang="en-US" sz="1705" dirty="0">
                <a:solidFill>
                  <a:srgbClr val="3A5F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</a:t>
            </a:r>
            <a:r>
              <a:rPr lang="en-US" sz="99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8710" y="2252388"/>
            <a:ext cx="10856385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α + β + γ = 1.0 (configurable weights)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0977" y="2970728"/>
            <a:ext cx="3700015" cy="3167574"/>
          </a:xfrm>
          <a:custGeom>
            <a:avLst/>
            <a:gdLst/>
            <a:ahLst/>
            <a:cxnLst/>
            <a:rect l="l" t="t" r="r" b="b"/>
            <a:pathLst>
              <a:path w="3700015" h="3167574">
                <a:moveTo>
                  <a:pt x="0" y="0"/>
                </a:moveTo>
                <a:lnTo>
                  <a:pt x="3700015" y="0"/>
                </a:lnTo>
                <a:lnTo>
                  <a:pt x="3700015" y="3167574"/>
                </a:lnTo>
                <a:lnTo>
                  <a:pt x="0" y="3167574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10" name="Shape 8"/>
          <p:cNvSpPr/>
          <p:nvPr/>
        </p:nvSpPr>
        <p:spPr>
          <a:xfrm>
            <a:off x="360977" y="2970728"/>
            <a:ext cx="3700015" cy="36098"/>
          </a:xfrm>
          <a:custGeom>
            <a:avLst/>
            <a:gdLst/>
            <a:ahLst/>
            <a:cxnLst/>
            <a:rect l="l" t="t" r="r" b="b"/>
            <a:pathLst>
              <a:path w="3700015" h="36098">
                <a:moveTo>
                  <a:pt x="0" y="0"/>
                </a:moveTo>
                <a:lnTo>
                  <a:pt x="3700015" y="0"/>
                </a:lnTo>
                <a:lnTo>
                  <a:pt x="3700015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Shape 9"/>
          <p:cNvSpPr/>
          <p:nvPr/>
        </p:nvSpPr>
        <p:spPr>
          <a:xfrm>
            <a:off x="541466" y="3169266"/>
            <a:ext cx="505368" cy="505368"/>
          </a:xfrm>
          <a:custGeom>
            <a:avLst/>
            <a:gdLst/>
            <a:ahLst/>
            <a:cxnLst/>
            <a:rect l="l" t="t" r="r" b="b"/>
            <a:pathLst>
              <a:path w="505368" h="505368">
                <a:moveTo>
                  <a:pt x="108295" y="0"/>
                </a:moveTo>
                <a:lnTo>
                  <a:pt x="397073" y="0"/>
                </a:lnTo>
                <a:cubicBezTo>
                  <a:pt x="456882" y="0"/>
                  <a:pt x="505368" y="48485"/>
                  <a:pt x="505368" y="108295"/>
                </a:cubicBezTo>
                <a:lnTo>
                  <a:pt x="505368" y="397073"/>
                </a:lnTo>
                <a:cubicBezTo>
                  <a:pt x="505368" y="456882"/>
                  <a:pt x="456882" y="505368"/>
                  <a:pt x="397073" y="505368"/>
                </a:cubicBezTo>
                <a:lnTo>
                  <a:pt x="108295" y="505368"/>
                </a:lnTo>
                <a:cubicBezTo>
                  <a:pt x="48485" y="505368"/>
                  <a:pt x="0" y="456882"/>
                  <a:pt x="0" y="397073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4137" y="3277559"/>
            <a:ext cx="225611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91224" y="3295608"/>
            <a:ext cx="56853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1466" y="3819024"/>
            <a:ext cx="3411233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Lexical keyword matching with probabilistic relevance scoring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1466" y="4432685"/>
            <a:ext cx="3339038" cy="324879"/>
          </a:xfrm>
          <a:custGeom>
            <a:avLst/>
            <a:gdLst/>
            <a:ahLst/>
            <a:cxnLst/>
            <a:rect l="l" t="t" r="r" b="b"/>
            <a:pathLst>
              <a:path w="3339038" h="324879">
                <a:moveTo>
                  <a:pt x="36097" y="0"/>
                </a:moveTo>
                <a:lnTo>
                  <a:pt x="3302940" y="0"/>
                </a:lnTo>
                <a:cubicBezTo>
                  <a:pt x="3322876" y="0"/>
                  <a:pt x="3339038" y="16161"/>
                  <a:pt x="3339038" y="36097"/>
                </a:cubicBezTo>
                <a:lnTo>
                  <a:pt x="3339038" y="288782"/>
                </a:lnTo>
                <a:cubicBezTo>
                  <a:pt x="3339038" y="308718"/>
                  <a:pt x="3322876" y="324879"/>
                  <a:pt x="3302940" y="324879"/>
                </a:cubicBezTo>
                <a:lnTo>
                  <a:pt x="36097" y="324879"/>
                </a:lnTo>
                <a:cubicBezTo>
                  <a:pt x="16175" y="324879"/>
                  <a:pt x="0" y="308705"/>
                  <a:pt x="0" y="288782"/>
                </a:cubicBezTo>
                <a:lnTo>
                  <a:pt x="0" y="36097"/>
                </a:lnTo>
                <a:cubicBezTo>
                  <a:pt x="0" y="16175"/>
                  <a:pt x="16175" y="0"/>
                  <a:pt x="360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6" name="Shape 14"/>
          <p:cNvSpPr/>
          <p:nvPr/>
        </p:nvSpPr>
        <p:spPr>
          <a:xfrm>
            <a:off x="639606" y="4531954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843784" y="4504881"/>
            <a:ext cx="1209273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Exact term matching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1466" y="4829760"/>
            <a:ext cx="3339038" cy="324879"/>
          </a:xfrm>
          <a:custGeom>
            <a:avLst/>
            <a:gdLst/>
            <a:ahLst/>
            <a:cxnLst/>
            <a:rect l="l" t="t" r="r" b="b"/>
            <a:pathLst>
              <a:path w="3339038" h="324879">
                <a:moveTo>
                  <a:pt x="36097" y="0"/>
                </a:moveTo>
                <a:lnTo>
                  <a:pt x="3302940" y="0"/>
                </a:lnTo>
                <a:cubicBezTo>
                  <a:pt x="3322876" y="0"/>
                  <a:pt x="3339038" y="16161"/>
                  <a:pt x="3339038" y="36097"/>
                </a:cubicBezTo>
                <a:lnTo>
                  <a:pt x="3339038" y="288782"/>
                </a:lnTo>
                <a:cubicBezTo>
                  <a:pt x="3339038" y="308718"/>
                  <a:pt x="3322876" y="324879"/>
                  <a:pt x="3302940" y="324879"/>
                </a:cubicBezTo>
                <a:lnTo>
                  <a:pt x="36097" y="324879"/>
                </a:lnTo>
                <a:cubicBezTo>
                  <a:pt x="16175" y="324879"/>
                  <a:pt x="0" y="308705"/>
                  <a:pt x="0" y="288782"/>
                </a:cubicBezTo>
                <a:lnTo>
                  <a:pt x="0" y="36097"/>
                </a:lnTo>
                <a:cubicBezTo>
                  <a:pt x="0" y="16175"/>
                  <a:pt x="16175" y="0"/>
                  <a:pt x="360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Shape 17"/>
          <p:cNvSpPr/>
          <p:nvPr/>
        </p:nvSpPr>
        <p:spPr>
          <a:xfrm>
            <a:off x="639606" y="4929029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Text 18"/>
          <p:cNvSpPr/>
          <p:nvPr/>
        </p:nvSpPr>
        <p:spPr>
          <a:xfrm>
            <a:off x="843784" y="4901956"/>
            <a:ext cx="152512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 frequency weighting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1466" y="5226835"/>
            <a:ext cx="3339038" cy="324879"/>
          </a:xfrm>
          <a:custGeom>
            <a:avLst/>
            <a:gdLst/>
            <a:ahLst/>
            <a:cxnLst/>
            <a:rect l="l" t="t" r="r" b="b"/>
            <a:pathLst>
              <a:path w="3339038" h="324879">
                <a:moveTo>
                  <a:pt x="36097" y="0"/>
                </a:moveTo>
                <a:lnTo>
                  <a:pt x="3302940" y="0"/>
                </a:lnTo>
                <a:cubicBezTo>
                  <a:pt x="3322876" y="0"/>
                  <a:pt x="3339038" y="16161"/>
                  <a:pt x="3339038" y="36097"/>
                </a:cubicBezTo>
                <a:lnTo>
                  <a:pt x="3339038" y="288782"/>
                </a:lnTo>
                <a:cubicBezTo>
                  <a:pt x="3339038" y="308718"/>
                  <a:pt x="3322876" y="324879"/>
                  <a:pt x="3302940" y="324879"/>
                </a:cubicBezTo>
                <a:lnTo>
                  <a:pt x="36097" y="324879"/>
                </a:lnTo>
                <a:cubicBezTo>
                  <a:pt x="16175" y="324879"/>
                  <a:pt x="0" y="308705"/>
                  <a:pt x="0" y="288782"/>
                </a:cubicBezTo>
                <a:lnTo>
                  <a:pt x="0" y="36097"/>
                </a:lnTo>
                <a:cubicBezTo>
                  <a:pt x="0" y="16175"/>
                  <a:pt x="16175" y="0"/>
                  <a:pt x="360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Shape 20"/>
          <p:cNvSpPr/>
          <p:nvPr/>
        </p:nvSpPr>
        <p:spPr>
          <a:xfrm>
            <a:off x="639606" y="5326104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3" name="Text 21"/>
          <p:cNvSpPr/>
          <p:nvPr/>
        </p:nvSpPr>
        <p:spPr>
          <a:xfrm>
            <a:off x="843784" y="5299030"/>
            <a:ext cx="1335615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length norm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1466" y="5663617"/>
            <a:ext cx="3339038" cy="7220"/>
          </a:xfrm>
          <a:custGeom>
            <a:avLst/>
            <a:gdLst/>
            <a:ahLst/>
            <a:cxnLst/>
            <a:rect l="l" t="t" r="r" b="b"/>
            <a:pathLst>
              <a:path w="3339038" h="7220">
                <a:moveTo>
                  <a:pt x="0" y="0"/>
                </a:moveTo>
                <a:lnTo>
                  <a:pt x="3339038" y="0"/>
                </a:lnTo>
                <a:lnTo>
                  <a:pt x="3339038" y="7220"/>
                </a:lnTo>
                <a:lnTo>
                  <a:pt x="0" y="722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67411" y="5804398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83603" y="-2443"/>
                </a:moveTo>
                <a:cubicBezTo>
                  <a:pt x="86539" y="-321"/>
                  <a:pt x="87625" y="3529"/>
                  <a:pt x="86293" y="6885"/>
                </a:cubicBezTo>
                <a:lnTo>
                  <a:pt x="66946" y="55275"/>
                </a:lnTo>
                <a:lnTo>
                  <a:pt x="102653" y="55275"/>
                </a:lnTo>
                <a:cubicBezTo>
                  <a:pt x="105984" y="55275"/>
                  <a:pt x="108945" y="57347"/>
                  <a:pt x="110080" y="60481"/>
                </a:cubicBezTo>
                <a:cubicBezTo>
                  <a:pt x="111215" y="63615"/>
                  <a:pt x="110253" y="67119"/>
                  <a:pt x="107711" y="69241"/>
                </a:cubicBezTo>
                <a:lnTo>
                  <a:pt x="36644" y="128464"/>
                </a:lnTo>
                <a:cubicBezTo>
                  <a:pt x="33856" y="130784"/>
                  <a:pt x="29883" y="130907"/>
                  <a:pt x="26946" y="128785"/>
                </a:cubicBezTo>
                <a:cubicBezTo>
                  <a:pt x="24010" y="126663"/>
                  <a:pt x="22924" y="122813"/>
                  <a:pt x="24257" y="119457"/>
                </a:cubicBezTo>
                <a:lnTo>
                  <a:pt x="43603" y="71067"/>
                </a:lnTo>
                <a:lnTo>
                  <a:pt x="7896" y="71067"/>
                </a:lnTo>
                <a:cubicBezTo>
                  <a:pt x="4565" y="71067"/>
                  <a:pt x="1604" y="68995"/>
                  <a:pt x="469" y="65861"/>
                </a:cubicBezTo>
                <a:cubicBezTo>
                  <a:pt x="-666" y="62727"/>
                  <a:pt x="296" y="59223"/>
                  <a:pt x="2838" y="57101"/>
                </a:cubicBezTo>
                <a:lnTo>
                  <a:pt x="73905" y="-2122"/>
                </a:lnTo>
                <a:cubicBezTo>
                  <a:pt x="76694" y="-4442"/>
                  <a:pt x="80666" y="-4565"/>
                  <a:pt x="83603" y="-244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6" name="Text 24"/>
          <p:cNvSpPr/>
          <p:nvPr/>
        </p:nvSpPr>
        <p:spPr>
          <a:xfrm>
            <a:off x="755206" y="5775518"/>
            <a:ext cx="318846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Fast: &lt;10ms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44752" y="2970728"/>
            <a:ext cx="3700015" cy="3167574"/>
          </a:xfrm>
          <a:custGeom>
            <a:avLst/>
            <a:gdLst/>
            <a:ahLst/>
            <a:cxnLst/>
            <a:rect l="l" t="t" r="r" b="b"/>
            <a:pathLst>
              <a:path w="3700015" h="3167574">
                <a:moveTo>
                  <a:pt x="0" y="0"/>
                </a:moveTo>
                <a:lnTo>
                  <a:pt x="3700015" y="0"/>
                </a:lnTo>
                <a:lnTo>
                  <a:pt x="3700015" y="3167574"/>
                </a:lnTo>
                <a:lnTo>
                  <a:pt x="0" y="3167574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28" name="Shape 26"/>
          <p:cNvSpPr/>
          <p:nvPr/>
        </p:nvSpPr>
        <p:spPr>
          <a:xfrm>
            <a:off x="4244752" y="2970728"/>
            <a:ext cx="3700015" cy="36098"/>
          </a:xfrm>
          <a:custGeom>
            <a:avLst/>
            <a:gdLst/>
            <a:ahLst/>
            <a:cxnLst/>
            <a:rect l="l" t="t" r="r" b="b"/>
            <a:pathLst>
              <a:path w="3700015" h="36098">
                <a:moveTo>
                  <a:pt x="0" y="0"/>
                </a:moveTo>
                <a:lnTo>
                  <a:pt x="3700015" y="0"/>
                </a:lnTo>
                <a:lnTo>
                  <a:pt x="3700015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9" name="Shape 27"/>
          <p:cNvSpPr/>
          <p:nvPr/>
        </p:nvSpPr>
        <p:spPr>
          <a:xfrm>
            <a:off x="4425240" y="3169266"/>
            <a:ext cx="505368" cy="505368"/>
          </a:xfrm>
          <a:custGeom>
            <a:avLst/>
            <a:gdLst/>
            <a:ahLst/>
            <a:cxnLst/>
            <a:rect l="l" t="t" r="r" b="b"/>
            <a:pathLst>
              <a:path w="505368" h="505368">
                <a:moveTo>
                  <a:pt x="108295" y="0"/>
                </a:moveTo>
                <a:lnTo>
                  <a:pt x="397073" y="0"/>
                </a:lnTo>
                <a:cubicBezTo>
                  <a:pt x="456882" y="0"/>
                  <a:pt x="505368" y="48485"/>
                  <a:pt x="505368" y="108295"/>
                </a:cubicBezTo>
                <a:lnTo>
                  <a:pt x="505368" y="397073"/>
                </a:lnTo>
                <a:cubicBezTo>
                  <a:pt x="505368" y="456882"/>
                  <a:pt x="456882" y="505368"/>
                  <a:pt x="397073" y="505368"/>
                </a:cubicBezTo>
                <a:lnTo>
                  <a:pt x="108295" y="505368"/>
                </a:lnTo>
                <a:cubicBezTo>
                  <a:pt x="48485" y="505368"/>
                  <a:pt x="0" y="456882"/>
                  <a:pt x="0" y="397073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611369" y="3277559"/>
            <a:ext cx="243660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3A5F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74999" y="3295608"/>
            <a:ext cx="57756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FAISS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25240" y="3819024"/>
            <a:ext cx="3411233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vector similarity search capturing semantic meaning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25240" y="4432685"/>
            <a:ext cx="3339038" cy="324879"/>
          </a:xfrm>
          <a:custGeom>
            <a:avLst/>
            <a:gdLst/>
            <a:ahLst/>
            <a:cxnLst/>
            <a:rect l="l" t="t" r="r" b="b"/>
            <a:pathLst>
              <a:path w="3339038" h="324879">
                <a:moveTo>
                  <a:pt x="36097" y="0"/>
                </a:moveTo>
                <a:lnTo>
                  <a:pt x="3302940" y="0"/>
                </a:lnTo>
                <a:cubicBezTo>
                  <a:pt x="3322876" y="0"/>
                  <a:pt x="3339038" y="16161"/>
                  <a:pt x="3339038" y="36097"/>
                </a:cubicBezTo>
                <a:lnTo>
                  <a:pt x="3339038" y="288782"/>
                </a:lnTo>
                <a:cubicBezTo>
                  <a:pt x="3339038" y="308718"/>
                  <a:pt x="3322876" y="324879"/>
                  <a:pt x="3302940" y="324879"/>
                </a:cubicBezTo>
                <a:lnTo>
                  <a:pt x="36097" y="324879"/>
                </a:lnTo>
                <a:cubicBezTo>
                  <a:pt x="16175" y="324879"/>
                  <a:pt x="0" y="308705"/>
                  <a:pt x="0" y="288782"/>
                </a:cubicBezTo>
                <a:lnTo>
                  <a:pt x="0" y="36097"/>
                </a:lnTo>
                <a:cubicBezTo>
                  <a:pt x="0" y="16175"/>
                  <a:pt x="16175" y="0"/>
                  <a:pt x="360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Shape 32"/>
          <p:cNvSpPr/>
          <p:nvPr/>
        </p:nvSpPr>
        <p:spPr>
          <a:xfrm>
            <a:off x="4523381" y="4531954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Text 33"/>
          <p:cNvSpPr/>
          <p:nvPr/>
        </p:nvSpPr>
        <p:spPr>
          <a:xfrm>
            <a:off x="4727558" y="4504881"/>
            <a:ext cx="1091956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BERT embeddings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25240" y="4829760"/>
            <a:ext cx="3339038" cy="324879"/>
          </a:xfrm>
          <a:custGeom>
            <a:avLst/>
            <a:gdLst/>
            <a:ahLst/>
            <a:cxnLst/>
            <a:rect l="l" t="t" r="r" b="b"/>
            <a:pathLst>
              <a:path w="3339038" h="324879">
                <a:moveTo>
                  <a:pt x="36097" y="0"/>
                </a:moveTo>
                <a:lnTo>
                  <a:pt x="3302940" y="0"/>
                </a:lnTo>
                <a:cubicBezTo>
                  <a:pt x="3322876" y="0"/>
                  <a:pt x="3339038" y="16161"/>
                  <a:pt x="3339038" y="36097"/>
                </a:cubicBezTo>
                <a:lnTo>
                  <a:pt x="3339038" y="288782"/>
                </a:lnTo>
                <a:cubicBezTo>
                  <a:pt x="3339038" y="308718"/>
                  <a:pt x="3322876" y="324879"/>
                  <a:pt x="3302940" y="324879"/>
                </a:cubicBezTo>
                <a:lnTo>
                  <a:pt x="36097" y="324879"/>
                </a:lnTo>
                <a:cubicBezTo>
                  <a:pt x="16175" y="324879"/>
                  <a:pt x="0" y="308705"/>
                  <a:pt x="0" y="288782"/>
                </a:cubicBezTo>
                <a:lnTo>
                  <a:pt x="0" y="36097"/>
                </a:lnTo>
                <a:cubicBezTo>
                  <a:pt x="0" y="16175"/>
                  <a:pt x="16175" y="0"/>
                  <a:pt x="360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Shape 35"/>
          <p:cNvSpPr/>
          <p:nvPr/>
        </p:nvSpPr>
        <p:spPr>
          <a:xfrm>
            <a:off x="4523381" y="4929029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8" name="Text 36"/>
          <p:cNvSpPr/>
          <p:nvPr/>
        </p:nvSpPr>
        <p:spPr>
          <a:xfrm>
            <a:off x="4727558" y="4901956"/>
            <a:ext cx="983662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Cosine similarity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25240" y="5226835"/>
            <a:ext cx="3339038" cy="324879"/>
          </a:xfrm>
          <a:custGeom>
            <a:avLst/>
            <a:gdLst/>
            <a:ahLst/>
            <a:cxnLst/>
            <a:rect l="l" t="t" r="r" b="b"/>
            <a:pathLst>
              <a:path w="3339038" h="324879">
                <a:moveTo>
                  <a:pt x="36097" y="0"/>
                </a:moveTo>
                <a:lnTo>
                  <a:pt x="3302940" y="0"/>
                </a:lnTo>
                <a:cubicBezTo>
                  <a:pt x="3322876" y="0"/>
                  <a:pt x="3339038" y="16161"/>
                  <a:pt x="3339038" y="36097"/>
                </a:cubicBezTo>
                <a:lnTo>
                  <a:pt x="3339038" y="288782"/>
                </a:lnTo>
                <a:cubicBezTo>
                  <a:pt x="3339038" y="308718"/>
                  <a:pt x="3322876" y="324879"/>
                  <a:pt x="3302940" y="324879"/>
                </a:cubicBezTo>
                <a:lnTo>
                  <a:pt x="36097" y="324879"/>
                </a:lnTo>
                <a:cubicBezTo>
                  <a:pt x="16175" y="324879"/>
                  <a:pt x="0" y="308705"/>
                  <a:pt x="0" y="288782"/>
                </a:cubicBezTo>
                <a:lnTo>
                  <a:pt x="0" y="36097"/>
                </a:lnTo>
                <a:cubicBezTo>
                  <a:pt x="0" y="16175"/>
                  <a:pt x="16175" y="0"/>
                  <a:pt x="360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0" name="Shape 38"/>
          <p:cNvSpPr/>
          <p:nvPr/>
        </p:nvSpPr>
        <p:spPr>
          <a:xfrm>
            <a:off x="4523381" y="5326104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1" name="Text 39"/>
          <p:cNvSpPr/>
          <p:nvPr/>
        </p:nvSpPr>
        <p:spPr>
          <a:xfrm>
            <a:off x="4727558" y="5299030"/>
            <a:ext cx="1046833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ANN optimization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25240" y="5663617"/>
            <a:ext cx="3339038" cy="7220"/>
          </a:xfrm>
          <a:custGeom>
            <a:avLst/>
            <a:gdLst/>
            <a:ahLst/>
            <a:cxnLst/>
            <a:rect l="l" t="t" r="r" b="b"/>
            <a:pathLst>
              <a:path w="3339038" h="7220">
                <a:moveTo>
                  <a:pt x="0" y="0"/>
                </a:moveTo>
                <a:lnTo>
                  <a:pt x="3339038" y="0"/>
                </a:lnTo>
                <a:lnTo>
                  <a:pt x="3339038" y="7220"/>
                </a:lnTo>
                <a:lnTo>
                  <a:pt x="0" y="7220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43289" y="5804398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29611" y="13819"/>
                </a:moveTo>
                <a:cubicBezTo>
                  <a:pt x="29611" y="6194"/>
                  <a:pt x="35805" y="0"/>
                  <a:pt x="43430" y="0"/>
                </a:cubicBezTo>
                <a:lnTo>
                  <a:pt x="49352" y="0"/>
                </a:lnTo>
                <a:cubicBezTo>
                  <a:pt x="53720" y="0"/>
                  <a:pt x="57249" y="3529"/>
                  <a:pt x="57249" y="7896"/>
                </a:cubicBezTo>
                <a:lnTo>
                  <a:pt x="57249" y="118446"/>
                </a:lnTo>
                <a:cubicBezTo>
                  <a:pt x="57249" y="122813"/>
                  <a:pt x="53720" y="126342"/>
                  <a:pt x="49352" y="126342"/>
                </a:cubicBezTo>
                <a:lnTo>
                  <a:pt x="41456" y="126342"/>
                </a:lnTo>
                <a:cubicBezTo>
                  <a:pt x="34102" y="126342"/>
                  <a:pt x="27909" y="121308"/>
                  <a:pt x="26157" y="114497"/>
                </a:cubicBezTo>
                <a:cubicBezTo>
                  <a:pt x="25984" y="114497"/>
                  <a:pt x="25836" y="114497"/>
                  <a:pt x="25663" y="114497"/>
                </a:cubicBezTo>
                <a:cubicBezTo>
                  <a:pt x="14756" y="114497"/>
                  <a:pt x="5922" y="105663"/>
                  <a:pt x="5922" y="94756"/>
                </a:cubicBezTo>
                <a:cubicBezTo>
                  <a:pt x="5922" y="90315"/>
                  <a:pt x="7403" y="86219"/>
                  <a:pt x="9870" y="82912"/>
                </a:cubicBezTo>
                <a:cubicBezTo>
                  <a:pt x="5083" y="79309"/>
                  <a:pt x="1974" y="73584"/>
                  <a:pt x="1974" y="67119"/>
                </a:cubicBezTo>
                <a:cubicBezTo>
                  <a:pt x="1974" y="59494"/>
                  <a:pt x="6317" y="52856"/>
                  <a:pt x="12634" y="49574"/>
                </a:cubicBezTo>
                <a:cubicBezTo>
                  <a:pt x="10882" y="46613"/>
                  <a:pt x="9870" y="43159"/>
                  <a:pt x="9870" y="39482"/>
                </a:cubicBezTo>
                <a:cubicBezTo>
                  <a:pt x="9870" y="28575"/>
                  <a:pt x="18705" y="19741"/>
                  <a:pt x="29611" y="19741"/>
                </a:cubicBezTo>
                <a:lnTo>
                  <a:pt x="29611" y="13819"/>
                </a:lnTo>
                <a:close/>
                <a:moveTo>
                  <a:pt x="96731" y="13819"/>
                </a:moveTo>
                <a:lnTo>
                  <a:pt x="96731" y="19741"/>
                </a:lnTo>
                <a:cubicBezTo>
                  <a:pt x="107637" y="19741"/>
                  <a:pt x="116472" y="28575"/>
                  <a:pt x="116472" y="39482"/>
                </a:cubicBezTo>
                <a:cubicBezTo>
                  <a:pt x="116472" y="43183"/>
                  <a:pt x="115460" y="46638"/>
                  <a:pt x="113708" y="49574"/>
                </a:cubicBezTo>
                <a:cubicBezTo>
                  <a:pt x="120050" y="52856"/>
                  <a:pt x="124368" y="59470"/>
                  <a:pt x="124368" y="67119"/>
                </a:cubicBezTo>
                <a:cubicBezTo>
                  <a:pt x="124368" y="73584"/>
                  <a:pt x="121259" y="79309"/>
                  <a:pt x="116472" y="82912"/>
                </a:cubicBezTo>
                <a:cubicBezTo>
                  <a:pt x="118939" y="86219"/>
                  <a:pt x="120420" y="90315"/>
                  <a:pt x="120420" y="94756"/>
                </a:cubicBezTo>
                <a:cubicBezTo>
                  <a:pt x="120420" y="105663"/>
                  <a:pt x="111586" y="114497"/>
                  <a:pt x="100679" y="114497"/>
                </a:cubicBezTo>
                <a:cubicBezTo>
                  <a:pt x="100506" y="114497"/>
                  <a:pt x="100358" y="114497"/>
                  <a:pt x="100185" y="114497"/>
                </a:cubicBezTo>
                <a:cubicBezTo>
                  <a:pt x="98433" y="121308"/>
                  <a:pt x="92240" y="126342"/>
                  <a:pt x="84886" y="126342"/>
                </a:cubicBezTo>
                <a:lnTo>
                  <a:pt x="76990" y="126342"/>
                </a:lnTo>
                <a:cubicBezTo>
                  <a:pt x="72622" y="126342"/>
                  <a:pt x="69093" y="122813"/>
                  <a:pt x="69093" y="118446"/>
                </a:cubicBezTo>
                <a:lnTo>
                  <a:pt x="69093" y="7896"/>
                </a:lnTo>
                <a:cubicBezTo>
                  <a:pt x="69093" y="3529"/>
                  <a:pt x="72622" y="0"/>
                  <a:pt x="76990" y="0"/>
                </a:cubicBezTo>
                <a:lnTo>
                  <a:pt x="82912" y="0"/>
                </a:lnTo>
                <a:cubicBezTo>
                  <a:pt x="90537" y="0"/>
                  <a:pt x="96731" y="6194"/>
                  <a:pt x="96731" y="13819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44" name="Text 42"/>
          <p:cNvSpPr/>
          <p:nvPr/>
        </p:nvSpPr>
        <p:spPr>
          <a:xfrm>
            <a:off x="4638981" y="5775518"/>
            <a:ext cx="318846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understanding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28527" y="2970728"/>
            <a:ext cx="3700015" cy="3167574"/>
          </a:xfrm>
          <a:custGeom>
            <a:avLst/>
            <a:gdLst/>
            <a:ahLst/>
            <a:cxnLst/>
            <a:rect l="l" t="t" r="r" b="b"/>
            <a:pathLst>
              <a:path w="3700015" h="3167574">
                <a:moveTo>
                  <a:pt x="0" y="0"/>
                </a:moveTo>
                <a:lnTo>
                  <a:pt x="3700015" y="0"/>
                </a:lnTo>
                <a:lnTo>
                  <a:pt x="3700015" y="3167574"/>
                </a:lnTo>
                <a:lnTo>
                  <a:pt x="0" y="3167574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46" name="Shape 44"/>
          <p:cNvSpPr/>
          <p:nvPr/>
        </p:nvSpPr>
        <p:spPr>
          <a:xfrm>
            <a:off x="8128527" y="2970728"/>
            <a:ext cx="3700015" cy="36098"/>
          </a:xfrm>
          <a:custGeom>
            <a:avLst/>
            <a:gdLst/>
            <a:ahLst/>
            <a:cxnLst/>
            <a:rect l="l" t="t" r="r" b="b"/>
            <a:pathLst>
              <a:path w="3700015" h="36098">
                <a:moveTo>
                  <a:pt x="0" y="0"/>
                </a:moveTo>
                <a:lnTo>
                  <a:pt x="3700015" y="0"/>
                </a:lnTo>
                <a:lnTo>
                  <a:pt x="3700015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47" name="Shape 45"/>
          <p:cNvSpPr/>
          <p:nvPr/>
        </p:nvSpPr>
        <p:spPr>
          <a:xfrm>
            <a:off x="8309015" y="3169266"/>
            <a:ext cx="505368" cy="505368"/>
          </a:xfrm>
          <a:custGeom>
            <a:avLst/>
            <a:gdLst/>
            <a:ahLst/>
            <a:cxnLst/>
            <a:rect l="l" t="t" r="r" b="b"/>
            <a:pathLst>
              <a:path w="505368" h="505368">
                <a:moveTo>
                  <a:pt x="108295" y="0"/>
                </a:moveTo>
                <a:lnTo>
                  <a:pt x="397073" y="0"/>
                </a:lnTo>
                <a:cubicBezTo>
                  <a:pt x="456882" y="0"/>
                  <a:pt x="505368" y="48485"/>
                  <a:pt x="505368" y="108295"/>
                </a:cubicBezTo>
                <a:lnTo>
                  <a:pt x="505368" y="397073"/>
                </a:lnTo>
                <a:cubicBezTo>
                  <a:pt x="505368" y="456882"/>
                  <a:pt x="456882" y="505368"/>
                  <a:pt x="397073" y="505368"/>
                </a:cubicBezTo>
                <a:lnTo>
                  <a:pt x="108295" y="505368"/>
                </a:lnTo>
                <a:cubicBezTo>
                  <a:pt x="48485" y="505368"/>
                  <a:pt x="0" y="456882"/>
                  <a:pt x="0" y="397073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465025" y="3277559"/>
            <a:ext cx="297806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58774" y="3295608"/>
            <a:ext cx="848296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09015" y="3819024"/>
            <a:ext cx="3411233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Contextual signals boosting relevance based on quality factors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09015" y="4432685"/>
            <a:ext cx="3339038" cy="324879"/>
          </a:xfrm>
          <a:custGeom>
            <a:avLst/>
            <a:gdLst/>
            <a:ahLst/>
            <a:cxnLst/>
            <a:rect l="l" t="t" r="r" b="b"/>
            <a:pathLst>
              <a:path w="3339038" h="324879">
                <a:moveTo>
                  <a:pt x="36097" y="0"/>
                </a:moveTo>
                <a:lnTo>
                  <a:pt x="3302940" y="0"/>
                </a:lnTo>
                <a:cubicBezTo>
                  <a:pt x="3322876" y="0"/>
                  <a:pt x="3339038" y="16161"/>
                  <a:pt x="3339038" y="36097"/>
                </a:cubicBezTo>
                <a:lnTo>
                  <a:pt x="3339038" y="288782"/>
                </a:lnTo>
                <a:cubicBezTo>
                  <a:pt x="3339038" y="308718"/>
                  <a:pt x="3322876" y="324879"/>
                  <a:pt x="3302940" y="324879"/>
                </a:cubicBezTo>
                <a:lnTo>
                  <a:pt x="36097" y="324879"/>
                </a:lnTo>
                <a:cubicBezTo>
                  <a:pt x="16175" y="324879"/>
                  <a:pt x="0" y="308705"/>
                  <a:pt x="0" y="288782"/>
                </a:cubicBezTo>
                <a:lnTo>
                  <a:pt x="0" y="36097"/>
                </a:lnTo>
                <a:cubicBezTo>
                  <a:pt x="0" y="16175"/>
                  <a:pt x="16175" y="0"/>
                  <a:pt x="360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2" name="Shape 50"/>
          <p:cNvSpPr/>
          <p:nvPr/>
        </p:nvSpPr>
        <p:spPr>
          <a:xfrm>
            <a:off x="8407156" y="4531954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3" name="Text 51"/>
          <p:cNvSpPr/>
          <p:nvPr/>
        </p:nvSpPr>
        <p:spPr>
          <a:xfrm>
            <a:off x="8611334" y="4504881"/>
            <a:ext cx="1119029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Recency weighting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309015" y="4829760"/>
            <a:ext cx="3339038" cy="324879"/>
          </a:xfrm>
          <a:custGeom>
            <a:avLst/>
            <a:gdLst/>
            <a:ahLst/>
            <a:cxnLst/>
            <a:rect l="l" t="t" r="r" b="b"/>
            <a:pathLst>
              <a:path w="3339038" h="324879">
                <a:moveTo>
                  <a:pt x="36097" y="0"/>
                </a:moveTo>
                <a:lnTo>
                  <a:pt x="3302940" y="0"/>
                </a:lnTo>
                <a:cubicBezTo>
                  <a:pt x="3322876" y="0"/>
                  <a:pt x="3339038" y="16161"/>
                  <a:pt x="3339038" y="36097"/>
                </a:cubicBezTo>
                <a:lnTo>
                  <a:pt x="3339038" y="288782"/>
                </a:lnTo>
                <a:cubicBezTo>
                  <a:pt x="3339038" y="308718"/>
                  <a:pt x="3322876" y="324879"/>
                  <a:pt x="3302940" y="324879"/>
                </a:cubicBezTo>
                <a:lnTo>
                  <a:pt x="36097" y="324879"/>
                </a:lnTo>
                <a:cubicBezTo>
                  <a:pt x="16175" y="324879"/>
                  <a:pt x="0" y="308705"/>
                  <a:pt x="0" y="288782"/>
                </a:cubicBezTo>
                <a:lnTo>
                  <a:pt x="0" y="36097"/>
                </a:lnTo>
                <a:cubicBezTo>
                  <a:pt x="0" y="16175"/>
                  <a:pt x="16175" y="0"/>
                  <a:pt x="360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5" name="Shape 53"/>
          <p:cNvSpPr/>
          <p:nvPr/>
        </p:nvSpPr>
        <p:spPr>
          <a:xfrm>
            <a:off x="8407156" y="4929029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6" name="Text 54"/>
          <p:cNvSpPr/>
          <p:nvPr/>
        </p:nvSpPr>
        <p:spPr>
          <a:xfrm>
            <a:off x="8611334" y="4901956"/>
            <a:ext cx="983662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authority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09015" y="5226835"/>
            <a:ext cx="3339038" cy="324879"/>
          </a:xfrm>
          <a:custGeom>
            <a:avLst/>
            <a:gdLst/>
            <a:ahLst/>
            <a:cxnLst/>
            <a:rect l="l" t="t" r="r" b="b"/>
            <a:pathLst>
              <a:path w="3339038" h="324879">
                <a:moveTo>
                  <a:pt x="36097" y="0"/>
                </a:moveTo>
                <a:lnTo>
                  <a:pt x="3302940" y="0"/>
                </a:lnTo>
                <a:cubicBezTo>
                  <a:pt x="3322876" y="0"/>
                  <a:pt x="3339038" y="16161"/>
                  <a:pt x="3339038" y="36097"/>
                </a:cubicBezTo>
                <a:lnTo>
                  <a:pt x="3339038" y="288782"/>
                </a:lnTo>
                <a:cubicBezTo>
                  <a:pt x="3339038" y="308718"/>
                  <a:pt x="3322876" y="324879"/>
                  <a:pt x="3302940" y="324879"/>
                </a:cubicBezTo>
                <a:lnTo>
                  <a:pt x="36097" y="324879"/>
                </a:lnTo>
                <a:cubicBezTo>
                  <a:pt x="16175" y="324879"/>
                  <a:pt x="0" y="308705"/>
                  <a:pt x="0" y="288782"/>
                </a:cubicBezTo>
                <a:lnTo>
                  <a:pt x="0" y="36097"/>
                </a:lnTo>
                <a:cubicBezTo>
                  <a:pt x="0" y="16175"/>
                  <a:pt x="16175" y="0"/>
                  <a:pt x="360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8" name="Shape 56"/>
          <p:cNvSpPr/>
          <p:nvPr/>
        </p:nvSpPr>
        <p:spPr>
          <a:xfrm>
            <a:off x="8407156" y="5326104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9" name="Text 57"/>
          <p:cNvSpPr/>
          <p:nvPr/>
        </p:nvSpPr>
        <p:spPr>
          <a:xfrm>
            <a:off x="8611334" y="5299030"/>
            <a:ext cx="1128053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 matching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309015" y="5663617"/>
            <a:ext cx="3339038" cy="7220"/>
          </a:xfrm>
          <a:custGeom>
            <a:avLst/>
            <a:gdLst/>
            <a:ahLst/>
            <a:cxnLst/>
            <a:rect l="l" t="t" r="r" b="b"/>
            <a:pathLst>
              <a:path w="3339038" h="7220">
                <a:moveTo>
                  <a:pt x="0" y="0"/>
                </a:moveTo>
                <a:lnTo>
                  <a:pt x="3339038" y="0"/>
                </a:lnTo>
                <a:lnTo>
                  <a:pt x="3339038" y="7220"/>
                </a:lnTo>
                <a:lnTo>
                  <a:pt x="0" y="7220"/>
                </a:lnTo>
                <a:lnTo>
                  <a:pt x="0" y="0"/>
                </a:lnTo>
                <a:close/>
              </a:path>
            </a:pathLst>
          </a:custGeom>
          <a:solidFill>
            <a:srgbClr val="5E7A8E">
              <a:alpha val="2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327064" y="5804398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15793" y="15793"/>
                </a:moveTo>
                <a:cubicBezTo>
                  <a:pt x="15793" y="11425"/>
                  <a:pt x="12264" y="7896"/>
                  <a:pt x="7896" y="7896"/>
                </a:cubicBezTo>
                <a:cubicBezTo>
                  <a:pt x="3529" y="7896"/>
                  <a:pt x="0" y="11425"/>
                  <a:pt x="0" y="15793"/>
                </a:cubicBezTo>
                <a:lnTo>
                  <a:pt x="0" y="98705"/>
                </a:lnTo>
                <a:cubicBezTo>
                  <a:pt x="0" y="109612"/>
                  <a:pt x="8834" y="118446"/>
                  <a:pt x="19741" y="118446"/>
                </a:cubicBezTo>
                <a:lnTo>
                  <a:pt x="118446" y="118446"/>
                </a:lnTo>
                <a:cubicBezTo>
                  <a:pt x="122813" y="118446"/>
                  <a:pt x="126342" y="114917"/>
                  <a:pt x="126342" y="110549"/>
                </a:cubicBezTo>
                <a:cubicBezTo>
                  <a:pt x="126342" y="106182"/>
                  <a:pt x="122813" y="102653"/>
                  <a:pt x="118446" y="102653"/>
                </a:cubicBezTo>
                <a:lnTo>
                  <a:pt x="19741" y="102653"/>
                </a:lnTo>
                <a:cubicBezTo>
                  <a:pt x="17569" y="102653"/>
                  <a:pt x="15793" y="100876"/>
                  <a:pt x="15793" y="98705"/>
                </a:cubicBezTo>
                <a:lnTo>
                  <a:pt x="15793" y="15793"/>
                </a:lnTo>
                <a:close/>
                <a:moveTo>
                  <a:pt x="116126" y="37162"/>
                </a:moveTo>
                <a:cubicBezTo>
                  <a:pt x="119211" y="34078"/>
                  <a:pt x="119211" y="29069"/>
                  <a:pt x="116126" y="25984"/>
                </a:cubicBezTo>
                <a:cubicBezTo>
                  <a:pt x="113042" y="22899"/>
                  <a:pt x="108032" y="22899"/>
                  <a:pt x="104948" y="25984"/>
                </a:cubicBezTo>
                <a:lnTo>
                  <a:pt x="78964" y="51993"/>
                </a:lnTo>
                <a:lnTo>
                  <a:pt x="64800" y="37853"/>
                </a:lnTo>
                <a:cubicBezTo>
                  <a:pt x="61715" y="34769"/>
                  <a:pt x="56706" y="34769"/>
                  <a:pt x="53621" y="37853"/>
                </a:cubicBezTo>
                <a:lnTo>
                  <a:pt x="29932" y="61542"/>
                </a:lnTo>
                <a:cubicBezTo>
                  <a:pt x="26848" y="64627"/>
                  <a:pt x="26848" y="69636"/>
                  <a:pt x="29932" y="72721"/>
                </a:cubicBezTo>
                <a:cubicBezTo>
                  <a:pt x="33017" y="75805"/>
                  <a:pt x="38026" y="75805"/>
                  <a:pt x="41110" y="72721"/>
                </a:cubicBezTo>
                <a:lnTo>
                  <a:pt x="59223" y="54608"/>
                </a:lnTo>
                <a:lnTo>
                  <a:pt x="73387" y="68772"/>
                </a:lnTo>
                <a:cubicBezTo>
                  <a:pt x="76471" y="71857"/>
                  <a:pt x="81481" y="71857"/>
                  <a:pt x="84565" y="68772"/>
                </a:cubicBezTo>
                <a:lnTo>
                  <a:pt x="116151" y="37187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62" name="Text 60"/>
          <p:cNvSpPr/>
          <p:nvPr/>
        </p:nvSpPr>
        <p:spPr>
          <a:xfrm>
            <a:off x="8522756" y="5775518"/>
            <a:ext cx="318846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boost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79026" y="6316984"/>
            <a:ext cx="11451997" cy="541466"/>
          </a:xfrm>
          <a:custGeom>
            <a:avLst/>
            <a:gdLst/>
            <a:ahLst/>
            <a:cxnLst/>
            <a:rect l="l" t="t" r="r" b="b"/>
            <a:pathLst>
              <a:path w="11451997" h="541466">
                <a:moveTo>
                  <a:pt x="0" y="0"/>
                </a:moveTo>
                <a:lnTo>
                  <a:pt x="11451997" y="0"/>
                </a:lnTo>
                <a:lnTo>
                  <a:pt x="11451997" y="541466"/>
                </a:lnTo>
                <a:lnTo>
                  <a:pt x="0" y="541466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14902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79026" y="6316984"/>
            <a:ext cx="36098" cy="541466"/>
          </a:xfrm>
          <a:custGeom>
            <a:avLst/>
            <a:gdLst/>
            <a:ahLst/>
            <a:cxnLst/>
            <a:rect l="l" t="t" r="r" b="b"/>
            <a:pathLst>
              <a:path w="36098" h="541466">
                <a:moveTo>
                  <a:pt x="0" y="0"/>
                </a:moveTo>
                <a:lnTo>
                  <a:pt x="36098" y="0"/>
                </a:lnTo>
                <a:lnTo>
                  <a:pt x="36098" y="541466"/>
                </a:lnTo>
                <a:lnTo>
                  <a:pt x="0" y="541466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5" name="Shape 63"/>
          <p:cNvSpPr/>
          <p:nvPr/>
        </p:nvSpPr>
        <p:spPr>
          <a:xfrm>
            <a:off x="568539" y="6479424"/>
            <a:ext cx="216586" cy="216586"/>
          </a:xfrm>
          <a:custGeom>
            <a:avLst/>
            <a:gdLst/>
            <a:ahLst/>
            <a:cxnLst/>
            <a:rect l="l" t="t" r="r" b="b"/>
            <a:pathLst>
              <a:path w="216586" h="216586">
                <a:moveTo>
                  <a:pt x="0" y="30457"/>
                </a:moveTo>
                <a:cubicBezTo>
                  <a:pt x="0" y="24874"/>
                  <a:pt x="4526" y="20305"/>
                  <a:pt x="10152" y="20305"/>
                </a:cubicBezTo>
                <a:lnTo>
                  <a:pt x="30457" y="20305"/>
                </a:lnTo>
                <a:cubicBezTo>
                  <a:pt x="36084" y="20305"/>
                  <a:pt x="40610" y="24831"/>
                  <a:pt x="40610" y="30457"/>
                </a:cubicBezTo>
                <a:lnTo>
                  <a:pt x="40610" y="74452"/>
                </a:lnTo>
                <a:lnTo>
                  <a:pt x="50762" y="74452"/>
                </a:lnTo>
                <a:cubicBezTo>
                  <a:pt x="56389" y="74452"/>
                  <a:pt x="60915" y="78978"/>
                  <a:pt x="60915" y="84604"/>
                </a:cubicBezTo>
                <a:cubicBezTo>
                  <a:pt x="60915" y="90230"/>
                  <a:pt x="56389" y="94756"/>
                  <a:pt x="50762" y="94756"/>
                </a:cubicBezTo>
                <a:lnTo>
                  <a:pt x="10152" y="94756"/>
                </a:lnTo>
                <a:cubicBezTo>
                  <a:pt x="4526" y="94756"/>
                  <a:pt x="0" y="90230"/>
                  <a:pt x="0" y="84604"/>
                </a:cubicBezTo>
                <a:cubicBezTo>
                  <a:pt x="0" y="78978"/>
                  <a:pt x="4526" y="74452"/>
                  <a:pt x="10152" y="74452"/>
                </a:cubicBezTo>
                <a:lnTo>
                  <a:pt x="20305" y="74452"/>
                </a:lnTo>
                <a:lnTo>
                  <a:pt x="20305" y="40610"/>
                </a:lnTo>
                <a:lnTo>
                  <a:pt x="10152" y="40610"/>
                </a:lnTo>
                <a:cubicBezTo>
                  <a:pt x="4526" y="40610"/>
                  <a:pt x="0" y="36084"/>
                  <a:pt x="0" y="30457"/>
                </a:cubicBezTo>
                <a:close/>
                <a:moveTo>
                  <a:pt x="12860" y="127414"/>
                </a:moveTo>
                <a:cubicBezTo>
                  <a:pt x="17682" y="123776"/>
                  <a:pt x="23562" y="121830"/>
                  <a:pt x="29611" y="121830"/>
                </a:cubicBezTo>
                <a:lnTo>
                  <a:pt x="31684" y="121830"/>
                </a:lnTo>
                <a:cubicBezTo>
                  <a:pt x="45940" y="121830"/>
                  <a:pt x="57531" y="133421"/>
                  <a:pt x="57531" y="147676"/>
                </a:cubicBezTo>
                <a:cubicBezTo>
                  <a:pt x="57531" y="155967"/>
                  <a:pt x="53554" y="163709"/>
                  <a:pt x="46871" y="168573"/>
                </a:cubicBezTo>
                <a:lnTo>
                  <a:pt x="36718" y="175976"/>
                </a:lnTo>
                <a:lnTo>
                  <a:pt x="50762" y="175976"/>
                </a:lnTo>
                <a:cubicBezTo>
                  <a:pt x="56389" y="175976"/>
                  <a:pt x="60915" y="180503"/>
                  <a:pt x="60915" y="186129"/>
                </a:cubicBezTo>
                <a:cubicBezTo>
                  <a:pt x="60915" y="191755"/>
                  <a:pt x="56389" y="196281"/>
                  <a:pt x="50762" y="196281"/>
                </a:cubicBezTo>
                <a:lnTo>
                  <a:pt x="12394" y="196281"/>
                </a:lnTo>
                <a:cubicBezTo>
                  <a:pt x="5542" y="196281"/>
                  <a:pt x="0" y="190740"/>
                  <a:pt x="0" y="183887"/>
                </a:cubicBezTo>
                <a:cubicBezTo>
                  <a:pt x="0" y="179910"/>
                  <a:pt x="1904" y="176188"/>
                  <a:pt x="5119" y="173861"/>
                </a:cubicBezTo>
                <a:lnTo>
                  <a:pt x="34941" y="152160"/>
                </a:lnTo>
                <a:cubicBezTo>
                  <a:pt x="36380" y="151103"/>
                  <a:pt x="37226" y="149453"/>
                  <a:pt x="37226" y="147676"/>
                </a:cubicBezTo>
                <a:cubicBezTo>
                  <a:pt x="37226" y="144631"/>
                  <a:pt x="34730" y="142135"/>
                  <a:pt x="31684" y="142135"/>
                </a:cubicBezTo>
                <a:lnTo>
                  <a:pt x="29611" y="142135"/>
                </a:lnTo>
                <a:cubicBezTo>
                  <a:pt x="27962" y="142135"/>
                  <a:pt x="26354" y="142685"/>
                  <a:pt x="25043" y="143658"/>
                </a:cubicBezTo>
                <a:lnTo>
                  <a:pt x="16244" y="150257"/>
                </a:lnTo>
                <a:cubicBezTo>
                  <a:pt x="11760" y="153641"/>
                  <a:pt x="5415" y="152710"/>
                  <a:pt x="2030" y="148226"/>
                </a:cubicBezTo>
                <a:cubicBezTo>
                  <a:pt x="-1354" y="143742"/>
                  <a:pt x="-423" y="137397"/>
                  <a:pt x="4061" y="134013"/>
                </a:cubicBezTo>
                <a:lnTo>
                  <a:pt x="12860" y="127414"/>
                </a:lnTo>
                <a:close/>
                <a:moveTo>
                  <a:pt x="94756" y="27073"/>
                </a:moveTo>
                <a:lnTo>
                  <a:pt x="203050" y="27073"/>
                </a:lnTo>
                <a:cubicBezTo>
                  <a:pt x="210537" y="27073"/>
                  <a:pt x="216586" y="33122"/>
                  <a:pt x="216586" y="40610"/>
                </a:cubicBezTo>
                <a:cubicBezTo>
                  <a:pt x="216586" y="48097"/>
                  <a:pt x="210537" y="54147"/>
                  <a:pt x="203050" y="54147"/>
                </a:cubicBezTo>
                <a:lnTo>
                  <a:pt x="94756" y="54147"/>
                </a:lnTo>
                <a:cubicBezTo>
                  <a:pt x="87269" y="54147"/>
                  <a:pt x="81220" y="48097"/>
                  <a:pt x="81220" y="40610"/>
                </a:cubicBezTo>
                <a:cubicBezTo>
                  <a:pt x="81220" y="33122"/>
                  <a:pt x="87269" y="27073"/>
                  <a:pt x="94756" y="27073"/>
                </a:cubicBezTo>
                <a:close/>
                <a:moveTo>
                  <a:pt x="94756" y="94756"/>
                </a:moveTo>
                <a:lnTo>
                  <a:pt x="203050" y="94756"/>
                </a:lnTo>
                <a:cubicBezTo>
                  <a:pt x="210537" y="94756"/>
                  <a:pt x="216586" y="100806"/>
                  <a:pt x="216586" y="108293"/>
                </a:cubicBezTo>
                <a:cubicBezTo>
                  <a:pt x="216586" y="115781"/>
                  <a:pt x="210537" y="121830"/>
                  <a:pt x="203050" y="121830"/>
                </a:cubicBezTo>
                <a:lnTo>
                  <a:pt x="94756" y="121830"/>
                </a:lnTo>
                <a:cubicBezTo>
                  <a:pt x="87269" y="121830"/>
                  <a:pt x="81220" y="115781"/>
                  <a:pt x="81220" y="108293"/>
                </a:cubicBezTo>
                <a:cubicBezTo>
                  <a:pt x="81220" y="100806"/>
                  <a:pt x="87269" y="94756"/>
                  <a:pt x="94756" y="94756"/>
                </a:cubicBezTo>
                <a:close/>
                <a:moveTo>
                  <a:pt x="94756" y="162440"/>
                </a:moveTo>
                <a:lnTo>
                  <a:pt x="203050" y="162440"/>
                </a:lnTo>
                <a:cubicBezTo>
                  <a:pt x="210537" y="162440"/>
                  <a:pt x="216586" y="168489"/>
                  <a:pt x="216586" y="175976"/>
                </a:cubicBezTo>
                <a:cubicBezTo>
                  <a:pt x="216586" y="183464"/>
                  <a:pt x="210537" y="189513"/>
                  <a:pt x="203050" y="189513"/>
                </a:cubicBezTo>
                <a:lnTo>
                  <a:pt x="94756" y="189513"/>
                </a:lnTo>
                <a:cubicBezTo>
                  <a:pt x="87269" y="189513"/>
                  <a:pt x="81220" y="183464"/>
                  <a:pt x="81220" y="175976"/>
                </a:cubicBezTo>
                <a:cubicBezTo>
                  <a:pt x="81220" y="168489"/>
                  <a:pt x="87269" y="162440"/>
                  <a:pt x="94756" y="16244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6" name="Text 64"/>
          <p:cNvSpPr/>
          <p:nvPr/>
        </p:nvSpPr>
        <p:spPr>
          <a:xfrm>
            <a:off x="956589" y="6468601"/>
            <a:ext cx="619414" cy="23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Output: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527271" y="6468601"/>
            <a:ext cx="3327419" cy="23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20 ranked results with explainable scores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840554" y="6497472"/>
            <a:ext cx="96561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weights: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850951" y="6461375"/>
            <a:ext cx="541466" cy="252684"/>
          </a:xfrm>
          <a:custGeom>
            <a:avLst/>
            <a:gdLst/>
            <a:ahLst/>
            <a:cxnLst/>
            <a:rect l="l" t="t" r="r" b="b"/>
            <a:pathLst>
              <a:path w="541466" h="252684">
                <a:moveTo>
                  <a:pt x="126342" y="0"/>
                </a:moveTo>
                <a:lnTo>
                  <a:pt x="415124" y="0"/>
                </a:lnTo>
                <a:cubicBezTo>
                  <a:pt x="484900" y="0"/>
                  <a:pt x="541466" y="56565"/>
                  <a:pt x="541466" y="126342"/>
                </a:cubicBezTo>
                <a:lnTo>
                  <a:pt x="541466" y="126342"/>
                </a:lnTo>
                <a:cubicBezTo>
                  <a:pt x="541466" y="196119"/>
                  <a:pt x="484900" y="252684"/>
                  <a:pt x="415124" y="252684"/>
                </a:cubicBezTo>
                <a:lnTo>
                  <a:pt x="126342" y="252684"/>
                </a:lnTo>
                <a:cubicBezTo>
                  <a:pt x="56565" y="252684"/>
                  <a:pt x="0" y="196119"/>
                  <a:pt x="0" y="126342"/>
                </a:cubicBezTo>
                <a:lnTo>
                  <a:pt x="0" y="126342"/>
                </a:lnTo>
                <a:cubicBezTo>
                  <a:pt x="0" y="56565"/>
                  <a:pt x="56565" y="0"/>
                  <a:pt x="12634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9850951" y="6461375"/>
            <a:ext cx="604637" cy="252684"/>
          </a:xfrm>
          <a:prstGeom prst="rect">
            <a:avLst/>
          </a:prstGeom>
          <a:noFill/>
          <a:ln/>
        </p:spPr>
        <p:txBody>
          <a:bodyPr wrap="square" lIns="108293" tIns="36098" rIns="108293" bIns="36098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α=0.4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0502966" y="6461375"/>
            <a:ext cx="541466" cy="252684"/>
          </a:xfrm>
          <a:custGeom>
            <a:avLst/>
            <a:gdLst/>
            <a:ahLst/>
            <a:cxnLst/>
            <a:rect l="l" t="t" r="r" b="b"/>
            <a:pathLst>
              <a:path w="541466" h="252684">
                <a:moveTo>
                  <a:pt x="126342" y="0"/>
                </a:moveTo>
                <a:lnTo>
                  <a:pt x="415124" y="0"/>
                </a:lnTo>
                <a:cubicBezTo>
                  <a:pt x="484900" y="0"/>
                  <a:pt x="541466" y="56565"/>
                  <a:pt x="541466" y="126342"/>
                </a:cubicBezTo>
                <a:lnTo>
                  <a:pt x="541466" y="126342"/>
                </a:lnTo>
                <a:cubicBezTo>
                  <a:pt x="541466" y="196119"/>
                  <a:pt x="484900" y="252684"/>
                  <a:pt x="415124" y="252684"/>
                </a:cubicBezTo>
                <a:lnTo>
                  <a:pt x="126342" y="252684"/>
                </a:lnTo>
                <a:cubicBezTo>
                  <a:pt x="56565" y="252684"/>
                  <a:pt x="0" y="196119"/>
                  <a:pt x="0" y="126342"/>
                </a:cubicBezTo>
                <a:lnTo>
                  <a:pt x="0" y="126342"/>
                </a:lnTo>
                <a:cubicBezTo>
                  <a:pt x="0" y="56565"/>
                  <a:pt x="56565" y="0"/>
                  <a:pt x="12634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502966" y="6461375"/>
            <a:ext cx="604637" cy="252684"/>
          </a:xfrm>
          <a:prstGeom prst="rect">
            <a:avLst/>
          </a:prstGeom>
          <a:noFill/>
          <a:ln/>
        </p:spPr>
        <p:txBody>
          <a:bodyPr wrap="square" lIns="108293" tIns="36098" rIns="108293" bIns="36098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3A5F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β=0.4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1154643" y="6461375"/>
            <a:ext cx="532441" cy="252684"/>
          </a:xfrm>
          <a:custGeom>
            <a:avLst/>
            <a:gdLst/>
            <a:ahLst/>
            <a:cxnLst/>
            <a:rect l="l" t="t" r="r" b="b"/>
            <a:pathLst>
              <a:path w="532441" h="252684">
                <a:moveTo>
                  <a:pt x="126342" y="0"/>
                </a:moveTo>
                <a:lnTo>
                  <a:pt x="406099" y="0"/>
                </a:lnTo>
                <a:cubicBezTo>
                  <a:pt x="475876" y="0"/>
                  <a:pt x="532441" y="56565"/>
                  <a:pt x="532441" y="126342"/>
                </a:cubicBezTo>
                <a:lnTo>
                  <a:pt x="532441" y="126342"/>
                </a:lnTo>
                <a:cubicBezTo>
                  <a:pt x="532441" y="196119"/>
                  <a:pt x="475876" y="252684"/>
                  <a:pt x="406099" y="252684"/>
                </a:cubicBezTo>
                <a:lnTo>
                  <a:pt x="126342" y="252684"/>
                </a:lnTo>
                <a:cubicBezTo>
                  <a:pt x="56565" y="252684"/>
                  <a:pt x="0" y="196119"/>
                  <a:pt x="0" y="126342"/>
                </a:cubicBezTo>
                <a:lnTo>
                  <a:pt x="0" y="126342"/>
                </a:lnTo>
                <a:cubicBezTo>
                  <a:pt x="0" y="56565"/>
                  <a:pt x="56565" y="0"/>
                  <a:pt x="126342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11154643" y="6461375"/>
            <a:ext cx="595612" cy="252684"/>
          </a:xfrm>
          <a:prstGeom prst="rect">
            <a:avLst/>
          </a:prstGeom>
          <a:noFill/>
          <a:ln/>
        </p:spPr>
        <p:txBody>
          <a:bodyPr wrap="square" lIns="108293" tIns="36098" rIns="108293" bIns="36098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γ=0.2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Integration with RAG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6400800" cy="3333750"/>
          </a:xfrm>
          <a:custGeom>
            <a:avLst/>
            <a:gdLst/>
            <a:ahLst/>
            <a:cxnLst/>
            <a:rect l="l" t="t" r="r" b="b"/>
            <a:pathLst>
              <a:path w="6400800" h="3333750">
                <a:moveTo>
                  <a:pt x="0" y="0"/>
                </a:moveTo>
                <a:lnTo>
                  <a:pt x="6400800" y="0"/>
                </a:lnTo>
                <a:lnTo>
                  <a:pt x="6400800" y="3333750"/>
                </a:lnTo>
                <a:lnTo>
                  <a:pt x="0" y="3333750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19200"/>
            <a:ext cx="38100" cy="3333750"/>
          </a:xfrm>
          <a:custGeom>
            <a:avLst/>
            <a:gdLst/>
            <a:ahLst/>
            <a:cxnLst/>
            <a:rect l="l" t="t" r="r" b="b"/>
            <a:pathLst>
              <a:path w="38100" h="3333750">
                <a:moveTo>
                  <a:pt x="0" y="0"/>
                </a:moveTo>
                <a:lnTo>
                  <a:pt x="38100" y="0"/>
                </a:lnTo>
                <a:lnTo>
                  <a:pt x="38100" y="3333750"/>
                </a:lnTo>
                <a:lnTo>
                  <a:pt x="0" y="333375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Shape 4"/>
          <p:cNvSpPr/>
          <p:nvPr/>
        </p:nvSpPr>
        <p:spPr>
          <a:xfrm>
            <a:off x="655320" y="1455420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20320">
            <a:solidFill>
              <a:srgbClr val="4DB6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4388" y="1657350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35744" y="0"/>
                </a:moveTo>
                <a:cubicBezTo>
                  <a:pt x="235744" y="-11854"/>
                  <a:pt x="226167" y="-21431"/>
                  <a:pt x="214313" y="-21431"/>
                </a:cubicBezTo>
                <a:cubicBezTo>
                  <a:pt x="202458" y="-21431"/>
                  <a:pt x="192881" y="-11854"/>
                  <a:pt x="192881" y="0"/>
                </a:cubicBezTo>
                <a:lnTo>
                  <a:pt x="192881" y="42863"/>
                </a:lnTo>
                <a:lnTo>
                  <a:pt x="128588" y="42863"/>
                </a:lnTo>
                <a:cubicBezTo>
                  <a:pt x="93092" y="42863"/>
                  <a:pt x="64294" y="71661"/>
                  <a:pt x="64294" y="107156"/>
                </a:cubicBezTo>
                <a:lnTo>
                  <a:pt x="64294" y="257175"/>
                </a:lnTo>
                <a:cubicBezTo>
                  <a:pt x="64294" y="292671"/>
                  <a:pt x="93092" y="321469"/>
                  <a:pt x="128588" y="321469"/>
                </a:cubicBezTo>
                <a:lnTo>
                  <a:pt x="300038" y="321469"/>
                </a:lnTo>
                <a:cubicBezTo>
                  <a:pt x="335533" y="321469"/>
                  <a:pt x="364331" y="292671"/>
                  <a:pt x="364331" y="257175"/>
                </a:cubicBezTo>
                <a:lnTo>
                  <a:pt x="364331" y="107156"/>
                </a:lnTo>
                <a:cubicBezTo>
                  <a:pt x="364331" y="71661"/>
                  <a:pt x="335533" y="42863"/>
                  <a:pt x="300038" y="42863"/>
                </a:cubicBezTo>
                <a:lnTo>
                  <a:pt x="235744" y="42863"/>
                </a:lnTo>
                <a:lnTo>
                  <a:pt x="235744" y="0"/>
                </a:lnTo>
                <a:close/>
                <a:moveTo>
                  <a:pt x="107156" y="246459"/>
                </a:moveTo>
                <a:cubicBezTo>
                  <a:pt x="107156" y="237552"/>
                  <a:pt x="114322" y="230386"/>
                  <a:pt x="123230" y="230386"/>
                </a:cubicBezTo>
                <a:lnTo>
                  <a:pt x="144661" y="230386"/>
                </a:lnTo>
                <a:cubicBezTo>
                  <a:pt x="153568" y="230386"/>
                  <a:pt x="160734" y="237552"/>
                  <a:pt x="160734" y="246459"/>
                </a:cubicBezTo>
                <a:cubicBezTo>
                  <a:pt x="160734" y="255367"/>
                  <a:pt x="153568" y="262533"/>
                  <a:pt x="144661" y="262533"/>
                </a:cubicBezTo>
                <a:lnTo>
                  <a:pt x="123230" y="262533"/>
                </a:lnTo>
                <a:cubicBezTo>
                  <a:pt x="114322" y="262533"/>
                  <a:pt x="107156" y="255367"/>
                  <a:pt x="107156" y="246459"/>
                </a:cubicBezTo>
                <a:close/>
                <a:moveTo>
                  <a:pt x="187523" y="246459"/>
                </a:moveTo>
                <a:cubicBezTo>
                  <a:pt x="187523" y="237552"/>
                  <a:pt x="194690" y="230386"/>
                  <a:pt x="203597" y="230386"/>
                </a:cubicBezTo>
                <a:lnTo>
                  <a:pt x="225028" y="230386"/>
                </a:lnTo>
                <a:cubicBezTo>
                  <a:pt x="233935" y="230386"/>
                  <a:pt x="241102" y="237552"/>
                  <a:pt x="241102" y="246459"/>
                </a:cubicBezTo>
                <a:cubicBezTo>
                  <a:pt x="241102" y="255367"/>
                  <a:pt x="233935" y="262533"/>
                  <a:pt x="225028" y="262533"/>
                </a:cubicBezTo>
                <a:lnTo>
                  <a:pt x="203597" y="262533"/>
                </a:lnTo>
                <a:cubicBezTo>
                  <a:pt x="194690" y="262533"/>
                  <a:pt x="187523" y="255367"/>
                  <a:pt x="187523" y="246459"/>
                </a:cubicBezTo>
                <a:close/>
                <a:moveTo>
                  <a:pt x="267891" y="246459"/>
                </a:moveTo>
                <a:cubicBezTo>
                  <a:pt x="267891" y="237552"/>
                  <a:pt x="275057" y="230386"/>
                  <a:pt x="283964" y="230386"/>
                </a:cubicBezTo>
                <a:lnTo>
                  <a:pt x="305395" y="230386"/>
                </a:lnTo>
                <a:cubicBezTo>
                  <a:pt x="314303" y="230386"/>
                  <a:pt x="321469" y="237552"/>
                  <a:pt x="321469" y="246459"/>
                </a:cubicBezTo>
                <a:cubicBezTo>
                  <a:pt x="321469" y="255367"/>
                  <a:pt x="314303" y="262533"/>
                  <a:pt x="305395" y="262533"/>
                </a:cubicBezTo>
                <a:lnTo>
                  <a:pt x="283964" y="262533"/>
                </a:lnTo>
                <a:cubicBezTo>
                  <a:pt x="275057" y="262533"/>
                  <a:pt x="267891" y="255367"/>
                  <a:pt x="267891" y="246459"/>
                </a:cubicBezTo>
                <a:close/>
                <a:moveTo>
                  <a:pt x="150019" y="117872"/>
                </a:moveTo>
                <a:cubicBezTo>
                  <a:pt x="167761" y="117872"/>
                  <a:pt x="182166" y="132276"/>
                  <a:pt x="182166" y="150019"/>
                </a:cubicBezTo>
                <a:cubicBezTo>
                  <a:pt x="182166" y="167761"/>
                  <a:pt x="167761" y="182166"/>
                  <a:pt x="150019" y="182166"/>
                </a:cubicBezTo>
                <a:cubicBezTo>
                  <a:pt x="132276" y="182166"/>
                  <a:pt x="117872" y="167761"/>
                  <a:pt x="117872" y="150019"/>
                </a:cubicBezTo>
                <a:cubicBezTo>
                  <a:pt x="117872" y="132276"/>
                  <a:pt x="132276" y="117872"/>
                  <a:pt x="150019" y="117872"/>
                </a:cubicBezTo>
                <a:close/>
                <a:moveTo>
                  <a:pt x="246459" y="150019"/>
                </a:moveTo>
                <a:cubicBezTo>
                  <a:pt x="246459" y="132276"/>
                  <a:pt x="260864" y="117872"/>
                  <a:pt x="278606" y="117872"/>
                </a:cubicBezTo>
                <a:cubicBezTo>
                  <a:pt x="296349" y="117872"/>
                  <a:pt x="310753" y="132276"/>
                  <a:pt x="310753" y="150019"/>
                </a:cubicBezTo>
                <a:cubicBezTo>
                  <a:pt x="310753" y="167761"/>
                  <a:pt x="296349" y="182166"/>
                  <a:pt x="278606" y="182166"/>
                </a:cubicBezTo>
                <a:cubicBezTo>
                  <a:pt x="260864" y="182166"/>
                  <a:pt x="246459" y="167761"/>
                  <a:pt x="246459" y="150019"/>
                </a:cubicBezTo>
                <a:close/>
                <a:moveTo>
                  <a:pt x="42863" y="150019"/>
                </a:moveTo>
                <a:cubicBezTo>
                  <a:pt x="42863" y="138165"/>
                  <a:pt x="33285" y="128588"/>
                  <a:pt x="21431" y="128588"/>
                </a:cubicBezTo>
                <a:cubicBezTo>
                  <a:pt x="9577" y="128588"/>
                  <a:pt x="0" y="138165"/>
                  <a:pt x="0" y="150019"/>
                </a:cubicBezTo>
                <a:lnTo>
                  <a:pt x="0" y="214313"/>
                </a:lnTo>
                <a:cubicBezTo>
                  <a:pt x="0" y="226167"/>
                  <a:pt x="9577" y="235744"/>
                  <a:pt x="21431" y="235744"/>
                </a:cubicBezTo>
                <a:cubicBezTo>
                  <a:pt x="33285" y="235744"/>
                  <a:pt x="42863" y="226167"/>
                  <a:pt x="42863" y="214313"/>
                </a:cubicBezTo>
                <a:lnTo>
                  <a:pt x="42863" y="150019"/>
                </a:lnTo>
                <a:close/>
                <a:moveTo>
                  <a:pt x="407194" y="128588"/>
                </a:moveTo>
                <a:cubicBezTo>
                  <a:pt x="395340" y="128588"/>
                  <a:pt x="385763" y="138165"/>
                  <a:pt x="385763" y="150019"/>
                </a:cubicBezTo>
                <a:lnTo>
                  <a:pt x="385763" y="214313"/>
                </a:lnTo>
                <a:cubicBezTo>
                  <a:pt x="385763" y="226167"/>
                  <a:pt x="395340" y="235744"/>
                  <a:pt x="407194" y="235744"/>
                </a:cubicBezTo>
                <a:cubicBezTo>
                  <a:pt x="419048" y="235744"/>
                  <a:pt x="428625" y="226167"/>
                  <a:pt x="428625" y="214313"/>
                </a:cubicBezTo>
                <a:lnTo>
                  <a:pt x="428625" y="150019"/>
                </a:lnTo>
                <a:cubicBezTo>
                  <a:pt x="428625" y="138165"/>
                  <a:pt x="419048" y="128588"/>
                  <a:pt x="407194" y="12858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504950"/>
            <a:ext cx="1571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LLM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1885950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Ollama / LM Studio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" y="2400300"/>
            <a:ext cx="6000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deploy a local large language model via Ollama for post-retrieval synthesis, ensuring complete data privacy and zero cloud dependency.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1510" y="3089910"/>
            <a:ext cx="2884170" cy="1226820"/>
          </a:xfrm>
          <a:custGeom>
            <a:avLst/>
            <a:gdLst/>
            <a:ahLst/>
            <a:cxnLst/>
            <a:rect l="l" t="t" r="r" b="b"/>
            <a:pathLst>
              <a:path w="2884170" h="1226820">
                <a:moveTo>
                  <a:pt x="76198" y="0"/>
                </a:moveTo>
                <a:lnTo>
                  <a:pt x="2807972" y="0"/>
                </a:lnTo>
                <a:cubicBezTo>
                  <a:pt x="2850055" y="0"/>
                  <a:pt x="2884170" y="34115"/>
                  <a:pt x="2884170" y="76198"/>
                </a:cubicBezTo>
                <a:lnTo>
                  <a:pt x="2884170" y="1150622"/>
                </a:lnTo>
                <a:cubicBezTo>
                  <a:pt x="2884170" y="1192705"/>
                  <a:pt x="2850055" y="1226820"/>
                  <a:pt x="2807972" y="1226820"/>
                </a:cubicBezTo>
                <a:lnTo>
                  <a:pt x="76198" y="1226820"/>
                </a:lnTo>
                <a:cubicBezTo>
                  <a:pt x="34143" y="1226820"/>
                  <a:pt x="0" y="1192677"/>
                  <a:pt x="0" y="11506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5345" y="326516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1"/>
          <p:cNvSpPr/>
          <p:nvPr/>
        </p:nvSpPr>
        <p:spPr>
          <a:xfrm>
            <a:off x="1160145" y="3246118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7720" y="3589018"/>
            <a:ext cx="26384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concise summaries of retrieved articles highlighting key points relevant to query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91890" y="3089910"/>
            <a:ext cx="2884170" cy="1226820"/>
          </a:xfrm>
          <a:custGeom>
            <a:avLst/>
            <a:gdLst/>
            <a:ahLst/>
            <a:cxnLst/>
            <a:rect l="l" t="t" r="r" b="b"/>
            <a:pathLst>
              <a:path w="2884170" h="1226820">
                <a:moveTo>
                  <a:pt x="76198" y="0"/>
                </a:moveTo>
                <a:lnTo>
                  <a:pt x="2807972" y="0"/>
                </a:lnTo>
                <a:cubicBezTo>
                  <a:pt x="2850055" y="0"/>
                  <a:pt x="2884170" y="34115"/>
                  <a:pt x="2884170" y="76198"/>
                </a:cubicBezTo>
                <a:lnTo>
                  <a:pt x="2884170" y="1150622"/>
                </a:lnTo>
                <a:cubicBezTo>
                  <a:pt x="2884170" y="1192705"/>
                  <a:pt x="2850055" y="1226820"/>
                  <a:pt x="2807972" y="1226820"/>
                </a:cubicBezTo>
                <a:lnTo>
                  <a:pt x="76198" y="1226820"/>
                </a:lnTo>
                <a:cubicBezTo>
                  <a:pt x="34143" y="1226820"/>
                  <a:pt x="0" y="1192677"/>
                  <a:pt x="0" y="11506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0006" y="326516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4200525" y="3246118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8100" y="3589018"/>
            <a:ext cx="2638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natural language explanations of why results are relevant to user query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810" y="4743456"/>
            <a:ext cx="6417945" cy="1874520"/>
          </a:xfrm>
          <a:custGeom>
            <a:avLst/>
            <a:gdLst/>
            <a:ahLst/>
            <a:cxnLst/>
            <a:rect l="l" t="t" r="r" b="b"/>
            <a:pathLst>
              <a:path w="6417945" h="1874520">
                <a:moveTo>
                  <a:pt x="114308" y="0"/>
                </a:moveTo>
                <a:lnTo>
                  <a:pt x="6303637" y="0"/>
                </a:lnTo>
                <a:cubicBezTo>
                  <a:pt x="6366767" y="0"/>
                  <a:pt x="6417945" y="51178"/>
                  <a:pt x="6417945" y="114308"/>
                </a:cubicBezTo>
                <a:lnTo>
                  <a:pt x="6417945" y="1760212"/>
                </a:lnTo>
                <a:cubicBezTo>
                  <a:pt x="6417945" y="1823342"/>
                  <a:pt x="6366767" y="1874520"/>
                  <a:pt x="6303637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10160">
            <a:solidFill>
              <a:srgbClr val="FF6467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9120" y="493776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6467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09016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2" name="Text 20"/>
          <p:cNvSpPr/>
          <p:nvPr/>
        </p:nvSpPr>
        <p:spPr>
          <a:xfrm>
            <a:off x="1264920" y="4937764"/>
            <a:ext cx="543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Design Decision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64920" y="5280664"/>
            <a:ext cx="54197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is NOT used for retrieval.</a:t>
            </a:r>
            <a:r>
              <a:rPr lang="en-US" sz="12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It only processes already-retrieved documents. This ensures: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64920" y="5890264"/>
            <a:ext cx="1704975" cy="533400"/>
          </a:xfrm>
          <a:custGeom>
            <a:avLst/>
            <a:gdLst/>
            <a:ahLst/>
            <a:cxnLst/>
            <a:rect l="l" t="t" r="r" b="b"/>
            <a:pathLst>
              <a:path w="1704975" h="533400">
                <a:moveTo>
                  <a:pt x="38101" y="0"/>
                </a:moveTo>
                <a:lnTo>
                  <a:pt x="1666874" y="0"/>
                </a:lnTo>
                <a:cubicBezTo>
                  <a:pt x="1687917" y="0"/>
                  <a:pt x="1704975" y="17058"/>
                  <a:pt x="1704975" y="38101"/>
                </a:cubicBezTo>
                <a:lnTo>
                  <a:pt x="1704975" y="495299"/>
                </a:lnTo>
                <a:cubicBezTo>
                  <a:pt x="1704975" y="516342"/>
                  <a:pt x="1687917" y="533400"/>
                  <a:pt x="16668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Shape 23"/>
          <p:cNvSpPr/>
          <p:nvPr/>
        </p:nvSpPr>
        <p:spPr>
          <a:xfrm>
            <a:off x="1345883" y="609028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6" name="Text 24"/>
          <p:cNvSpPr/>
          <p:nvPr/>
        </p:nvSpPr>
        <p:spPr>
          <a:xfrm>
            <a:off x="1558171" y="5966464"/>
            <a:ext cx="1400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hallucination in retrieval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083481" y="5890264"/>
            <a:ext cx="1704975" cy="533400"/>
          </a:xfrm>
          <a:custGeom>
            <a:avLst/>
            <a:gdLst/>
            <a:ahLst/>
            <a:cxnLst/>
            <a:rect l="l" t="t" r="r" b="b"/>
            <a:pathLst>
              <a:path w="1704975" h="533400">
                <a:moveTo>
                  <a:pt x="38101" y="0"/>
                </a:moveTo>
                <a:lnTo>
                  <a:pt x="1666874" y="0"/>
                </a:lnTo>
                <a:cubicBezTo>
                  <a:pt x="1687917" y="0"/>
                  <a:pt x="1704975" y="17058"/>
                  <a:pt x="1704975" y="38101"/>
                </a:cubicBezTo>
                <a:lnTo>
                  <a:pt x="1704975" y="495299"/>
                </a:lnTo>
                <a:cubicBezTo>
                  <a:pt x="1704975" y="516342"/>
                  <a:pt x="1687917" y="533400"/>
                  <a:pt x="16668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Shape 26"/>
          <p:cNvSpPr/>
          <p:nvPr/>
        </p:nvSpPr>
        <p:spPr>
          <a:xfrm>
            <a:off x="3170396" y="6090289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8334"/>
                </a:moveTo>
                <a:cubicBezTo>
                  <a:pt x="53965" y="8334"/>
                  <a:pt x="37114" y="17919"/>
                  <a:pt x="24847" y="29327"/>
                </a:cubicBezTo>
                <a:cubicBezTo>
                  <a:pt x="12658" y="40656"/>
                  <a:pt x="4506" y="54173"/>
                  <a:pt x="625" y="63471"/>
                </a:cubicBezTo>
                <a:cubicBezTo>
                  <a:pt x="-234" y="65529"/>
                  <a:pt x="-234" y="67821"/>
                  <a:pt x="625" y="69879"/>
                </a:cubicBezTo>
                <a:cubicBezTo>
                  <a:pt x="4506" y="79177"/>
                  <a:pt x="12658" y="92720"/>
                  <a:pt x="24847" y="104023"/>
                </a:cubicBezTo>
                <a:cubicBezTo>
                  <a:pt x="37114" y="115405"/>
                  <a:pt x="53965" y="125016"/>
                  <a:pt x="75009" y="125016"/>
                </a:cubicBezTo>
                <a:cubicBezTo>
                  <a:pt x="96054" y="125016"/>
                  <a:pt x="112905" y="115431"/>
                  <a:pt x="125172" y="104023"/>
                </a:cubicBezTo>
                <a:cubicBezTo>
                  <a:pt x="137361" y="92694"/>
                  <a:pt x="145513" y="79177"/>
                  <a:pt x="149394" y="69879"/>
                </a:cubicBezTo>
                <a:cubicBezTo>
                  <a:pt x="150253" y="67821"/>
                  <a:pt x="150253" y="65529"/>
                  <a:pt x="149394" y="63471"/>
                </a:cubicBezTo>
                <a:cubicBezTo>
                  <a:pt x="145513" y="54173"/>
                  <a:pt x="137361" y="40630"/>
                  <a:pt x="125172" y="29327"/>
                </a:cubicBezTo>
                <a:cubicBezTo>
                  <a:pt x="112905" y="17945"/>
                  <a:pt x="96054" y="8334"/>
                  <a:pt x="75009" y="8334"/>
                </a:cubicBezTo>
                <a:close/>
                <a:moveTo>
                  <a:pt x="37505" y="66675"/>
                </a:moveTo>
                <a:cubicBezTo>
                  <a:pt x="37505" y="45976"/>
                  <a:pt x="54310" y="29170"/>
                  <a:pt x="75009" y="29170"/>
                </a:cubicBezTo>
                <a:cubicBezTo>
                  <a:pt x="95709" y="29170"/>
                  <a:pt x="112514" y="45976"/>
                  <a:pt x="112514" y="66675"/>
                </a:cubicBezTo>
                <a:cubicBezTo>
                  <a:pt x="112514" y="87374"/>
                  <a:pt x="95709" y="104180"/>
                  <a:pt x="75009" y="104180"/>
                </a:cubicBezTo>
                <a:cubicBezTo>
                  <a:pt x="54310" y="104180"/>
                  <a:pt x="37505" y="87374"/>
                  <a:pt x="37505" y="66675"/>
                </a:cubicBezTo>
                <a:close/>
                <a:moveTo>
                  <a:pt x="75009" y="50006"/>
                </a:moveTo>
                <a:cubicBezTo>
                  <a:pt x="75009" y="59200"/>
                  <a:pt x="67534" y="66675"/>
                  <a:pt x="58341" y="66675"/>
                </a:cubicBezTo>
                <a:cubicBezTo>
                  <a:pt x="55345" y="66675"/>
                  <a:pt x="52533" y="65894"/>
                  <a:pt x="50084" y="64487"/>
                </a:cubicBezTo>
                <a:cubicBezTo>
                  <a:pt x="49824" y="67326"/>
                  <a:pt x="50058" y="70243"/>
                  <a:pt x="50840" y="73134"/>
                </a:cubicBezTo>
                <a:cubicBezTo>
                  <a:pt x="54408" y="86469"/>
                  <a:pt x="68134" y="94387"/>
                  <a:pt x="81469" y="90819"/>
                </a:cubicBezTo>
                <a:cubicBezTo>
                  <a:pt x="94804" y="87250"/>
                  <a:pt x="102721" y="73525"/>
                  <a:pt x="99153" y="60190"/>
                </a:cubicBezTo>
                <a:cubicBezTo>
                  <a:pt x="95976" y="48287"/>
                  <a:pt x="84698" y="40708"/>
                  <a:pt x="72822" y="41750"/>
                </a:cubicBezTo>
                <a:cubicBezTo>
                  <a:pt x="74202" y="44172"/>
                  <a:pt x="75009" y="46985"/>
                  <a:pt x="75009" y="5000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9" name="Text 27"/>
          <p:cNvSpPr/>
          <p:nvPr/>
        </p:nvSpPr>
        <p:spPr>
          <a:xfrm>
            <a:off x="3402568" y="6061714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results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02161" y="5890264"/>
            <a:ext cx="1704975" cy="533400"/>
          </a:xfrm>
          <a:custGeom>
            <a:avLst/>
            <a:gdLst/>
            <a:ahLst/>
            <a:cxnLst/>
            <a:rect l="l" t="t" r="r" b="b"/>
            <a:pathLst>
              <a:path w="1704975" h="533400">
                <a:moveTo>
                  <a:pt x="38101" y="0"/>
                </a:moveTo>
                <a:lnTo>
                  <a:pt x="1666874" y="0"/>
                </a:lnTo>
                <a:cubicBezTo>
                  <a:pt x="1687917" y="0"/>
                  <a:pt x="1704975" y="17058"/>
                  <a:pt x="1704975" y="38101"/>
                </a:cubicBezTo>
                <a:lnTo>
                  <a:pt x="1704975" y="495299"/>
                </a:lnTo>
                <a:cubicBezTo>
                  <a:pt x="1704975" y="516342"/>
                  <a:pt x="1687917" y="533400"/>
                  <a:pt x="16668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Shape 29"/>
          <p:cNvSpPr/>
          <p:nvPr/>
        </p:nvSpPr>
        <p:spPr>
          <a:xfrm>
            <a:off x="5005745" y="609028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Text 30"/>
          <p:cNvSpPr/>
          <p:nvPr/>
        </p:nvSpPr>
        <p:spPr>
          <a:xfrm>
            <a:off x="5221248" y="6061714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retrieval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052310" y="1219200"/>
            <a:ext cx="4762500" cy="5400675"/>
          </a:xfrm>
          <a:custGeom>
            <a:avLst/>
            <a:gdLst/>
            <a:ahLst/>
            <a:cxnLst/>
            <a:rect l="l" t="t" r="r" b="b"/>
            <a:pathLst>
              <a:path w="4762500" h="5400675">
                <a:moveTo>
                  <a:pt x="0" y="0"/>
                </a:moveTo>
                <a:lnTo>
                  <a:pt x="4762500" y="0"/>
                </a:lnTo>
                <a:lnTo>
                  <a:pt x="4762500" y="5400675"/>
                </a:lnTo>
                <a:lnTo>
                  <a:pt x="0" y="5400675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34" name="Shape 32"/>
          <p:cNvSpPr/>
          <p:nvPr/>
        </p:nvSpPr>
        <p:spPr>
          <a:xfrm>
            <a:off x="7052310" y="1219200"/>
            <a:ext cx="38100" cy="5400675"/>
          </a:xfrm>
          <a:custGeom>
            <a:avLst/>
            <a:gdLst/>
            <a:ahLst/>
            <a:cxnLst/>
            <a:rect l="l" t="t" r="r" b="b"/>
            <a:pathLst>
              <a:path w="38100" h="5400675">
                <a:moveTo>
                  <a:pt x="0" y="0"/>
                </a:moveTo>
                <a:lnTo>
                  <a:pt x="38100" y="0"/>
                </a:lnTo>
                <a:lnTo>
                  <a:pt x="38100" y="5400675"/>
                </a:lnTo>
                <a:lnTo>
                  <a:pt x="0" y="5400675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35" name="Shape 33"/>
          <p:cNvSpPr/>
          <p:nvPr/>
        </p:nvSpPr>
        <p:spPr>
          <a:xfrm>
            <a:off x="7323773" y="1485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36" name="Text 34"/>
          <p:cNvSpPr/>
          <p:nvPr/>
        </p:nvSpPr>
        <p:spPr>
          <a:xfrm>
            <a:off x="7538085" y="1447800"/>
            <a:ext cx="414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Workflow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299960" y="1905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459980" y="1981200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833360" y="1905000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Query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833360" y="2156464"/>
            <a:ext cx="16000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question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299960" y="2514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446169" y="25908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833360" y="2514600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Retrieval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833360" y="2766064"/>
            <a:ext cx="16028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 + FAISS + Metadata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299960" y="3124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445454" y="32004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833360" y="3124200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Top-K Selection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833360" y="3375664"/>
            <a:ext cx="16028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best 20 documents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299960" y="3733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445573" y="38100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5F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833360" y="373380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Assembly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833360" y="3985264"/>
            <a:ext cx="12898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Format docs for LLM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299960" y="4343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446526" y="44196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5F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833360" y="4343400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Generation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833360" y="4594864"/>
            <a:ext cx="12800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Synthesize response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303770" y="5619756"/>
            <a:ext cx="4274820" cy="769620"/>
          </a:xfrm>
          <a:custGeom>
            <a:avLst/>
            <a:gdLst/>
            <a:ahLst/>
            <a:cxnLst/>
            <a:rect l="l" t="t" r="r" b="b"/>
            <a:pathLst>
              <a:path w="4274820" h="769620">
                <a:moveTo>
                  <a:pt x="76200" y="0"/>
                </a:moveTo>
                <a:lnTo>
                  <a:pt x="4198620" y="0"/>
                </a:lnTo>
                <a:cubicBezTo>
                  <a:pt x="4240704" y="0"/>
                  <a:pt x="4274820" y="34116"/>
                  <a:pt x="4274820" y="76200"/>
                </a:cubicBezTo>
                <a:lnTo>
                  <a:pt x="4274820" y="693420"/>
                </a:lnTo>
                <a:cubicBezTo>
                  <a:pt x="4274820" y="735504"/>
                  <a:pt x="4240704" y="769620"/>
                  <a:pt x="419862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14902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83793" y="590931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9" name="Text 57"/>
          <p:cNvSpPr/>
          <p:nvPr/>
        </p:nvSpPr>
        <p:spPr>
          <a:xfrm>
            <a:off x="7812405" y="5775964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Grounded Responses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812405" y="6027418"/>
            <a:ext cx="2302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claims backed by retrieved sources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 Report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Status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5600700" cy="4391025"/>
          </a:xfrm>
          <a:custGeom>
            <a:avLst/>
            <a:gdLst/>
            <a:ahLst/>
            <a:cxnLst/>
            <a:rect l="l" t="t" r="r" b="b"/>
            <a:pathLst>
              <a:path w="5600700" h="4391025">
                <a:moveTo>
                  <a:pt x="0" y="0"/>
                </a:moveTo>
                <a:lnTo>
                  <a:pt x="5600700" y="0"/>
                </a:lnTo>
                <a:lnTo>
                  <a:pt x="5600700" y="4391025"/>
                </a:lnTo>
                <a:lnTo>
                  <a:pt x="0" y="4391025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19200"/>
            <a:ext cx="38100" cy="4391025"/>
          </a:xfrm>
          <a:custGeom>
            <a:avLst/>
            <a:gdLst/>
            <a:ahLst/>
            <a:cxnLst/>
            <a:rect l="l" t="t" r="r" b="b"/>
            <a:pathLst>
              <a:path w="38100" h="4391025">
                <a:moveTo>
                  <a:pt x="0" y="0"/>
                </a:moveTo>
                <a:lnTo>
                  <a:pt x="38100" y="0"/>
                </a:lnTo>
                <a:lnTo>
                  <a:pt x="38100" y="4391025"/>
                </a:lnTo>
                <a:lnTo>
                  <a:pt x="0" y="4391025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Shape 4"/>
          <p:cNvSpPr/>
          <p:nvPr/>
        </p:nvSpPr>
        <p:spPr>
          <a:xfrm>
            <a:off x="633413" y="1447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Text 5"/>
          <p:cNvSpPr/>
          <p:nvPr/>
        </p:nvSpPr>
        <p:spPr>
          <a:xfrm>
            <a:off x="847725" y="1409700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Completed Components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3410" y="1832610"/>
            <a:ext cx="5189220" cy="1112520"/>
          </a:xfrm>
          <a:custGeom>
            <a:avLst/>
            <a:gdLst/>
            <a:ahLst/>
            <a:cxnLst/>
            <a:rect l="l" t="t" r="r" b="b"/>
            <a:pathLst>
              <a:path w="5189220" h="1112520">
                <a:moveTo>
                  <a:pt x="76196" y="0"/>
                </a:moveTo>
                <a:lnTo>
                  <a:pt x="5113024" y="0"/>
                </a:lnTo>
                <a:cubicBezTo>
                  <a:pt x="5155106" y="0"/>
                  <a:pt x="5189220" y="34114"/>
                  <a:pt x="5189220" y="76196"/>
                </a:cubicBezTo>
                <a:lnTo>
                  <a:pt x="5189220" y="1036324"/>
                </a:lnTo>
                <a:cubicBezTo>
                  <a:pt x="5189220" y="1078406"/>
                  <a:pt x="5155106" y="1112520"/>
                  <a:pt x="5113024" y="1112520"/>
                </a:cubicBezTo>
                <a:lnTo>
                  <a:pt x="76196" y="1112520"/>
                </a:lnTo>
                <a:cubicBezTo>
                  <a:pt x="34114" y="1112520"/>
                  <a:pt x="0" y="1078406"/>
                  <a:pt x="0" y="10363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9620" y="20269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83920" y="21412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1" name="Text 9"/>
          <p:cNvSpPr/>
          <p:nvPr/>
        </p:nvSpPr>
        <p:spPr>
          <a:xfrm>
            <a:off x="1264920" y="1988818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Ingestion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4920" y="2240282"/>
            <a:ext cx="19987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Multi-source pipeline operational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9620" y="2522218"/>
            <a:ext cx="914400" cy="266700"/>
          </a:xfrm>
          <a:custGeom>
            <a:avLst/>
            <a:gdLst/>
            <a:ahLst/>
            <a:cxnLst/>
            <a:rect l="l" t="t" r="r" b="b"/>
            <a:pathLst>
              <a:path w="914400" h="266700">
                <a:moveTo>
                  <a:pt x="38101" y="0"/>
                </a:moveTo>
                <a:lnTo>
                  <a:pt x="876299" y="0"/>
                </a:lnTo>
                <a:cubicBezTo>
                  <a:pt x="897342" y="0"/>
                  <a:pt x="914400" y="17058"/>
                  <a:pt x="914400" y="38101"/>
                </a:cubicBezTo>
                <a:lnTo>
                  <a:pt x="914400" y="228599"/>
                </a:lnTo>
                <a:cubicBezTo>
                  <a:pt x="914400" y="249642"/>
                  <a:pt x="897342" y="266700"/>
                  <a:pt x="8762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69620" y="2522218"/>
            <a:ext cx="9810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Guardian API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760101" y="2522218"/>
            <a:ext cx="838200" cy="266700"/>
          </a:xfrm>
          <a:custGeom>
            <a:avLst/>
            <a:gdLst/>
            <a:ahLst/>
            <a:cxnLst/>
            <a:rect l="l" t="t" r="r" b="b"/>
            <a:pathLst>
              <a:path w="838200" h="266700">
                <a:moveTo>
                  <a:pt x="38101" y="0"/>
                </a:moveTo>
                <a:lnTo>
                  <a:pt x="800099" y="0"/>
                </a:lnTo>
                <a:cubicBezTo>
                  <a:pt x="821142" y="0"/>
                  <a:pt x="838200" y="17058"/>
                  <a:pt x="838200" y="38101"/>
                </a:cubicBezTo>
                <a:lnTo>
                  <a:pt x="838200" y="228599"/>
                </a:lnTo>
                <a:cubicBezTo>
                  <a:pt x="838200" y="249628"/>
                  <a:pt x="821128" y="266700"/>
                  <a:pt x="8000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760101" y="2522218"/>
            <a:ext cx="9048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Mediastack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3410" y="3067056"/>
            <a:ext cx="5189220" cy="1112520"/>
          </a:xfrm>
          <a:custGeom>
            <a:avLst/>
            <a:gdLst/>
            <a:ahLst/>
            <a:cxnLst/>
            <a:rect l="l" t="t" r="r" b="b"/>
            <a:pathLst>
              <a:path w="5189220" h="1112520">
                <a:moveTo>
                  <a:pt x="76196" y="0"/>
                </a:moveTo>
                <a:lnTo>
                  <a:pt x="5113024" y="0"/>
                </a:lnTo>
                <a:cubicBezTo>
                  <a:pt x="5155106" y="0"/>
                  <a:pt x="5189220" y="34114"/>
                  <a:pt x="5189220" y="76196"/>
                </a:cubicBezTo>
                <a:lnTo>
                  <a:pt x="5189220" y="1036324"/>
                </a:lnTo>
                <a:cubicBezTo>
                  <a:pt x="5189220" y="1078406"/>
                  <a:pt x="5155106" y="1112520"/>
                  <a:pt x="5113024" y="1112520"/>
                </a:cubicBezTo>
                <a:lnTo>
                  <a:pt x="76196" y="1112520"/>
                </a:lnTo>
                <a:cubicBezTo>
                  <a:pt x="34114" y="1112520"/>
                  <a:pt x="0" y="1078406"/>
                  <a:pt x="0" y="10363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9620" y="32613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83920" y="33756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0" name="Text 18"/>
          <p:cNvSpPr/>
          <p:nvPr/>
        </p:nvSpPr>
        <p:spPr>
          <a:xfrm>
            <a:off x="1264920" y="3223264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Retrieval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4920" y="3474718"/>
            <a:ext cx="18018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 + FAISS fusion working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9620" y="3756664"/>
            <a:ext cx="1295400" cy="266700"/>
          </a:xfrm>
          <a:custGeom>
            <a:avLst/>
            <a:gdLst/>
            <a:ahLst/>
            <a:cxnLst/>
            <a:rect l="l" t="t" r="r" b="b"/>
            <a:pathLst>
              <a:path w="1295400" h="266700">
                <a:moveTo>
                  <a:pt x="38101" y="0"/>
                </a:moveTo>
                <a:lnTo>
                  <a:pt x="1257299" y="0"/>
                </a:lnTo>
                <a:cubicBezTo>
                  <a:pt x="1278342" y="0"/>
                  <a:pt x="1295400" y="17058"/>
                  <a:pt x="1295400" y="38101"/>
                </a:cubicBezTo>
                <a:lnTo>
                  <a:pt x="1295400" y="228599"/>
                </a:lnTo>
                <a:cubicBezTo>
                  <a:pt x="1295400" y="249642"/>
                  <a:pt x="1278342" y="266700"/>
                  <a:pt x="12572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69620" y="3756664"/>
            <a:ext cx="13620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Sub-100ms latency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3410" y="4301492"/>
            <a:ext cx="5189220" cy="1112520"/>
          </a:xfrm>
          <a:custGeom>
            <a:avLst/>
            <a:gdLst/>
            <a:ahLst/>
            <a:cxnLst/>
            <a:rect l="l" t="t" r="r" b="b"/>
            <a:pathLst>
              <a:path w="5189220" h="1112520">
                <a:moveTo>
                  <a:pt x="76196" y="0"/>
                </a:moveTo>
                <a:lnTo>
                  <a:pt x="5113024" y="0"/>
                </a:lnTo>
                <a:cubicBezTo>
                  <a:pt x="5155106" y="0"/>
                  <a:pt x="5189220" y="34114"/>
                  <a:pt x="5189220" y="76196"/>
                </a:cubicBezTo>
                <a:lnTo>
                  <a:pt x="5189220" y="1036324"/>
                </a:lnTo>
                <a:cubicBezTo>
                  <a:pt x="5189220" y="1078406"/>
                  <a:pt x="5155106" y="1112520"/>
                  <a:pt x="5113024" y="1112520"/>
                </a:cubicBezTo>
                <a:lnTo>
                  <a:pt x="76196" y="1112520"/>
                </a:lnTo>
                <a:cubicBezTo>
                  <a:pt x="34114" y="1112520"/>
                  <a:pt x="0" y="1078406"/>
                  <a:pt x="0" y="10363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9620" y="4495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83920" y="4610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7" name="Text 25"/>
          <p:cNvSpPr/>
          <p:nvPr/>
        </p:nvSpPr>
        <p:spPr>
          <a:xfrm>
            <a:off x="1264920" y="445770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Ranking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64920" y="4709164"/>
            <a:ext cx="179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Recency &amp; authority boosting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9620" y="4991100"/>
            <a:ext cx="1409700" cy="266700"/>
          </a:xfrm>
          <a:custGeom>
            <a:avLst/>
            <a:gdLst/>
            <a:ahLst/>
            <a:cxnLst/>
            <a:rect l="l" t="t" r="r" b="b"/>
            <a:pathLst>
              <a:path w="1409700" h="266700">
                <a:moveTo>
                  <a:pt x="38101" y="0"/>
                </a:moveTo>
                <a:lnTo>
                  <a:pt x="1371599" y="0"/>
                </a:lnTo>
                <a:cubicBezTo>
                  <a:pt x="1392642" y="0"/>
                  <a:pt x="1409700" y="17058"/>
                  <a:pt x="1409700" y="38101"/>
                </a:cubicBezTo>
                <a:lnTo>
                  <a:pt x="1409700" y="228599"/>
                </a:lnTo>
                <a:cubicBezTo>
                  <a:pt x="1409700" y="249642"/>
                  <a:pt x="1392642" y="266700"/>
                  <a:pt x="13715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69620" y="4991100"/>
            <a:ext cx="14763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Configurable weights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0300" y="1219200"/>
            <a:ext cx="5600700" cy="4391025"/>
          </a:xfrm>
          <a:custGeom>
            <a:avLst/>
            <a:gdLst/>
            <a:ahLst/>
            <a:cxnLst/>
            <a:rect l="l" t="t" r="r" b="b"/>
            <a:pathLst>
              <a:path w="5600700" h="4391025">
                <a:moveTo>
                  <a:pt x="0" y="0"/>
                </a:moveTo>
                <a:lnTo>
                  <a:pt x="5600700" y="0"/>
                </a:lnTo>
                <a:lnTo>
                  <a:pt x="5600700" y="4391025"/>
                </a:lnTo>
                <a:lnTo>
                  <a:pt x="0" y="4391025"/>
                </a:lnTo>
                <a:lnTo>
                  <a:pt x="0" y="0"/>
                </a:ln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32" name="Shape 30"/>
          <p:cNvSpPr/>
          <p:nvPr/>
        </p:nvSpPr>
        <p:spPr>
          <a:xfrm>
            <a:off x="6210300" y="1219200"/>
            <a:ext cx="38100" cy="4391025"/>
          </a:xfrm>
          <a:custGeom>
            <a:avLst/>
            <a:gdLst/>
            <a:ahLst/>
            <a:cxnLst/>
            <a:rect l="l" t="t" r="r" b="b"/>
            <a:pathLst>
              <a:path w="38100" h="4391025">
                <a:moveTo>
                  <a:pt x="0" y="0"/>
                </a:moveTo>
                <a:lnTo>
                  <a:pt x="38100" y="0"/>
                </a:lnTo>
                <a:lnTo>
                  <a:pt x="38100" y="4391025"/>
                </a:lnTo>
                <a:lnTo>
                  <a:pt x="0" y="4391025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33" name="Shape 31"/>
          <p:cNvSpPr/>
          <p:nvPr/>
        </p:nvSpPr>
        <p:spPr>
          <a:xfrm>
            <a:off x="6443663" y="1447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34" name="Text 32"/>
          <p:cNvSpPr/>
          <p:nvPr/>
        </p:nvSpPr>
        <p:spPr>
          <a:xfrm>
            <a:off x="6657975" y="1409700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19850" y="1828800"/>
            <a:ext cx="5200650" cy="1066800"/>
          </a:xfrm>
          <a:custGeom>
            <a:avLst/>
            <a:gdLst/>
            <a:ahLst/>
            <a:cxnLst/>
            <a:rect l="l" t="t" r="r" b="b"/>
            <a:pathLst>
              <a:path w="5200650" h="10668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990598"/>
                </a:lnTo>
                <a:cubicBezTo>
                  <a:pt x="5200650" y="1032683"/>
                  <a:pt x="5166533" y="1066800"/>
                  <a:pt x="512444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6" name="Text 34"/>
          <p:cNvSpPr/>
          <p:nvPr/>
        </p:nvSpPr>
        <p:spPr>
          <a:xfrm>
            <a:off x="6572250" y="2019179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Precision@10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012210" y="1981200"/>
            <a:ext cx="57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0.78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572250" y="2362079"/>
            <a:ext cx="4895850" cy="114300"/>
          </a:xfrm>
          <a:custGeom>
            <a:avLst/>
            <a:gdLst/>
            <a:ahLst/>
            <a:cxnLst/>
            <a:rect l="l" t="t" r="r" b="b"/>
            <a:pathLst>
              <a:path w="4895850" h="114300">
                <a:moveTo>
                  <a:pt x="57150" y="0"/>
                </a:moveTo>
                <a:lnTo>
                  <a:pt x="4838700" y="0"/>
                </a:lnTo>
                <a:cubicBezTo>
                  <a:pt x="4870242" y="0"/>
                  <a:pt x="4895850" y="25608"/>
                  <a:pt x="4895850" y="57150"/>
                </a:cubicBezTo>
                <a:lnTo>
                  <a:pt x="4895850" y="57150"/>
                </a:lnTo>
                <a:cubicBezTo>
                  <a:pt x="4895850" y="88692"/>
                  <a:pt x="4870242" y="114300"/>
                  <a:pt x="48387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39" name="Shape 37"/>
          <p:cNvSpPr/>
          <p:nvPr/>
        </p:nvSpPr>
        <p:spPr>
          <a:xfrm>
            <a:off x="6572250" y="2362079"/>
            <a:ext cx="3819525" cy="114300"/>
          </a:xfrm>
          <a:custGeom>
            <a:avLst/>
            <a:gdLst/>
            <a:ahLst/>
            <a:cxnLst/>
            <a:rect l="l" t="t" r="r" b="b"/>
            <a:pathLst>
              <a:path w="3819525" h="114300">
                <a:moveTo>
                  <a:pt x="57150" y="0"/>
                </a:moveTo>
                <a:lnTo>
                  <a:pt x="3762375" y="0"/>
                </a:lnTo>
                <a:cubicBezTo>
                  <a:pt x="3793917" y="0"/>
                  <a:pt x="3819525" y="25608"/>
                  <a:pt x="3819525" y="57150"/>
                </a:cubicBezTo>
                <a:lnTo>
                  <a:pt x="3819525" y="57150"/>
                </a:lnTo>
                <a:cubicBezTo>
                  <a:pt x="3819525" y="88692"/>
                  <a:pt x="3793917" y="114300"/>
                  <a:pt x="37623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0" name="Text 38"/>
          <p:cNvSpPr/>
          <p:nvPr/>
        </p:nvSpPr>
        <p:spPr>
          <a:xfrm>
            <a:off x="6572250" y="2552579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Relevant results in top 10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19850" y="3009779"/>
            <a:ext cx="5200650" cy="1066800"/>
          </a:xfrm>
          <a:custGeom>
            <a:avLst/>
            <a:gdLst/>
            <a:ahLst/>
            <a:cxnLst/>
            <a:rect l="l" t="t" r="r" b="b"/>
            <a:pathLst>
              <a:path w="5200650" h="10668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990598"/>
                </a:lnTo>
                <a:cubicBezTo>
                  <a:pt x="5200650" y="1032683"/>
                  <a:pt x="5166533" y="1066800"/>
                  <a:pt x="512444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Text 40"/>
          <p:cNvSpPr/>
          <p:nvPr/>
        </p:nvSpPr>
        <p:spPr>
          <a:xfrm>
            <a:off x="6572250" y="3200167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Recall@20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996494" y="3162179"/>
            <a:ext cx="590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5F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0.82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572250" y="3543067"/>
            <a:ext cx="4895850" cy="114300"/>
          </a:xfrm>
          <a:custGeom>
            <a:avLst/>
            <a:gdLst/>
            <a:ahLst/>
            <a:cxnLst/>
            <a:rect l="l" t="t" r="r" b="b"/>
            <a:pathLst>
              <a:path w="4895850" h="114300">
                <a:moveTo>
                  <a:pt x="57150" y="0"/>
                </a:moveTo>
                <a:lnTo>
                  <a:pt x="4838700" y="0"/>
                </a:lnTo>
                <a:cubicBezTo>
                  <a:pt x="4870242" y="0"/>
                  <a:pt x="4895850" y="25608"/>
                  <a:pt x="4895850" y="57150"/>
                </a:cubicBezTo>
                <a:lnTo>
                  <a:pt x="4895850" y="57150"/>
                </a:lnTo>
                <a:cubicBezTo>
                  <a:pt x="4895850" y="88692"/>
                  <a:pt x="4870242" y="114300"/>
                  <a:pt x="48387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45" name="Shape 43"/>
          <p:cNvSpPr/>
          <p:nvPr/>
        </p:nvSpPr>
        <p:spPr>
          <a:xfrm>
            <a:off x="6572250" y="3543067"/>
            <a:ext cx="4010025" cy="114300"/>
          </a:xfrm>
          <a:custGeom>
            <a:avLst/>
            <a:gdLst/>
            <a:ahLst/>
            <a:cxnLst/>
            <a:rect l="l" t="t" r="r" b="b"/>
            <a:pathLst>
              <a:path w="4010025" h="114300">
                <a:moveTo>
                  <a:pt x="57150" y="0"/>
                </a:moveTo>
                <a:lnTo>
                  <a:pt x="3952875" y="0"/>
                </a:lnTo>
                <a:cubicBezTo>
                  <a:pt x="3984417" y="0"/>
                  <a:pt x="4010025" y="25608"/>
                  <a:pt x="4010025" y="57150"/>
                </a:cubicBezTo>
                <a:lnTo>
                  <a:pt x="4010025" y="57150"/>
                </a:lnTo>
                <a:cubicBezTo>
                  <a:pt x="4010025" y="88692"/>
                  <a:pt x="3984417" y="114300"/>
                  <a:pt x="39528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46" name="Text 44"/>
          <p:cNvSpPr/>
          <p:nvPr/>
        </p:nvSpPr>
        <p:spPr>
          <a:xfrm>
            <a:off x="6572250" y="3733567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Coverage of relevant docs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19850" y="4190767"/>
            <a:ext cx="5200650" cy="1066800"/>
          </a:xfrm>
          <a:custGeom>
            <a:avLst/>
            <a:gdLst/>
            <a:ahLst/>
            <a:cxnLst/>
            <a:rect l="l" t="t" r="r" b="b"/>
            <a:pathLst>
              <a:path w="5200650" h="10668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990598"/>
                </a:lnTo>
                <a:cubicBezTo>
                  <a:pt x="5200650" y="1032683"/>
                  <a:pt x="5166533" y="1066800"/>
                  <a:pt x="512444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8" name="Text 46"/>
          <p:cNvSpPr/>
          <p:nvPr/>
        </p:nvSpPr>
        <p:spPr>
          <a:xfrm>
            <a:off x="6572250" y="4381147"/>
            <a:ext cx="67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F1-Score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983397" y="4343167"/>
            <a:ext cx="600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0.80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572250" y="4724047"/>
            <a:ext cx="4895850" cy="114300"/>
          </a:xfrm>
          <a:custGeom>
            <a:avLst/>
            <a:gdLst/>
            <a:ahLst/>
            <a:cxnLst/>
            <a:rect l="l" t="t" r="r" b="b"/>
            <a:pathLst>
              <a:path w="4895850" h="114300">
                <a:moveTo>
                  <a:pt x="57150" y="0"/>
                </a:moveTo>
                <a:lnTo>
                  <a:pt x="4838700" y="0"/>
                </a:lnTo>
                <a:cubicBezTo>
                  <a:pt x="4870242" y="0"/>
                  <a:pt x="4895850" y="25608"/>
                  <a:pt x="4895850" y="57150"/>
                </a:cubicBezTo>
                <a:lnTo>
                  <a:pt x="4895850" y="57150"/>
                </a:lnTo>
                <a:cubicBezTo>
                  <a:pt x="4895850" y="88692"/>
                  <a:pt x="4870242" y="114300"/>
                  <a:pt x="48387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C3138"/>
          </a:solidFill>
          <a:ln/>
        </p:spPr>
      </p:sp>
      <p:sp>
        <p:nvSpPr>
          <p:cNvPr id="51" name="Shape 49"/>
          <p:cNvSpPr/>
          <p:nvPr/>
        </p:nvSpPr>
        <p:spPr>
          <a:xfrm>
            <a:off x="6572250" y="4724047"/>
            <a:ext cx="3914775" cy="114300"/>
          </a:xfrm>
          <a:custGeom>
            <a:avLst/>
            <a:gdLst/>
            <a:ahLst/>
            <a:cxnLst/>
            <a:rect l="l" t="t" r="r" b="b"/>
            <a:pathLst>
              <a:path w="3914775" h="114300">
                <a:moveTo>
                  <a:pt x="57150" y="0"/>
                </a:moveTo>
                <a:lnTo>
                  <a:pt x="3857625" y="0"/>
                </a:lnTo>
                <a:cubicBezTo>
                  <a:pt x="3889167" y="0"/>
                  <a:pt x="3914775" y="25608"/>
                  <a:pt x="3914775" y="57150"/>
                </a:cubicBezTo>
                <a:lnTo>
                  <a:pt x="3914775" y="57150"/>
                </a:lnTo>
                <a:cubicBezTo>
                  <a:pt x="3914775" y="88692"/>
                  <a:pt x="3889167" y="114300"/>
                  <a:pt x="385762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52" name="Text 50"/>
          <p:cNvSpPr/>
          <p:nvPr/>
        </p:nvSpPr>
        <p:spPr>
          <a:xfrm>
            <a:off x="6572250" y="4914547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Harmonic mean balance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00050" y="5798818"/>
            <a:ext cx="11410950" cy="704850"/>
          </a:xfrm>
          <a:custGeom>
            <a:avLst/>
            <a:gdLst/>
            <a:ahLst/>
            <a:cxnLst/>
            <a:rect l="l" t="t" r="r" b="b"/>
            <a:pathLst>
              <a:path w="11410950" h="704850">
                <a:moveTo>
                  <a:pt x="0" y="0"/>
                </a:moveTo>
                <a:lnTo>
                  <a:pt x="11410950" y="0"/>
                </a:lnTo>
                <a:lnTo>
                  <a:pt x="11410950" y="704850"/>
                </a:lnTo>
                <a:lnTo>
                  <a:pt x="0" y="70485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14902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400050" y="5798818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0" y="70485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5" name="Shape 53"/>
          <p:cNvSpPr/>
          <p:nvPr/>
        </p:nvSpPr>
        <p:spPr>
          <a:xfrm>
            <a:off x="600075" y="603504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6" name="Text 54"/>
          <p:cNvSpPr/>
          <p:nvPr/>
        </p:nvSpPr>
        <p:spPr>
          <a:xfrm>
            <a:off x="1009650" y="6023614"/>
            <a:ext cx="612815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Status: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571030" y="6023614"/>
            <a:ext cx="37089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pipeline functional and under active testing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294382" y="5955028"/>
            <a:ext cx="1360170" cy="388620"/>
          </a:xfrm>
          <a:custGeom>
            <a:avLst/>
            <a:gdLst/>
            <a:ahLst/>
            <a:cxnLst/>
            <a:rect l="l" t="t" r="r" b="b"/>
            <a:pathLst>
              <a:path w="1360170" h="388620">
                <a:moveTo>
                  <a:pt x="76201" y="0"/>
                </a:moveTo>
                <a:lnTo>
                  <a:pt x="1283969" y="0"/>
                </a:lnTo>
                <a:cubicBezTo>
                  <a:pt x="1326054" y="0"/>
                  <a:pt x="1360170" y="34116"/>
                  <a:pt x="1360170" y="76201"/>
                </a:cubicBezTo>
                <a:lnTo>
                  <a:pt x="1360170" y="312419"/>
                </a:lnTo>
                <a:cubicBezTo>
                  <a:pt x="1360170" y="354504"/>
                  <a:pt x="1326054" y="388620"/>
                  <a:pt x="12839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 w="10160">
            <a:solidFill>
              <a:srgbClr val="05DF72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469642" y="60655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60" name="Text 58"/>
          <p:cNvSpPr/>
          <p:nvPr/>
        </p:nvSpPr>
        <p:spPr>
          <a:xfrm>
            <a:off x="10538222" y="5951218"/>
            <a:ext cx="1181100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223d068087d15bf83b12619b4474a0513dcf077b.jp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60032"/>
          </a:xfrm>
          <a:custGeom>
            <a:avLst/>
            <a:gdLst/>
            <a:ahLst/>
            <a:cxnLst/>
            <a:rect l="l" t="t" r="r" b="b"/>
            <a:pathLst>
              <a:path w="12192000" h="6860032">
                <a:moveTo>
                  <a:pt x="0" y="0"/>
                </a:moveTo>
                <a:lnTo>
                  <a:pt x="12192000" y="0"/>
                </a:lnTo>
                <a:lnTo>
                  <a:pt x="12192000" y="6860032"/>
                </a:lnTo>
                <a:lnTo>
                  <a:pt x="0" y="686003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A5F7A">
                  <a:alpha val="5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341376" y="325120"/>
            <a:ext cx="1568704" cy="325120"/>
          </a:xfrm>
          <a:custGeom>
            <a:avLst/>
            <a:gdLst/>
            <a:ahLst/>
            <a:cxnLst/>
            <a:rect l="l" t="t" r="r" b="b"/>
            <a:pathLst>
              <a:path w="1568704" h="325120">
                <a:moveTo>
                  <a:pt x="0" y="0"/>
                </a:moveTo>
                <a:lnTo>
                  <a:pt x="1568704" y="0"/>
                </a:lnTo>
                <a:lnTo>
                  <a:pt x="1568704" y="325120"/>
                </a:lnTo>
                <a:lnTo>
                  <a:pt x="0" y="325120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14902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41376" y="325120"/>
            <a:ext cx="32512" cy="325120"/>
          </a:xfrm>
          <a:custGeom>
            <a:avLst/>
            <a:gdLst/>
            <a:ahLst/>
            <a:cxnLst/>
            <a:rect l="l" t="t" r="r" b="b"/>
            <a:pathLst>
              <a:path w="32512" h="325120">
                <a:moveTo>
                  <a:pt x="0" y="0"/>
                </a:moveTo>
                <a:lnTo>
                  <a:pt x="32512" y="0"/>
                </a:lnTo>
                <a:lnTo>
                  <a:pt x="32512" y="325120"/>
                </a:lnTo>
                <a:lnTo>
                  <a:pt x="0" y="32512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Text 3"/>
          <p:cNvSpPr/>
          <p:nvPr/>
        </p:nvSpPr>
        <p:spPr>
          <a:xfrm>
            <a:off x="520192" y="390144"/>
            <a:ext cx="1292352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4" b="1" kern="0" spc="307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5120" y="910336"/>
            <a:ext cx="74777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72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Scalable, Explainable Solution for </a:t>
            </a:r>
            <a:r>
              <a:rPr lang="en-US" sz="3072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News Retrieval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41376" y="2145792"/>
            <a:ext cx="4047744" cy="1316736"/>
          </a:xfrm>
          <a:custGeom>
            <a:avLst/>
            <a:gdLst/>
            <a:ahLst/>
            <a:cxnLst/>
            <a:rect l="l" t="t" r="r" b="b"/>
            <a:pathLst>
              <a:path w="4047744" h="1316736">
                <a:moveTo>
                  <a:pt x="0" y="0"/>
                </a:moveTo>
                <a:lnTo>
                  <a:pt x="4047744" y="0"/>
                </a:lnTo>
                <a:lnTo>
                  <a:pt x="4047744" y="1316736"/>
                </a:lnTo>
                <a:lnTo>
                  <a:pt x="0" y="1316736"/>
                </a:lnTo>
                <a:lnTo>
                  <a:pt x="0" y="0"/>
                </a:lnTo>
                <a:close/>
              </a:path>
            </a:pathLst>
          </a:custGeom>
          <a:solidFill>
            <a:srgbClr val="2C3138">
              <a:alpha val="8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41376" y="2145792"/>
            <a:ext cx="32512" cy="1316736"/>
          </a:xfrm>
          <a:custGeom>
            <a:avLst/>
            <a:gdLst/>
            <a:ahLst/>
            <a:cxnLst/>
            <a:rect l="l" t="t" r="r" b="b"/>
            <a:pathLst>
              <a:path w="32512" h="1316736">
                <a:moveTo>
                  <a:pt x="0" y="0"/>
                </a:moveTo>
                <a:lnTo>
                  <a:pt x="32512" y="0"/>
                </a:lnTo>
                <a:lnTo>
                  <a:pt x="32512" y="1316736"/>
                </a:lnTo>
                <a:lnTo>
                  <a:pt x="0" y="1316736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0" name="Shape 7"/>
          <p:cNvSpPr/>
          <p:nvPr/>
        </p:nvSpPr>
        <p:spPr>
          <a:xfrm>
            <a:off x="552704" y="2340864"/>
            <a:ext cx="455168" cy="455168"/>
          </a:xfrm>
          <a:custGeom>
            <a:avLst/>
            <a:gdLst/>
            <a:ahLst/>
            <a:cxnLst/>
            <a:rect l="l" t="t" r="r" b="b"/>
            <a:pathLst>
              <a:path w="455168" h="455168">
                <a:moveTo>
                  <a:pt x="97538" y="0"/>
                </a:moveTo>
                <a:lnTo>
                  <a:pt x="357630" y="0"/>
                </a:lnTo>
                <a:cubicBezTo>
                  <a:pt x="411463" y="0"/>
                  <a:pt x="455168" y="43705"/>
                  <a:pt x="455168" y="97538"/>
                </a:cubicBezTo>
                <a:lnTo>
                  <a:pt x="455168" y="357630"/>
                </a:lnTo>
                <a:cubicBezTo>
                  <a:pt x="455168" y="411499"/>
                  <a:pt x="411499" y="455168"/>
                  <a:pt x="357630" y="455168"/>
                </a:cubicBezTo>
                <a:lnTo>
                  <a:pt x="97538" y="455168"/>
                </a:lnTo>
                <a:cubicBezTo>
                  <a:pt x="43705" y="455168"/>
                  <a:pt x="0" y="411463"/>
                  <a:pt x="0" y="357630"/>
                </a:cubicBezTo>
                <a:lnTo>
                  <a:pt x="0" y="97538"/>
                </a:lnTo>
                <a:cubicBezTo>
                  <a:pt x="0" y="43705"/>
                  <a:pt x="43705" y="0"/>
                  <a:pt x="97538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07136" y="2470912"/>
            <a:ext cx="146304" cy="195072"/>
          </a:xfrm>
          <a:custGeom>
            <a:avLst/>
            <a:gdLst/>
            <a:ahLst/>
            <a:cxnLst/>
            <a:rect l="l" t="t" r="r" b="b"/>
            <a:pathLst>
              <a:path w="146304" h="195072">
                <a:moveTo>
                  <a:pt x="111595" y="146304"/>
                </a:moveTo>
                <a:cubicBezTo>
                  <a:pt x="114376" y="137808"/>
                  <a:pt x="119939" y="130111"/>
                  <a:pt x="126225" y="123482"/>
                </a:cubicBezTo>
                <a:cubicBezTo>
                  <a:pt x="138684" y="110376"/>
                  <a:pt x="146304" y="92659"/>
                  <a:pt x="146304" y="73152"/>
                </a:cubicBezTo>
                <a:cubicBezTo>
                  <a:pt x="146304" y="32766"/>
                  <a:pt x="113538" y="0"/>
                  <a:pt x="73152" y="0"/>
                </a:cubicBezTo>
                <a:cubicBezTo>
                  <a:pt x="32766" y="0"/>
                  <a:pt x="0" y="32766"/>
                  <a:pt x="0" y="73152"/>
                </a:cubicBezTo>
                <a:cubicBezTo>
                  <a:pt x="0" y="92659"/>
                  <a:pt x="7620" y="110376"/>
                  <a:pt x="20079" y="123482"/>
                </a:cubicBezTo>
                <a:cubicBezTo>
                  <a:pt x="26365" y="130111"/>
                  <a:pt x="31966" y="137808"/>
                  <a:pt x="34709" y="146304"/>
                </a:cubicBezTo>
                <a:lnTo>
                  <a:pt x="111557" y="146304"/>
                </a:lnTo>
                <a:close/>
                <a:moveTo>
                  <a:pt x="109728" y="164592"/>
                </a:moveTo>
                <a:lnTo>
                  <a:pt x="36576" y="164592"/>
                </a:lnTo>
                <a:lnTo>
                  <a:pt x="36576" y="170688"/>
                </a:lnTo>
                <a:cubicBezTo>
                  <a:pt x="36576" y="187528"/>
                  <a:pt x="50216" y="201168"/>
                  <a:pt x="67056" y="201168"/>
                </a:cubicBezTo>
                <a:lnTo>
                  <a:pt x="79248" y="201168"/>
                </a:lnTo>
                <a:cubicBezTo>
                  <a:pt x="96088" y="201168"/>
                  <a:pt x="109728" y="187528"/>
                  <a:pt x="109728" y="170688"/>
                </a:cubicBezTo>
                <a:lnTo>
                  <a:pt x="109728" y="164592"/>
                </a:lnTo>
                <a:close/>
                <a:moveTo>
                  <a:pt x="70104" y="42672"/>
                </a:moveTo>
                <a:cubicBezTo>
                  <a:pt x="54940" y="42672"/>
                  <a:pt x="42672" y="54940"/>
                  <a:pt x="42672" y="70104"/>
                </a:cubicBezTo>
                <a:cubicBezTo>
                  <a:pt x="42672" y="75171"/>
                  <a:pt x="38595" y="79248"/>
                  <a:pt x="33528" y="79248"/>
                </a:cubicBezTo>
                <a:cubicBezTo>
                  <a:pt x="28461" y="79248"/>
                  <a:pt x="24384" y="75171"/>
                  <a:pt x="24384" y="70104"/>
                </a:cubicBezTo>
                <a:cubicBezTo>
                  <a:pt x="24384" y="44844"/>
                  <a:pt x="44844" y="24384"/>
                  <a:pt x="70104" y="24384"/>
                </a:cubicBezTo>
                <a:cubicBezTo>
                  <a:pt x="75171" y="24384"/>
                  <a:pt x="79248" y="28461"/>
                  <a:pt x="79248" y="33528"/>
                </a:cubicBezTo>
                <a:cubicBezTo>
                  <a:pt x="79248" y="38595"/>
                  <a:pt x="75171" y="42672"/>
                  <a:pt x="70104" y="4267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9"/>
          <p:cNvSpPr/>
          <p:nvPr/>
        </p:nvSpPr>
        <p:spPr>
          <a:xfrm>
            <a:off x="1137920" y="2340864"/>
            <a:ext cx="3137408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37920" y="2633472"/>
            <a:ext cx="312115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IR is fundamentally limited by lexical matching. Our hybrid approach bridges the semantic gap while maintaining efficiency.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600448" y="2145792"/>
            <a:ext cx="4047744" cy="1316736"/>
          </a:xfrm>
          <a:custGeom>
            <a:avLst/>
            <a:gdLst/>
            <a:ahLst/>
            <a:cxnLst/>
            <a:rect l="l" t="t" r="r" b="b"/>
            <a:pathLst>
              <a:path w="4047744" h="1316736">
                <a:moveTo>
                  <a:pt x="0" y="0"/>
                </a:moveTo>
                <a:lnTo>
                  <a:pt x="4047744" y="0"/>
                </a:lnTo>
                <a:lnTo>
                  <a:pt x="4047744" y="1316736"/>
                </a:lnTo>
                <a:lnTo>
                  <a:pt x="0" y="1316736"/>
                </a:lnTo>
                <a:lnTo>
                  <a:pt x="0" y="0"/>
                </a:lnTo>
                <a:close/>
              </a:path>
            </a:pathLst>
          </a:custGeom>
          <a:solidFill>
            <a:srgbClr val="2C3138">
              <a:alpha val="8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600448" y="2145792"/>
            <a:ext cx="32512" cy="1316736"/>
          </a:xfrm>
          <a:custGeom>
            <a:avLst/>
            <a:gdLst/>
            <a:ahLst/>
            <a:cxnLst/>
            <a:rect l="l" t="t" r="r" b="b"/>
            <a:pathLst>
              <a:path w="32512" h="1316736">
                <a:moveTo>
                  <a:pt x="0" y="0"/>
                </a:moveTo>
                <a:lnTo>
                  <a:pt x="32512" y="0"/>
                </a:lnTo>
                <a:lnTo>
                  <a:pt x="32512" y="1316736"/>
                </a:lnTo>
                <a:lnTo>
                  <a:pt x="0" y="1316736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6" name="Shape 13"/>
          <p:cNvSpPr/>
          <p:nvPr/>
        </p:nvSpPr>
        <p:spPr>
          <a:xfrm>
            <a:off x="4811776" y="2340864"/>
            <a:ext cx="455168" cy="455168"/>
          </a:xfrm>
          <a:custGeom>
            <a:avLst/>
            <a:gdLst/>
            <a:ahLst/>
            <a:cxnLst/>
            <a:rect l="l" t="t" r="r" b="b"/>
            <a:pathLst>
              <a:path w="455168" h="455168">
                <a:moveTo>
                  <a:pt x="97538" y="0"/>
                </a:moveTo>
                <a:lnTo>
                  <a:pt x="357630" y="0"/>
                </a:lnTo>
                <a:cubicBezTo>
                  <a:pt x="411463" y="0"/>
                  <a:pt x="455168" y="43705"/>
                  <a:pt x="455168" y="97538"/>
                </a:cubicBezTo>
                <a:lnTo>
                  <a:pt x="455168" y="357630"/>
                </a:lnTo>
                <a:cubicBezTo>
                  <a:pt x="455168" y="411499"/>
                  <a:pt x="411499" y="455168"/>
                  <a:pt x="357630" y="455168"/>
                </a:cubicBezTo>
                <a:lnTo>
                  <a:pt x="97538" y="455168"/>
                </a:lnTo>
                <a:cubicBezTo>
                  <a:pt x="43705" y="455168"/>
                  <a:pt x="0" y="411463"/>
                  <a:pt x="0" y="357630"/>
                </a:cubicBezTo>
                <a:lnTo>
                  <a:pt x="0" y="97538"/>
                </a:lnTo>
                <a:cubicBezTo>
                  <a:pt x="0" y="43705"/>
                  <a:pt x="43705" y="0"/>
                  <a:pt x="97538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941824" y="2470912"/>
            <a:ext cx="195072" cy="195072"/>
          </a:xfrm>
          <a:custGeom>
            <a:avLst/>
            <a:gdLst/>
            <a:ahLst/>
            <a:cxnLst/>
            <a:rect l="l" t="t" r="r" b="b"/>
            <a:pathLst>
              <a:path w="195072" h="195072">
                <a:moveTo>
                  <a:pt x="88582" y="1981"/>
                </a:moveTo>
                <a:cubicBezTo>
                  <a:pt x="94259" y="-648"/>
                  <a:pt x="100813" y="-648"/>
                  <a:pt x="106490" y="1981"/>
                </a:cubicBezTo>
                <a:lnTo>
                  <a:pt x="189776" y="40462"/>
                </a:lnTo>
                <a:cubicBezTo>
                  <a:pt x="193015" y="41948"/>
                  <a:pt x="195072" y="45187"/>
                  <a:pt x="195072" y="48768"/>
                </a:cubicBezTo>
                <a:cubicBezTo>
                  <a:pt x="195072" y="52349"/>
                  <a:pt x="193015" y="55588"/>
                  <a:pt x="189776" y="57074"/>
                </a:cubicBezTo>
                <a:lnTo>
                  <a:pt x="106490" y="95555"/>
                </a:lnTo>
                <a:cubicBezTo>
                  <a:pt x="100813" y="98184"/>
                  <a:pt x="94259" y="98184"/>
                  <a:pt x="88582" y="95555"/>
                </a:cubicBezTo>
                <a:lnTo>
                  <a:pt x="5296" y="57074"/>
                </a:lnTo>
                <a:cubicBezTo>
                  <a:pt x="2057" y="55550"/>
                  <a:pt x="0" y="52311"/>
                  <a:pt x="0" y="48768"/>
                </a:cubicBezTo>
                <a:cubicBezTo>
                  <a:pt x="0" y="45225"/>
                  <a:pt x="2057" y="41948"/>
                  <a:pt x="5296" y="40462"/>
                </a:cubicBezTo>
                <a:lnTo>
                  <a:pt x="88582" y="1981"/>
                </a:lnTo>
                <a:close/>
                <a:moveTo>
                  <a:pt x="18326" y="83210"/>
                </a:moveTo>
                <a:lnTo>
                  <a:pt x="80924" y="112128"/>
                </a:lnTo>
                <a:cubicBezTo>
                  <a:pt x="91478" y="117005"/>
                  <a:pt x="103632" y="117005"/>
                  <a:pt x="114186" y="112128"/>
                </a:cubicBezTo>
                <a:lnTo>
                  <a:pt x="176784" y="83210"/>
                </a:lnTo>
                <a:lnTo>
                  <a:pt x="189776" y="89230"/>
                </a:lnTo>
                <a:cubicBezTo>
                  <a:pt x="193015" y="90716"/>
                  <a:pt x="195072" y="93955"/>
                  <a:pt x="195072" y="97536"/>
                </a:cubicBezTo>
                <a:cubicBezTo>
                  <a:pt x="195072" y="101117"/>
                  <a:pt x="193015" y="104356"/>
                  <a:pt x="189776" y="105842"/>
                </a:cubicBezTo>
                <a:lnTo>
                  <a:pt x="106490" y="144323"/>
                </a:lnTo>
                <a:cubicBezTo>
                  <a:pt x="100813" y="146952"/>
                  <a:pt x="94259" y="146952"/>
                  <a:pt x="88582" y="144323"/>
                </a:cubicBezTo>
                <a:lnTo>
                  <a:pt x="5296" y="105842"/>
                </a:lnTo>
                <a:cubicBezTo>
                  <a:pt x="2057" y="104318"/>
                  <a:pt x="0" y="101079"/>
                  <a:pt x="0" y="97536"/>
                </a:cubicBezTo>
                <a:cubicBezTo>
                  <a:pt x="0" y="93993"/>
                  <a:pt x="2057" y="90716"/>
                  <a:pt x="5296" y="89230"/>
                </a:cubicBezTo>
                <a:lnTo>
                  <a:pt x="18288" y="83210"/>
                </a:lnTo>
                <a:close/>
                <a:moveTo>
                  <a:pt x="5296" y="137998"/>
                </a:moveTo>
                <a:lnTo>
                  <a:pt x="18288" y="131978"/>
                </a:lnTo>
                <a:lnTo>
                  <a:pt x="80886" y="160896"/>
                </a:lnTo>
                <a:cubicBezTo>
                  <a:pt x="91440" y="165773"/>
                  <a:pt x="103594" y="165773"/>
                  <a:pt x="114148" y="160896"/>
                </a:cubicBezTo>
                <a:lnTo>
                  <a:pt x="176746" y="131978"/>
                </a:lnTo>
                <a:lnTo>
                  <a:pt x="189738" y="137998"/>
                </a:lnTo>
                <a:cubicBezTo>
                  <a:pt x="192977" y="139484"/>
                  <a:pt x="195034" y="142723"/>
                  <a:pt x="195034" y="146304"/>
                </a:cubicBezTo>
                <a:cubicBezTo>
                  <a:pt x="195034" y="149885"/>
                  <a:pt x="192977" y="153124"/>
                  <a:pt x="189738" y="154610"/>
                </a:cubicBezTo>
                <a:lnTo>
                  <a:pt x="106451" y="193091"/>
                </a:lnTo>
                <a:cubicBezTo>
                  <a:pt x="100775" y="195720"/>
                  <a:pt x="94221" y="195720"/>
                  <a:pt x="88544" y="193091"/>
                </a:cubicBezTo>
                <a:lnTo>
                  <a:pt x="5296" y="154610"/>
                </a:lnTo>
                <a:cubicBezTo>
                  <a:pt x="2057" y="153086"/>
                  <a:pt x="0" y="149847"/>
                  <a:pt x="0" y="146304"/>
                </a:cubicBezTo>
                <a:cubicBezTo>
                  <a:pt x="0" y="142761"/>
                  <a:pt x="2057" y="139484"/>
                  <a:pt x="5296" y="137998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8" name="Text 15"/>
          <p:cNvSpPr/>
          <p:nvPr/>
        </p:nvSpPr>
        <p:spPr>
          <a:xfrm>
            <a:off x="5396992" y="2340864"/>
            <a:ext cx="3137408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Innovation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96992" y="2633472"/>
            <a:ext cx="312115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 + FAISS fusion with metadata boosting delivers superior retrieval accuracy without sacrificing explainability.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41376" y="3657600"/>
            <a:ext cx="4047744" cy="1105408"/>
          </a:xfrm>
          <a:custGeom>
            <a:avLst/>
            <a:gdLst/>
            <a:ahLst/>
            <a:cxnLst/>
            <a:rect l="l" t="t" r="r" b="b"/>
            <a:pathLst>
              <a:path w="4047744" h="1105408">
                <a:moveTo>
                  <a:pt x="0" y="0"/>
                </a:moveTo>
                <a:lnTo>
                  <a:pt x="4047744" y="0"/>
                </a:lnTo>
                <a:lnTo>
                  <a:pt x="4047744" y="1105408"/>
                </a:lnTo>
                <a:lnTo>
                  <a:pt x="0" y="1105408"/>
                </a:lnTo>
                <a:lnTo>
                  <a:pt x="0" y="0"/>
                </a:lnTo>
                <a:close/>
              </a:path>
            </a:pathLst>
          </a:custGeom>
          <a:solidFill>
            <a:srgbClr val="2C3138">
              <a:alpha val="8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341376" y="3657600"/>
            <a:ext cx="32512" cy="1105408"/>
          </a:xfrm>
          <a:custGeom>
            <a:avLst/>
            <a:gdLst/>
            <a:ahLst/>
            <a:cxnLst/>
            <a:rect l="l" t="t" r="r" b="b"/>
            <a:pathLst>
              <a:path w="32512" h="1105408">
                <a:moveTo>
                  <a:pt x="0" y="0"/>
                </a:moveTo>
                <a:lnTo>
                  <a:pt x="32512" y="0"/>
                </a:lnTo>
                <a:lnTo>
                  <a:pt x="32512" y="1105408"/>
                </a:lnTo>
                <a:lnTo>
                  <a:pt x="0" y="1105408"/>
                </a:lnTo>
                <a:lnTo>
                  <a:pt x="0" y="0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22" name="Shape 19"/>
          <p:cNvSpPr/>
          <p:nvPr/>
        </p:nvSpPr>
        <p:spPr>
          <a:xfrm>
            <a:off x="552704" y="3852672"/>
            <a:ext cx="455168" cy="455168"/>
          </a:xfrm>
          <a:custGeom>
            <a:avLst/>
            <a:gdLst/>
            <a:ahLst/>
            <a:cxnLst/>
            <a:rect l="l" t="t" r="r" b="b"/>
            <a:pathLst>
              <a:path w="455168" h="455168">
                <a:moveTo>
                  <a:pt x="97538" y="0"/>
                </a:moveTo>
                <a:lnTo>
                  <a:pt x="357630" y="0"/>
                </a:lnTo>
                <a:cubicBezTo>
                  <a:pt x="411463" y="0"/>
                  <a:pt x="455168" y="43705"/>
                  <a:pt x="455168" y="97538"/>
                </a:cubicBezTo>
                <a:lnTo>
                  <a:pt x="455168" y="357630"/>
                </a:lnTo>
                <a:cubicBezTo>
                  <a:pt x="455168" y="411499"/>
                  <a:pt x="411499" y="455168"/>
                  <a:pt x="357630" y="455168"/>
                </a:cubicBezTo>
                <a:lnTo>
                  <a:pt x="97538" y="455168"/>
                </a:lnTo>
                <a:cubicBezTo>
                  <a:pt x="43705" y="455168"/>
                  <a:pt x="0" y="411463"/>
                  <a:pt x="0" y="357630"/>
                </a:cubicBezTo>
                <a:lnTo>
                  <a:pt x="0" y="97538"/>
                </a:lnTo>
                <a:cubicBezTo>
                  <a:pt x="0" y="43705"/>
                  <a:pt x="43705" y="0"/>
                  <a:pt x="97538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70560" y="3982720"/>
            <a:ext cx="219456" cy="195072"/>
          </a:xfrm>
          <a:custGeom>
            <a:avLst/>
            <a:gdLst/>
            <a:ahLst/>
            <a:cxnLst/>
            <a:rect l="l" t="t" r="r" b="b"/>
            <a:pathLst>
              <a:path w="219456" h="195072">
                <a:moveTo>
                  <a:pt x="152857" y="14897"/>
                </a:moveTo>
                <a:lnTo>
                  <a:pt x="209321" y="72161"/>
                </a:lnTo>
                <a:cubicBezTo>
                  <a:pt x="219875" y="82868"/>
                  <a:pt x="219875" y="100013"/>
                  <a:pt x="209321" y="110719"/>
                </a:cubicBezTo>
                <a:lnTo>
                  <a:pt x="149733" y="171031"/>
                </a:lnTo>
                <a:cubicBezTo>
                  <a:pt x="146190" y="174612"/>
                  <a:pt x="140399" y="174650"/>
                  <a:pt x="136817" y="171107"/>
                </a:cubicBezTo>
                <a:cubicBezTo>
                  <a:pt x="133236" y="167564"/>
                  <a:pt x="133198" y="161773"/>
                  <a:pt x="136741" y="158191"/>
                </a:cubicBezTo>
                <a:lnTo>
                  <a:pt x="196329" y="97841"/>
                </a:lnTo>
                <a:cubicBezTo>
                  <a:pt x="199835" y="94298"/>
                  <a:pt x="199835" y="88544"/>
                  <a:pt x="196329" y="85001"/>
                </a:cubicBezTo>
                <a:lnTo>
                  <a:pt x="139827" y="27775"/>
                </a:lnTo>
                <a:cubicBezTo>
                  <a:pt x="136284" y="24194"/>
                  <a:pt x="136322" y="18402"/>
                  <a:pt x="139903" y="14859"/>
                </a:cubicBezTo>
                <a:cubicBezTo>
                  <a:pt x="143485" y="11316"/>
                  <a:pt x="149276" y="11354"/>
                  <a:pt x="152819" y="14935"/>
                </a:cubicBezTo>
                <a:close/>
                <a:moveTo>
                  <a:pt x="12230" y="87440"/>
                </a:moveTo>
                <a:lnTo>
                  <a:pt x="12230" y="36576"/>
                </a:lnTo>
                <a:cubicBezTo>
                  <a:pt x="12230" y="23127"/>
                  <a:pt x="23165" y="12192"/>
                  <a:pt x="36614" y="12192"/>
                </a:cubicBezTo>
                <a:lnTo>
                  <a:pt x="87478" y="12192"/>
                </a:lnTo>
                <a:cubicBezTo>
                  <a:pt x="93955" y="12192"/>
                  <a:pt x="100165" y="14745"/>
                  <a:pt x="104737" y="19317"/>
                </a:cubicBezTo>
                <a:lnTo>
                  <a:pt x="159601" y="74181"/>
                </a:lnTo>
                <a:cubicBezTo>
                  <a:pt x="169126" y="83706"/>
                  <a:pt x="169126" y="99136"/>
                  <a:pt x="159601" y="108661"/>
                </a:cubicBezTo>
                <a:lnTo>
                  <a:pt x="108737" y="159525"/>
                </a:lnTo>
                <a:cubicBezTo>
                  <a:pt x="99212" y="169050"/>
                  <a:pt x="83782" y="169050"/>
                  <a:pt x="74257" y="159525"/>
                </a:cubicBezTo>
                <a:lnTo>
                  <a:pt x="19393" y="104661"/>
                </a:lnTo>
                <a:cubicBezTo>
                  <a:pt x="14821" y="100089"/>
                  <a:pt x="12268" y="93878"/>
                  <a:pt x="12268" y="87401"/>
                </a:cubicBezTo>
                <a:close/>
                <a:moveTo>
                  <a:pt x="67094" y="54864"/>
                </a:moveTo>
                <a:cubicBezTo>
                  <a:pt x="67094" y="48135"/>
                  <a:pt x="61631" y="42672"/>
                  <a:pt x="54902" y="42672"/>
                </a:cubicBezTo>
                <a:cubicBezTo>
                  <a:pt x="48173" y="42672"/>
                  <a:pt x="42710" y="48135"/>
                  <a:pt x="42710" y="54864"/>
                </a:cubicBezTo>
                <a:cubicBezTo>
                  <a:pt x="42710" y="61593"/>
                  <a:pt x="48173" y="67056"/>
                  <a:pt x="54902" y="67056"/>
                </a:cubicBezTo>
                <a:cubicBezTo>
                  <a:pt x="61631" y="67056"/>
                  <a:pt x="67094" y="61593"/>
                  <a:pt x="67094" y="54864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24" name="Text 21"/>
          <p:cNvSpPr/>
          <p:nvPr/>
        </p:nvSpPr>
        <p:spPr>
          <a:xfrm>
            <a:off x="1137920" y="3852672"/>
            <a:ext cx="3137408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Matters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37920" y="4145280"/>
            <a:ext cx="31211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Recency and source authority significantly enhance relevance when properly integrated into scoring.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600448" y="3657600"/>
            <a:ext cx="4047744" cy="1105408"/>
          </a:xfrm>
          <a:custGeom>
            <a:avLst/>
            <a:gdLst/>
            <a:ahLst/>
            <a:cxnLst/>
            <a:rect l="l" t="t" r="r" b="b"/>
            <a:pathLst>
              <a:path w="4047744" h="1105408">
                <a:moveTo>
                  <a:pt x="0" y="0"/>
                </a:moveTo>
                <a:lnTo>
                  <a:pt x="4047744" y="0"/>
                </a:lnTo>
                <a:lnTo>
                  <a:pt x="4047744" y="1105408"/>
                </a:lnTo>
                <a:lnTo>
                  <a:pt x="0" y="1105408"/>
                </a:lnTo>
                <a:lnTo>
                  <a:pt x="0" y="0"/>
                </a:lnTo>
                <a:close/>
              </a:path>
            </a:pathLst>
          </a:custGeom>
          <a:solidFill>
            <a:srgbClr val="2C3138">
              <a:alpha val="8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4600448" y="3657600"/>
            <a:ext cx="32512" cy="1105408"/>
          </a:xfrm>
          <a:custGeom>
            <a:avLst/>
            <a:gdLst/>
            <a:ahLst/>
            <a:cxnLst/>
            <a:rect l="l" t="t" r="r" b="b"/>
            <a:pathLst>
              <a:path w="32512" h="1105408">
                <a:moveTo>
                  <a:pt x="0" y="0"/>
                </a:moveTo>
                <a:lnTo>
                  <a:pt x="32512" y="0"/>
                </a:lnTo>
                <a:lnTo>
                  <a:pt x="32512" y="1105408"/>
                </a:lnTo>
                <a:lnTo>
                  <a:pt x="0" y="1105408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8" name="Shape 25"/>
          <p:cNvSpPr/>
          <p:nvPr/>
        </p:nvSpPr>
        <p:spPr>
          <a:xfrm>
            <a:off x="4811776" y="3852672"/>
            <a:ext cx="455168" cy="455168"/>
          </a:xfrm>
          <a:custGeom>
            <a:avLst/>
            <a:gdLst/>
            <a:ahLst/>
            <a:cxnLst/>
            <a:rect l="l" t="t" r="r" b="b"/>
            <a:pathLst>
              <a:path w="455168" h="455168">
                <a:moveTo>
                  <a:pt x="97538" y="0"/>
                </a:moveTo>
                <a:lnTo>
                  <a:pt x="357630" y="0"/>
                </a:lnTo>
                <a:cubicBezTo>
                  <a:pt x="411463" y="0"/>
                  <a:pt x="455168" y="43705"/>
                  <a:pt x="455168" y="97538"/>
                </a:cubicBezTo>
                <a:lnTo>
                  <a:pt x="455168" y="357630"/>
                </a:lnTo>
                <a:cubicBezTo>
                  <a:pt x="455168" y="411499"/>
                  <a:pt x="411499" y="455168"/>
                  <a:pt x="357630" y="455168"/>
                </a:cubicBezTo>
                <a:lnTo>
                  <a:pt x="97538" y="455168"/>
                </a:lnTo>
                <a:cubicBezTo>
                  <a:pt x="43705" y="455168"/>
                  <a:pt x="0" y="411463"/>
                  <a:pt x="0" y="357630"/>
                </a:cubicBezTo>
                <a:lnTo>
                  <a:pt x="0" y="97538"/>
                </a:lnTo>
                <a:cubicBezTo>
                  <a:pt x="0" y="43705"/>
                  <a:pt x="43705" y="0"/>
                  <a:pt x="97538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4929632" y="3982720"/>
            <a:ext cx="219456" cy="195072"/>
          </a:xfrm>
          <a:custGeom>
            <a:avLst/>
            <a:gdLst/>
            <a:ahLst/>
            <a:cxnLst/>
            <a:rect l="l" t="t" r="r" b="b"/>
            <a:pathLst>
              <a:path w="219456" h="195072">
                <a:moveTo>
                  <a:pt x="109728" y="12192"/>
                </a:moveTo>
                <a:cubicBezTo>
                  <a:pt x="78943" y="12192"/>
                  <a:pt x="54293" y="26213"/>
                  <a:pt x="36347" y="42901"/>
                </a:cubicBezTo>
                <a:cubicBezTo>
                  <a:pt x="18517" y="59474"/>
                  <a:pt x="6591" y="79248"/>
                  <a:pt x="914" y="92850"/>
                </a:cubicBezTo>
                <a:cubicBezTo>
                  <a:pt x="-343" y="95860"/>
                  <a:pt x="-343" y="99212"/>
                  <a:pt x="914" y="102222"/>
                </a:cubicBezTo>
                <a:cubicBezTo>
                  <a:pt x="6591" y="115824"/>
                  <a:pt x="18517" y="135636"/>
                  <a:pt x="36347" y="152171"/>
                </a:cubicBezTo>
                <a:cubicBezTo>
                  <a:pt x="54293" y="168821"/>
                  <a:pt x="78943" y="182880"/>
                  <a:pt x="109728" y="182880"/>
                </a:cubicBezTo>
                <a:cubicBezTo>
                  <a:pt x="140513" y="182880"/>
                  <a:pt x="165164" y="168859"/>
                  <a:pt x="183109" y="152171"/>
                </a:cubicBezTo>
                <a:cubicBezTo>
                  <a:pt x="200939" y="135598"/>
                  <a:pt x="212865" y="115824"/>
                  <a:pt x="218542" y="102222"/>
                </a:cubicBezTo>
                <a:cubicBezTo>
                  <a:pt x="219799" y="99212"/>
                  <a:pt x="219799" y="95860"/>
                  <a:pt x="218542" y="92850"/>
                </a:cubicBezTo>
                <a:cubicBezTo>
                  <a:pt x="212865" y="79248"/>
                  <a:pt x="200939" y="59436"/>
                  <a:pt x="183109" y="42901"/>
                </a:cubicBezTo>
                <a:cubicBezTo>
                  <a:pt x="165164" y="26251"/>
                  <a:pt x="140513" y="12192"/>
                  <a:pt x="109728" y="12192"/>
                </a:cubicBezTo>
                <a:close/>
                <a:moveTo>
                  <a:pt x="54864" y="97536"/>
                </a:moveTo>
                <a:cubicBezTo>
                  <a:pt x="54864" y="67256"/>
                  <a:pt x="79448" y="42672"/>
                  <a:pt x="109728" y="42672"/>
                </a:cubicBezTo>
                <a:cubicBezTo>
                  <a:pt x="140008" y="42672"/>
                  <a:pt x="164592" y="67256"/>
                  <a:pt x="164592" y="97536"/>
                </a:cubicBezTo>
                <a:cubicBezTo>
                  <a:pt x="164592" y="127816"/>
                  <a:pt x="140008" y="152400"/>
                  <a:pt x="109728" y="152400"/>
                </a:cubicBezTo>
                <a:cubicBezTo>
                  <a:pt x="79448" y="152400"/>
                  <a:pt x="54864" y="127816"/>
                  <a:pt x="54864" y="97536"/>
                </a:cubicBezTo>
                <a:close/>
                <a:moveTo>
                  <a:pt x="109728" y="73152"/>
                </a:moveTo>
                <a:cubicBezTo>
                  <a:pt x="109728" y="86601"/>
                  <a:pt x="98793" y="97536"/>
                  <a:pt x="85344" y="97536"/>
                </a:cubicBezTo>
                <a:cubicBezTo>
                  <a:pt x="80963" y="97536"/>
                  <a:pt x="76848" y="96393"/>
                  <a:pt x="73266" y="94336"/>
                </a:cubicBezTo>
                <a:cubicBezTo>
                  <a:pt x="72885" y="98488"/>
                  <a:pt x="73228" y="102756"/>
                  <a:pt x="74371" y="106985"/>
                </a:cubicBezTo>
                <a:cubicBezTo>
                  <a:pt x="79591" y="126492"/>
                  <a:pt x="99670" y="138074"/>
                  <a:pt x="119177" y="132855"/>
                </a:cubicBezTo>
                <a:cubicBezTo>
                  <a:pt x="138684" y="127635"/>
                  <a:pt x="150266" y="107556"/>
                  <a:pt x="145047" y="88049"/>
                </a:cubicBezTo>
                <a:cubicBezTo>
                  <a:pt x="140399" y="70637"/>
                  <a:pt x="123901" y="59550"/>
                  <a:pt x="106528" y="61074"/>
                </a:cubicBezTo>
                <a:cubicBezTo>
                  <a:pt x="108547" y="64618"/>
                  <a:pt x="109728" y="68732"/>
                  <a:pt x="109728" y="7315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0" name="Text 27"/>
          <p:cNvSpPr/>
          <p:nvPr/>
        </p:nvSpPr>
        <p:spPr>
          <a:xfrm>
            <a:off x="5396992" y="3852672"/>
            <a:ext cx="3137408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Explainability First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396992" y="4145280"/>
            <a:ext cx="3121152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E8EAED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Transparent ranking decisions build user trust and enable debugging—critical for production IR systems.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28371" y="5026355"/>
            <a:ext cx="8313318" cy="1176934"/>
          </a:xfrm>
          <a:custGeom>
            <a:avLst/>
            <a:gdLst/>
            <a:ahLst/>
            <a:cxnLst/>
            <a:rect l="l" t="t" r="r" b="b"/>
            <a:pathLst>
              <a:path w="8313318" h="1176934">
                <a:moveTo>
                  <a:pt x="0" y="0"/>
                </a:moveTo>
                <a:lnTo>
                  <a:pt x="8313318" y="0"/>
                </a:lnTo>
                <a:lnTo>
                  <a:pt x="8313318" y="1176934"/>
                </a:lnTo>
                <a:lnTo>
                  <a:pt x="0" y="1176934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51078" y="546842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73152" y="182880"/>
                </a:moveTo>
                <a:lnTo>
                  <a:pt x="14002" y="182880"/>
                </a:lnTo>
                <a:cubicBezTo>
                  <a:pt x="-229" y="182880"/>
                  <a:pt x="-8973" y="167392"/>
                  <a:pt x="-1657" y="155162"/>
                </a:cubicBezTo>
                <a:lnTo>
                  <a:pt x="28575" y="104756"/>
                </a:lnTo>
                <a:cubicBezTo>
                  <a:pt x="33547" y="96469"/>
                  <a:pt x="42462" y="91440"/>
                  <a:pt x="52121" y="91440"/>
                </a:cubicBezTo>
                <a:lnTo>
                  <a:pt x="106413" y="91440"/>
                </a:lnTo>
                <a:cubicBezTo>
                  <a:pt x="149904" y="17774"/>
                  <a:pt x="214770" y="14059"/>
                  <a:pt x="258147" y="20403"/>
                </a:cubicBezTo>
                <a:cubicBezTo>
                  <a:pt x="265462" y="21488"/>
                  <a:pt x="271177" y="27203"/>
                  <a:pt x="272205" y="34461"/>
                </a:cubicBezTo>
                <a:cubicBezTo>
                  <a:pt x="278549" y="77838"/>
                  <a:pt x="274834" y="142704"/>
                  <a:pt x="201168" y="186195"/>
                </a:cubicBezTo>
                <a:lnTo>
                  <a:pt x="201168" y="240487"/>
                </a:lnTo>
                <a:cubicBezTo>
                  <a:pt x="201168" y="250146"/>
                  <a:pt x="196139" y="259061"/>
                  <a:pt x="187852" y="264033"/>
                </a:cubicBezTo>
                <a:lnTo>
                  <a:pt x="137446" y="294265"/>
                </a:lnTo>
                <a:cubicBezTo>
                  <a:pt x="125273" y="301581"/>
                  <a:pt x="109728" y="292779"/>
                  <a:pt x="109728" y="278606"/>
                </a:cubicBezTo>
                <a:lnTo>
                  <a:pt x="109728" y="219456"/>
                </a:lnTo>
                <a:cubicBezTo>
                  <a:pt x="109728" y="199282"/>
                  <a:pt x="93326" y="182880"/>
                  <a:pt x="73152" y="182880"/>
                </a:cubicBezTo>
                <a:lnTo>
                  <a:pt x="73095" y="182880"/>
                </a:lnTo>
                <a:close/>
                <a:moveTo>
                  <a:pt x="228600" y="91440"/>
                </a:moveTo>
                <a:cubicBezTo>
                  <a:pt x="228600" y="76300"/>
                  <a:pt x="216308" y="64008"/>
                  <a:pt x="201168" y="64008"/>
                </a:cubicBezTo>
                <a:cubicBezTo>
                  <a:pt x="186028" y="64008"/>
                  <a:pt x="173736" y="76300"/>
                  <a:pt x="173736" y="91440"/>
                </a:cubicBezTo>
                <a:cubicBezTo>
                  <a:pt x="173736" y="106580"/>
                  <a:pt x="186028" y="118872"/>
                  <a:pt x="201168" y="118872"/>
                </a:cubicBezTo>
                <a:cubicBezTo>
                  <a:pt x="216308" y="118872"/>
                  <a:pt x="228600" y="106580"/>
                  <a:pt x="228600" y="9144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4" name="Text 31"/>
          <p:cNvSpPr/>
          <p:nvPr/>
        </p:nvSpPr>
        <p:spPr>
          <a:xfrm>
            <a:off x="1032154" y="5224677"/>
            <a:ext cx="7510272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6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system provides a scalable, explainable, and efficient solution for modern news retrieval.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32154" y="5777182"/>
            <a:ext cx="7485888" cy="22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Bridging the gap between classical IR and modern AI.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325120" y="6209590"/>
            <a:ext cx="11541760" cy="6502"/>
          </a:xfrm>
          <a:custGeom>
            <a:avLst/>
            <a:gdLst/>
            <a:ahLst/>
            <a:cxnLst/>
            <a:rect l="l" t="t" r="r" b="b"/>
            <a:pathLst>
              <a:path w="11541760" h="6502">
                <a:moveTo>
                  <a:pt x="0" y="0"/>
                </a:moveTo>
                <a:lnTo>
                  <a:pt x="11541760" y="0"/>
                </a:lnTo>
                <a:lnTo>
                  <a:pt x="11541760" y="6502"/>
                </a:lnTo>
                <a:lnTo>
                  <a:pt x="0" y="6502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9353703" y="6472936"/>
            <a:ext cx="25196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24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Metadata-Driven Intelligent News Retrieval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361831" y="6700520"/>
            <a:ext cx="2511552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96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Project 2025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1396</Words>
  <Application>Microsoft Office PowerPoint</Application>
  <PresentationFormat>Widescreen</PresentationFormat>
  <Paragraphs>387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Liter</vt:lpstr>
      <vt:lpstr>Quattrocento Sans</vt:lpstr>
      <vt:lpstr>Arial</vt:lpstr>
      <vt:lpstr>微软雅黑</vt:lpstr>
      <vt:lpstr>Noto Sans SC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Metadata-Driven Intelligent News Retrieval System</dc:title>
  <dc:subject>Metadata-Driven Intelligent News Retrieval System</dc:subject>
  <dc:creator>Kimi</dc:creator>
  <cp:lastModifiedBy>krishna surya</cp:lastModifiedBy>
  <cp:revision>4</cp:revision>
  <dcterms:created xsi:type="dcterms:W3CDTF">2026-03-17T17:52:13Z</dcterms:created>
  <dcterms:modified xsi:type="dcterms:W3CDTF">2026-03-31T17:04:19Z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{"Label":"Metadata-Driven Intelligent News Retrieval System","ContentProducer":"001191110108MACG2KBH8F10000","ProduceID":"19cfce80-a6e2-8fc7-8000-000038a7e7ab","ReservedCode1":"","ContentPropagator":"001191110108MACG2KBH8F20000","PropagateID":"19cfce80-a6e2-8fc7-8000-000038a7e7ab","ReservedCode2":""}</vt:lpwstr>
  </property>
</Properties>
</file>