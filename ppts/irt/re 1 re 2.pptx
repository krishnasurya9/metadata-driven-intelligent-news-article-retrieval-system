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MiSans" panose="020B0604020202020204" charset="-122"/>
      <p:regular r:id="rId21"/>
    </p:embeddedFont>
    <p:embeddedFont>
      <p:font typeface="Li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456" autoAdjust="0"/>
  </p:normalViewPr>
  <p:slideViewPr>
    <p:cSldViewPr snapToGrid="0" snapToObjects="1">
      <p:cViewPr varScale="1">
        <p:scale>
          <a:sx n="68" d="100"/>
          <a:sy n="68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95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Good morning everyone.</a:t>
            </a:r>
            <a:br>
              <a:rPr lang="en-IN" dirty="0"/>
            </a:br>
            <a:r>
              <a:rPr lang="en-IN" dirty="0"/>
              <a:t>I’m Krishna Surya, and along with my teammate Shanmuka Vardhan, we present our project on Metadata-Driven Intelligent News Retrieval.</a:t>
            </a:r>
          </a:p>
          <a:p>
            <a:r>
              <a:rPr lang="en-IN" dirty="0"/>
              <a:t>This work focuses on improving search systems by combining semantic intelligence with metadata.”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“Let’s start with the problem.</a:t>
            </a:r>
          </a:p>
          <a:p>
            <a:r>
              <a:rPr lang="en-US" dirty="0"/>
              <a:t>Traditional search systems fail because they don’t understand meaning.</a:t>
            </a:r>
            <a:br>
              <a:rPr lang="en-US" dirty="0"/>
            </a:br>
            <a:r>
              <a:rPr lang="en-US" dirty="0"/>
              <a:t>For example, ‘economic crisis’ and ‘recession’ are treated as different.</a:t>
            </a:r>
          </a:p>
          <a:p>
            <a:r>
              <a:rPr lang="en-US" dirty="0"/>
              <a:t>They also ignore metadata like recency and credibility.</a:t>
            </a:r>
          </a:p>
          <a:p>
            <a:r>
              <a:rPr lang="en-US" dirty="0"/>
              <a:t>And finally, they cannot handle real-time news streams effectively.</a:t>
            </a:r>
          </a:p>
          <a:p>
            <a:r>
              <a:rPr lang="en-US" dirty="0"/>
              <a:t>So clearly, we need a smarter retrieval system.”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classical information retrieval, we have methods like TF-IDF and Vector Space Model.</a:t>
            </a:r>
          </a:p>
          <a:p>
            <a:r>
              <a:rPr lang="en-US" dirty="0"/>
              <a:t>These use term frequency to measure importance.</a:t>
            </a:r>
          </a:p>
          <a:p>
            <a:r>
              <a:rPr lang="en-US" dirty="0"/>
              <a:t>BM25 improves this using probabilistic ranking and document length normalization.</a:t>
            </a:r>
          </a:p>
          <a:p>
            <a:r>
              <a:rPr lang="en-US" dirty="0"/>
              <a:t>However, all these methods rely only on keyword matching.”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“Modern approaches include FAISS and RAG.</a:t>
            </a:r>
          </a:p>
          <a:p>
            <a:r>
              <a:rPr lang="en-US" dirty="0"/>
              <a:t>FAISS enables semantic similarity search using embeddings.</a:t>
            </a:r>
          </a:p>
          <a:p>
            <a:r>
              <a:rPr lang="en-US" dirty="0"/>
              <a:t>RAG combines retrieval with generation using language models.</a:t>
            </a:r>
          </a:p>
          <a:p>
            <a:r>
              <a:rPr lang="en-US" dirty="0"/>
              <a:t>But these approaches have high computational cost and low explainability.”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“From our comparative analysis of existing methods, we identified a clear research gap.</a:t>
            </a:r>
          </a:p>
          <a:p>
            <a:r>
              <a:rPr lang="en-US" dirty="0"/>
              <a:t>Traditional approaches like </a:t>
            </a:r>
            <a:r>
              <a:rPr lang="en-US" b="1" dirty="0"/>
              <a:t>TF-IDF and BM25</a:t>
            </a:r>
            <a:r>
              <a:rPr lang="en-US" dirty="0"/>
              <a:t> are fast and effective for keyword matching,</a:t>
            </a:r>
            <a:br>
              <a:rPr lang="en-US" dirty="0"/>
            </a:br>
            <a:r>
              <a:rPr lang="en-US" dirty="0"/>
              <a:t>but they completely lack semantic understanding.</a:t>
            </a:r>
          </a:p>
          <a:p>
            <a:r>
              <a:rPr lang="en-US" dirty="0"/>
              <a:t>On the other hand, modern approaches like </a:t>
            </a:r>
            <a:r>
              <a:rPr lang="en-US" b="1" dirty="0"/>
              <a:t>FAISS and RAG</a:t>
            </a:r>
            <a:r>
              <a:rPr lang="en-US" dirty="0"/>
              <a:t> capture meaning and context,</a:t>
            </a:r>
            <a:br>
              <a:rPr lang="en-US" dirty="0"/>
            </a:br>
            <a:r>
              <a:rPr lang="en-US" dirty="0"/>
              <a:t>but they come with high computational cost and low explainability.</a:t>
            </a:r>
          </a:p>
          <a:p>
            <a:r>
              <a:rPr lang="en-US" dirty="0"/>
              <a:t>Feature-based methods attempt to combine signals,</a:t>
            </a:r>
            <a:br>
              <a:rPr lang="en-US" dirty="0"/>
            </a:br>
            <a:r>
              <a:rPr lang="en-US" dirty="0"/>
              <a:t>but they still do not effectively utilize metadata like recency and source credibility.</a:t>
            </a:r>
          </a:p>
          <a:p>
            <a:r>
              <a:rPr lang="en-US" dirty="0"/>
              <a:t>So overall, no existing system successfully combines</a:t>
            </a:r>
            <a:br>
              <a:rPr lang="en-US" dirty="0"/>
            </a:br>
            <a:r>
              <a:rPr lang="en-US" b="1" dirty="0"/>
              <a:t>lexical matching, semantic understanding, and metadata awareness</a:t>
            </a:r>
            <a:r>
              <a:rPr lang="en-US" dirty="0"/>
              <a:t> into a single unified framework.</a:t>
            </a:r>
          </a:p>
          <a:p>
            <a:r>
              <a:rPr lang="en-US" dirty="0"/>
              <a:t>This gap is exactly what motivated our hybrid approach.”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solution is a hybrid retrieval system.</a:t>
            </a:r>
          </a:p>
          <a:p>
            <a:r>
              <a:rPr lang="en-US" dirty="0"/>
              <a:t>We combine BM25 for exact matching,</a:t>
            </a:r>
            <a:br>
              <a:rPr lang="en-US" dirty="0"/>
            </a:br>
            <a:r>
              <a:rPr lang="en-US" dirty="0"/>
              <a:t>FAISS for semantic understanding,</a:t>
            </a:r>
            <a:br>
              <a:rPr lang="en-US" dirty="0"/>
            </a:br>
            <a:r>
              <a:rPr lang="en-US" dirty="0"/>
              <a:t>And metadata like recency and credibility.</a:t>
            </a:r>
          </a:p>
          <a:p>
            <a:r>
              <a:rPr lang="en-US" dirty="0"/>
              <a:t>Also, everything runs offline using </a:t>
            </a:r>
            <a:r>
              <a:rPr lang="en-US" dirty="0" err="1"/>
              <a:t>DuckDB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project goals are:</a:t>
            </a:r>
          </a:p>
          <a:p>
            <a:r>
              <a:rPr lang="en-US" dirty="0"/>
              <a:t>To build an offline-first system,</a:t>
            </a:r>
            <a:br>
              <a:rPr lang="en-US" dirty="0"/>
            </a:br>
            <a:r>
              <a:rPr lang="en-US" dirty="0"/>
              <a:t>To implement multi-factor ranking,</a:t>
            </a:r>
            <a:br>
              <a:rPr lang="en-US" dirty="0"/>
            </a:br>
            <a:r>
              <a:rPr lang="en-US" dirty="0"/>
              <a:t>And to evaluate performance using standard metrics.”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we move to the second part of our presentation, which focuses on the </a:t>
            </a:r>
            <a:r>
              <a:rPr lang="en-US" b="1" dirty="0"/>
              <a:t>methodology and implementation</a:t>
            </a:r>
            <a:r>
              <a:rPr lang="en-US" dirty="0"/>
              <a:t> of our system.</a:t>
            </a:r>
          </a:p>
          <a:p>
            <a:r>
              <a:rPr lang="en-US" dirty="0"/>
              <a:t>In this section, we will explain how the system is designed and built step by step.</a:t>
            </a:r>
          </a:p>
          <a:p>
            <a:r>
              <a:rPr lang="en-US" dirty="0"/>
              <a:t>This includes the </a:t>
            </a:r>
            <a:r>
              <a:rPr lang="en-US" b="1" dirty="0"/>
              <a:t>system architecture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data pipeline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the </a:t>
            </a:r>
            <a:r>
              <a:rPr lang="en-US" b="1" dirty="0"/>
              <a:t>evaluation of our model performance</a:t>
            </a:r>
            <a:r>
              <a:rPr lang="en-US" dirty="0"/>
              <a:t>.</a:t>
            </a:r>
          </a:p>
          <a:p>
            <a:r>
              <a:rPr lang="en-US" dirty="0"/>
              <a:t>We will go through each component in detail to understand how our hybrid retrieval system works in practice.”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I will explain the system overview and architecture.</a:t>
            </a:r>
          </a:p>
          <a:p>
            <a:r>
              <a:rPr lang="en-US" dirty="0"/>
              <a:t>Our system is designed using a </a:t>
            </a:r>
            <a:r>
              <a:rPr lang="en-US" b="1" dirty="0"/>
              <a:t>modular architecture</a:t>
            </a:r>
            <a:r>
              <a:rPr lang="en-US" dirty="0"/>
              <a:t>, where each component has a specific role.</a:t>
            </a:r>
          </a:p>
          <a:p>
            <a:r>
              <a:rPr lang="en-US" dirty="0"/>
              <a:t>At the core, we have three main components:</a:t>
            </a:r>
            <a:br>
              <a:rPr lang="en-US" dirty="0"/>
            </a:br>
            <a:r>
              <a:rPr lang="en-US" b="1" dirty="0"/>
              <a:t>BM25</a:t>
            </a:r>
            <a:r>
              <a:rPr lang="en-US" dirty="0"/>
              <a:t>, </a:t>
            </a:r>
            <a:r>
              <a:rPr lang="en-US" b="1" dirty="0"/>
              <a:t>FAISS</a:t>
            </a:r>
            <a:r>
              <a:rPr lang="en-US" dirty="0"/>
              <a:t>, and </a:t>
            </a:r>
            <a:r>
              <a:rPr lang="en-US" b="1" dirty="0"/>
              <a:t>Metadata processing</a:t>
            </a:r>
            <a:r>
              <a:rPr lang="en-US" dirty="0"/>
              <a:t>.</a:t>
            </a:r>
          </a:p>
          <a:p>
            <a:r>
              <a:rPr lang="en-US" dirty="0"/>
              <a:t>BM25 handles </a:t>
            </a:r>
            <a:r>
              <a:rPr lang="en-US" b="1" dirty="0"/>
              <a:t>lexical search</a:t>
            </a:r>
            <a:r>
              <a:rPr lang="en-US" dirty="0"/>
              <a:t>, which focuses on exact keyword matching.</a:t>
            </a:r>
          </a:p>
          <a:p>
            <a:r>
              <a:rPr lang="en-US" dirty="0"/>
              <a:t>FAISS handles </a:t>
            </a:r>
            <a:r>
              <a:rPr lang="en-US" b="1" dirty="0"/>
              <a:t>semantic search</a:t>
            </a:r>
            <a:r>
              <a:rPr lang="en-US" dirty="0"/>
              <a:t>, which captures the meaning of the query using vector similarity.</a:t>
            </a:r>
          </a:p>
          <a:p>
            <a:r>
              <a:rPr lang="en-US" dirty="0"/>
              <a:t>Metadata includes factors like </a:t>
            </a:r>
            <a:r>
              <a:rPr lang="en-US" b="1" dirty="0"/>
              <a:t>recency and source credibility</a:t>
            </a:r>
            <a:r>
              <a:rPr lang="en-US" dirty="0"/>
              <a:t>, which help improve ranking quality.</a:t>
            </a:r>
          </a:p>
          <a:p>
            <a:r>
              <a:rPr lang="en-US" dirty="0"/>
              <a:t>These three components are combined using a </a:t>
            </a:r>
            <a:r>
              <a:rPr lang="en-US" b="1" dirty="0"/>
              <a:t>dynamic fusion mechanism</a:t>
            </a:r>
            <a:r>
              <a:rPr lang="en-US" dirty="0"/>
              <a:t>, which calculates the final score in real time.</a:t>
            </a:r>
          </a:p>
          <a:p>
            <a:r>
              <a:rPr lang="en-US" dirty="0"/>
              <a:t>From a system perspective, we divide the architecture into four layers:</a:t>
            </a:r>
          </a:p>
          <a:p>
            <a:r>
              <a:rPr lang="en-US" dirty="0"/>
              <a:t>First, the </a:t>
            </a:r>
            <a:r>
              <a:rPr lang="en-US" b="1" dirty="0"/>
              <a:t>Frontend</a:t>
            </a:r>
            <a:r>
              <a:rPr lang="en-US" dirty="0"/>
              <a:t>, built using React, which handles user interaction.</a:t>
            </a:r>
          </a:p>
          <a:p>
            <a:r>
              <a:rPr lang="en-US" dirty="0"/>
              <a:t>Second, the </a:t>
            </a:r>
            <a:r>
              <a:rPr lang="en-US" b="1" dirty="0"/>
              <a:t>Backend API</a:t>
            </a:r>
            <a:r>
              <a:rPr lang="en-US" dirty="0"/>
              <a:t>, built using </a:t>
            </a:r>
            <a:r>
              <a:rPr lang="en-US" dirty="0" err="1"/>
              <a:t>FastAPI</a:t>
            </a:r>
            <a:r>
              <a:rPr lang="en-US" dirty="0"/>
              <a:t>, which processes requests.</a:t>
            </a:r>
          </a:p>
          <a:p>
            <a:r>
              <a:rPr lang="en-US" dirty="0"/>
              <a:t>Third, the </a:t>
            </a:r>
            <a:r>
              <a:rPr lang="en-US" b="1" dirty="0"/>
              <a:t>IR Engine</a:t>
            </a:r>
            <a:r>
              <a:rPr lang="en-US" dirty="0"/>
              <a:t>, which performs hybrid retrieval using BM25 and FAISS.</a:t>
            </a:r>
          </a:p>
          <a:p>
            <a:r>
              <a:rPr lang="en-US" dirty="0"/>
              <a:t>Fourth, the </a:t>
            </a:r>
            <a:r>
              <a:rPr lang="en-US" b="1" dirty="0"/>
              <a:t>Storage layer</a:t>
            </a:r>
            <a:r>
              <a:rPr lang="en-US" dirty="0"/>
              <a:t>, where </a:t>
            </a:r>
            <a:r>
              <a:rPr lang="en-US" dirty="0" err="1"/>
              <a:t>DuckDB</a:t>
            </a:r>
            <a:r>
              <a:rPr lang="en-US" dirty="0"/>
              <a:t> stores structured data and FAISS stores vector embeddings.</a:t>
            </a:r>
          </a:p>
          <a:p>
            <a:r>
              <a:rPr lang="en-US" dirty="0"/>
              <a:t>This architecture is </a:t>
            </a:r>
            <a:r>
              <a:rPr lang="en-US" b="1" dirty="0"/>
              <a:t>decoupled</a:t>
            </a:r>
            <a:r>
              <a:rPr lang="en-US" dirty="0"/>
              <a:t>, meaning each layer works independently, making the system scalable and easy to maintain.</a:t>
            </a:r>
          </a:p>
          <a:p>
            <a:r>
              <a:rPr lang="en-US" dirty="0"/>
              <a:t>It also supports </a:t>
            </a:r>
            <a:r>
              <a:rPr lang="en-US" b="1" dirty="0"/>
              <a:t>real-time data ingestion</a:t>
            </a:r>
            <a:r>
              <a:rPr lang="en-US" dirty="0"/>
              <a:t>, ensuring the system stays updated with new information.”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I will explain the data collection process.</a:t>
            </a:r>
          </a:p>
          <a:p>
            <a:r>
              <a:rPr lang="en-US" dirty="0"/>
              <a:t>In our system, we use both </a:t>
            </a:r>
            <a:r>
              <a:rPr lang="en-US" b="1" dirty="0"/>
              <a:t>static data</a:t>
            </a:r>
            <a:r>
              <a:rPr lang="en-US" dirty="0"/>
              <a:t> and </a:t>
            </a:r>
            <a:r>
              <a:rPr lang="en-US" b="1" dirty="0"/>
              <a:t>live data sources</a:t>
            </a:r>
            <a:r>
              <a:rPr lang="en-US" dirty="0"/>
              <a:t>.</a:t>
            </a:r>
          </a:p>
          <a:p>
            <a:r>
              <a:rPr lang="en-US" dirty="0"/>
              <a:t>First, we use the </a:t>
            </a:r>
            <a:r>
              <a:rPr lang="en-US" b="1" dirty="0"/>
              <a:t>AG News dataset</a:t>
            </a:r>
            <a:r>
              <a:rPr lang="en-US" dirty="0"/>
              <a:t>, which contains around </a:t>
            </a:r>
            <a:r>
              <a:rPr lang="en-US" b="1" dirty="0"/>
              <a:t>120,000 articles</a:t>
            </a:r>
            <a:r>
              <a:rPr lang="en-US" dirty="0"/>
              <a:t> across four categories:</a:t>
            </a:r>
            <a:br>
              <a:rPr lang="en-US" dirty="0"/>
            </a:br>
            <a:r>
              <a:rPr lang="en-US" dirty="0"/>
              <a:t>World, Sports, Business, and Sci/Tech.</a:t>
            </a:r>
            <a:br>
              <a:rPr lang="en-US" dirty="0"/>
            </a:br>
            <a:r>
              <a:rPr lang="en-US" dirty="0"/>
              <a:t>This acts as our baseline dataset for training and evaluation.</a:t>
            </a:r>
          </a:p>
          <a:p>
            <a:r>
              <a:rPr lang="en-US" dirty="0"/>
              <a:t>Second, we integrate </a:t>
            </a:r>
            <a:r>
              <a:rPr lang="en-US" b="1" dirty="0"/>
              <a:t>live data using APIs</a:t>
            </a:r>
            <a:r>
              <a:rPr lang="en-US" dirty="0"/>
              <a:t>.</a:t>
            </a:r>
          </a:p>
          <a:p>
            <a:r>
              <a:rPr lang="en-US" dirty="0"/>
              <a:t>We use </a:t>
            </a:r>
            <a:r>
              <a:rPr lang="en-US" b="1" dirty="0"/>
              <a:t>The Guardian API</a:t>
            </a:r>
            <a:r>
              <a:rPr lang="en-US" dirty="0"/>
              <a:t>, which provides high-quality and credible news articles.</a:t>
            </a:r>
          </a:p>
          <a:p>
            <a:r>
              <a:rPr lang="en-US" dirty="0"/>
              <a:t>We also use </a:t>
            </a:r>
            <a:r>
              <a:rPr lang="en-US" b="1" dirty="0" err="1"/>
              <a:t>Mediastack</a:t>
            </a:r>
            <a:r>
              <a:rPr lang="en-US" b="1" dirty="0"/>
              <a:t> API</a:t>
            </a:r>
            <a:r>
              <a:rPr lang="en-US" dirty="0"/>
              <a:t>, which aggregates news from multiple global sources.</a:t>
            </a:r>
          </a:p>
          <a:p>
            <a:r>
              <a:rPr lang="en-US" dirty="0"/>
              <a:t>To keep the system updated, we implement </a:t>
            </a:r>
            <a:r>
              <a:rPr lang="en-US" b="1" dirty="0"/>
              <a:t>continuous data ingestion</a:t>
            </a:r>
            <a:r>
              <a:rPr lang="en-US" dirty="0"/>
              <a:t>.</a:t>
            </a:r>
          </a:p>
          <a:p>
            <a:r>
              <a:rPr lang="en-US" dirty="0"/>
              <a:t>Data is fetched every </a:t>
            </a:r>
            <a:r>
              <a:rPr lang="en-US" b="1" dirty="0"/>
              <a:t>15 minutes</a:t>
            </a:r>
            <a:r>
              <a:rPr lang="en-US" dirty="0"/>
              <a:t> using a </a:t>
            </a:r>
            <a:r>
              <a:rPr lang="en-US" b="1" dirty="0"/>
              <a:t>multi-threaded approach</a:t>
            </a:r>
            <a:r>
              <a:rPr lang="en-US" dirty="0"/>
              <a:t>, which improves speed and efficiency.</a:t>
            </a:r>
          </a:p>
          <a:p>
            <a:r>
              <a:rPr lang="en-US" dirty="0"/>
              <a:t>After fetching, the data is automatically </a:t>
            </a:r>
            <a:r>
              <a:rPr lang="en-US" b="1" dirty="0"/>
              <a:t>cleaned, normalized, and deduplicated</a:t>
            </a:r>
            <a:r>
              <a:rPr lang="en-US" dirty="0"/>
              <a:t> before storing.</a:t>
            </a:r>
          </a:p>
          <a:p>
            <a:r>
              <a:rPr lang="en-US" dirty="0"/>
              <a:t>This ensures that our system always works with </a:t>
            </a:r>
            <a:r>
              <a:rPr lang="en-US" b="1" dirty="0"/>
              <a:t>fresh, high-quality, and diverse news data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 will explain the exploratory data analysis and preprocessing step.</a:t>
            </a:r>
          </a:p>
          <a:p>
            <a:r>
              <a:rPr lang="en-US" dirty="0"/>
              <a:t>First, we performed </a:t>
            </a:r>
            <a:r>
              <a:rPr lang="en-US" b="1" dirty="0"/>
              <a:t>exploratory data analysis</a:t>
            </a:r>
            <a:r>
              <a:rPr lang="en-US" dirty="0"/>
              <a:t> to understand the dataset.</a:t>
            </a:r>
          </a:p>
          <a:p>
            <a:r>
              <a:rPr lang="en-US" dirty="0"/>
              <a:t>We analyzed the </a:t>
            </a:r>
            <a:r>
              <a:rPr lang="en-US" b="1" dirty="0"/>
              <a:t>class distribution</a:t>
            </a:r>
            <a:r>
              <a:rPr lang="en-US" dirty="0"/>
              <a:t> to check how data is divided across categories like World, Sports, Business, and Sci/Tech.</a:t>
            </a:r>
          </a:p>
          <a:p>
            <a:r>
              <a:rPr lang="en-US" dirty="0"/>
              <a:t>We also studied </a:t>
            </a:r>
            <a:r>
              <a:rPr lang="en-US" b="1" dirty="0"/>
              <a:t>term frequency</a:t>
            </a:r>
            <a:r>
              <a:rPr lang="en-US" dirty="0"/>
              <a:t>, to identify the most common words before and after removing </a:t>
            </a:r>
            <a:r>
              <a:rPr lang="en-US" dirty="0" err="1"/>
              <a:t>stopwords</a:t>
            </a:r>
            <a:r>
              <a:rPr lang="en-US" dirty="0"/>
              <a:t>.</a:t>
            </a:r>
          </a:p>
          <a:p>
            <a:r>
              <a:rPr lang="en-US" dirty="0"/>
              <a:t>Additionally, we examined the </a:t>
            </a:r>
            <a:r>
              <a:rPr lang="en-US" b="1" dirty="0"/>
              <a:t>length distribution</a:t>
            </a:r>
            <a:r>
              <a:rPr lang="en-US" dirty="0"/>
              <a:t> of headlines and descriptions to understand text size patterns.</a:t>
            </a:r>
          </a:p>
          <a:p>
            <a:r>
              <a:rPr lang="en-US" dirty="0"/>
              <a:t>After analysis, we applied a </a:t>
            </a:r>
            <a:r>
              <a:rPr lang="en-US" b="1" dirty="0"/>
              <a:t>five-step preprocessing pipeline</a:t>
            </a:r>
            <a:r>
              <a:rPr lang="en-US" dirty="0"/>
              <a:t>.</a:t>
            </a:r>
          </a:p>
          <a:p>
            <a:r>
              <a:rPr lang="en-US" dirty="0"/>
              <a:t>Step one is </a:t>
            </a:r>
            <a:r>
              <a:rPr lang="en-US" b="1" dirty="0"/>
              <a:t>lowercasing</a:t>
            </a:r>
            <a:r>
              <a:rPr lang="en-US" dirty="0"/>
              <a:t>, where all text is converted to lowercase for consistency.</a:t>
            </a:r>
          </a:p>
          <a:p>
            <a:r>
              <a:rPr lang="en-US" dirty="0"/>
              <a:t>Step two is </a:t>
            </a:r>
            <a:r>
              <a:rPr lang="en-US" b="1" dirty="0"/>
              <a:t>regex cleaning</a:t>
            </a:r>
            <a:r>
              <a:rPr lang="en-US" dirty="0"/>
              <a:t>, which removes HTML tags, special characters, and noise.</a:t>
            </a:r>
          </a:p>
          <a:p>
            <a:r>
              <a:rPr lang="en-US" dirty="0"/>
              <a:t>Step three is </a:t>
            </a:r>
            <a:r>
              <a:rPr lang="en-US" b="1" dirty="0" err="1"/>
              <a:t>stopword</a:t>
            </a:r>
            <a:r>
              <a:rPr lang="en-US" b="1" dirty="0"/>
              <a:t> removal</a:t>
            </a:r>
            <a:r>
              <a:rPr lang="en-US" dirty="0"/>
              <a:t>, where common words like ‘the’, ‘is’, and ‘at’ are removed.</a:t>
            </a:r>
          </a:p>
          <a:p>
            <a:r>
              <a:rPr lang="en-US" dirty="0"/>
              <a:t>Step four is </a:t>
            </a:r>
            <a:r>
              <a:rPr lang="en-US" b="1" dirty="0"/>
              <a:t>stemming</a:t>
            </a:r>
            <a:r>
              <a:rPr lang="en-US" dirty="0"/>
              <a:t>, where words are reduced to their root form, for example ‘running’ becomes ‘run’.</a:t>
            </a:r>
          </a:p>
          <a:p>
            <a:r>
              <a:rPr lang="en-US" dirty="0"/>
              <a:t>Step five is </a:t>
            </a:r>
            <a:r>
              <a:rPr lang="en-US" b="1" dirty="0"/>
              <a:t>tokenization</a:t>
            </a:r>
            <a:r>
              <a:rPr lang="en-US" dirty="0"/>
              <a:t>, where text is split into smaller units for processing.</a:t>
            </a:r>
          </a:p>
          <a:p>
            <a:r>
              <a:rPr lang="en-US" dirty="0"/>
              <a:t>This preprocessing ensures clean, standardized, and efficient input for both lexical and semantic models.”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“Now I will explain the feature extraction step.</a:t>
            </a:r>
          </a:p>
          <a:p>
            <a:r>
              <a:rPr lang="en-US" dirty="0"/>
              <a:t>In our system, we use a </a:t>
            </a:r>
            <a:r>
              <a:rPr lang="en-US" b="1" dirty="0"/>
              <a:t>dual representation approach</a:t>
            </a:r>
            <a:r>
              <a:rPr lang="en-US" dirty="0"/>
              <a:t>, which means we extract both </a:t>
            </a:r>
            <a:r>
              <a:rPr lang="en-US" b="1" dirty="0"/>
              <a:t>lexical features</a:t>
            </a:r>
            <a:r>
              <a:rPr lang="en-US" dirty="0"/>
              <a:t> and </a:t>
            </a:r>
            <a:r>
              <a:rPr lang="en-US" b="1" dirty="0"/>
              <a:t>semantic features</a:t>
            </a:r>
            <a:r>
              <a:rPr lang="en-US" dirty="0"/>
              <a:t>.</a:t>
            </a:r>
          </a:p>
          <a:p>
            <a:r>
              <a:rPr lang="en-US" dirty="0"/>
              <a:t>First, lexical features are generated using </a:t>
            </a:r>
            <a:r>
              <a:rPr lang="en-US" b="1" dirty="0"/>
              <a:t>TF-IDF and BM25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help in capturing exact keyword importance and frequency within documents.</a:t>
            </a:r>
          </a:p>
          <a:p>
            <a:r>
              <a:rPr lang="en-US" dirty="0"/>
              <a:t>Second, semantic features are generated using a transformer model called </a:t>
            </a:r>
            <a:r>
              <a:rPr lang="en-US" b="1" dirty="0" err="1"/>
              <a:t>MiniLM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converts each document into a </a:t>
            </a:r>
            <a:r>
              <a:rPr lang="en-US" b="1" dirty="0"/>
              <a:t>384-dimensional vector</a:t>
            </a:r>
            <a:r>
              <a:rPr lang="en-US" dirty="0"/>
              <a:t>, which represents its meaning.</a:t>
            </a:r>
          </a:p>
          <a:p>
            <a:r>
              <a:rPr lang="en-US" dirty="0"/>
              <a:t>These vectors are then indexed using </a:t>
            </a:r>
            <a:r>
              <a:rPr lang="en-US" b="1" dirty="0"/>
              <a:t>FAISS</a:t>
            </a:r>
            <a:r>
              <a:rPr lang="en-US" dirty="0"/>
              <a:t>, which allows fast similarity search.</a:t>
            </a:r>
          </a:p>
          <a:p>
            <a:r>
              <a:rPr lang="en-US" dirty="0"/>
              <a:t>By combining both lexical and semantic features,</a:t>
            </a:r>
            <a:br>
              <a:rPr lang="en-US" dirty="0"/>
            </a:br>
            <a:r>
              <a:rPr lang="en-US" dirty="0"/>
              <a:t>we ensure that the system understands both </a:t>
            </a:r>
            <a:r>
              <a:rPr lang="en-US" b="1" dirty="0"/>
              <a:t>exact words and overall context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 three components:</a:t>
            </a:r>
            <a:br>
              <a:rPr lang="en-US" dirty="0"/>
            </a:br>
            <a:r>
              <a:rPr lang="en-US" dirty="0"/>
              <a:t>Semantic score, BM25 score, and metadata score.</a:t>
            </a:r>
          </a:p>
          <a:p>
            <a:r>
              <a:rPr lang="en-US" dirty="0"/>
              <a:t>We assign weights: 0.4, 0.4, and 0.2 respectively.</a:t>
            </a:r>
          </a:p>
          <a:p>
            <a:r>
              <a:rPr lang="en-US" dirty="0"/>
              <a:t>This ensures balance between meaning, exact match, and context.”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results show strong performance.</a:t>
            </a:r>
          </a:p>
          <a:p>
            <a:r>
              <a:rPr lang="en-US" dirty="0"/>
              <a:t>Precision at 10 is 0.78,</a:t>
            </a:r>
            <a:br>
              <a:rPr lang="en-US" dirty="0"/>
            </a:br>
            <a:r>
              <a:rPr lang="en-US" dirty="0"/>
              <a:t>Recall at 20 is 0.82,</a:t>
            </a:r>
            <a:br>
              <a:rPr lang="en-US" dirty="0"/>
            </a:br>
            <a:r>
              <a:rPr lang="en-US" dirty="0"/>
              <a:t>And F1-score is 0.80.</a:t>
            </a:r>
          </a:p>
          <a:p>
            <a:r>
              <a:rPr lang="en-US" dirty="0"/>
              <a:t>We also achieved sub-100 millisecond latency.”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conclude,</a:t>
            </a:r>
          </a:p>
          <a:p>
            <a:r>
              <a:rPr lang="en-US" dirty="0"/>
              <a:t>Our system successfully bridges traditional IR and modern AI.</a:t>
            </a:r>
          </a:p>
          <a:p>
            <a:r>
              <a:rPr lang="en-US" dirty="0"/>
              <a:t>By combining semantic understanding with metadata,</a:t>
            </a:r>
            <a:br>
              <a:rPr lang="en-US" dirty="0"/>
            </a:br>
            <a:r>
              <a:rPr lang="en-US" dirty="0"/>
              <a:t>we significantly improve search relevance.</a:t>
            </a:r>
          </a:p>
          <a:p>
            <a:r>
              <a:rPr lang="en-US" dirty="0"/>
              <a:t>And importantly, we maintain explainability and efficiency.”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.hzcdn.com/0e840f679be1fb17d5742a9f116f5fc69b349b23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1168" b="1116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9F6">
                  <a:alpha val="95000"/>
                </a:srgbClr>
              </a:gs>
              <a:gs pos="50000">
                <a:srgbClr val="FAF9F6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3922395" cy="350520"/>
          </a:xfrm>
          <a:custGeom>
            <a:avLst/>
            <a:gdLst/>
            <a:ahLst/>
            <a:cxnLst/>
            <a:rect l="l" t="t" r="r" b="b"/>
            <a:pathLst>
              <a:path w="3922395" h="350520">
                <a:moveTo>
                  <a:pt x="0" y="0"/>
                </a:moveTo>
                <a:lnTo>
                  <a:pt x="3922395" y="0"/>
                </a:lnTo>
                <a:lnTo>
                  <a:pt x="3922395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46482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11603" y="3810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670685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1985010"/>
            <a:ext cx="88773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News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5529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Transitioning from Lexical Search to Hybrid Semantic Intelligence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7531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9817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484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22bsd7030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049542" y="581025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1"/>
          <p:cNvSpPr/>
          <p:nvPr/>
        </p:nvSpPr>
        <p:spPr>
          <a:xfrm>
            <a:off x="2516267" y="598170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Shanmuka Vardhan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16267" y="62484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22bsd7022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1: Theory &amp;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Failure of Traditional 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" y="1866900"/>
            <a:ext cx="15240" cy="3514725"/>
          </a:xfrm>
          <a:custGeom>
            <a:avLst/>
            <a:gdLst/>
            <a:ahLst/>
            <a:cxnLst/>
            <a:rect l="l" t="t" r="r" b="b"/>
            <a:pathLst>
              <a:path w="15240" h="3514725">
                <a:moveTo>
                  <a:pt x="0" y="0"/>
                </a:moveTo>
                <a:lnTo>
                  <a:pt x="15240" y="0"/>
                </a:lnTo>
                <a:lnTo>
                  <a:pt x="15240" y="3514725"/>
                </a:lnTo>
                <a:lnTo>
                  <a:pt x="0" y="35147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624840" y="18669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0528" y="2110740"/>
            <a:ext cx="127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4840" y="2667000"/>
            <a:ext cx="3448050" cy="1609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Keyword-based search (TF-IDF, BM25)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fails to capture semantic meaning and context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40" y="4502468"/>
            <a:ext cx="3362325" cy="876300"/>
          </a:xfrm>
          <a:custGeom>
            <a:avLst/>
            <a:gdLst/>
            <a:ahLst/>
            <a:cxnLst/>
            <a:rect l="l" t="t" r="r" b="b"/>
            <a:pathLst>
              <a:path w="3362325" h="876300">
                <a:moveTo>
                  <a:pt x="0" y="0"/>
                </a:moveTo>
                <a:lnTo>
                  <a:pt x="3362325" y="0"/>
                </a:lnTo>
                <a:lnTo>
                  <a:pt x="33623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5340" y="4692968"/>
            <a:ext cx="305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"Economic Crisis" ≠ "Recession"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Systems treat these as unrelated terms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0180" y="1866900"/>
            <a:ext cx="15240" cy="3514725"/>
          </a:xfrm>
          <a:custGeom>
            <a:avLst/>
            <a:gdLst/>
            <a:ahLst/>
            <a:cxnLst/>
            <a:rect l="l" t="t" r="r" b="b"/>
            <a:pathLst>
              <a:path w="15240" h="3514725">
                <a:moveTo>
                  <a:pt x="0" y="0"/>
                </a:moveTo>
                <a:lnTo>
                  <a:pt x="15240" y="0"/>
                </a:lnTo>
                <a:lnTo>
                  <a:pt x="15240" y="3514725"/>
                </a:lnTo>
                <a:lnTo>
                  <a:pt x="0" y="35147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36400" y="1866900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85554" y="211074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Ignorance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6400" y="2667000"/>
            <a:ext cx="344805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signals remain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unused in ranking decisions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significantly reducing result quality.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36400" y="45405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26900" y="4464368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credibility scores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36400" y="48834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4726900" y="4807268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categorization tags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36400" y="52263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Text 19"/>
          <p:cNvSpPr/>
          <p:nvPr/>
        </p:nvSpPr>
        <p:spPr>
          <a:xfrm>
            <a:off x="4726900" y="5150168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Publication recency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1741" y="1866900"/>
            <a:ext cx="15240" cy="3514725"/>
          </a:xfrm>
          <a:custGeom>
            <a:avLst/>
            <a:gdLst/>
            <a:ahLst/>
            <a:cxnLst/>
            <a:rect l="l" t="t" r="r" b="b"/>
            <a:pathLst>
              <a:path w="15240" h="3514725">
                <a:moveTo>
                  <a:pt x="0" y="0"/>
                </a:moveTo>
                <a:lnTo>
                  <a:pt x="15240" y="0"/>
                </a:lnTo>
                <a:lnTo>
                  <a:pt x="15240" y="3514725"/>
                </a:lnTo>
                <a:lnTo>
                  <a:pt x="0" y="3514725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3" name="Text 21"/>
          <p:cNvSpPr/>
          <p:nvPr/>
        </p:nvSpPr>
        <p:spPr>
          <a:xfrm>
            <a:off x="8447961" y="186690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02234" y="211074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Limitation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47961" y="2667000"/>
            <a:ext cx="344805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Systems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handle real-time, continuously updating news streams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effectively.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47961" y="45405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7" name="Text 25"/>
          <p:cNvSpPr/>
          <p:nvPr/>
        </p:nvSpPr>
        <p:spPr>
          <a:xfrm>
            <a:off x="8638461" y="4464368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processing delays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47961" y="48834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9" name="Text 27"/>
          <p:cNvSpPr/>
          <p:nvPr/>
        </p:nvSpPr>
        <p:spPr>
          <a:xfrm>
            <a:off x="8638461" y="4807268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Stale index problems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47961" y="52263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8638461" y="5150168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live feed integration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5687378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3" name="Text 31"/>
          <p:cNvSpPr/>
          <p:nvPr/>
        </p:nvSpPr>
        <p:spPr>
          <a:xfrm>
            <a:off x="381000" y="5919788"/>
            <a:ext cx="11515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Insight: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limitations highlight the urgent need for a more intelligent retrieval system that combines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 with metadata awareness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Classical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of Information Retrieval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98320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1996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25298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Salton et 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91084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Space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33299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TF-IDF based document representation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6347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Cosine similarity for relevance scoring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" y="39395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High-dimensional sparse vectors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324350"/>
            <a:ext cx="3657600" cy="7620"/>
          </a:xfrm>
          <a:custGeom>
            <a:avLst/>
            <a:gdLst/>
            <a:ahLst/>
            <a:cxnLst/>
            <a:rect l="l" t="t" r="r" b="b"/>
            <a:pathLst>
              <a:path w="3657600" h="7620">
                <a:moveTo>
                  <a:pt x="0" y="0"/>
                </a:moveTo>
                <a:lnTo>
                  <a:pt x="3657600" y="0"/>
                </a:lnTo>
                <a:lnTo>
                  <a:pt x="36576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" y="444246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of modern IR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7200" y="1798320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6" name="Text 14"/>
          <p:cNvSpPr/>
          <p:nvPr/>
        </p:nvSpPr>
        <p:spPr>
          <a:xfrm>
            <a:off x="4267200" y="1996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67200" y="25298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Robertson &amp; Zaragoza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67200" y="291084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Algorithm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67200" y="33299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Probabilistic ranking framework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67200" y="36347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Handles term saturation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67200" y="39395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Document length normalization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67200" y="4324350"/>
            <a:ext cx="3657600" cy="7620"/>
          </a:xfrm>
          <a:custGeom>
            <a:avLst/>
            <a:gdLst/>
            <a:ahLst/>
            <a:cxnLst/>
            <a:rect l="l" t="t" r="r" b="b"/>
            <a:pathLst>
              <a:path w="3657600" h="7620">
                <a:moveTo>
                  <a:pt x="0" y="0"/>
                </a:moveTo>
                <a:lnTo>
                  <a:pt x="3657600" y="0"/>
                </a:lnTo>
                <a:lnTo>
                  <a:pt x="36576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3" name="Text 21"/>
          <p:cNvSpPr/>
          <p:nvPr/>
        </p:nvSpPr>
        <p:spPr>
          <a:xfrm>
            <a:off x="4267200" y="444246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standard baseline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3400" y="1798320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400" y="1996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53400" y="25298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Metzler &amp; Croft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3400" y="291084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Multi-Feature Ranking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53400" y="33299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Combines multiple signals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53400" y="36347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Query-dependent features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53400" y="3939540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Machine learning integration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53400" y="4324350"/>
            <a:ext cx="3657600" cy="7620"/>
          </a:xfrm>
          <a:custGeom>
            <a:avLst/>
            <a:gdLst/>
            <a:ahLst/>
            <a:cxnLst/>
            <a:rect l="l" t="t" r="r" b="b"/>
            <a:pathLst>
              <a:path w="3657600" h="7620">
                <a:moveTo>
                  <a:pt x="0" y="0"/>
                </a:moveTo>
                <a:lnTo>
                  <a:pt x="3657600" y="0"/>
                </a:lnTo>
                <a:lnTo>
                  <a:pt x="36576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2" name="Text 30"/>
          <p:cNvSpPr/>
          <p:nvPr/>
        </p:nvSpPr>
        <p:spPr>
          <a:xfrm>
            <a:off x="8153400" y="4442460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Learning-to-rank precursor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5476875"/>
            <a:ext cx="11410950" cy="1000125"/>
          </a:xfrm>
          <a:custGeom>
            <a:avLst/>
            <a:gdLst/>
            <a:ahLst/>
            <a:cxnLst/>
            <a:rect l="l" t="t" r="r" b="b"/>
            <a:pathLst>
              <a:path w="11410950" h="1000125">
                <a:moveTo>
                  <a:pt x="0" y="0"/>
                </a:moveTo>
                <a:lnTo>
                  <a:pt x="11410950" y="0"/>
                </a:lnTo>
                <a:lnTo>
                  <a:pt x="1141095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547687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5" name="Text 33"/>
          <p:cNvSpPr/>
          <p:nvPr/>
        </p:nvSpPr>
        <p:spPr>
          <a:xfrm>
            <a:off x="647700" y="5667375"/>
            <a:ext cx="11258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Limitation: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classical methods rely on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lexical matching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completely ignore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semantic meaning, context, and relationships between concepts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09587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4191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403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AI Approaches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866900"/>
            <a:ext cx="390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Retrieval and AI-Based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5053013"/>
            <a:ext cx="3790950" cy="1390650"/>
          </a:xfrm>
          <a:custGeom>
            <a:avLst/>
            <a:gdLst/>
            <a:ahLst/>
            <a:cxnLst/>
            <a:rect l="l" t="t" r="r" b="b"/>
            <a:pathLst>
              <a:path w="3790950" h="1390650">
                <a:moveTo>
                  <a:pt x="0" y="0"/>
                </a:moveTo>
                <a:lnTo>
                  <a:pt x="3790950" y="0"/>
                </a:lnTo>
                <a:lnTo>
                  <a:pt x="37909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5053013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5281613"/>
            <a:ext cx="36385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Limitations: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Modern approaches struggle with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computational costs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explainability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metadata integration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9620" y="381000"/>
            <a:ext cx="15240" cy="1581150"/>
          </a:xfrm>
          <a:custGeom>
            <a:avLst/>
            <a:gdLst/>
            <a:ahLst/>
            <a:cxnLst/>
            <a:rect l="l" t="t" r="r" b="b"/>
            <a:pathLst>
              <a:path w="15240" h="1581150">
                <a:moveTo>
                  <a:pt x="0" y="0"/>
                </a:moveTo>
                <a:lnTo>
                  <a:pt x="15240" y="0"/>
                </a:lnTo>
                <a:lnTo>
                  <a:pt x="1524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8"/>
          <p:cNvSpPr/>
          <p:nvPr/>
        </p:nvSpPr>
        <p:spPr>
          <a:xfrm>
            <a:off x="4815840" y="381000"/>
            <a:ext cx="1238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1938" y="594361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Johnson et al.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1938" y="861061"/>
            <a:ext cx="3819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FAISS: Facebook AI Similarity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5840" y="1318140"/>
            <a:ext cx="706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 at scale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captures semantic relationships via embeddings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15840" y="1718190"/>
            <a:ext cx="706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Approximate nearest neighbor (ANN) optimization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enables semantic search in milliseconds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9620" y="2678430"/>
            <a:ext cx="15240" cy="1581150"/>
          </a:xfrm>
          <a:custGeom>
            <a:avLst/>
            <a:gdLst/>
            <a:ahLst/>
            <a:cxnLst/>
            <a:rect l="l" t="t" r="r" b="b"/>
            <a:pathLst>
              <a:path w="15240" h="1581150">
                <a:moveTo>
                  <a:pt x="0" y="0"/>
                </a:moveTo>
                <a:lnTo>
                  <a:pt x="15240" y="0"/>
                </a:lnTo>
                <a:lnTo>
                  <a:pt x="1524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6" name="Text 14"/>
          <p:cNvSpPr/>
          <p:nvPr/>
        </p:nvSpPr>
        <p:spPr>
          <a:xfrm>
            <a:off x="4815840" y="2678430"/>
            <a:ext cx="134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2903" y="2891791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Lewis et al.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2903" y="3158491"/>
            <a:ext cx="3981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RAG: Retrieval-Augmented 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5840" y="3615572"/>
            <a:ext cx="706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retrieval + generation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produces context-aware responses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15840" y="4015622"/>
            <a:ext cx="706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LLM hallucination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via grounded retrieval for knowledge-intensive tasks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4983481"/>
            <a:ext cx="2286000" cy="15240"/>
          </a:xfrm>
          <a:custGeom>
            <a:avLst/>
            <a:gdLst/>
            <a:ahLst/>
            <a:cxnLst/>
            <a:rect l="l" t="t" r="r" b="b"/>
            <a:pathLst>
              <a:path w="2286000" h="15240">
                <a:moveTo>
                  <a:pt x="0" y="0"/>
                </a:moveTo>
                <a:lnTo>
                  <a:pt x="2286000" y="0"/>
                </a:lnTo>
                <a:lnTo>
                  <a:pt x="22860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529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4970145" y="5143500"/>
            <a:ext cx="1971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Computational Cost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5791200"/>
            <a:ext cx="236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GPU-intensive embedding generation and storage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8500" y="4983481"/>
            <a:ext cx="2286000" cy="15240"/>
          </a:xfrm>
          <a:custGeom>
            <a:avLst/>
            <a:gdLst/>
            <a:ahLst/>
            <a:cxnLst/>
            <a:rect l="l" t="t" r="r" b="b"/>
            <a:pathLst>
              <a:path w="2286000" h="15240">
                <a:moveTo>
                  <a:pt x="0" y="0"/>
                </a:moveTo>
                <a:lnTo>
                  <a:pt x="2286000" y="0"/>
                </a:lnTo>
                <a:lnTo>
                  <a:pt x="22860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77075" y="5162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7" name="Text 25"/>
          <p:cNvSpPr/>
          <p:nvPr/>
        </p:nvSpPr>
        <p:spPr>
          <a:xfrm>
            <a:off x="7448550" y="514350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Explainability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5524500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vectors lack interpretability; black-box scoring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25000" y="4983481"/>
            <a:ext cx="2286000" cy="15240"/>
          </a:xfrm>
          <a:custGeom>
            <a:avLst/>
            <a:gdLst/>
            <a:ahLst/>
            <a:cxnLst/>
            <a:rect l="l" t="t" r="r" b="b"/>
            <a:pathLst>
              <a:path w="2286000" h="15240">
                <a:moveTo>
                  <a:pt x="0" y="0"/>
                </a:moveTo>
                <a:lnTo>
                  <a:pt x="2286000" y="0"/>
                </a:lnTo>
                <a:lnTo>
                  <a:pt x="22860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0" name="Shape 28"/>
          <p:cNvSpPr/>
          <p:nvPr/>
        </p:nvSpPr>
        <p:spPr>
          <a:xfrm>
            <a:off x="9567863" y="5162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9925050" y="51435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Metadata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5000" y="5524500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incorporating structured metadata signals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 &amp; Research Gap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17320"/>
            <a:ext cx="2162175" cy="15240"/>
          </a:xfrm>
          <a:custGeom>
            <a:avLst/>
            <a:gdLst/>
            <a:ahLst/>
            <a:cxnLst/>
            <a:rect l="l" t="t" r="r" b="b"/>
            <a:pathLst>
              <a:path w="2162175" h="15240">
                <a:moveTo>
                  <a:pt x="0" y="0"/>
                </a:moveTo>
                <a:lnTo>
                  <a:pt x="2162175" y="0"/>
                </a:lnTo>
                <a:lnTo>
                  <a:pt x="2162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347663" y="157734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596391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996441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Strength:</a:t>
            </a: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Fast, simple 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453641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semantic understanding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1417320"/>
            <a:ext cx="2162175" cy="15240"/>
          </a:xfrm>
          <a:custGeom>
            <a:avLst/>
            <a:gdLst/>
            <a:ahLst/>
            <a:cxnLst/>
            <a:rect l="l" t="t" r="r" b="b"/>
            <a:pathLst>
              <a:path w="2162175" h="15240">
                <a:moveTo>
                  <a:pt x="0" y="0"/>
                </a:moveTo>
                <a:lnTo>
                  <a:pt x="2162175" y="0"/>
                </a:lnTo>
                <a:lnTo>
                  <a:pt x="2162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2664143" y="157734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78480" y="1596391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9964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Strength:</a:t>
            </a: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Better probabilistic ranking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263141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Still keyword-based matching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3960" y="1417320"/>
            <a:ext cx="2162175" cy="15240"/>
          </a:xfrm>
          <a:custGeom>
            <a:avLst/>
            <a:gdLst/>
            <a:ahLst/>
            <a:cxnLst/>
            <a:rect l="l" t="t" r="r" b="b"/>
            <a:pathLst>
              <a:path w="2162175" h="15240">
                <a:moveTo>
                  <a:pt x="0" y="0"/>
                </a:moveTo>
                <a:lnTo>
                  <a:pt x="2162175" y="0"/>
                </a:lnTo>
                <a:lnTo>
                  <a:pt x="2162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396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4980623" y="157734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596391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3960" y="19964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Strength:</a:t>
            </a: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Semantic similarity search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13960" y="22631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 computational cost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0440" y="1417320"/>
            <a:ext cx="2162175" cy="15240"/>
          </a:xfrm>
          <a:custGeom>
            <a:avLst/>
            <a:gdLst/>
            <a:ahLst/>
            <a:cxnLst/>
            <a:rect l="l" t="t" r="r" b="b"/>
            <a:pathLst>
              <a:path w="2162175" h="15240">
                <a:moveTo>
                  <a:pt x="0" y="0"/>
                </a:moveTo>
                <a:lnTo>
                  <a:pt x="2162175" y="0"/>
                </a:lnTo>
                <a:lnTo>
                  <a:pt x="2162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044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Text 23"/>
          <p:cNvSpPr/>
          <p:nvPr/>
        </p:nvSpPr>
        <p:spPr>
          <a:xfrm>
            <a:off x="7297103" y="157734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11440" y="1596391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30440" y="19964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Strength:</a:t>
            </a: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Context-aware generation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30440" y="2263141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Depends on retrieval quality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46920" y="1417320"/>
            <a:ext cx="2162175" cy="15240"/>
          </a:xfrm>
          <a:custGeom>
            <a:avLst/>
            <a:gdLst/>
            <a:ahLst/>
            <a:cxnLst/>
            <a:rect l="l" t="t" r="r" b="b"/>
            <a:pathLst>
              <a:path w="2162175" h="15240">
                <a:moveTo>
                  <a:pt x="0" y="0"/>
                </a:moveTo>
                <a:lnTo>
                  <a:pt x="2162175" y="0"/>
                </a:lnTo>
                <a:lnTo>
                  <a:pt x="2162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6920" y="1577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1" name="Text 29"/>
          <p:cNvSpPr/>
          <p:nvPr/>
        </p:nvSpPr>
        <p:spPr>
          <a:xfrm>
            <a:off x="9613582" y="157734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27920" y="1596391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Feature-based IR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46920" y="19964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Strength:</a:t>
            </a: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Multi-signal combination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46920" y="2263141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Weak metadata utilization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3748087"/>
            <a:ext cx="11410950" cy="923925"/>
          </a:xfrm>
          <a:custGeom>
            <a:avLst/>
            <a:gdLst/>
            <a:ahLst/>
            <a:cxnLst/>
            <a:rect l="l" t="t" r="r" b="b"/>
            <a:pathLst>
              <a:path w="11410950" h="923925">
                <a:moveTo>
                  <a:pt x="0" y="0"/>
                </a:moveTo>
                <a:lnTo>
                  <a:pt x="11410950" y="0"/>
                </a:lnTo>
                <a:lnTo>
                  <a:pt x="1141095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" y="3748087"/>
            <a:ext cx="38100" cy="923925"/>
          </a:xfrm>
          <a:custGeom>
            <a:avLst/>
            <a:gdLst/>
            <a:ahLst/>
            <a:cxnLst/>
            <a:rect l="l" t="t" r="r" b="b"/>
            <a:pathLst>
              <a:path w="38100" h="923925">
                <a:moveTo>
                  <a:pt x="0" y="0"/>
                </a:moveTo>
                <a:lnTo>
                  <a:pt x="38100" y="0"/>
                </a:lnTo>
                <a:lnTo>
                  <a:pt x="3810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647700" y="3900488"/>
            <a:ext cx="11258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Conclusion: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single approach effectively combines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computational efficiency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metadata awareness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gap motivates our hybrid solution.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1000" y="5593081"/>
            <a:ext cx="2714625" cy="15240"/>
          </a:xfrm>
          <a:custGeom>
            <a:avLst/>
            <a:gdLst/>
            <a:ahLst/>
            <a:cxnLst/>
            <a:rect l="l" t="t" r="r" b="b"/>
            <a:pathLst>
              <a:path w="2714625" h="15240">
                <a:moveTo>
                  <a:pt x="0" y="0"/>
                </a:moveTo>
                <a:lnTo>
                  <a:pt x="2714625" y="0"/>
                </a:lnTo>
                <a:lnTo>
                  <a:pt x="27146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9" name="Shape 37"/>
          <p:cNvSpPr/>
          <p:nvPr/>
        </p:nvSpPr>
        <p:spPr>
          <a:xfrm>
            <a:off x="404813" y="577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Text 38"/>
          <p:cNvSpPr/>
          <p:nvPr/>
        </p:nvSpPr>
        <p:spPr>
          <a:xfrm>
            <a:off x="733425" y="57531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System Absence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1000" y="609600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solution combines lexical + semantic + metadata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86125" y="5593081"/>
            <a:ext cx="2714625" cy="15240"/>
          </a:xfrm>
          <a:custGeom>
            <a:avLst/>
            <a:gdLst/>
            <a:ahLst/>
            <a:cxnLst/>
            <a:rect l="l" t="t" r="r" b="b"/>
            <a:pathLst>
              <a:path w="2714625" h="15240">
                <a:moveTo>
                  <a:pt x="0" y="0"/>
                </a:moveTo>
                <a:lnTo>
                  <a:pt x="2714625" y="0"/>
                </a:lnTo>
                <a:lnTo>
                  <a:pt x="27146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3" name="Shape 41"/>
          <p:cNvSpPr/>
          <p:nvPr/>
        </p:nvSpPr>
        <p:spPr>
          <a:xfrm>
            <a:off x="3298031" y="5772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75803" y="151358"/>
                </a:lnTo>
                <a:cubicBezTo>
                  <a:pt x="176808" y="150465"/>
                  <a:pt x="177812" y="149572"/>
                  <a:pt x="178780" y="148679"/>
                </a:cubicBezTo>
                <a:cubicBezTo>
                  <a:pt x="196193" y="132494"/>
                  <a:pt x="207838" y="113184"/>
                  <a:pt x="213382" y="99901"/>
                </a:cubicBezTo>
                <a:cubicBezTo>
                  <a:pt x="214610" y="96962"/>
                  <a:pt x="214610" y="93687"/>
                  <a:pt x="213382" y="90748"/>
                </a:cubicBezTo>
                <a:cubicBezTo>
                  <a:pt x="207838" y="77465"/>
                  <a:pt x="196193" y="58117"/>
                  <a:pt x="178780" y="41970"/>
                </a:cubicBezTo>
                <a:cubicBezTo>
                  <a:pt x="161255" y="25710"/>
                  <a:pt x="137182" y="11981"/>
                  <a:pt x="107119" y="11981"/>
                </a:cubicBezTo>
                <a:cubicBezTo>
                  <a:pt x="85985" y="11981"/>
                  <a:pt x="67828" y="18752"/>
                  <a:pt x="52797" y="28426"/>
                </a:cubicBezTo>
                <a:lnTo>
                  <a:pt x="15255" y="-9265"/>
                </a:lnTo>
                <a:close/>
                <a:moveTo>
                  <a:pt x="76088" y="51606"/>
                </a:moveTo>
                <a:cubicBezTo>
                  <a:pt x="84832" y="45355"/>
                  <a:pt x="95585" y="41672"/>
                  <a:pt x="107156" y="41672"/>
                </a:cubicBezTo>
                <a:cubicBezTo>
                  <a:pt x="136736" y="41672"/>
                  <a:pt x="160734" y="65670"/>
                  <a:pt x="160734" y="95250"/>
                </a:cubicBezTo>
                <a:cubicBezTo>
                  <a:pt x="160734" y="106821"/>
                  <a:pt x="157051" y="117537"/>
                  <a:pt x="150800" y="126318"/>
                </a:cubicBezTo>
                <a:lnTo>
                  <a:pt x="137889" y="113407"/>
                </a:lnTo>
                <a:cubicBezTo>
                  <a:pt x="142615" y="105445"/>
                  <a:pt x="144214" y="95659"/>
                  <a:pt x="141647" y="85985"/>
                </a:cubicBezTo>
                <a:cubicBezTo>
                  <a:pt x="136550" y="66935"/>
                  <a:pt x="116942" y="55625"/>
                  <a:pt x="97892" y="60722"/>
                </a:cubicBezTo>
                <a:cubicBezTo>
                  <a:pt x="94692" y="61578"/>
                  <a:pt x="91678" y="62843"/>
                  <a:pt x="88962" y="64443"/>
                </a:cubicBezTo>
                <a:lnTo>
                  <a:pt x="76051" y="51532"/>
                </a:lnTo>
                <a:close/>
                <a:moveTo>
                  <a:pt x="121034" y="147005"/>
                </a:moveTo>
                <a:cubicBezTo>
                  <a:pt x="116607" y="148196"/>
                  <a:pt x="111956" y="148828"/>
                  <a:pt x="107156" y="148828"/>
                </a:cubicBezTo>
                <a:cubicBezTo>
                  <a:pt x="77577" y="148828"/>
                  <a:pt x="53578" y="124830"/>
                  <a:pt x="53578" y="95250"/>
                </a:cubicBezTo>
                <a:cubicBezTo>
                  <a:pt x="53578" y="90450"/>
                  <a:pt x="54211" y="85799"/>
                  <a:pt x="55401" y="81372"/>
                </a:cubicBezTo>
                <a:lnTo>
                  <a:pt x="25822" y="51792"/>
                </a:lnTo>
                <a:cubicBezTo>
                  <a:pt x="13692" y="65484"/>
                  <a:pt x="5358" y="79995"/>
                  <a:pt x="930" y="90674"/>
                </a:cubicBezTo>
                <a:cubicBezTo>
                  <a:pt x="-298" y="93613"/>
                  <a:pt x="-298" y="96887"/>
                  <a:pt x="930" y="99826"/>
                </a:cubicBezTo>
                <a:cubicBezTo>
                  <a:pt x="6474" y="113109"/>
                  <a:pt x="18120" y="132457"/>
                  <a:pt x="35533" y="148605"/>
                </a:cubicBezTo>
                <a:cubicBezTo>
                  <a:pt x="53057" y="164864"/>
                  <a:pt x="77130" y="178594"/>
                  <a:pt x="107193" y="178594"/>
                </a:cubicBezTo>
                <a:cubicBezTo>
                  <a:pt x="121072" y="178594"/>
                  <a:pt x="133685" y="175654"/>
                  <a:pt x="144959" y="170929"/>
                </a:cubicBezTo>
                <a:lnTo>
                  <a:pt x="121072" y="147042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4" name="Text 42"/>
          <p:cNvSpPr/>
          <p:nvPr/>
        </p:nvSpPr>
        <p:spPr>
          <a:xfrm>
            <a:off x="3638550" y="57531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Gap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286125" y="609600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embeddings are black boxes; no reasoning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5593081"/>
            <a:ext cx="2714625" cy="15240"/>
          </a:xfrm>
          <a:custGeom>
            <a:avLst/>
            <a:gdLst/>
            <a:ahLst/>
            <a:cxnLst/>
            <a:rect l="l" t="t" r="r" b="b"/>
            <a:pathLst>
              <a:path w="2714625" h="15240">
                <a:moveTo>
                  <a:pt x="0" y="0"/>
                </a:moveTo>
                <a:lnTo>
                  <a:pt x="2714625" y="0"/>
                </a:lnTo>
                <a:lnTo>
                  <a:pt x="27146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7" name="Shape 45"/>
          <p:cNvSpPr/>
          <p:nvPr/>
        </p:nvSpPr>
        <p:spPr>
          <a:xfrm>
            <a:off x="6203156" y="5772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8" name="Text 46"/>
          <p:cNvSpPr/>
          <p:nvPr/>
        </p:nvSpPr>
        <p:spPr>
          <a:xfrm>
            <a:off x="6543675" y="57531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Dependency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91250" y="60960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costs, privacy concerns, network latency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96375" y="5593081"/>
            <a:ext cx="2714625" cy="15240"/>
          </a:xfrm>
          <a:custGeom>
            <a:avLst/>
            <a:gdLst/>
            <a:ahLst/>
            <a:cxnLst/>
            <a:rect l="l" t="t" r="r" b="b"/>
            <a:pathLst>
              <a:path w="2714625" h="15240">
                <a:moveTo>
                  <a:pt x="0" y="0"/>
                </a:moveTo>
                <a:lnTo>
                  <a:pt x="2714625" y="0"/>
                </a:lnTo>
                <a:lnTo>
                  <a:pt x="27146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1" name="Shape 49"/>
          <p:cNvSpPr/>
          <p:nvPr/>
        </p:nvSpPr>
        <p:spPr>
          <a:xfrm>
            <a:off x="9120188" y="577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092" y="35719"/>
                </a:moveTo>
                <a:lnTo>
                  <a:pt x="12092" y="91343"/>
                </a:lnTo>
                <a:cubicBezTo>
                  <a:pt x="12092" y="97668"/>
                  <a:pt x="14585" y="103733"/>
                  <a:pt x="19050" y="108198"/>
                </a:cubicBezTo>
                <a:lnTo>
                  <a:pt x="90488" y="179636"/>
                </a:lnTo>
                <a:cubicBezTo>
                  <a:pt x="99789" y="188937"/>
                  <a:pt x="114858" y="188937"/>
                  <a:pt x="124160" y="179636"/>
                </a:cubicBezTo>
                <a:lnTo>
                  <a:pt x="179784" y="124011"/>
                </a:lnTo>
                <a:cubicBezTo>
                  <a:pt x="189086" y="114709"/>
                  <a:pt x="189086" y="99640"/>
                  <a:pt x="179784" y="90339"/>
                </a:cubicBezTo>
                <a:lnTo>
                  <a:pt x="108347" y="18901"/>
                </a:lnTo>
                <a:cubicBezTo>
                  <a:pt x="103882" y="14399"/>
                  <a:pt x="97854" y="11906"/>
                  <a:pt x="91529" y="11906"/>
                </a:cubicBezTo>
                <a:lnTo>
                  <a:pt x="35905" y="11906"/>
                </a:lnTo>
                <a:cubicBezTo>
                  <a:pt x="22771" y="11906"/>
                  <a:pt x="12092" y="22585"/>
                  <a:pt x="12092" y="35719"/>
                </a:cubicBezTo>
                <a:close/>
                <a:moveTo>
                  <a:pt x="53764" y="41672"/>
                </a:moveTo>
                <a:cubicBezTo>
                  <a:pt x="60335" y="41672"/>
                  <a:pt x="65670" y="47007"/>
                  <a:pt x="65670" y="53578"/>
                </a:cubicBezTo>
                <a:cubicBezTo>
                  <a:pt x="65670" y="60149"/>
                  <a:pt x="60335" y="65484"/>
                  <a:pt x="53764" y="65484"/>
                </a:cubicBezTo>
                <a:cubicBezTo>
                  <a:pt x="47193" y="65484"/>
                  <a:pt x="41858" y="60149"/>
                  <a:pt x="41858" y="53578"/>
                </a:cubicBezTo>
                <a:cubicBezTo>
                  <a:pt x="41858" y="47007"/>
                  <a:pt x="47193" y="41672"/>
                  <a:pt x="53764" y="4167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2" name="Text 50"/>
          <p:cNvSpPr/>
          <p:nvPr/>
        </p:nvSpPr>
        <p:spPr>
          <a:xfrm>
            <a:off x="9448800" y="575310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Underutilized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96375" y="60960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and authority severely underutilized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466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 Hybrid Retrieval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5157788"/>
            <a:ext cx="4552950" cy="1323975"/>
          </a:xfrm>
          <a:custGeom>
            <a:avLst/>
            <a:gdLst/>
            <a:ahLst/>
            <a:cxnLst/>
            <a:rect l="l" t="t" r="r" b="b"/>
            <a:pathLst>
              <a:path w="4552950" h="1323975">
                <a:moveTo>
                  <a:pt x="0" y="0"/>
                </a:moveTo>
                <a:lnTo>
                  <a:pt x="4552950" y="0"/>
                </a:lnTo>
                <a:lnTo>
                  <a:pt x="45529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5157788"/>
            <a:ext cx="38100" cy="1323975"/>
          </a:xfrm>
          <a:custGeom>
            <a:avLst/>
            <a:gdLst/>
            <a:ahLst/>
            <a:cxnLst/>
            <a:rect l="l" t="t" r="r" b="b"/>
            <a:pathLst>
              <a:path w="38100" h="1323975">
                <a:moveTo>
                  <a:pt x="0" y="0"/>
                </a:moveTo>
                <a:lnTo>
                  <a:pt x="38100" y="0"/>
                </a:lnTo>
                <a:lnTo>
                  <a:pt x="381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53673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5348288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5729288"/>
            <a:ext cx="4391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ranking with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explainable AI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every scoring decision is interpretable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5420" y="381000"/>
            <a:ext cx="15240" cy="1647825"/>
          </a:xfrm>
          <a:custGeom>
            <a:avLst/>
            <a:gdLst/>
            <a:ahLst/>
            <a:cxnLst/>
            <a:rect l="l" t="t" r="r" b="b"/>
            <a:pathLst>
              <a:path w="15240" h="1647825">
                <a:moveTo>
                  <a:pt x="0" y="0"/>
                </a:moveTo>
                <a:lnTo>
                  <a:pt x="15240" y="0"/>
                </a:lnTo>
                <a:lnTo>
                  <a:pt x="1524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50164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1"/>
          <p:cNvSpPr/>
          <p:nvPr/>
        </p:nvSpPr>
        <p:spPr>
          <a:xfrm>
            <a:off x="545401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73140" y="45720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01640" y="9906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— Lexical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01640" y="1295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matching with probabilistic ranking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2520" y="9906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 — Semantic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1295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1640" y="1680210"/>
            <a:ext cx="6305550" cy="7620"/>
          </a:xfrm>
          <a:custGeom>
            <a:avLst/>
            <a:gdLst/>
            <a:ahLst/>
            <a:cxnLst/>
            <a:rect l="l" t="t" r="r" b="b"/>
            <a:pathLst>
              <a:path w="6305550" h="7620">
                <a:moveTo>
                  <a:pt x="0" y="0"/>
                </a:moveTo>
                <a:lnTo>
                  <a:pt x="6305550" y="0"/>
                </a:lnTo>
                <a:lnTo>
                  <a:pt x="63055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Text 18"/>
          <p:cNvSpPr/>
          <p:nvPr/>
        </p:nvSpPr>
        <p:spPr>
          <a:xfrm>
            <a:off x="5501640" y="1798320"/>
            <a:ext cx="638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Integration: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Local LLM (Ollama) for post-retrieval synthesis, summarization &amp; explanation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65420" y="3108959"/>
            <a:ext cx="15240" cy="1143000"/>
          </a:xfrm>
          <a:custGeom>
            <a:avLst/>
            <a:gdLst/>
            <a:ahLst/>
            <a:cxnLst/>
            <a:rect l="l" t="t" r="r" b="b"/>
            <a:pathLst>
              <a:path w="15240" h="1143000">
                <a:moveTo>
                  <a:pt x="0" y="0"/>
                </a:moveTo>
                <a:lnTo>
                  <a:pt x="15240" y="0"/>
                </a:lnTo>
                <a:lnTo>
                  <a:pt x="1524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Shape 20"/>
          <p:cNvSpPr/>
          <p:nvPr/>
        </p:nvSpPr>
        <p:spPr>
          <a:xfrm>
            <a:off x="5501640" y="31089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3" name="Text 21"/>
          <p:cNvSpPr/>
          <p:nvPr/>
        </p:nvSpPr>
        <p:spPr>
          <a:xfrm>
            <a:off x="5454015" y="310895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73140" y="3185159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Boosting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01640" y="371855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Weighting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01640" y="402335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Time-decay scoring function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2520" y="371855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Authority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32520" y="402335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Credibility-based ranking boost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65420" y="5334000"/>
            <a:ext cx="15240" cy="1143000"/>
          </a:xfrm>
          <a:custGeom>
            <a:avLst/>
            <a:gdLst/>
            <a:ahLst/>
            <a:cxnLst/>
            <a:rect l="l" t="t" r="r" b="b"/>
            <a:pathLst>
              <a:path w="15240" h="1143000">
                <a:moveTo>
                  <a:pt x="0" y="0"/>
                </a:moveTo>
                <a:lnTo>
                  <a:pt x="15240" y="0"/>
                </a:lnTo>
                <a:lnTo>
                  <a:pt x="1524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0" name="Shape 28"/>
          <p:cNvSpPr/>
          <p:nvPr/>
        </p:nvSpPr>
        <p:spPr>
          <a:xfrm>
            <a:off x="550164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5454015" y="5334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73140" y="5410200"/>
            <a:ext cx="210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01640" y="59436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DuckDB Embedded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32520" y="59436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cloud dependency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01640" y="6248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Lightweight &amp; fast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32520" y="6248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SQL-compatible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93520"/>
            <a:ext cx="3609975" cy="15240"/>
          </a:xfrm>
          <a:custGeom>
            <a:avLst/>
            <a:gdLst/>
            <a:ahLst/>
            <a:cxnLst/>
            <a:rect l="l" t="t" r="r" b="b"/>
            <a:pathLst>
              <a:path w="3609975" h="15240">
                <a:moveTo>
                  <a:pt x="0" y="0"/>
                </a:moveTo>
                <a:lnTo>
                  <a:pt x="3609975" y="0"/>
                </a:lnTo>
                <a:lnTo>
                  <a:pt x="3609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1729741"/>
            <a:ext cx="70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9883" y="209359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2377441"/>
            <a:ext cx="3724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Offline-First IR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815591"/>
            <a:ext cx="3695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proven lexical models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Embeddings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robust retrieval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6014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3563303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fusion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2560" y="1493520"/>
            <a:ext cx="3609975" cy="15240"/>
          </a:xfrm>
          <a:custGeom>
            <a:avLst/>
            <a:gdLst/>
            <a:ahLst/>
            <a:cxnLst/>
            <a:rect l="l" t="t" r="r" b="b"/>
            <a:pathLst>
              <a:path w="3609975" h="15240">
                <a:moveTo>
                  <a:pt x="0" y="0"/>
                </a:moveTo>
                <a:lnTo>
                  <a:pt x="3609975" y="0"/>
                </a:lnTo>
                <a:lnTo>
                  <a:pt x="3609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2560" y="1729741"/>
            <a:ext cx="79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4192" y="209359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2560" y="2377441"/>
            <a:ext cx="3724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Multi-Factor Ranking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2560" y="2815591"/>
            <a:ext cx="3695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Incorporate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relevance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vector similarity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weightage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1610" y="36014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59260" y="3563303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Configurable scoring weights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04121" y="1493520"/>
            <a:ext cx="3609975" cy="15240"/>
          </a:xfrm>
          <a:custGeom>
            <a:avLst/>
            <a:gdLst/>
            <a:ahLst/>
            <a:cxnLst/>
            <a:rect l="l" t="t" r="r" b="b"/>
            <a:pathLst>
              <a:path w="3609975" h="15240">
                <a:moveTo>
                  <a:pt x="0" y="0"/>
                </a:moveTo>
                <a:lnTo>
                  <a:pt x="3609975" y="0"/>
                </a:lnTo>
                <a:lnTo>
                  <a:pt x="3609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04121" y="1729741"/>
            <a:ext cx="79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79920" y="209359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8204121" y="2377441"/>
            <a:ext cx="3724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Hybrid Effectiveness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04121" y="2815591"/>
            <a:ext cx="3695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against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baselines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diverse news queries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3171" y="36014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5" name="Text 23"/>
          <p:cNvSpPr/>
          <p:nvPr/>
        </p:nvSpPr>
        <p:spPr>
          <a:xfrm>
            <a:off x="8470821" y="356330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Precision, Recall, F1 metrics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56730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7" name="Shape 25"/>
          <p:cNvSpPr/>
          <p:nvPr/>
        </p:nvSpPr>
        <p:spPr>
          <a:xfrm>
            <a:off x="419100" y="5943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8" name="Text 26"/>
          <p:cNvSpPr/>
          <p:nvPr/>
        </p:nvSpPr>
        <p:spPr>
          <a:xfrm>
            <a:off x="890588" y="5905500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Metrics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0588" y="624840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+25% F1-score improvement over baselines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30660" y="5943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2148" y="590550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 Goal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02148" y="62484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 query response time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2221" y="5943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4" name="Text 32"/>
          <p:cNvSpPr/>
          <p:nvPr/>
        </p:nvSpPr>
        <p:spPr>
          <a:xfrm>
            <a:off x="8713708" y="59055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Focus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13708" y="62484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offline operation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c0a9835d43314705c2c4d8157270e91b9a256d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9F6">
                  <a:alpha val="95000"/>
                </a:srgbClr>
              </a:gs>
              <a:gs pos="50000">
                <a:srgbClr val="FAF9F6">
                  <a:alpha val="90000"/>
                </a:srgbClr>
              </a:gs>
              <a:gs pos="100000">
                <a:srgbClr val="FAF9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11582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49707"/>
            <a:ext cx="588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Two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45007"/>
            <a:ext cx="6162675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2: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&amp;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512948"/>
            <a:ext cx="5934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Architecture, Data Pipeline &amp; System Evaluation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3797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5360673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22778" y="534162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Shape 8"/>
          <p:cNvSpPr/>
          <p:nvPr/>
        </p:nvSpPr>
        <p:spPr>
          <a:xfrm>
            <a:off x="2579965" y="53797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Text 9"/>
          <p:cNvSpPr/>
          <p:nvPr/>
        </p:nvSpPr>
        <p:spPr>
          <a:xfrm>
            <a:off x="2937153" y="5360673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32077" y="534162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4977" y="5379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5" name="Text 12"/>
          <p:cNvSpPr/>
          <p:nvPr/>
        </p:nvSpPr>
        <p:spPr>
          <a:xfrm>
            <a:off x="4946452" y="5360673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87B3BEF-1570-2090-1EE3-B027D17A53C3}"/>
              </a:ext>
            </a:extLst>
          </p:cNvPr>
          <p:cNvSpPr/>
          <p:nvPr/>
        </p:nvSpPr>
        <p:spPr>
          <a:xfrm>
            <a:off x="381000" y="57531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</a:t>
            </a:r>
            <a:endParaRPr lang="en-US" sz="16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4DFD02B-0D35-A742-43FA-5993E17F1504}"/>
              </a:ext>
            </a:extLst>
          </p:cNvPr>
          <p:cNvSpPr/>
          <p:nvPr/>
        </p:nvSpPr>
        <p:spPr>
          <a:xfrm>
            <a:off x="381000" y="59817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</a:t>
            </a:r>
            <a:endParaRPr lang="en-US" sz="16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727F480-E8F0-501D-65FA-01A736C47EF4}"/>
              </a:ext>
            </a:extLst>
          </p:cNvPr>
          <p:cNvSpPr/>
          <p:nvPr/>
        </p:nvSpPr>
        <p:spPr>
          <a:xfrm>
            <a:off x="381000" y="62484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22bsd7030</a:t>
            </a:r>
            <a:endParaRPr lang="en-US" sz="1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A8DFF682-A41A-76A9-0194-8E04318519D8}"/>
              </a:ext>
            </a:extLst>
          </p:cNvPr>
          <p:cNvSpPr/>
          <p:nvPr/>
        </p:nvSpPr>
        <p:spPr>
          <a:xfrm>
            <a:off x="2516267" y="598170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Shanmuka Vardhan</a:t>
            </a:r>
            <a:endParaRPr lang="en-US" sz="16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CFAA9F5-E7F1-FC5E-24B0-4E3014C01A08}"/>
              </a:ext>
            </a:extLst>
          </p:cNvPr>
          <p:cNvSpPr/>
          <p:nvPr/>
        </p:nvSpPr>
        <p:spPr>
          <a:xfrm>
            <a:off x="2516267" y="62484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22bsd7022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Overview &amp;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409575" y="1558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539241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920241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keyword matching with probabilistic relevance scoring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66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Shape 8"/>
          <p:cNvSpPr/>
          <p:nvPr/>
        </p:nvSpPr>
        <p:spPr>
          <a:xfrm>
            <a:off x="3305175" y="1558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Text 9"/>
          <p:cNvSpPr/>
          <p:nvPr/>
        </p:nvSpPr>
        <p:spPr>
          <a:xfrm>
            <a:off x="3676650" y="1539241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76600" y="1920241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 capturing semantic meaning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4" name="Shape 12"/>
          <p:cNvSpPr/>
          <p:nvPr/>
        </p:nvSpPr>
        <p:spPr>
          <a:xfrm>
            <a:off x="6200775" y="1558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511" y="42863"/>
                </a:moveTo>
                <a:lnTo>
                  <a:pt x="14511" y="109612"/>
                </a:lnTo>
                <a:cubicBezTo>
                  <a:pt x="14511" y="117202"/>
                  <a:pt x="17502" y="124480"/>
                  <a:pt x="22860" y="129838"/>
                </a:cubicBezTo>
                <a:lnTo>
                  <a:pt x="108585" y="215563"/>
                </a:lnTo>
                <a:cubicBezTo>
                  <a:pt x="119747" y="226725"/>
                  <a:pt x="137830" y="226725"/>
                  <a:pt x="148992" y="215563"/>
                </a:cubicBezTo>
                <a:lnTo>
                  <a:pt x="215741" y="148813"/>
                </a:lnTo>
                <a:cubicBezTo>
                  <a:pt x="226903" y="137651"/>
                  <a:pt x="226903" y="119569"/>
                  <a:pt x="215741" y="108406"/>
                </a:cubicBezTo>
                <a:lnTo>
                  <a:pt x="130016" y="22681"/>
                </a:lnTo>
                <a:cubicBezTo>
                  <a:pt x="124658" y="17279"/>
                  <a:pt x="117425" y="14288"/>
                  <a:pt x="109835" y="14288"/>
                </a:cubicBezTo>
                <a:lnTo>
                  <a:pt x="43086" y="14288"/>
                </a:lnTo>
                <a:cubicBezTo>
                  <a:pt x="27325" y="14288"/>
                  <a:pt x="14511" y="27102"/>
                  <a:pt x="14511" y="42863"/>
                </a:cubicBezTo>
                <a:close/>
                <a:moveTo>
                  <a:pt x="64517" y="50006"/>
                </a:moveTo>
                <a:cubicBezTo>
                  <a:pt x="72402" y="50006"/>
                  <a:pt x="78804" y="56408"/>
                  <a:pt x="78804" y="64294"/>
                </a:cubicBezTo>
                <a:cubicBezTo>
                  <a:pt x="78804" y="72179"/>
                  <a:pt x="72402" y="78581"/>
                  <a:pt x="64517" y="78581"/>
                </a:cubicBezTo>
                <a:cubicBezTo>
                  <a:pt x="56632" y="78581"/>
                  <a:pt x="50229" y="72179"/>
                  <a:pt x="50229" y="64294"/>
                </a:cubicBezTo>
                <a:cubicBezTo>
                  <a:pt x="50229" y="56408"/>
                  <a:pt x="56632" y="50006"/>
                  <a:pt x="64517" y="50006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72250" y="1539241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1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signals boosting relevance based on quality factors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8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0663" y="155829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9467850" y="1539241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Fusion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67800" y="1920241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weighted combination of all three scoring components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8620" y="2739393"/>
            <a:ext cx="11416665" cy="2615565"/>
          </a:xfrm>
          <a:custGeom>
            <a:avLst/>
            <a:gdLst/>
            <a:ahLst/>
            <a:cxnLst/>
            <a:rect l="l" t="t" r="r" b="b"/>
            <a:pathLst>
              <a:path w="11416665" h="2615565">
                <a:moveTo>
                  <a:pt x="0" y="0"/>
                </a:moveTo>
                <a:lnTo>
                  <a:pt x="11416665" y="0"/>
                </a:lnTo>
                <a:lnTo>
                  <a:pt x="11416665" y="2615565"/>
                </a:lnTo>
                <a:lnTo>
                  <a:pt x="0" y="26155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553" y="29756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824865" y="2937509"/>
            <a:ext cx="1087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60884" y="335660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2334" y="35280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66209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UI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403" y="4232909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66423" y="37947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29181" y="335660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Shape 28"/>
          <p:cNvSpPr/>
          <p:nvPr/>
        </p:nvSpPr>
        <p:spPr>
          <a:xfrm>
            <a:off x="6012537" y="35280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16937" y="3966209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1699" y="4232909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34839" y="37947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97597" y="335660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45235" y="352805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485352" y="3966209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90115" y="4232909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 Engine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6740" y="4579619"/>
            <a:ext cx="11020425" cy="7620"/>
          </a:xfrm>
          <a:custGeom>
            <a:avLst/>
            <a:gdLst/>
            <a:ahLst/>
            <a:cxnLst/>
            <a:rect l="l" t="t" r="r" b="b"/>
            <a:pathLst>
              <a:path w="11020425" h="7620">
                <a:moveTo>
                  <a:pt x="0" y="0"/>
                </a:moveTo>
                <a:lnTo>
                  <a:pt x="11020425" y="0"/>
                </a:lnTo>
                <a:lnTo>
                  <a:pt x="1102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9" name="Shape 37"/>
          <p:cNvSpPr/>
          <p:nvPr/>
        </p:nvSpPr>
        <p:spPr>
          <a:xfrm>
            <a:off x="4552117" y="4754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Shape 38"/>
          <p:cNvSpPr/>
          <p:nvPr/>
        </p:nvSpPr>
        <p:spPr>
          <a:xfrm>
            <a:off x="4675942" y="48691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47417" y="4735832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47417" y="4964432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82571" y="4754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4" name="Shape 42"/>
          <p:cNvSpPr/>
          <p:nvPr/>
        </p:nvSpPr>
        <p:spPr>
          <a:xfrm>
            <a:off x="6396871" y="4869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77871" y="4735832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 Index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77871" y="4964432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8620" y="5676900"/>
            <a:ext cx="15240" cy="800100"/>
          </a:xfrm>
          <a:custGeom>
            <a:avLst/>
            <a:gdLst/>
            <a:ahLst/>
            <a:cxnLst/>
            <a:rect l="l" t="t" r="r" b="b"/>
            <a:pathLst>
              <a:path w="15240" h="800100">
                <a:moveTo>
                  <a:pt x="0" y="0"/>
                </a:moveTo>
                <a:lnTo>
                  <a:pt x="15240" y="0"/>
                </a:lnTo>
                <a:lnTo>
                  <a:pt x="1524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6769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Decoupled Pipeline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8640" y="6019800"/>
            <a:ext cx="3590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separation between UI, API, Engine, and Storage layers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62080" y="5676900"/>
            <a:ext cx="15240" cy="800100"/>
          </a:xfrm>
          <a:custGeom>
            <a:avLst/>
            <a:gdLst/>
            <a:ahLst/>
            <a:cxnLst/>
            <a:rect l="l" t="t" r="r" b="b"/>
            <a:pathLst>
              <a:path w="15240" h="800100">
                <a:moveTo>
                  <a:pt x="0" y="0"/>
                </a:moveTo>
                <a:lnTo>
                  <a:pt x="15240" y="0"/>
                </a:lnTo>
                <a:lnTo>
                  <a:pt x="1524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51" name="Text 49"/>
          <p:cNvSpPr/>
          <p:nvPr/>
        </p:nvSpPr>
        <p:spPr>
          <a:xfrm>
            <a:off x="4422100" y="56769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422100" y="6019800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API servers enabling horizontal scaling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35541" y="5676900"/>
            <a:ext cx="15240" cy="800100"/>
          </a:xfrm>
          <a:custGeom>
            <a:avLst/>
            <a:gdLst/>
            <a:ahLst/>
            <a:cxnLst/>
            <a:rect l="l" t="t" r="r" b="b"/>
            <a:pathLst>
              <a:path w="15240" h="800100">
                <a:moveTo>
                  <a:pt x="0" y="0"/>
                </a:moveTo>
                <a:lnTo>
                  <a:pt x="15240" y="0"/>
                </a:lnTo>
                <a:lnTo>
                  <a:pt x="1524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54" name="Text 52"/>
          <p:cNvSpPr/>
          <p:nvPr/>
        </p:nvSpPr>
        <p:spPr>
          <a:xfrm>
            <a:off x="8295561" y="56769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Ingestion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95561" y="6019800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pipeline merging static and live data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466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Corpus &amp; Live API Integration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5157788"/>
            <a:ext cx="4552950" cy="1323975"/>
          </a:xfrm>
          <a:custGeom>
            <a:avLst/>
            <a:gdLst/>
            <a:ahLst/>
            <a:cxnLst/>
            <a:rect l="l" t="t" r="r" b="b"/>
            <a:pathLst>
              <a:path w="4552950" h="1323975">
                <a:moveTo>
                  <a:pt x="0" y="0"/>
                </a:moveTo>
                <a:lnTo>
                  <a:pt x="4552950" y="0"/>
                </a:lnTo>
                <a:lnTo>
                  <a:pt x="45529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5157788"/>
            <a:ext cx="38100" cy="1323975"/>
          </a:xfrm>
          <a:custGeom>
            <a:avLst/>
            <a:gdLst/>
            <a:ahLst/>
            <a:cxnLst/>
            <a:rect l="l" t="t" r="r" b="b"/>
            <a:pathLst>
              <a:path w="38100" h="1323975">
                <a:moveTo>
                  <a:pt x="0" y="0"/>
                </a:moveTo>
                <a:lnTo>
                  <a:pt x="38100" y="0"/>
                </a:lnTo>
                <a:lnTo>
                  <a:pt x="381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53673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5348288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Ingestion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5729288"/>
            <a:ext cx="4391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 fetching architecture with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scheduled ingestion workers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retrieving updates every </a:t>
            </a: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minutes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5420" y="381000"/>
            <a:ext cx="15240" cy="1524000"/>
          </a:xfrm>
          <a:custGeom>
            <a:avLst/>
            <a:gdLst/>
            <a:ahLst/>
            <a:cxnLst/>
            <a:rect l="l" t="t" r="r" b="b"/>
            <a:pathLst>
              <a:path w="15240" h="1524000">
                <a:moveTo>
                  <a:pt x="0" y="0"/>
                </a:moveTo>
                <a:lnTo>
                  <a:pt x="15240" y="0"/>
                </a:lnTo>
                <a:lnTo>
                  <a:pt x="1524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7600" y="50470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1"/>
          <p:cNvSpPr/>
          <p:nvPr/>
        </p:nvSpPr>
        <p:spPr>
          <a:xfrm>
            <a:off x="6011228" y="3810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Corpus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11228" y="685684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 News Dataset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01640" y="10666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6" name="Text 14"/>
          <p:cNvSpPr/>
          <p:nvPr/>
        </p:nvSpPr>
        <p:spPr>
          <a:xfrm>
            <a:off x="5454015" y="106668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~120K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73140" y="1085734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73140" y="1314334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Foundational dataset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2520" y="10666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4895" y="106668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04020" y="1085734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04020" y="1314334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World, Sports, Business, Sci/Tech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01640" y="1676284"/>
            <a:ext cx="638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Serves as the foundational local dataset for training and baseline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65420" y="3002282"/>
            <a:ext cx="15240" cy="1562100"/>
          </a:xfrm>
          <a:custGeom>
            <a:avLst/>
            <a:gdLst/>
            <a:ahLst/>
            <a:cxnLst/>
            <a:rect l="l" t="t" r="r" b="b"/>
            <a:pathLst>
              <a:path w="15240" h="1562100">
                <a:moveTo>
                  <a:pt x="0" y="0"/>
                </a:moveTo>
                <a:lnTo>
                  <a:pt x="15240" y="0"/>
                </a:lnTo>
                <a:lnTo>
                  <a:pt x="1524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9740" y="301168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32172"/>
                </a:moveTo>
                <a:lnTo>
                  <a:pt x="0" y="66973"/>
                </a:lnTo>
                <a:cubicBezTo>
                  <a:pt x="0" y="59550"/>
                  <a:pt x="5972" y="53578"/>
                  <a:pt x="13395" y="53578"/>
                </a:cubicBezTo>
                <a:cubicBezTo>
                  <a:pt x="20817" y="53578"/>
                  <a:pt x="26789" y="59550"/>
                  <a:pt x="26789" y="66973"/>
                </a:cubicBezTo>
                <a:lnTo>
                  <a:pt x="26789" y="227707"/>
                </a:lnTo>
                <a:cubicBezTo>
                  <a:pt x="26789" y="235130"/>
                  <a:pt x="32761" y="241102"/>
                  <a:pt x="40184" y="241102"/>
                </a:cubicBezTo>
                <a:cubicBezTo>
                  <a:pt x="47606" y="241102"/>
                  <a:pt x="53578" y="235130"/>
                  <a:pt x="53578" y="227707"/>
                </a:cubicBezTo>
                <a:lnTo>
                  <a:pt x="53578" y="53578"/>
                </a:lnTo>
                <a:cubicBezTo>
                  <a:pt x="53578" y="33877"/>
                  <a:pt x="69596" y="17859"/>
                  <a:pt x="89297" y="17859"/>
                </a:cubicBezTo>
                <a:lnTo>
                  <a:pt x="250031" y="17859"/>
                </a:lnTo>
                <a:cubicBezTo>
                  <a:pt x="269732" y="17859"/>
                  <a:pt x="285750" y="33877"/>
                  <a:pt x="285750" y="53578"/>
                </a:cubicBezTo>
                <a:lnTo>
                  <a:pt x="285750" y="232172"/>
                </a:lnTo>
                <a:cubicBezTo>
                  <a:pt x="285750" y="251873"/>
                  <a:pt x="269732" y="267891"/>
                  <a:pt x="250031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close/>
                <a:moveTo>
                  <a:pt x="89297" y="71438"/>
                </a:moveTo>
                <a:lnTo>
                  <a:pt x="89297" y="107156"/>
                </a:lnTo>
                <a:cubicBezTo>
                  <a:pt x="89297" y="117035"/>
                  <a:pt x="97278" y="125016"/>
                  <a:pt x="107156" y="125016"/>
                </a:cubicBezTo>
                <a:lnTo>
                  <a:pt x="142875" y="125016"/>
                </a:lnTo>
                <a:cubicBezTo>
                  <a:pt x="152753" y="125016"/>
                  <a:pt x="160734" y="117035"/>
                  <a:pt x="160734" y="107156"/>
                </a:cubicBezTo>
                <a:lnTo>
                  <a:pt x="160734" y="71438"/>
                </a:lnTo>
                <a:cubicBezTo>
                  <a:pt x="160734" y="61559"/>
                  <a:pt x="152753" y="53578"/>
                  <a:pt x="142875" y="53578"/>
                </a:cubicBezTo>
                <a:lnTo>
                  <a:pt x="107156" y="53578"/>
                </a:lnTo>
                <a:cubicBezTo>
                  <a:pt x="97278" y="53578"/>
                  <a:pt x="89297" y="61559"/>
                  <a:pt x="89297" y="71438"/>
                </a:cubicBezTo>
                <a:close/>
                <a:moveTo>
                  <a:pt x="102691" y="205383"/>
                </a:moveTo>
                <a:cubicBezTo>
                  <a:pt x="95269" y="205383"/>
                  <a:pt x="89297" y="211355"/>
                  <a:pt x="89297" y="218777"/>
                </a:cubicBezTo>
                <a:cubicBezTo>
                  <a:pt x="89297" y="226200"/>
                  <a:pt x="95269" y="232172"/>
                  <a:pt x="102691" y="232172"/>
                </a:cubicBezTo>
                <a:lnTo>
                  <a:pt x="236637" y="232172"/>
                </a:lnTo>
                <a:cubicBezTo>
                  <a:pt x="244060" y="232172"/>
                  <a:pt x="250031" y="226200"/>
                  <a:pt x="250031" y="218777"/>
                </a:cubicBezTo>
                <a:cubicBezTo>
                  <a:pt x="250031" y="211355"/>
                  <a:pt x="244060" y="205383"/>
                  <a:pt x="236637" y="205383"/>
                </a:cubicBezTo>
                <a:lnTo>
                  <a:pt x="102691" y="205383"/>
                </a:lnTo>
                <a:close/>
                <a:moveTo>
                  <a:pt x="89297" y="165199"/>
                </a:moveTo>
                <a:cubicBezTo>
                  <a:pt x="89297" y="172622"/>
                  <a:pt x="95269" y="178594"/>
                  <a:pt x="102691" y="178594"/>
                </a:cubicBezTo>
                <a:lnTo>
                  <a:pt x="236637" y="178594"/>
                </a:lnTo>
                <a:cubicBezTo>
                  <a:pt x="244060" y="178594"/>
                  <a:pt x="250031" y="172622"/>
                  <a:pt x="250031" y="165199"/>
                </a:cubicBezTo>
                <a:cubicBezTo>
                  <a:pt x="250031" y="157776"/>
                  <a:pt x="244060" y="151805"/>
                  <a:pt x="236637" y="151805"/>
                </a:cubicBezTo>
                <a:lnTo>
                  <a:pt x="102691" y="151805"/>
                </a:lnTo>
                <a:cubicBezTo>
                  <a:pt x="95269" y="151805"/>
                  <a:pt x="89297" y="157776"/>
                  <a:pt x="89297" y="165199"/>
                </a:cubicBezTo>
                <a:close/>
                <a:moveTo>
                  <a:pt x="200918" y="98227"/>
                </a:moveTo>
                <a:cubicBezTo>
                  <a:pt x="193495" y="98227"/>
                  <a:pt x="187523" y="104198"/>
                  <a:pt x="187523" y="111621"/>
                </a:cubicBezTo>
                <a:cubicBezTo>
                  <a:pt x="187523" y="119044"/>
                  <a:pt x="193495" y="125016"/>
                  <a:pt x="200918" y="125016"/>
                </a:cubicBezTo>
                <a:lnTo>
                  <a:pt x="236637" y="125016"/>
                </a:lnTo>
                <a:cubicBezTo>
                  <a:pt x="244060" y="125016"/>
                  <a:pt x="250031" y="119044"/>
                  <a:pt x="250031" y="111621"/>
                </a:cubicBezTo>
                <a:cubicBezTo>
                  <a:pt x="250031" y="104198"/>
                  <a:pt x="244060" y="98227"/>
                  <a:pt x="236637" y="98227"/>
                </a:cubicBezTo>
                <a:lnTo>
                  <a:pt x="200918" y="98227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Text 24"/>
          <p:cNvSpPr/>
          <p:nvPr/>
        </p:nvSpPr>
        <p:spPr>
          <a:xfrm>
            <a:off x="6011228" y="3002282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11165" y="349746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Text 26"/>
          <p:cNvSpPr/>
          <p:nvPr/>
        </p:nvSpPr>
        <p:spPr>
          <a:xfrm>
            <a:off x="5768340" y="3459361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Journalism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01640" y="3764161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Guardian API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1640" y="4107061"/>
            <a:ext cx="3152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credibility scores, quality journalism source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51570" y="34974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2" name="Text 30"/>
          <p:cNvSpPr/>
          <p:nvPr/>
        </p:nvSpPr>
        <p:spPr>
          <a:xfrm>
            <a:off x="8999220" y="3459361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Aggregator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32520" y="3764161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Mediastack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32520" y="4107061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Diverse perspectives from multiple publishers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57800" y="5669279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Shape 34"/>
          <p:cNvSpPr/>
          <p:nvPr/>
        </p:nvSpPr>
        <p:spPr>
          <a:xfrm>
            <a:off x="5292328" y="5819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5548313" y="579120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6096000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API calls maximize throughput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92961" y="5669279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0" name="Shape 38"/>
          <p:cNvSpPr/>
          <p:nvPr/>
        </p:nvSpPr>
        <p:spPr>
          <a:xfrm>
            <a:off x="7516773" y="5819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1" name="Text 39"/>
          <p:cNvSpPr/>
          <p:nvPr/>
        </p:nvSpPr>
        <p:spPr>
          <a:xfrm>
            <a:off x="7783473" y="57912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Preprocessing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92961" y="6096000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 stripping, normalization, dedup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728121" y="5669279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4" name="Shape 42"/>
          <p:cNvSpPr/>
          <p:nvPr/>
        </p:nvSpPr>
        <p:spPr>
          <a:xfrm>
            <a:off x="9751933" y="5819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8634" y="57912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Updates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28121" y="60960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 every 15 minutes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 &amp; Preprocessing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9220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5829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539241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1920241"/>
            <a:ext cx="3762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Analyzed balance across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World, Sports, Business, and Sci/Tech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categories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4460" y="1379220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Shape 8"/>
          <p:cNvSpPr/>
          <p:nvPr/>
        </p:nvSpPr>
        <p:spPr>
          <a:xfrm>
            <a:off x="4283035" y="15582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Text 9"/>
          <p:cNvSpPr/>
          <p:nvPr/>
        </p:nvSpPr>
        <p:spPr>
          <a:xfrm>
            <a:off x="4654510" y="1539241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 Frequency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4460" y="1920241"/>
            <a:ext cx="3762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Identification of dominant keywords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 and post-stopword removal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7921" y="1379220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142208" y="155829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93360" y="230475"/>
                </a:moveTo>
                <a:cubicBezTo>
                  <a:pt x="85011" y="238824"/>
                  <a:pt x="71438" y="238824"/>
                  <a:pt x="63044" y="230475"/>
                </a:cubicBezTo>
                <a:lnTo>
                  <a:pt x="12546" y="179978"/>
                </a:lnTo>
                <a:cubicBezTo>
                  <a:pt x="4197" y="171629"/>
                  <a:pt x="4197" y="158055"/>
                  <a:pt x="12546" y="149662"/>
                </a:cubicBezTo>
                <a:lnTo>
                  <a:pt x="20136" y="142071"/>
                </a:lnTo>
                <a:lnTo>
                  <a:pt x="52953" y="174888"/>
                </a:lnTo>
                <a:cubicBezTo>
                  <a:pt x="57150" y="179085"/>
                  <a:pt x="63937" y="179085"/>
                  <a:pt x="68089" y="174888"/>
                </a:cubicBezTo>
                <a:cubicBezTo>
                  <a:pt x="72241" y="170691"/>
                  <a:pt x="72286" y="163904"/>
                  <a:pt x="68089" y="159752"/>
                </a:cubicBezTo>
                <a:lnTo>
                  <a:pt x="35272" y="126936"/>
                </a:lnTo>
                <a:lnTo>
                  <a:pt x="50408" y="111800"/>
                </a:lnTo>
                <a:lnTo>
                  <a:pt x="73134" y="134526"/>
                </a:lnTo>
                <a:cubicBezTo>
                  <a:pt x="77331" y="138723"/>
                  <a:pt x="84118" y="138723"/>
                  <a:pt x="88270" y="134526"/>
                </a:cubicBezTo>
                <a:cubicBezTo>
                  <a:pt x="92422" y="130329"/>
                  <a:pt x="92467" y="123542"/>
                  <a:pt x="88270" y="119390"/>
                </a:cubicBezTo>
                <a:lnTo>
                  <a:pt x="65544" y="96664"/>
                </a:lnTo>
                <a:lnTo>
                  <a:pt x="80680" y="81528"/>
                </a:lnTo>
                <a:lnTo>
                  <a:pt x="113496" y="114345"/>
                </a:lnTo>
                <a:cubicBezTo>
                  <a:pt x="117693" y="118542"/>
                  <a:pt x="124480" y="118542"/>
                  <a:pt x="128632" y="114345"/>
                </a:cubicBezTo>
                <a:cubicBezTo>
                  <a:pt x="132784" y="110148"/>
                  <a:pt x="132829" y="103361"/>
                  <a:pt x="128632" y="99209"/>
                </a:cubicBezTo>
                <a:lnTo>
                  <a:pt x="95816" y="66392"/>
                </a:lnTo>
                <a:lnTo>
                  <a:pt x="110951" y="51256"/>
                </a:lnTo>
                <a:lnTo>
                  <a:pt x="133677" y="73982"/>
                </a:lnTo>
                <a:cubicBezTo>
                  <a:pt x="137874" y="78179"/>
                  <a:pt x="144661" y="78179"/>
                  <a:pt x="148813" y="73982"/>
                </a:cubicBezTo>
                <a:cubicBezTo>
                  <a:pt x="152966" y="69786"/>
                  <a:pt x="153010" y="62999"/>
                  <a:pt x="148813" y="58847"/>
                </a:cubicBezTo>
                <a:lnTo>
                  <a:pt x="126087" y="36121"/>
                </a:lnTo>
                <a:lnTo>
                  <a:pt x="141223" y="20985"/>
                </a:lnTo>
                <a:lnTo>
                  <a:pt x="174040" y="53801"/>
                </a:lnTo>
                <a:cubicBezTo>
                  <a:pt x="178237" y="57998"/>
                  <a:pt x="185023" y="57998"/>
                  <a:pt x="189175" y="53801"/>
                </a:cubicBezTo>
                <a:cubicBezTo>
                  <a:pt x="193328" y="49604"/>
                  <a:pt x="193372" y="42818"/>
                  <a:pt x="189175" y="38666"/>
                </a:cubicBezTo>
                <a:lnTo>
                  <a:pt x="156359" y="5849"/>
                </a:lnTo>
                <a:lnTo>
                  <a:pt x="163949" y="-1741"/>
                </a:lnTo>
                <a:cubicBezTo>
                  <a:pt x="172298" y="-10091"/>
                  <a:pt x="185871" y="-10091"/>
                  <a:pt x="194265" y="-1741"/>
                </a:cubicBezTo>
                <a:lnTo>
                  <a:pt x="244897" y="48622"/>
                </a:lnTo>
                <a:cubicBezTo>
                  <a:pt x="253246" y="56971"/>
                  <a:pt x="253246" y="70545"/>
                  <a:pt x="244897" y="78938"/>
                </a:cubicBezTo>
                <a:lnTo>
                  <a:pt x="93360" y="230475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8527971" y="1539241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 Distribution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921" y="1920241"/>
            <a:ext cx="3762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modeling of headline and description token lengths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620" y="2781302"/>
            <a:ext cx="11416665" cy="2186940"/>
          </a:xfrm>
          <a:custGeom>
            <a:avLst/>
            <a:gdLst/>
            <a:ahLst/>
            <a:cxnLst/>
            <a:rect l="l" t="t" r="r" b="b"/>
            <a:pathLst>
              <a:path w="11416665" h="2186940">
                <a:moveTo>
                  <a:pt x="0" y="0"/>
                </a:moveTo>
                <a:lnTo>
                  <a:pt x="11416665" y="0"/>
                </a:lnTo>
                <a:lnTo>
                  <a:pt x="11416665" y="2186940"/>
                </a:lnTo>
                <a:lnTo>
                  <a:pt x="0" y="2186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6740" y="301752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824865" y="2979423"/>
            <a:ext cx="1087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5-Step Preprocessing Pipeline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60884" y="34366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Text 19"/>
          <p:cNvSpPr/>
          <p:nvPr/>
        </p:nvSpPr>
        <p:spPr>
          <a:xfrm>
            <a:off x="1313259" y="3436623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08432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Lowercasing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403" y="4389123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Normalizing text for uniform case-insensitive processing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94973" y="34366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Text 23"/>
          <p:cNvSpPr/>
          <p:nvPr/>
        </p:nvSpPr>
        <p:spPr>
          <a:xfrm>
            <a:off x="3547348" y="3436623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82729" y="408432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Regex Cleaning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87491" y="4389123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Stripping HTML tags, special characters, and noise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29181" y="34366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9" name="Text 27"/>
          <p:cNvSpPr/>
          <p:nvPr/>
        </p:nvSpPr>
        <p:spPr>
          <a:xfrm>
            <a:off x="5781556" y="3436623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16937" y="408432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Stopword Removal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1699" y="4389123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Eliminating low-value vocabulary (is, the, at)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63389" y="34366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1"/>
          <p:cNvSpPr/>
          <p:nvPr/>
        </p:nvSpPr>
        <p:spPr>
          <a:xfrm>
            <a:off x="8015764" y="3436623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51145" y="408432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Porter Stemming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55907" y="4389123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words to semantic root forms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297597" y="34366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7" name="Text 35"/>
          <p:cNvSpPr/>
          <p:nvPr/>
        </p:nvSpPr>
        <p:spPr>
          <a:xfrm>
            <a:off x="10249972" y="3436623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85352" y="408432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90115" y="4389123"/>
            <a:ext cx="2152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BERT-compatible tokens for upstream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34000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0" y="0"/>
                </a:moveTo>
                <a:lnTo>
                  <a:pt x="5581650" y="0"/>
                </a:lnTo>
                <a:lnTo>
                  <a:pt x="55816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533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3413" y="552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3" name="Text 41"/>
          <p:cNvSpPr/>
          <p:nvPr/>
        </p:nvSpPr>
        <p:spPr>
          <a:xfrm>
            <a:off x="962025" y="54864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Stemming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9600" y="586740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"running" →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"run"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inflectional forms to base meaning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29350" y="5334000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0" y="0"/>
                </a:moveTo>
                <a:lnTo>
                  <a:pt x="5581650" y="0"/>
                </a:lnTo>
                <a:lnTo>
                  <a:pt x="55816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29350" y="533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7" name="Shape 45"/>
          <p:cNvSpPr/>
          <p:nvPr/>
        </p:nvSpPr>
        <p:spPr>
          <a:xfrm>
            <a:off x="6462713" y="552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8" name="Text 46"/>
          <p:cNvSpPr/>
          <p:nvPr/>
        </p:nvSpPr>
        <p:spPr>
          <a:xfrm>
            <a:off x="6791325" y="548640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Chunk Sizes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8900" y="586740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Headlines: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~10 tokens |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Descriptions: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~50 tokens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Determined for dense embedding efficiency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09587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4191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09700"/>
            <a:ext cx="466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&amp; Semantic Dual Representation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5005388"/>
            <a:ext cx="4552950" cy="1438275"/>
          </a:xfrm>
          <a:custGeom>
            <a:avLst/>
            <a:gdLst/>
            <a:ahLst/>
            <a:cxnLst/>
            <a:rect l="l" t="t" r="r" b="b"/>
            <a:pathLst>
              <a:path w="4552950" h="1438275">
                <a:moveTo>
                  <a:pt x="0" y="0"/>
                </a:moveTo>
                <a:lnTo>
                  <a:pt x="4552950" y="0"/>
                </a:lnTo>
                <a:lnTo>
                  <a:pt x="4552950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5005388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52530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5233988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5653088"/>
            <a:ext cx="4391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Combining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sparse lexical features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dense semantic vectors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comprehensive document representation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1620" y="381000"/>
            <a:ext cx="15240" cy="2352675"/>
          </a:xfrm>
          <a:custGeom>
            <a:avLst/>
            <a:gdLst/>
            <a:ahLst/>
            <a:cxnLst/>
            <a:rect l="l" t="t" r="r" b="b"/>
            <a:pathLst>
              <a:path w="15240" h="2352675">
                <a:moveTo>
                  <a:pt x="0" y="0"/>
                </a:moveTo>
                <a:lnTo>
                  <a:pt x="15240" y="0"/>
                </a:lnTo>
                <a:lnTo>
                  <a:pt x="1524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Shape 11"/>
          <p:cNvSpPr/>
          <p:nvPr/>
        </p:nvSpPr>
        <p:spPr>
          <a:xfrm>
            <a:off x="573024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81000"/>
            <a:ext cx="1800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685679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 Representation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1104900"/>
            <a:ext cx="630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Extraction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1409700"/>
            <a:ext cx="6305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</a:t>
            </a:r>
            <a:r>
              <a:rPr lang="en-US" sz="1050" dirty="0">
                <a:solidFill>
                  <a:srgbClr val="3D3D3D"/>
                </a:solidFill>
                <a:highlight>
                  <a:srgbClr val="C4B7A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scikit-learn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term frequency-inverse document frequency vectors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7840" y="1813560"/>
            <a:ext cx="6229350" cy="7620"/>
          </a:xfrm>
          <a:custGeom>
            <a:avLst/>
            <a:gdLst/>
            <a:ahLst/>
            <a:cxnLst/>
            <a:rect l="l" t="t" r="r" b="b"/>
            <a:pathLst>
              <a:path w="6229350" h="7620">
                <a:moveTo>
                  <a:pt x="0" y="0"/>
                </a:moveTo>
                <a:lnTo>
                  <a:pt x="6229350" y="0"/>
                </a:lnTo>
                <a:lnTo>
                  <a:pt x="6229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931668"/>
            <a:ext cx="630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Algorithm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2236468"/>
            <a:ext cx="630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exact keyword frequencies across all documents with probabilistic relevance scoring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1620" y="3097532"/>
            <a:ext cx="15240" cy="2352675"/>
          </a:xfrm>
          <a:custGeom>
            <a:avLst/>
            <a:gdLst/>
            <a:ahLst/>
            <a:cxnLst/>
            <a:rect l="l" t="t" r="r" b="b"/>
            <a:pathLst>
              <a:path w="15240" h="2352675">
                <a:moveTo>
                  <a:pt x="0" y="0"/>
                </a:moveTo>
                <a:lnTo>
                  <a:pt x="15240" y="0"/>
                </a:lnTo>
                <a:lnTo>
                  <a:pt x="1524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309753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3" name="Shape 21"/>
          <p:cNvSpPr/>
          <p:nvPr/>
        </p:nvSpPr>
        <p:spPr>
          <a:xfrm>
            <a:off x="5730240" y="32499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097532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Features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3402211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Representation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821432"/>
            <a:ext cx="630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Sentence Embeddings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4126232"/>
            <a:ext cx="6305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via </a:t>
            </a:r>
            <a:r>
              <a:rPr lang="en-US" sz="1050" dirty="0">
                <a:solidFill>
                  <a:srgbClr val="3D3D3D"/>
                </a:solidFill>
                <a:highlight>
                  <a:srgbClr val="C4B7A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all-MiniLM-L6-v2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lightweight yet powerful transformer model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77840" y="4530092"/>
            <a:ext cx="6229350" cy="7620"/>
          </a:xfrm>
          <a:custGeom>
            <a:avLst/>
            <a:gdLst/>
            <a:ahLst/>
            <a:cxnLst/>
            <a:rect l="l" t="t" r="r" b="b"/>
            <a:pathLst>
              <a:path w="6229350" h="7620">
                <a:moveTo>
                  <a:pt x="0" y="0"/>
                </a:moveTo>
                <a:lnTo>
                  <a:pt x="6229350" y="0"/>
                </a:lnTo>
                <a:lnTo>
                  <a:pt x="6229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4648200"/>
            <a:ext cx="630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Indexing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4953000"/>
            <a:ext cx="630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384-dimensional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dense vectors indexed using FAISS for optimized Approximate Nearest Neighbor (ANN) calculation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34000" y="5821684"/>
            <a:ext cx="2028825" cy="15240"/>
          </a:xfrm>
          <a:custGeom>
            <a:avLst/>
            <a:gdLst/>
            <a:ahLst/>
            <a:cxnLst/>
            <a:rect l="l" t="t" r="r" b="b"/>
            <a:pathLst>
              <a:path w="2028825" h="15240">
                <a:moveTo>
                  <a:pt x="0" y="0"/>
                </a:moveTo>
                <a:lnTo>
                  <a:pt x="2028825" y="0"/>
                </a:lnTo>
                <a:lnTo>
                  <a:pt x="2028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Shape 30"/>
          <p:cNvSpPr/>
          <p:nvPr/>
        </p:nvSpPr>
        <p:spPr>
          <a:xfrm>
            <a:off x="5357813" y="6010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1"/>
          <p:cNvSpPr/>
          <p:nvPr/>
        </p:nvSpPr>
        <p:spPr>
          <a:xfrm>
            <a:off x="5624513" y="59817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Retrieval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0" y="6286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Sub-100ms ANN search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56421" y="5821684"/>
            <a:ext cx="2028825" cy="15240"/>
          </a:xfrm>
          <a:custGeom>
            <a:avLst/>
            <a:gdLst/>
            <a:ahLst/>
            <a:cxnLst/>
            <a:rect l="l" t="t" r="r" b="b"/>
            <a:pathLst>
              <a:path w="2028825" h="15240">
                <a:moveTo>
                  <a:pt x="0" y="0"/>
                </a:moveTo>
                <a:lnTo>
                  <a:pt x="2028825" y="0"/>
                </a:lnTo>
                <a:lnTo>
                  <a:pt x="2028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0233" y="6010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7172" y="2344"/>
                </a:moveTo>
                <a:cubicBezTo>
                  <a:pt x="150320" y="-804"/>
                  <a:pt x="155410" y="-804"/>
                  <a:pt x="158524" y="2344"/>
                </a:cubicBezTo>
                <a:lnTo>
                  <a:pt x="169240" y="13060"/>
                </a:lnTo>
                <a:cubicBezTo>
                  <a:pt x="172388" y="16207"/>
                  <a:pt x="172388" y="21297"/>
                  <a:pt x="169240" y="24412"/>
                </a:cubicBezTo>
                <a:lnTo>
                  <a:pt x="140107" y="53545"/>
                </a:lnTo>
                <a:lnTo>
                  <a:pt x="153166" y="66604"/>
                </a:lnTo>
                <a:cubicBezTo>
                  <a:pt x="155477" y="68915"/>
                  <a:pt x="156147" y="72364"/>
                  <a:pt x="154908" y="75378"/>
                </a:cubicBezTo>
                <a:cubicBezTo>
                  <a:pt x="153669" y="78391"/>
                  <a:pt x="150755" y="80367"/>
                  <a:pt x="147507" y="80367"/>
                </a:cubicBezTo>
                <a:lnTo>
                  <a:pt x="99287" y="80367"/>
                </a:lnTo>
                <a:cubicBezTo>
                  <a:pt x="94833" y="80367"/>
                  <a:pt x="91250" y="76784"/>
                  <a:pt x="91250" y="72330"/>
                </a:cubicBezTo>
                <a:lnTo>
                  <a:pt x="91250" y="24110"/>
                </a:lnTo>
                <a:cubicBezTo>
                  <a:pt x="91250" y="20862"/>
                  <a:pt x="93192" y="17915"/>
                  <a:pt x="96206" y="16676"/>
                </a:cubicBezTo>
                <a:cubicBezTo>
                  <a:pt x="99220" y="15437"/>
                  <a:pt x="102669" y="16107"/>
                  <a:pt x="104980" y="18417"/>
                </a:cubicBezTo>
                <a:lnTo>
                  <a:pt x="118039" y="31477"/>
                </a:lnTo>
                <a:lnTo>
                  <a:pt x="147172" y="2344"/>
                </a:lnTo>
                <a:close/>
                <a:moveTo>
                  <a:pt x="24278" y="91083"/>
                </a:moveTo>
                <a:lnTo>
                  <a:pt x="72498" y="91083"/>
                </a:lnTo>
                <a:cubicBezTo>
                  <a:pt x="76952" y="91083"/>
                  <a:pt x="80535" y="94666"/>
                  <a:pt x="80535" y="99120"/>
                </a:cubicBezTo>
                <a:lnTo>
                  <a:pt x="80535" y="147340"/>
                </a:lnTo>
                <a:cubicBezTo>
                  <a:pt x="80535" y="150588"/>
                  <a:pt x="78592" y="153535"/>
                  <a:pt x="75579" y="154774"/>
                </a:cubicBezTo>
                <a:cubicBezTo>
                  <a:pt x="72565" y="156013"/>
                  <a:pt x="69116" y="155343"/>
                  <a:pt x="66805" y="153033"/>
                </a:cubicBezTo>
                <a:lnTo>
                  <a:pt x="53746" y="139973"/>
                </a:lnTo>
                <a:lnTo>
                  <a:pt x="24612" y="169106"/>
                </a:lnTo>
                <a:cubicBezTo>
                  <a:pt x="21465" y="172254"/>
                  <a:pt x="16375" y="172254"/>
                  <a:pt x="13261" y="169106"/>
                </a:cubicBezTo>
                <a:lnTo>
                  <a:pt x="2545" y="158390"/>
                </a:lnTo>
                <a:cubicBezTo>
                  <a:pt x="-603" y="155243"/>
                  <a:pt x="-603" y="150153"/>
                  <a:pt x="2545" y="147038"/>
                </a:cubicBezTo>
                <a:lnTo>
                  <a:pt x="31678" y="117905"/>
                </a:lnTo>
                <a:lnTo>
                  <a:pt x="18618" y="104846"/>
                </a:lnTo>
                <a:cubicBezTo>
                  <a:pt x="16308" y="102535"/>
                  <a:pt x="15638" y="99086"/>
                  <a:pt x="16877" y="96072"/>
                </a:cubicBezTo>
                <a:cubicBezTo>
                  <a:pt x="18116" y="93059"/>
                  <a:pt x="21029" y="91083"/>
                  <a:pt x="24278" y="91083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7" name="Text 35"/>
          <p:cNvSpPr/>
          <p:nvPr/>
        </p:nvSpPr>
        <p:spPr>
          <a:xfrm>
            <a:off x="7846933" y="59817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56421" y="6286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384-dim embeddings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78960" y="5821684"/>
            <a:ext cx="2028825" cy="15240"/>
          </a:xfrm>
          <a:custGeom>
            <a:avLst/>
            <a:gdLst/>
            <a:ahLst/>
            <a:cxnLst/>
            <a:rect l="l" t="t" r="r" b="b"/>
            <a:pathLst>
              <a:path w="2028825" h="15240">
                <a:moveTo>
                  <a:pt x="0" y="0"/>
                </a:moveTo>
                <a:lnTo>
                  <a:pt x="2028825" y="0"/>
                </a:lnTo>
                <a:lnTo>
                  <a:pt x="2028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0" name="Shape 38"/>
          <p:cNvSpPr/>
          <p:nvPr/>
        </p:nvSpPr>
        <p:spPr>
          <a:xfrm>
            <a:off x="9781341" y="60102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69473" y="59817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78960" y="62865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vs. speed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Algorithm: Hybrid Scoring Formula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379220"/>
            <a:ext cx="11416665" cy="2025015"/>
          </a:xfrm>
          <a:custGeom>
            <a:avLst/>
            <a:gdLst/>
            <a:ahLst/>
            <a:cxnLst/>
            <a:rect l="l" t="t" r="r" b="b"/>
            <a:pathLst>
              <a:path w="11416665" h="2025015">
                <a:moveTo>
                  <a:pt x="0" y="0"/>
                </a:moveTo>
                <a:lnTo>
                  <a:pt x="11416665" y="0"/>
                </a:lnTo>
                <a:lnTo>
                  <a:pt x="11416665" y="2025015"/>
                </a:lnTo>
                <a:lnTo>
                  <a:pt x="0" y="202501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 w="20320">
            <a:solidFill>
              <a:srgbClr val="8B86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9590" y="1577346"/>
            <a:ext cx="11134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Scoring Formula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5672" y="2042045"/>
            <a:ext cx="7158990" cy="662940"/>
          </a:xfrm>
          <a:custGeom>
            <a:avLst/>
            <a:gdLst/>
            <a:ahLst/>
            <a:cxnLst/>
            <a:rect l="l" t="t" r="r" b="b"/>
            <a:pathLst>
              <a:path w="7158990" h="662940">
                <a:moveTo>
                  <a:pt x="0" y="0"/>
                </a:moveTo>
                <a:lnTo>
                  <a:pt x="7158990" y="0"/>
                </a:lnTo>
                <a:lnTo>
                  <a:pt x="7158990" y="662940"/>
                </a:lnTo>
                <a:lnTo>
                  <a:pt x="0" y="6629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0320">
            <a:solidFill>
              <a:srgbClr val="8B8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6654" y="2202061"/>
            <a:ext cx="6677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Score = </a:t>
            </a:r>
            <a:r>
              <a:rPr lang="en-US" sz="22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w₁</a:t>
            </a: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S</a:t>
            </a:r>
            <a:r>
              <a:rPr lang="en-US" sz="1688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</a:t>
            </a: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w₂</a:t>
            </a: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S</a:t>
            </a:r>
            <a:r>
              <a:rPr lang="en-US" sz="1688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</a:t>
            </a: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r>
              <a:rPr lang="en-US" sz="22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w₃</a:t>
            </a: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S</a:t>
            </a:r>
            <a:r>
              <a:rPr lang="en-US" sz="1688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26907"/>
            <a:ext cx="1109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w₁ + w₂ + w₃ = 1.0 (configurable weights)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21263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1" name="Shape 9"/>
          <p:cNvSpPr/>
          <p:nvPr/>
        </p:nvSpPr>
        <p:spPr>
          <a:xfrm>
            <a:off x="381000" y="35812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375" y="358127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3676529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7599" y="3638429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000" y="4152779"/>
            <a:ext cx="3762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Prioritizes broad contextual meaning via Cosine similarity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000" y="47242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BERT embeddings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1000" y="49528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Cosine similarity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000" y="51814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ANN optimization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4460" y="3421263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4460" y="35812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835" y="358127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5960" y="3676529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1059" y="3638429"/>
            <a:ext cx="56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4460" y="4152779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exact keyword hits via probabilistic ranking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54460" y="44956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Exact term matching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54460" y="47242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Term frequency weighting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54460" y="49528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Document length norm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7921" y="3421263"/>
            <a:ext cx="3686175" cy="15240"/>
          </a:xfrm>
          <a:custGeom>
            <a:avLst/>
            <a:gdLst/>
            <a:ahLst/>
            <a:cxnLst/>
            <a:rect l="l" t="t" r="r" b="b"/>
            <a:pathLst>
              <a:path w="3686175" h="15240">
                <a:moveTo>
                  <a:pt x="0" y="0"/>
                </a:moveTo>
                <a:lnTo>
                  <a:pt x="3686175" y="0"/>
                </a:lnTo>
                <a:lnTo>
                  <a:pt x="36861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7921" y="35812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0" name="Text 28"/>
          <p:cNvSpPr/>
          <p:nvPr/>
        </p:nvSpPr>
        <p:spPr>
          <a:xfrm>
            <a:off x="8080296" y="358127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w₃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99421" y="3676529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96901" y="3638429"/>
            <a:ext cx="552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7921" y="4152779"/>
            <a:ext cx="3762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Enhances rank via recency weighting &amp; source authority boosts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7921" y="47242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Recency weighting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7921" y="49528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Source authority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27921" y="5181479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Category matching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5371979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5371979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9" name="Shape 37"/>
          <p:cNvSpPr/>
          <p:nvPr/>
        </p:nvSpPr>
        <p:spPr>
          <a:xfrm>
            <a:off x="633413" y="556247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Text 38"/>
          <p:cNvSpPr/>
          <p:nvPr/>
        </p:nvSpPr>
        <p:spPr>
          <a:xfrm>
            <a:off x="962025" y="5524379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Balancing &amp; Tuning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9600" y="5905379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Tested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0.5/0.3/0.2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0.4/0.4/0.2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balanced 0.4/0.4 provided optimal P@10 without sacrificing exact keyword recovery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29350" y="5371979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5098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29350" y="5371979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50806" y="556247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5" name="Text 43"/>
          <p:cNvSpPr/>
          <p:nvPr/>
        </p:nvSpPr>
        <p:spPr>
          <a:xfrm>
            <a:off x="6791325" y="5524379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38900" y="5905379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scoring algorithm eliminates the </a:t>
            </a: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"black box"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nature of pure AI retrievers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 &amp; Storage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790700"/>
            <a:ext cx="466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Ingestion Engine &amp; DuckDB Warehouse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3200400"/>
            <a:ext cx="4552950" cy="1143000"/>
          </a:xfrm>
          <a:custGeom>
            <a:avLst/>
            <a:gdLst/>
            <a:ahLst/>
            <a:cxnLst/>
            <a:rect l="l" t="t" r="r" b="b"/>
            <a:pathLst>
              <a:path w="4552950" h="1143000">
                <a:moveTo>
                  <a:pt x="0" y="0"/>
                </a:moveTo>
                <a:lnTo>
                  <a:pt x="4552950" y="0"/>
                </a:lnTo>
                <a:lnTo>
                  <a:pt x="45529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32004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6"/>
          <p:cNvSpPr/>
          <p:nvPr/>
        </p:nvSpPr>
        <p:spPr>
          <a:xfrm>
            <a:off x="645319" y="3390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7"/>
          <p:cNvSpPr/>
          <p:nvPr/>
        </p:nvSpPr>
        <p:spPr>
          <a:xfrm>
            <a:off x="962025" y="33528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Queries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37338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Columnar storage enables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sub-second analytical queries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millions of rows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4495800"/>
            <a:ext cx="4552950" cy="914400"/>
          </a:xfrm>
          <a:custGeom>
            <a:avLst/>
            <a:gdLst/>
            <a:ahLst/>
            <a:cxnLst/>
            <a:rect l="l" t="t" r="r" b="b"/>
            <a:pathLst>
              <a:path w="4552950" h="914400">
                <a:moveTo>
                  <a:pt x="0" y="0"/>
                </a:moveTo>
                <a:lnTo>
                  <a:pt x="4552950" y="0"/>
                </a:lnTo>
                <a:lnTo>
                  <a:pt x="45529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4495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341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" y="46482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Privacy-Preserving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50292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never leaves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local machine — complete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5562600"/>
            <a:ext cx="4552950" cy="914400"/>
          </a:xfrm>
          <a:custGeom>
            <a:avLst/>
            <a:gdLst/>
            <a:ahLst/>
            <a:cxnLst/>
            <a:rect l="l" t="t" r="r" b="b"/>
            <a:pathLst>
              <a:path w="4552950" h="914400">
                <a:moveTo>
                  <a:pt x="0" y="0"/>
                </a:moveTo>
                <a:lnTo>
                  <a:pt x="4552950" y="0"/>
                </a:lnTo>
                <a:lnTo>
                  <a:pt x="45529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5562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413" y="5753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6845" y="37"/>
                </a:moveTo>
                <a:cubicBezTo>
                  <a:pt x="180529" y="-260"/>
                  <a:pt x="184138" y="1153"/>
                  <a:pt x="186742" y="3758"/>
                </a:cubicBezTo>
                <a:cubicBezTo>
                  <a:pt x="189347" y="6362"/>
                  <a:pt x="190760" y="9971"/>
                  <a:pt x="190463" y="13655"/>
                </a:cubicBezTo>
                <a:cubicBezTo>
                  <a:pt x="188975" y="31998"/>
                  <a:pt x="183989" y="60610"/>
                  <a:pt x="173236" y="87957"/>
                </a:cubicBezTo>
                <a:cubicBezTo>
                  <a:pt x="172566" y="89632"/>
                  <a:pt x="171190" y="90897"/>
                  <a:pt x="169441" y="91418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4707" y="107156"/>
                </a:lnTo>
                <a:cubicBezTo>
                  <a:pt x="159172" y="107156"/>
                  <a:pt x="162037" y="111919"/>
                  <a:pt x="159730" y="115751"/>
                </a:cubicBezTo>
                <a:cubicBezTo>
                  <a:pt x="158242" y="118244"/>
                  <a:pt x="156642" y="120662"/>
                  <a:pt x="155004" y="123044"/>
                </a:cubicBezTo>
                <a:cubicBezTo>
                  <a:pt x="154260" y="124123"/>
                  <a:pt x="153144" y="124904"/>
                  <a:pt x="151879" y="125313"/>
                </a:cubicBezTo>
                <a:lnTo>
                  <a:pt x="115528" y="136178"/>
                </a:lnTo>
                <a:cubicBezTo>
                  <a:pt x="114077" y="136624"/>
                  <a:pt x="113109" y="137926"/>
                  <a:pt x="113109" y="139452"/>
                </a:cubicBezTo>
                <a:cubicBezTo>
                  <a:pt x="113109" y="141350"/>
                  <a:pt x="114635" y="142875"/>
                  <a:pt x="116532" y="142875"/>
                </a:cubicBezTo>
                <a:lnTo>
                  <a:pt x="122486" y="142875"/>
                </a:lnTo>
                <a:cubicBezTo>
                  <a:pt x="127918" y="142875"/>
                  <a:pt x="130299" y="149349"/>
                  <a:pt x="125760" y="152326"/>
                </a:cubicBezTo>
                <a:cubicBezTo>
                  <a:pt x="100459" y="169069"/>
                  <a:pt x="74526" y="168436"/>
                  <a:pt x="57894" y="163971"/>
                </a:cubicBezTo>
                <a:cubicBezTo>
                  <a:pt x="53169" y="162706"/>
                  <a:pt x="48964" y="160288"/>
                  <a:pt x="45095" y="157311"/>
                </a:cubicBezTo>
                <a:lnTo>
                  <a:pt x="17859" y="184547"/>
                </a:lnTo>
                <a:cubicBezTo>
                  <a:pt x="14585" y="187821"/>
                  <a:pt x="9227" y="187821"/>
                  <a:pt x="5953" y="184547"/>
                </a:cubicBezTo>
                <a:cubicBezTo>
                  <a:pt x="2679" y="181273"/>
                  <a:pt x="2679" y="175915"/>
                  <a:pt x="5953" y="172641"/>
                </a:cubicBezTo>
                <a:lnTo>
                  <a:pt x="35719" y="142875"/>
                </a:lnTo>
                <a:lnTo>
                  <a:pt x="35905" y="143061"/>
                </a:lnTo>
                <a:cubicBezTo>
                  <a:pt x="36165" y="142577"/>
                  <a:pt x="36500" y="142131"/>
                  <a:pt x="36909" y="141722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33375" y="121369"/>
                </a:lnTo>
                <a:cubicBezTo>
                  <a:pt x="30063" y="124681"/>
                  <a:pt x="24445" y="123006"/>
                  <a:pt x="24073" y="118318"/>
                </a:cubicBezTo>
                <a:cubicBezTo>
                  <a:pt x="22473" y="98524"/>
                  <a:pt x="27533" y="72517"/>
                  <a:pt x="51085" y="48964"/>
                </a:cubicBezTo>
                <a:cubicBezTo>
                  <a:pt x="84981" y="15069"/>
                  <a:pt x="145666" y="2567"/>
                  <a:pt x="176808" y="37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" y="57150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60960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binary,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memory footprint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easy deployment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65420" y="381000"/>
            <a:ext cx="15240" cy="1676400"/>
          </a:xfrm>
          <a:custGeom>
            <a:avLst/>
            <a:gdLst/>
            <a:ahLst/>
            <a:cxnLst/>
            <a:rect l="l" t="t" r="r" b="b"/>
            <a:pathLst>
              <a:path w="15240" h="1676400">
                <a:moveTo>
                  <a:pt x="0" y="0"/>
                </a:moveTo>
                <a:lnTo>
                  <a:pt x="15240" y="0"/>
                </a:lnTo>
                <a:lnTo>
                  <a:pt x="1524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5525453" y="419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5739765" y="381000"/>
            <a:ext cx="616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Ingestion Engine 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66460" y="800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Text 23"/>
          <p:cNvSpPr/>
          <p:nvPr/>
        </p:nvSpPr>
        <p:spPr>
          <a:xfrm>
            <a:off x="5923598" y="8001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63540" y="14097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Fetching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8303" y="1676400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 parallel calls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1900" y="800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9" name="Text 27"/>
          <p:cNvSpPr/>
          <p:nvPr/>
        </p:nvSpPr>
        <p:spPr>
          <a:xfrm>
            <a:off x="7539037" y="8001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78980" y="14097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3743" y="1676400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removal, dedup, HTML strip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97340" y="800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3" name="Text 31"/>
          <p:cNvSpPr/>
          <p:nvPr/>
        </p:nvSpPr>
        <p:spPr>
          <a:xfrm>
            <a:off x="9154478" y="8001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94420" y="14097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99182" y="1676400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simultaneously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12781" y="800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10769918" y="8001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09860" y="14097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14623" y="1676400"/>
            <a:ext cx="153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 to DuckDB on schedule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65420" y="2465068"/>
            <a:ext cx="15240" cy="2981325"/>
          </a:xfrm>
          <a:custGeom>
            <a:avLst/>
            <a:gdLst/>
            <a:ahLst/>
            <a:cxnLst/>
            <a:rect l="l" t="t" r="r" b="b"/>
            <a:pathLst>
              <a:path w="15240" h="2981325">
                <a:moveTo>
                  <a:pt x="0" y="0"/>
                </a:moveTo>
                <a:lnTo>
                  <a:pt x="15240" y="0"/>
                </a:lnTo>
                <a:lnTo>
                  <a:pt x="15240" y="2981325"/>
                </a:lnTo>
                <a:lnTo>
                  <a:pt x="0" y="29813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1" name="Shape 39"/>
          <p:cNvSpPr/>
          <p:nvPr/>
        </p:nvSpPr>
        <p:spPr>
          <a:xfrm>
            <a:off x="5537359" y="25031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2" name="Text 40"/>
          <p:cNvSpPr/>
          <p:nvPr/>
        </p:nvSpPr>
        <p:spPr>
          <a:xfrm>
            <a:off x="5739765" y="2465068"/>
            <a:ext cx="616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Schema Design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505450" y="2887978"/>
            <a:ext cx="6303645" cy="769620"/>
          </a:xfrm>
          <a:custGeom>
            <a:avLst/>
            <a:gdLst/>
            <a:ahLst/>
            <a:cxnLst/>
            <a:rect l="l" t="t" r="r" b="b"/>
            <a:pathLst>
              <a:path w="6303645" h="769620">
                <a:moveTo>
                  <a:pt x="0" y="0"/>
                </a:moveTo>
                <a:lnTo>
                  <a:pt x="6303645" y="0"/>
                </a:lnTo>
                <a:lnTo>
                  <a:pt x="6303645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3025146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36392" y="3006096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23560" y="3348996"/>
            <a:ext cx="613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title, content, url, published_at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505450" y="3779524"/>
            <a:ext cx="6303645" cy="769620"/>
          </a:xfrm>
          <a:custGeom>
            <a:avLst/>
            <a:gdLst/>
            <a:ahLst/>
            <a:cxnLst/>
            <a:rect l="l" t="t" r="r" b="b"/>
            <a:pathLst>
              <a:path w="6303645" h="769620">
                <a:moveTo>
                  <a:pt x="0" y="0"/>
                </a:moveTo>
                <a:lnTo>
                  <a:pt x="6303645" y="0"/>
                </a:lnTo>
                <a:lnTo>
                  <a:pt x="6303645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3916682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90434" y="3897632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623560" y="4240532"/>
            <a:ext cx="613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name, credibility_score, domain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505450" y="4671060"/>
            <a:ext cx="6303645" cy="769620"/>
          </a:xfrm>
          <a:custGeom>
            <a:avLst/>
            <a:gdLst/>
            <a:ahLst/>
            <a:cxnLst/>
            <a:rect l="l" t="t" r="r" b="b"/>
            <a:pathLst>
              <a:path w="6303645" h="769620">
                <a:moveTo>
                  <a:pt x="0" y="0"/>
                </a:moveTo>
                <a:lnTo>
                  <a:pt x="6303645" y="0"/>
                </a:lnTo>
                <a:lnTo>
                  <a:pt x="6303645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4808218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746106" y="4789168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623560" y="5132068"/>
            <a:ext cx="613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article_id, vector_384d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57800" y="5859784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6" name="Shape 54"/>
          <p:cNvSpPr/>
          <p:nvPr/>
        </p:nvSpPr>
        <p:spPr>
          <a:xfrm>
            <a:off x="5292328" y="6010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7" name="Text 55"/>
          <p:cNvSpPr/>
          <p:nvPr/>
        </p:nvSpPr>
        <p:spPr>
          <a:xfrm>
            <a:off x="5548313" y="59817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257800" y="62865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external server needed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92961" y="5859784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60" name="Shape 58"/>
          <p:cNvSpPr/>
          <p:nvPr/>
        </p:nvSpPr>
        <p:spPr>
          <a:xfrm>
            <a:off x="7506058" y="60102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61" name="Text 59"/>
          <p:cNvSpPr/>
          <p:nvPr/>
        </p:nvSpPr>
        <p:spPr>
          <a:xfrm>
            <a:off x="7783473" y="59817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SQL-Compatible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92961" y="62865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SQL queries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728121" y="5859784"/>
            <a:ext cx="2085975" cy="15240"/>
          </a:xfrm>
          <a:custGeom>
            <a:avLst/>
            <a:gdLst/>
            <a:ahLst/>
            <a:cxnLst/>
            <a:rect l="l" t="t" r="r" b="b"/>
            <a:pathLst>
              <a:path w="2085975" h="15240">
                <a:moveTo>
                  <a:pt x="0" y="0"/>
                </a:moveTo>
                <a:lnTo>
                  <a:pt x="2085975" y="0"/>
                </a:lnTo>
                <a:lnTo>
                  <a:pt x="20859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64" name="Shape 62"/>
          <p:cNvSpPr/>
          <p:nvPr/>
        </p:nvSpPr>
        <p:spPr>
          <a:xfrm>
            <a:off x="9751933" y="6010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65" name="Text 63"/>
          <p:cNvSpPr/>
          <p:nvPr/>
        </p:nvSpPr>
        <p:spPr>
          <a:xfrm>
            <a:off x="10018634" y="59817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Cloud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728121" y="62865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offline operation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Progress &amp; Preliminary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1539246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6273" y="1539246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0" y="0"/>
                </a:moveTo>
                <a:lnTo>
                  <a:pt x="561975" y="0"/>
                </a:lnTo>
                <a:lnTo>
                  <a:pt x="561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6"/>
          <p:cNvSpPr/>
          <p:nvPr/>
        </p:nvSpPr>
        <p:spPr>
          <a:xfrm>
            <a:off x="2566273" y="1539246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920246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pipeline operational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225046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Guardian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638" y="2225046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Mediastack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66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76600" y="1539246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1873" y="1539246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0" y="0"/>
                </a:moveTo>
                <a:lnTo>
                  <a:pt x="561975" y="0"/>
                </a:lnTo>
                <a:lnTo>
                  <a:pt x="561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5" name="Text 13"/>
          <p:cNvSpPr/>
          <p:nvPr/>
        </p:nvSpPr>
        <p:spPr>
          <a:xfrm>
            <a:off x="5461873" y="1539246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76600" y="1920246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fusion working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03984" y="225362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Text 16"/>
          <p:cNvSpPr/>
          <p:nvPr/>
        </p:nvSpPr>
        <p:spPr>
          <a:xfrm>
            <a:off x="3519488" y="2225046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Sub-100ms latency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539246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57473" y="1539246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0" y="0"/>
                </a:moveTo>
                <a:lnTo>
                  <a:pt x="561975" y="0"/>
                </a:lnTo>
                <a:lnTo>
                  <a:pt x="5619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473" y="1539246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1920246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initialized and populated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22536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Text 23"/>
          <p:cNvSpPr/>
          <p:nvPr/>
        </p:nvSpPr>
        <p:spPr>
          <a:xfrm>
            <a:off x="6415088" y="2225046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locked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67800" y="1379220"/>
            <a:ext cx="2743200" cy="15240"/>
          </a:xfrm>
          <a:custGeom>
            <a:avLst/>
            <a:gdLst/>
            <a:ahLst/>
            <a:cxnLst/>
            <a:rect l="l" t="t" r="r" b="b"/>
            <a:pathLst>
              <a:path w="2743200" h="15240">
                <a:moveTo>
                  <a:pt x="0" y="0"/>
                </a:moveTo>
                <a:lnTo>
                  <a:pt x="2743200" y="0"/>
                </a:lnTo>
                <a:lnTo>
                  <a:pt x="27432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Text 25"/>
          <p:cNvSpPr/>
          <p:nvPr/>
        </p:nvSpPr>
        <p:spPr>
          <a:xfrm>
            <a:off x="9067800" y="1539246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Interfaces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311771" y="1539246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0" y="0"/>
                </a:moveTo>
                <a:lnTo>
                  <a:pt x="495300" y="0"/>
                </a:lnTo>
                <a:lnTo>
                  <a:pt x="495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7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311771" y="1539246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67800" y="1920246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Dashboard active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78516" y="225362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0006" y="16669"/>
                </a:moveTo>
                <a:cubicBezTo>
                  <a:pt x="22399" y="16669"/>
                  <a:pt x="0" y="39067"/>
                  <a:pt x="0" y="66675"/>
                </a:cubicBezTo>
                <a:cubicBezTo>
                  <a:pt x="0" y="94283"/>
                  <a:pt x="22399" y="116681"/>
                  <a:pt x="50006" y="116681"/>
                </a:cubicBezTo>
                <a:lnTo>
                  <a:pt x="100013" y="116681"/>
                </a:lnTo>
                <a:cubicBezTo>
                  <a:pt x="127620" y="116681"/>
                  <a:pt x="150019" y="94283"/>
                  <a:pt x="150019" y="66675"/>
                </a:cubicBezTo>
                <a:cubicBezTo>
                  <a:pt x="150019" y="39067"/>
                  <a:pt x="127620" y="16669"/>
                  <a:pt x="100013" y="16669"/>
                </a:cubicBezTo>
                <a:lnTo>
                  <a:pt x="50006" y="16669"/>
                </a:lnTo>
                <a:close/>
                <a:moveTo>
                  <a:pt x="100013" y="41672"/>
                </a:moveTo>
                <a:cubicBezTo>
                  <a:pt x="113812" y="41672"/>
                  <a:pt x="125016" y="52875"/>
                  <a:pt x="125016" y="66675"/>
                </a:cubicBezTo>
                <a:cubicBezTo>
                  <a:pt x="125016" y="80475"/>
                  <a:pt x="113812" y="91678"/>
                  <a:pt x="100013" y="91678"/>
                </a:cubicBezTo>
                <a:cubicBezTo>
                  <a:pt x="86213" y="91678"/>
                  <a:pt x="75009" y="80475"/>
                  <a:pt x="75009" y="66675"/>
                </a:cubicBezTo>
                <a:cubicBezTo>
                  <a:pt x="75009" y="52875"/>
                  <a:pt x="86213" y="41672"/>
                  <a:pt x="100013" y="4167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Text 30"/>
          <p:cNvSpPr/>
          <p:nvPr/>
        </p:nvSpPr>
        <p:spPr>
          <a:xfrm>
            <a:off x="9310688" y="2225046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 toggles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" y="2819402"/>
            <a:ext cx="11416665" cy="2339340"/>
          </a:xfrm>
          <a:custGeom>
            <a:avLst/>
            <a:gdLst/>
            <a:ahLst/>
            <a:cxnLst/>
            <a:rect l="l" t="t" r="r" b="b"/>
            <a:pathLst>
              <a:path w="11416665" h="2339340">
                <a:moveTo>
                  <a:pt x="0" y="0"/>
                </a:moveTo>
                <a:lnTo>
                  <a:pt x="11416665" y="0"/>
                </a:lnTo>
                <a:lnTo>
                  <a:pt x="11416665" y="2339340"/>
                </a:lnTo>
                <a:lnTo>
                  <a:pt x="0" y="23393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 w="20320">
            <a:solidFill>
              <a:srgbClr val="8B868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0553" y="30556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5" name="Text 33"/>
          <p:cNvSpPr/>
          <p:nvPr/>
        </p:nvSpPr>
        <p:spPr>
          <a:xfrm>
            <a:off x="824865" y="3017518"/>
            <a:ext cx="1087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Results (50 Expert-Annotated Queries)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889760" y="343661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1915954" y="3608068"/>
            <a:ext cx="866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973104" y="4027168"/>
            <a:ext cx="75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Precision@10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" y="4465318"/>
            <a:ext cx="3600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78%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top 10 results are highly relevant to query intent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38800" y="343661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1" name="Text 39"/>
          <p:cNvSpPr/>
          <p:nvPr/>
        </p:nvSpPr>
        <p:spPr>
          <a:xfrm>
            <a:off x="5656540" y="3608068"/>
            <a:ext cx="876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13690" y="4027168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Recall@20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97680" y="4465318"/>
            <a:ext cx="3600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fetches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all relevant documents within top 20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387840" y="343661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45" name="Text 43"/>
          <p:cNvSpPr/>
          <p:nvPr/>
        </p:nvSpPr>
        <p:spPr>
          <a:xfrm>
            <a:off x="9395817" y="3608068"/>
            <a:ext cx="895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452967" y="4027168"/>
            <a:ext cx="781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46720" y="4465318"/>
            <a:ext cx="3600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Harmonic mean demonstrating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overall accuracy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562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9" name="Shape 47"/>
          <p:cNvSpPr/>
          <p:nvPr/>
        </p:nvSpPr>
        <p:spPr>
          <a:xfrm>
            <a:off x="671513" y="5753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0" name="Text 48"/>
          <p:cNvSpPr/>
          <p:nvPr/>
        </p:nvSpPr>
        <p:spPr>
          <a:xfrm>
            <a:off x="1000125" y="57150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Benchmark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700" y="6057900"/>
            <a:ext cx="1124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 architecture guarantees </a:t>
            </a:r>
            <a:r>
              <a:rPr lang="en-US" sz="135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consistent sub-100ms response times 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competitive with cloud-based solutions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Faced &amp;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409700"/>
            <a:ext cx="15240" cy="1219200"/>
          </a:xfrm>
          <a:custGeom>
            <a:avLst/>
            <a:gdLst/>
            <a:ahLst/>
            <a:cxnLst/>
            <a:rect l="l" t="t" r="r" b="b"/>
            <a:pathLst>
              <a:path w="15240" h="1219200">
                <a:moveTo>
                  <a:pt x="0" y="0"/>
                </a:moveTo>
                <a:lnTo>
                  <a:pt x="15240" y="0"/>
                </a:lnTo>
                <a:lnTo>
                  <a:pt x="1524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Shape 4"/>
          <p:cNvSpPr/>
          <p:nvPr/>
        </p:nvSpPr>
        <p:spPr>
          <a:xfrm>
            <a:off x="624840" y="140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567690" y="14097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8740" y="1409700"/>
            <a:ext cx="1057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Zero Score Issue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67790" y="18667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8"/>
          <p:cNvSpPr/>
          <p:nvPr/>
        </p:nvSpPr>
        <p:spPr>
          <a:xfrm>
            <a:off x="1539240" y="1828679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8740" y="2133479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lexical mismatches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zeroed out the combined scores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completely, preventing semantic results from surfacing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94170" y="18667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1"/>
          <p:cNvSpPr/>
          <p:nvPr/>
        </p:nvSpPr>
        <p:spPr>
          <a:xfrm>
            <a:off x="6865620" y="1828679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133479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Added a </a:t>
            </a: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score floor logic (0.001)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allow semantic relevance to surface even with weak lexical matches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" y="3333871"/>
            <a:ext cx="15240" cy="1219200"/>
          </a:xfrm>
          <a:custGeom>
            <a:avLst/>
            <a:gdLst/>
            <a:ahLst/>
            <a:cxnLst/>
            <a:rect l="l" t="t" r="r" b="b"/>
            <a:pathLst>
              <a:path w="15240" h="1219200">
                <a:moveTo>
                  <a:pt x="0" y="0"/>
                </a:moveTo>
                <a:lnTo>
                  <a:pt x="15240" y="0"/>
                </a:lnTo>
                <a:lnTo>
                  <a:pt x="1524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840" y="3333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7" name="Text 15"/>
          <p:cNvSpPr/>
          <p:nvPr/>
        </p:nvSpPr>
        <p:spPr>
          <a:xfrm>
            <a:off x="567690" y="333387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8740" y="3333871"/>
            <a:ext cx="1057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 Latency Issue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6779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Text 18"/>
          <p:cNvSpPr/>
          <p:nvPr/>
        </p:nvSpPr>
        <p:spPr>
          <a:xfrm>
            <a:off x="1539240" y="3752850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48740" y="405765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database re-indexing took up to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hour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causing significant pipeline stalls during updates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94170" y="3790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6865620" y="3752850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05765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Transitioned to </a:t>
            </a: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incremental partial indexing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only new documents are indexed, reducing time to seconds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8620" y="5257921"/>
            <a:ext cx="15240" cy="1219200"/>
          </a:xfrm>
          <a:custGeom>
            <a:avLst/>
            <a:gdLst/>
            <a:ahLst/>
            <a:cxnLst/>
            <a:rect l="l" t="t" r="r" b="b"/>
            <a:pathLst>
              <a:path w="15240" h="1219200">
                <a:moveTo>
                  <a:pt x="0" y="0"/>
                </a:moveTo>
                <a:lnTo>
                  <a:pt x="15240" y="0"/>
                </a:lnTo>
                <a:lnTo>
                  <a:pt x="1524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840" y="525792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27" name="Text 25"/>
          <p:cNvSpPr/>
          <p:nvPr/>
        </p:nvSpPr>
        <p:spPr>
          <a:xfrm>
            <a:off x="567690" y="525792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8740" y="5257921"/>
            <a:ext cx="1057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Delay Confusion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67790" y="571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Text 28"/>
          <p:cNvSpPr/>
          <p:nvPr/>
        </p:nvSpPr>
        <p:spPr>
          <a:xfrm>
            <a:off x="1539240" y="5676900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8740" y="5981700"/>
            <a:ext cx="5210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backend vector loading on startup made the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appear frozen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users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94170" y="571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1"/>
          <p:cNvSpPr/>
          <p:nvPr/>
        </p:nvSpPr>
        <p:spPr>
          <a:xfrm>
            <a:off x="6865620" y="5676900"/>
            <a:ext cx="501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120" y="5981700"/>
            <a:ext cx="521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</a:t>
            </a: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asynchronous fetching with loading indicators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users see progress, not frozen screens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1488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466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Enhancements &amp; Next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0574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5"/>
          <p:cNvSpPr/>
          <p:nvPr/>
        </p:nvSpPr>
        <p:spPr>
          <a:xfrm>
            <a:off x="621506" y="2247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" y="220980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Ranking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527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Implementing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Learning-to-Rank (LTR)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neural layers on top of scoring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314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Shape 9"/>
          <p:cNvSpPr/>
          <p:nvPr/>
        </p:nvSpPr>
        <p:spPr>
          <a:xfrm>
            <a:off x="633413" y="3505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346710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8100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Evaluating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quantized models (int8)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faster edge-processing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43434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506" y="4533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35719"/>
                </a:moveTo>
                <a:cubicBezTo>
                  <a:pt x="35719" y="22585"/>
                  <a:pt x="46397" y="11906"/>
                  <a:pt x="59531" y="11906"/>
                </a:cubicBezTo>
                <a:lnTo>
                  <a:pt x="178594" y="11906"/>
                </a:lnTo>
                <a:cubicBezTo>
                  <a:pt x="191728" y="11906"/>
                  <a:pt x="202406" y="22585"/>
                  <a:pt x="202406" y="35719"/>
                </a:cubicBezTo>
                <a:lnTo>
                  <a:pt x="202406" y="130969"/>
                </a:lnTo>
                <a:cubicBezTo>
                  <a:pt x="202406" y="144103"/>
                  <a:pt x="191728" y="154781"/>
                  <a:pt x="178594" y="154781"/>
                </a:cubicBezTo>
                <a:lnTo>
                  <a:pt x="59531" y="154781"/>
                </a:lnTo>
                <a:cubicBezTo>
                  <a:pt x="46397" y="154781"/>
                  <a:pt x="35719" y="144103"/>
                  <a:pt x="35719" y="130969"/>
                </a:cubicBezTo>
                <a:lnTo>
                  <a:pt x="35719" y="35719"/>
                </a:lnTo>
                <a:close/>
                <a:moveTo>
                  <a:pt x="8930" y="47625"/>
                </a:moveTo>
                <a:cubicBezTo>
                  <a:pt x="13878" y="47625"/>
                  <a:pt x="17859" y="51606"/>
                  <a:pt x="17859" y="56555"/>
                </a:cubicBezTo>
                <a:lnTo>
                  <a:pt x="17859" y="166688"/>
                </a:lnTo>
                <a:cubicBezTo>
                  <a:pt x="17859" y="169962"/>
                  <a:pt x="20538" y="172641"/>
                  <a:pt x="23812" y="172641"/>
                </a:cubicBezTo>
                <a:lnTo>
                  <a:pt x="157758" y="172641"/>
                </a:lnTo>
                <a:cubicBezTo>
                  <a:pt x="162706" y="172641"/>
                  <a:pt x="166688" y="176622"/>
                  <a:pt x="166688" y="181570"/>
                </a:cubicBezTo>
                <a:cubicBezTo>
                  <a:pt x="166688" y="186519"/>
                  <a:pt x="162706" y="190500"/>
                  <a:pt x="157758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56555"/>
                </a:lnTo>
                <a:cubicBezTo>
                  <a:pt x="0" y="51606"/>
                  <a:pt x="3981" y="47625"/>
                  <a:pt x="8930" y="47625"/>
                </a:cubicBezTo>
                <a:close/>
                <a:moveTo>
                  <a:pt x="71438" y="59531"/>
                </a:moveTo>
                <a:cubicBezTo>
                  <a:pt x="78009" y="59531"/>
                  <a:pt x="83344" y="54196"/>
                  <a:pt x="83344" y="47625"/>
                </a:cubicBezTo>
                <a:cubicBezTo>
                  <a:pt x="83344" y="41054"/>
                  <a:pt x="78009" y="35719"/>
                  <a:pt x="71438" y="35719"/>
                </a:cubicBezTo>
                <a:cubicBezTo>
                  <a:pt x="64866" y="35719"/>
                  <a:pt x="59531" y="41054"/>
                  <a:pt x="59531" y="47625"/>
                </a:cubicBezTo>
                <a:cubicBezTo>
                  <a:pt x="59531" y="54196"/>
                  <a:pt x="64866" y="59531"/>
                  <a:pt x="71438" y="59531"/>
                </a:cubicBezTo>
                <a:close/>
                <a:moveTo>
                  <a:pt x="144549" y="63810"/>
                </a:moveTo>
                <a:cubicBezTo>
                  <a:pt x="142912" y="61168"/>
                  <a:pt x="140047" y="59531"/>
                  <a:pt x="136922" y="59531"/>
                </a:cubicBezTo>
                <a:cubicBezTo>
                  <a:pt x="133796" y="59531"/>
                  <a:pt x="130932" y="61168"/>
                  <a:pt x="129294" y="63810"/>
                </a:cubicBezTo>
                <a:lnTo>
                  <a:pt x="108347" y="98078"/>
                </a:lnTo>
                <a:lnTo>
                  <a:pt x="99231" y="86692"/>
                </a:lnTo>
                <a:cubicBezTo>
                  <a:pt x="97520" y="84572"/>
                  <a:pt x="94990" y="83344"/>
                  <a:pt x="92273" y="83344"/>
                </a:cubicBezTo>
                <a:cubicBezTo>
                  <a:pt x="89557" y="83344"/>
                  <a:pt x="86990" y="84572"/>
                  <a:pt x="85316" y="86692"/>
                </a:cubicBezTo>
                <a:lnTo>
                  <a:pt x="61503" y="116458"/>
                </a:lnTo>
                <a:cubicBezTo>
                  <a:pt x="59345" y="119137"/>
                  <a:pt x="58936" y="122820"/>
                  <a:pt x="60424" y="125909"/>
                </a:cubicBezTo>
                <a:cubicBezTo>
                  <a:pt x="61913" y="128997"/>
                  <a:pt x="65038" y="130969"/>
                  <a:pt x="68461" y="130969"/>
                </a:cubicBezTo>
                <a:lnTo>
                  <a:pt x="169664" y="130969"/>
                </a:lnTo>
                <a:cubicBezTo>
                  <a:pt x="172901" y="130969"/>
                  <a:pt x="175878" y="129220"/>
                  <a:pt x="177440" y="126392"/>
                </a:cubicBezTo>
                <a:cubicBezTo>
                  <a:pt x="179003" y="123565"/>
                  <a:pt x="178966" y="120142"/>
                  <a:pt x="177254" y="117351"/>
                </a:cubicBezTo>
                <a:lnTo>
                  <a:pt x="144512" y="63773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44958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8387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Expanding pipeline to process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 and video metadata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5562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436" y="2977"/>
                </a:moveTo>
                <a:cubicBezTo>
                  <a:pt x="120078" y="2977"/>
                  <a:pt x="140084" y="22983"/>
                  <a:pt x="140084" y="47625"/>
                </a:cubicBezTo>
                <a:cubicBezTo>
                  <a:pt x="140084" y="72267"/>
                  <a:pt x="120078" y="92273"/>
                  <a:pt x="95436" y="92273"/>
                </a:cubicBezTo>
                <a:cubicBezTo>
                  <a:pt x="70794" y="92273"/>
                  <a:pt x="50788" y="72267"/>
                  <a:pt x="50788" y="47625"/>
                </a:cubicBezTo>
                <a:cubicBezTo>
                  <a:pt x="50788" y="22983"/>
                  <a:pt x="70794" y="2977"/>
                  <a:pt x="95436" y="2977"/>
                </a:cubicBezTo>
                <a:close/>
                <a:moveTo>
                  <a:pt x="84348" y="113109"/>
                </a:moveTo>
                <a:lnTo>
                  <a:pt x="106449" y="113109"/>
                </a:lnTo>
                <a:lnTo>
                  <a:pt x="107007" y="113109"/>
                </a:lnTo>
                <a:cubicBezTo>
                  <a:pt x="102208" y="123081"/>
                  <a:pt x="104105" y="134764"/>
                  <a:pt x="111286" y="142689"/>
                </a:cubicBezTo>
                <a:cubicBezTo>
                  <a:pt x="103770" y="150986"/>
                  <a:pt x="102059" y="163450"/>
                  <a:pt x="107789" y="173720"/>
                </a:cubicBezTo>
                <a:lnTo>
                  <a:pt x="116160" y="188751"/>
                </a:lnTo>
                <a:cubicBezTo>
                  <a:pt x="116495" y="189347"/>
                  <a:pt x="116867" y="189942"/>
                  <a:pt x="1172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ubicBezTo>
                  <a:pt x="18008" y="142801"/>
                  <a:pt x="47699" y="113109"/>
                  <a:pt x="84348" y="113109"/>
                </a:cubicBezTo>
                <a:close/>
                <a:moveTo>
                  <a:pt x="160958" y="92125"/>
                </a:moveTo>
                <a:cubicBezTo>
                  <a:pt x="160958" y="87176"/>
                  <a:pt x="164939" y="83195"/>
                  <a:pt x="169887" y="83195"/>
                </a:cubicBezTo>
                <a:lnTo>
                  <a:pt x="187747" y="83195"/>
                </a:lnTo>
                <a:cubicBezTo>
                  <a:pt x="192695" y="83195"/>
                  <a:pt x="196676" y="87176"/>
                  <a:pt x="196676" y="92125"/>
                </a:cubicBezTo>
                <a:lnTo>
                  <a:pt x="196676" y="94394"/>
                </a:lnTo>
                <a:cubicBezTo>
                  <a:pt x="196676" y="101426"/>
                  <a:pt x="205643" y="106598"/>
                  <a:pt x="211745" y="103101"/>
                </a:cubicBezTo>
                <a:lnTo>
                  <a:pt x="213606" y="102022"/>
                </a:lnTo>
                <a:cubicBezTo>
                  <a:pt x="217922" y="99529"/>
                  <a:pt x="223465" y="101054"/>
                  <a:pt x="225884" y="105408"/>
                </a:cubicBezTo>
                <a:lnTo>
                  <a:pt x="234218" y="120365"/>
                </a:lnTo>
                <a:cubicBezTo>
                  <a:pt x="236525" y="124532"/>
                  <a:pt x="235186" y="129741"/>
                  <a:pt x="231167" y="132271"/>
                </a:cubicBezTo>
                <a:lnTo>
                  <a:pt x="229419" y="133350"/>
                </a:lnTo>
                <a:cubicBezTo>
                  <a:pt x="223391" y="137108"/>
                  <a:pt x="223391" y="148196"/>
                  <a:pt x="229419" y="151991"/>
                </a:cubicBezTo>
                <a:lnTo>
                  <a:pt x="231130" y="153070"/>
                </a:lnTo>
                <a:cubicBezTo>
                  <a:pt x="235148" y="155600"/>
                  <a:pt x="236525" y="160809"/>
                  <a:pt x="234218" y="164976"/>
                </a:cubicBezTo>
                <a:lnTo>
                  <a:pt x="225847" y="180008"/>
                </a:lnTo>
                <a:cubicBezTo>
                  <a:pt x="223428" y="184361"/>
                  <a:pt x="217884" y="185924"/>
                  <a:pt x="213568" y="183393"/>
                </a:cubicBezTo>
                <a:lnTo>
                  <a:pt x="211745" y="182314"/>
                </a:lnTo>
                <a:cubicBezTo>
                  <a:pt x="205643" y="178780"/>
                  <a:pt x="196676" y="183989"/>
                  <a:pt x="196676" y="191021"/>
                </a:cubicBezTo>
                <a:lnTo>
                  <a:pt x="196676" y="193291"/>
                </a:lnTo>
                <a:cubicBezTo>
                  <a:pt x="196676" y="198239"/>
                  <a:pt x="192695" y="202220"/>
                  <a:pt x="187747" y="202220"/>
                </a:cubicBezTo>
                <a:lnTo>
                  <a:pt x="169887" y="202220"/>
                </a:lnTo>
                <a:cubicBezTo>
                  <a:pt x="164939" y="202220"/>
                  <a:pt x="160958" y="198239"/>
                  <a:pt x="160958" y="193291"/>
                </a:cubicBezTo>
                <a:lnTo>
                  <a:pt x="160958" y="191095"/>
                </a:lnTo>
                <a:cubicBezTo>
                  <a:pt x="160958" y="184026"/>
                  <a:pt x="151954" y="178817"/>
                  <a:pt x="145814" y="182352"/>
                </a:cubicBezTo>
                <a:lnTo>
                  <a:pt x="144028" y="183393"/>
                </a:lnTo>
                <a:cubicBezTo>
                  <a:pt x="139712" y="185886"/>
                  <a:pt x="134206" y="184361"/>
                  <a:pt x="131750" y="180008"/>
                </a:cubicBezTo>
                <a:lnTo>
                  <a:pt x="123341" y="164976"/>
                </a:lnTo>
                <a:cubicBezTo>
                  <a:pt x="121034" y="160809"/>
                  <a:pt x="122374" y="155563"/>
                  <a:pt x="126429" y="153033"/>
                </a:cubicBezTo>
                <a:lnTo>
                  <a:pt x="128067" y="152028"/>
                </a:lnTo>
                <a:cubicBezTo>
                  <a:pt x="134131" y="148270"/>
                  <a:pt x="134131" y="137108"/>
                  <a:pt x="128067" y="133350"/>
                </a:cubicBezTo>
                <a:lnTo>
                  <a:pt x="126392" y="132308"/>
                </a:lnTo>
                <a:cubicBezTo>
                  <a:pt x="122337" y="129778"/>
                  <a:pt x="120997" y="124532"/>
                  <a:pt x="123304" y="120365"/>
                </a:cubicBezTo>
                <a:lnTo>
                  <a:pt x="131676" y="105370"/>
                </a:lnTo>
                <a:cubicBezTo>
                  <a:pt x="134094" y="101017"/>
                  <a:pt x="139638" y="99492"/>
                  <a:pt x="143917" y="101984"/>
                </a:cubicBezTo>
                <a:lnTo>
                  <a:pt x="145703" y="103026"/>
                </a:lnTo>
                <a:cubicBezTo>
                  <a:pt x="151842" y="106561"/>
                  <a:pt x="160846" y="101352"/>
                  <a:pt x="160846" y="94283"/>
                </a:cubicBezTo>
                <a:lnTo>
                  <a:pt x="160846" y="92087"/>
                </a:lnTo>
                <a:close/>
                <a:moveTo>
                  <a:pt x="198127" y="142801"/>
                </a:moveTo>
                <a:cubicBezTo>
                  <a:pt x="198127" y="132122"/>
                  <a:pt x="189458" y="123453"/>
                  <a:pt x="178780" y="123453"/>
                </a:cubicBezTo>
                <a:cubicBezTo>
                  <a:pt x="168102" y="123453"/>
                  <a:pt x="159432" y="132122"/>
                  <a:pt x="159432" y="142801"/>
                </a:cubicBezTo>
                <a:cubicBezTo>
                  <a:pt x="159432" y="153479"/>
                  <a:pt x="168102" y="162148"/>
                  <a:pt x="178780" y="162148"/>
                </a:cubicBezTo>
                <a:cubicBezTo>
                  <a:pt x="189458" y="162148"/>
                  <a:pt x="198127" y="153479"/>
                  <a:pt x="198127" y="14280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" y="552450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Feeds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58674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Applying </a:t>
            </a: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filtering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fine-tune results based on history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65420" y="388620"/>
            <a:ext cx="6539865" cy="3901440"/>
          </a:xfrm>
          <a:custGeom>
            <a:avLst/>
            <a:gdLst/>
            <a:ahLst/>
            <a:cxnLst/>
            <a:rect l="l" t="t" r="r" b="b"/>
            <a:pathLst>
              <a:path w="6539865" h="3901440">
                <a:moveTo>
                  <a:pt x="0" y="0"/>
                </a:moveTo>
                <a:lnTo>
                  <a:pt x="6539865" y="0"/>
                </a:lnTo>
                <a:lnTo>
                  <a:pt x="6539865" y="3901440"/>
                </a:lnTo>
                <a:lnTo>
                  <a:pt x="0" y="3901440"/>
                </a:lnTo>
                <a:lnTo>
                  <a:pt x="0" y="0"/>
                </a:lnTo>
                <a:close/>
              </a:path>
            </a:pathLst>
          </a:custGeom>
          <a:solidFill>
            <a:srgbClr val="8FBC8F">
              <a:alpha val="10196"/>
            </a:srgbClr>
          </a:solidFill>
          <a:ln w="20320">
            <a:solidFill>
              <a:srgbClr val="8B868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5928" y="662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4" name="Text 22"/>
          <p:cNvSpPr/>
          <p:nvPr/>
        </p:nvSpPr>
        <p:spPr>
          <a:xfrm>
            <a:off x="5787390" y="624846"/>
            <a:ext cx="5895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Conclusions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01640" y="1158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Shape 24"/>
          <p:cNvSpPr/>
          <p:nvPr/>
        </p:nvSpPr>
        <p:spPr>
          <a:xfrm>
            <a:off x="5658803" y="1291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11240" y="1158125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Innovation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240" y="1501025"/>
            <a:ext cx="5534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IR is fundamentally limited by lexical matching. Our </a:t>
            </a: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hybrid approach bridges the semantic gap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maintaining efficiency.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01640" y="2186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Shape 28"/>
          <p:cNvSpPr/>
          <p:nvPr/>
        </p:nvSpPr>
        <p:spPr>
          <a:xfrm>
            <a:off x="5646897" y="2320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11240" y="2186825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Matters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11240" y="2529725"/>
            <a:ext cx="5534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Recency and source authority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significantly enhance relevance when properly integrated into scoring.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01640" y="3215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/>
        </p:spPr>
      </p:sp>
      <p:sp>
        <p:nvSpPr>
          <p:cNvPr id="34" name="Shape 32"/>
          <p:cNvSpPr/>
          <p:nvPr/>
        </p:nvSpPr>
        <p:spPr>
          <a:xfrm>
            <a:off x="5623084" y="3348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111240" y="3215525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 First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11240" y="3558425"/>
            <a:ext cx="5534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Transparent ranking decisions 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user trust and enable debugging — critical for production IR systems.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76850" y="5167313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8" name="Text 36"/>
          <p:cNvSpPr/>
          <p:nvPr/>
        </p:nvSpPr>
        <p:spPr>
          <a:xfrm>
            <a:off x="5524500" y="5357813"/>
            <a:ext cx="6381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system provides a </a:t>
            </a:r>
            <a:r>
              <a:rPr lang="en-US" sz="1500" dirty="0">
                <a:solidFill>
                  <a:srgbClr val="1A1A1A"/>
                </a:solidFill>
                <a:highlight>
                  <a:srgbClr val="C4B7A6">
                    <a:alpha val="4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scalable, explainable, and efficient solution </a:t>
            </a: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modern news retrieval — bridging the gap between classical IR and modern AI.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visualwilderness.com/ccfb76b515e83c1cdbe6436a99ac6225181aacde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796" b="77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9F6">
                  <a:alpha val="90000"/>
                </a:srgbClr>
              </a:gs>
              <a:gs pos="50000">
                <a:srgbClr val="FAF9F6">
                  <a:alpha val="85000"/>
                </a:srgbClr>
              </a:gs>
              <a:gs pos="100000">
                <a:srgbClr val="FAF9F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281" y="1123001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2"/>
          <p:cNvSpPr/>
          <p:nvPr/>
        </p:nvSpPr>
        <p:spPr>
          <a:xfrm>
            <a:off x="4334113" y="1437326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34126" y="2351726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77302" y="3159446"/>
            <a:ext cx="5835015" cy="1310640"/>
          </a:xfrm>
          <a:custGeom>
            <a:avLst/>
            <a:gdLst/>
            <a:ahLst/>
            <a:cxnLst/>
            <a:rect l="l" t="t" r="r" b="b"/>
            <a:pathLst>
              <a:path w="5835015" h="1310640">
                <a:moveTo>
                  <a:pt x="0" y="0"/>
                </a:moveTo>
                <a:lnTo>
                  <a:pt x="5835015" y="0"/>
                </a:lnTo>
                <a:lnTo>
                  <a:pt x="5835015" y="1310640"/>
                </a:lnTo>
                <a:lnTo>
                  <a:pt x="0" y="13106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2032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84972" y="3471863"/>
            <a:ext cx="501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 Intelligent News Retrieval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99259" y="3890842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Transitioning from Lexical Search to Hybrid Semantic Intelligence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56096" y="4934787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6571" y="5239587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56096" y="5506287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22bsd7030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97279" y="5030037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1"/>
          <p:cNvSpPr/>
          <p:nvPr/>
        </p:nvSpPr>
        <p:spPr>
          <a:xfrm>
            <a:off x="5316379" y="5239587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Shanmuka Vardhan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25904" y="5506287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22bsd7022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49026" y="5030037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7" name="Text 14"/>
          <p:cNvSpPr/>
          <p:nvPr/>
        </p:nvSpPr>
        <p:spPr>
          <a:xfrm>
            <a:off x="7877651" y="4934787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kern="0" spc="6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68126" y="5239587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77651" y="5506287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Project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3061</Words>
  <Application>Microsoft Office PowerPoint</Application>
  <PresentationFormat>Widescreen</PresentationFormat>
  <Paragraphs>522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Liter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Metadata-Driven Intelligent News Retrieval</dc:title>
  <dc:subject>Metadata-Driven Intelligent News Retrieval</dc:subject>
  <dc:creator>Kimi</dc:creator>
  <cp:lastModifiedBy>krishna surya</cp:lastModifiedBy>
  <cp:revision>5</cp:revision>
  <dcterms:created xsi:type="dcterms:W3CDTF">2026-03-31T16:38:43Z</dcterms:created>
  <dcterms:modified xsi:type="dcterms:W3CDTF">2026-04-01T05:39:36Z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{"Label":"Metadata-Driven Intelligent News Retrieval","ContentProducer":"001191110108MACG2KBH8F10000","ProduceID":"19d44be1-5382-8e64-8000-00008fb67fd0","ReservedCode1":"","ContentPropagator":"001191110108MACG2KBH8F20000","PropagateID":"19d44be1-5382-8e64-8000-00008fb67fd0","ReservedCode2":""}</vt:lpwstr>
  </property>
</Properties>
</file>