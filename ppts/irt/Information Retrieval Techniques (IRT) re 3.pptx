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embeddedFontLst>
    <p:embeddedFont>
      <p:font typeface="Liter" charset="-122" pitchFamily="34"/>
      <p:regular r:id="rId21"/>
    </p:embeddedFont>
    <p:embeddedFont>
      <p:font typeface="Quattrocento Sans" charset="-122" pitchFamily="34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1.fntdata"/><Relationship Id="rId2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2_Free_Abstract_Network_Visualization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rcRect l="0" r="0" t="34238" b="3423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6B7A8F">
                  <a:alpha val="30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0050" y="381000"/>
            <a:ext cx="2200275" cy="381000"/>
          </a:xfrm>
          <a:prstGeom prst="roundRect">
            <a:avLst>
              <a:gd name="adj" fmla="val 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00050" y="381000"/>
            <a:ext cx="38100" cy="3810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457200"/>
            <a:ext cx="195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FINAL PROJECT REPORT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984349" y="381000"/>
            <a:ext cx="828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Module IRT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1766888"/>
            <a:ext cx="76581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Information Retrieval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Techniques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1000" y="3709988"/>
            <a:ext cx="12192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10" name="Text 7"/>
          <p:cNvSpPr/>
          <p:nvPr/>
        </p:nvSpPr>
        <p:spPr>
          <a:xfrm>
            <a:off x="381000" y="3976687"/>
            <a:ext cx="7458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6B7A8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Metadata-Driven Intelligent News Article Retrieval System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81000" y="4624388"/>
            <a:ext cx="741045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standalone, offline-capable search engine combining Lexical and Semantic retrieval strategies to parse 120,000+ digital news articles efficiently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09575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38100" y="0"/>
                </a:moveTo>
                <a:cubicBezTo>
                  <a:pt x="32831" y="0"/>
                  <a:pt x="28575" y="4256"/>
                  <a:pt x="28575" y="9525"/>
                </a:cubicBezTo>
                <a:lnTo>
                  <a:pt x="28575" y="19050"/>
                </a:lnTo>
                <a:lnTo>
                  <a:pt x="19050" y="19050"/>
                </a:lnTo>
                <a:cubicBezTo>
                  <a:pt x="8543" y="19050"/>
                  <a:pt x="0" y="27593"/>
                  <a:pt x="0" y="38100"/>
                </a:cubicBezTo>
                <a:lnTo>
                  <a:pt x="0" y="52388"/>
                </a:lnTo>
                <a:lnTo>
                  <a:pt x="133350" y="52388"/>
                </a:lnTo>
                <a:lnTo>
                  <a:pt x="133350" y="38100"/>
                </a:lnTo>
                <a:cubicBezTo>
                  <a:pt x="133350" y="27593"/>
                  <a:pt x="124807" y="19050"/>
                  <a:pt x="114300" y="19050"/>
                </a:cubicBezTo>
                <a:lnTo>
                  <a:pt x="104775" y="19050"/>
                </a:lnTo>
                <a:lnTo>
                  <a:pt x="104775" y="9525"/>
                </a:lnTo>
                <a:cubicBezTo>
                  <a:pt x="104775" y="4256"/>
                  <a:pt x="100519" y="0"/>
                  <a:pt x="95250" y="0"/>
                </a:cubicBezTo>
                <a:cubicBezTo>
                  <a:pt x="89981" y="0"/>
                  <a:pt x="85725" y="4256"/>
                  <a:pt x="85725" y="9525"/>
                </a:cubicBezTo>
                <a:lnTo>
                  <a:pt x="85725" y="19050"/>
                </a:lnTo>
                <a:lnTo>
                  <a:pt x="47625" y="19050"/>
                </a:lnTo>
                <a:lnTo>
                  <a:pt x="47625" y="9525"/>
                </a:lnTo>
                <a:cubicBezTo>
                  <a:pt x="47625" y="4256"/>
                  <a:pt x="43369" y="0"/>
                  <a:pt x="38100" y="0"/>
                </a:cubicBezTo>
                <a:close/>
                <a:moveTo>
                  <a:pt x="0" y="66675"/>
                </a:move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66675"/>
                </a:lnTo>
                <a:lnTo>
                  <a:pt x="0" y="66675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700" y="6248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5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2026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319213" y="628650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5" name="Text 12"/>
          <p:cNvSpPr/>
          <p:nvPr/>
        </p:nvSpPr>
        <p:spPr>
          <a:xfrm>
            <a:off x="1557338" y="62484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5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120,000+ Articles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045738" y="6286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7" name="Text 14"/>
          <p:cNvSpPr/>
          <p:nvPr/>
        </p:nvSpPr>
        <p:spPr>
          <a:xfrm>
            <a:off x="3293388" y="6248400"/>
            <a:ext cx="119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5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Hybrid AI Search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AGENDA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Table of Contents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295400"/>
            <a:ext cx="9144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5" name="Shape 3"/>
          <p:cNvSpPr/>
          <p:nvPr/>
        </p:nvSpPr>
        <p:spPr>
          <a:xfrm>
            <a:off x="400050" y="1638300"/>
            <a:ext cx="5581650" cy="1543050"/>
          </a:xfrm>
          <a:custGeom>
            <a:avLst/>
            <a:gdLst/>
            <a:ahLst/>
            <a:cxnLst/>
            <a:rect l="l" t="t" r="r" b="b"/>
            <a:pathLst>
              <a:path w="5581650" h="1543050">
                <a:moveTo>
                  <a:pt x="0" y="0"/>
                </a:moveTo>
                <a:lnTo>
                  <a:pt x="5505450" y="0"/>
                </a:lnTo>
                <a:cubicBezTo>
                  <a:pt x="5547506" y="0"/>
                  <a:pt x="5581650" y="34144"/>
                  <a:pt x="5581650" y="76200"/>
                </a:cubicBezTo>
                <a:lnTo>
                  <a:pt x="5581650" y="1466850"/>
                </a:lnTo>
                <a:cubicBezTo>
                  <a:pt x="5581650" y="1508906"/>
                  <a:pt x="5547506" y="1543050"/>
                  <a:pt x="5505450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1638300"/>
            <a:ext cx="38100" cy="154305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7" name="Shape 5"/>
          <p:cNvSpPr/>
          <p:nvPr/>
        </p:nvSpPr>
        <p:spPr>
          <a:xfrm>
            <a:off x="647700" y="195262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766048" y="2047875"/>
            <a:ext cx="438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33500" y="1952625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 &amp; Objectives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33500" y="2371606"/>
            <a:ext cx="44958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goal, 9-week development timeline, and key milestones from ingestion to evaluation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29350" y="1638300"/>
            <a:ext cx="5581650" cy="1543050"/>
          </a:xfrm>
          <a:custGeom>
            <a:avLst/>
            <a:gdLst/>
            <a:ahLst/>
            <a:cxnLst/>
            <a:rect l="l" t="t" r="r" b="b"/>
            <a:pathLst>
              <a:path w="5581650" h="1543050">
                <a:moveTo>
                  <a:pt x="0" y="0"/>
                </a:moveTo>
                <a:lnTo>
                  <a:pt x="5505450" y="0"/>
                </a:lnTo>
                <a:cubicBezTo>
                  <a:pt x="5547506" y="0"/>
                  <a:pt x="5581650" y="34144"/>
                  <a:pt x="5581650" y="76200"/>
                </a:cubicBezTo>
                <a:lnTo>
                  <a:pt x="5581650" y="1466850"/>
                </a:lnTo>
                <a:cubicBezTo>
                  <a:pt x="5581650" y="1508906"/>
                  <a:pt x="5547506" y="1543050"/>
                  <a:pt x="5505450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2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229350" y="1638300"/>
            <a:ext cx="38100" cy="154305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13" name="Shape 11"/>
          <p:cNvSpPr/>
          <p:nvPr/>
        </p:nvSpPr>
        <p:spPr>
          <a:xfrm>
            <a:off x="6477000" y="195262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569512" y="2047875"/>
            <a:ext cx="495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62800" y="1952625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62800" y="2371606"/>
            <a:ext cx="44958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flow pipeline, hybrid search strategy, generative AI integration, and UI design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00050" y="3409950"/>
            <a:ext cx="5581650" cy="1543050"/>
          </a:xfrm>
          <a:custGeom>
            <a:avLst/>
            <a:gdLst/>
            <a:ahLst/>
            <a:cxnLst/>
            <a:rect l="l" t="t" r="r" b="b"/>
            <a:pathLst>
              <a:path w="5581650" h="1543050">
                <a:moveTo>
                  <a:pt x="0" y="0"/>
                </a:moveTo>
                <a:lnTo>
                  <a:pt x="5505450" y="0"/>
                </a:lnTo>
                <a:cubicBezTo>
                  <a:pt x="5547506" y="0"/>
                  <a:pt x="5581650" y="34144"/>
                  <a:pt x="5581650" y="76200"/>
                </a:cubicBezTo>
                <a:lnTo>
                  <a:pt x="5581650" y="1466850"/>
                </a:lnTo>
                <a:cubicBezTo>
                  <a:pt x="5581650" y="1508906"/>
                  <a:pt x="5547506" y="1543050"/>
                  <a:pt x="5505450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400050" y="3409950"/>
            <a:ext cx="38100" cy="154305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700" y="372427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738902" y="3819525"/>
            <a:ext cx="495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33500" y="3724275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 &amp; Resolutions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33500" y="4143256"/>
            <a:ext cx="44958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critical technical obstacles and engineering solutions implemented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29350" y="3409950"/>
            <a:ext cx="5581650" cy="1543050"/>
          </a:xfrm>
          <a:custGeom>
            <a:avLst/>
            <a:gdLst/>
            <a:ahLst/>
            <a:cxnLst/>
            <a:rect l="l" t="t" r="r" b="b"/>
            <a:pathLst>
              <a:path w="5581650" h="1543050">
                <a:moveTo>
                  <a:pt x="0" y="0"/>
                </a:moveTo>
                <a:lnTo>
                  <a:pt x="5505450" y="0"/>
                </a:lnTo>
                <a:cubicBezTo>
                  <a:pt x="5547506" y="0"/>
                  <a:pt x="5581650" y="34144"/>
                  <a:pt x="5581650" y="76200"/>
                </a:cubicBezTo>
                <a:lnTo>
                  <a:pt x="5581650" y="1466850"/>
                </a:lnTo>
                <a:cubicBezTo>
                  <a:pt x="5581650" y="1508906"/>
                  <a:pt x="5547506" y="1543050"/>
                  <a:pt x="5505450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6229350" y="3409950"/>
            <a:ext cx="38100" cy="154305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25" name="Shape 23"/>
          <p:cNvSpPr/>
          <p:nvPr/>
        </p:nvSpPr>
        <p:spPr>
          <a:xfrm>
            <a:off x="6477000" y="372427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568321" y="3819525"/>
            <a:ext cx="495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62800" y="3724275"/>
            <a:ext cx="4533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Evaluation &amp; Results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62800" y="4143256"/>
            <a:ext cx="44958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Empirical metrics, synthetic ground truth validation, and performance findings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00050" y="5181600"/>
            <a:ext cx="11410950" cy="1295400"/>
          </a:xfrm>
          <a:custGeom>
            <a:avLst/>
            <a:gdLst/>
            <a:ahLst/>
            <a:cxnLst/>
            <a:rect l="l" t="t" r="r" b="b"/>
            <a:pathLst>
              <a:path w="11410950" h="1295400">
                <a:moveTo>
                  <a:pt x="0" y="0"/>
                </a:moveTo>
                <a:lnTo>
                  <a:pt x="11334750" y="0"/>
                </a:lnTo>
                <a:cubicBezTo>
                  <a:pt x="11376806" y="0"/>
                  <a:pt x="11410950" y="34144"/>
                  <a:pt x="11410950" y="76200"/>
                </a:cubicBezTo>
                <a:lnTo>
                  <a:pt x="11410950" y="1219200"/>
                </a:lnTo>
                <a:cubicBezTo>
                  <a:pt x="11410950" y="1261256"/>
                  <a:pt x="11376806" y="1295400"/>
                  <a:pt x="11334750" y="1295400"/>
                </a:cubicBez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00050" y="5181600"/>
            <a:ext cx="38100" cy="12954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31" name="Shape 29"/>
          <p:cNvSpPr/>
          <p:nvPr/>
        </p:nvSpPr>
        <p:spPr>
          <a:xfrm>
            <a:off x="647700" y="549592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40926" y="5591175"/>
            <a:ext cx="485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33500" y="5495925"/>
            <a:ext cx="1036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 &amp; Future Scope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333500" y="5914906"/>
            <a:ext cx="10325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Summary of achievements and roadmap for real-time streaming index rebuilds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7_Abstract_Ai_Neural_Network_Concept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8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0050" y="1976438"/>
            <a:ext cx="1276350" cy="381000"/>
          </a:xfrm>
          <a:prstGeom prst="roundRect">
            <a:avLst>
              <a:gd name="adj" fmla="val 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00050" y="1976438"/>
            <a:ext cx="38100" cy="3810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2052637"/>
            <a:ext cx="102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2586038"/>
            <a:ext cx="1171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Objectives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4243388"/>
            <a:ext cx="12192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9" name="Text 6"/>
          <p:cNvSpPr/>
          <p:nvPr/>
        </p:nvSpPr>
        <p:spPr>
          <a:xfrm>
            <a:off x="381000" y="451008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Goal, timeline, and key objectives of the IRT module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Objectives &amp; Timeline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5" name="Shape 3"/>
          <p:cNvSpPr/>
          <p:nvPr/>
        </p:nvSpPr>
        <p:spPr>
          <a:xfrm>
            <a:off x="384810" y="1375410"/>
            <a:ext cx="11418570" cy="1398270"/>
          </a:xfrm>
          <a:prstGeom prst="roundRect">
            <a:avLst>
              <a:gd name="adj" fmla="val 5450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020" y="153162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55320" y="164592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0025" y="114300"/>
                </a:moveTo>
                <a:cubicBezTo>
                  <a:pt x="200025" y="66987"/>
                  <a:pt x="161613" y="28575"/>
                  <a:pt x="114300" y="28575"/>
                </a:cubicBezTo>
                <a:cubicBezTo>
                  <a:pt x="66987" y="28575"/>
                  <a:pt x="28575" y="66987"/>
                  <a:pt x="28575" y="114300"/>
                </a:cubicBezTo>
                <a:cubicBezTo>
                  <a:pt x="28575" y="161613"/>
                  <a:pt x="66987" y="200025"/>
                  <a:pt x="114300" y="200025"/>
                </a:cubicBezTo>
                <a:cubicBezTo>
                  <a:pt x="161613" y="200025"/>
                  <a:pt x="200025" y="161613"/>
                  <a:pt x="200025" y="114300"/>
                </a:cubicBez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14300" y="150019"/>
                </a:moveTo>
                <a:cubicBezTo>
                  <a:pt x="134014" y="150019"/>
                  <a:pt x="150019" y="134014"/>
                  <a:pt x="150019" y="114300"/>
                </a:cubicBezTo>
                <a:cubicBezTo>
                  <a:pt x="150019" y="94586"/>
                  <a:pt x="134014" y="78581"/>
                  <a:pt x="114300" y="78581"/>
                </a:cubicBezTo>
                <a:cubicBezTo>
                  <a:pt x="94586" y="78581"/>
                  <a:pt x="78581" y="94586"/>
                  <a:pt x="78581" y="114300"/>
                </a:cubicBezTo>
                <a:cubicBezTo>
                  <a:pt x="78581" y="134014"/>
                  <a:pt x="94586" y="150019"/>
                  <a:pt x="114300" y="150019"/>
                </a:cubicBezTo>
                <a:close/>
                <a:moveTo>
                  <a:pt x="114300" y="50006"/>
                </a:moveTo>
                <a:cubicBezTo>
                  <a:pt x="149785" y="50006"/>
                  <a:pt x="178594" y="78815"/>
                  <a:pt x="178594" y="114300"/>
                </a:cubicBezTo>
                <a:cubicBezTo>
                  <a:pt x="178594" y="149785"/>
                  <a:pt x="149785" y="178594"/>
                  <a:pt x="114300" y="178594"/>
                </a:cubicBezTo>
                <a:cubicBezTo>
                  <a:pt x="78815" y="178594"/>
                  <a:pt x="50006" y="149785"/>
                  <a:pt x="50006" y="114300"/>
                </a:cubicBezTo>
                <a:cubicBezTo>
                  <a:pt x="50006" y="78815"/>
                  <a:pt x="78815" y="50006"/>
                  <a:pt x="114300" y="50006"/>
                </a:cubicBezTo>
                <a:close/>
                <a:moveTo>
                  <a:pt x="100013" y="114300"/>
                </a:moveTo>
                <a:cubicBezTo>
                  <a:pt x="100013" y="106415"/>
                  <a:pt x="106415" y="100013"/>
                  <a:pt x="114300" y="100013"/>
                </a:cubicBezTo>
                <a:cubicBezTo>
                  <a:pt x="122185" y="100013"/>
                  <a:pt x="128588" y="106415"/>
                  <a:pt x="128588" y="114300"/>
                </a:cubicBezTo>
                <a:cubicBezTo>
                  <a:pt x="128588" y="122185"/>
                  <a:pt x="122185" y="128588"/>
                  <a:pt x="114300" y="128588"/>
                </a:cubicBezTo>
                <a:cubicBezTo>
                  <a:pt x="106415" y="128588"/>
                  <a:pt x="100013" y="122185"/>
                  <a:pt x="100013" y="11430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8" name="Text 6"/>
          <p:cNvSpPr/>
          <p:nvPr/>
        </p:nvSpPr>
        <p:spPr>
          <a:xfrm>
            <a:off x="1150620" y="1531620"/>
            <a:ext cx="10591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Objective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0620" y="1874520"/>
            <a:ext cx="105727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Engineer 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standalone, offline-capable search engine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combining Lexical and Semantic retrieval strategies to parse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120,000+ digital news articles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efficiently. The system transitions beyond rudimentary keyword search, introducing dense semantic vectors, custom evaluation metrics, and Local LLM-augmented search explainability.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4810" y="2933701"/>
            <a:ext cx="11418570" cy="3665220"/>
          </a:xfrm>
          <a:prstGeom prst="roundRect">
            <a:avLst>
              <a:gd name="adj" fmla="val 2079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739" y="3128011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47625" y="0"/>
                </a:moveTo>
                <a:cubicBezTo>
                  <a:pt x="54211" y="0"/>
                  <a:pt x="59531" y="5321"/>
                  <a:pt x="59531" y="11906"/>
                </a:cubicBezTo>
                <a:lnTo>
                  <a:pt x="59531" y="23812"/>
                </a:lnTo>
                <a:lnTo>
                  <a:pt x="107156" y="23812"/>
                </a:lnTo>
                <a:lnTo>
                  <a:pt x="107156" y="11906"/>
                </a:lnTo>
                <a:cubicBezTo>
                  <a:pt x="107156" y="5321"/>
                  <a:pt x="112477" y="0"/>
                  <a:pt x="119063" y="0"/>
                </a:cubicBezTo>
                <a:cubicBezTo>
                  <a:pt x="125648" y="0"/>
                  <a:pt x="130969" y="5321"/>
                  <a:pt x="130969" y="11906"/>
                </a:cubicBezTo>
                <a:lnTo>
                  <a:pt x="130969" y="23812"/>
                </a:lnTo>
                <a:lnTo>
                  <a:pt x="142875" y="23812"/>
                </a:lnTo>
                <a:cubicBezTo>
                  <a:pt x="156009" y="23812"/>
                  <a:pt x="166688" y="34491"/>
                  <a:pt x="166688" y="47625"/>
                </a:cubicBezTo>
                <a:lnTo>
                  <a:pt x="166688" y="154781"/>
                </a:lnTo>
                <a:cubicBezTo>
                  <a:pt x="166688" y="167915"/>
                  <a:pt x="156009" y="178594"/>
                  <a:pt x="142875" y="178594"/>
                </a:cubicBezTo>
                <a:lnTo>
                  <a:pt x="23812" y="178594"/>
                </a:lnTo>
                <a:cubicBezTo>
                  <a:pt x="10678" y="178594"/>
                  <a:pt x="0" y="167915"/>
                  <a:pt x="0" y="154781"/>
                </a:cubicBezTo>
                <a:lnTo>
                  <a:pt x="0" y="47625"/>
                </a:lnTo>
                <a:cubicBezTo>
                  <a:pt x="0" y="34491"/>
                  <a:pt x="10678" y="23812"/>
                  <a:pt x="23812" y="23812"/>
                </a:cubicBezTo>
                <a:lnTo>
                  <a:pt x="35719" y="23812"/>
                </a:lnTo>
                <a:lnTo>
                  <a:pt x="35719" y="11906"/>
                </a:lnTo>
                <a:cubicBezTo>
                  <a:pt x="35719" y="5321"/>
                  <a:pt x="41039" y="0"/>
                  <a:pt x="47625" y="0"/>
                </a:cubicBezTo>
                <a:close/>
                <a:moveTo>
                  <a:pt x="23812" y="89297"/>
                </a:moveTo>
                <a:lnTo>
                  <a:pt x="23812" y="101203"/>
                </a:lnTo>
                <a:cubicBezTo>
                  <a:pt x="23812" y="104477"/>
                  <a:pt x="26491" y="107156"/>
                  <a:pt x="29766" y="107156"/>
                </a:cubicBezTo>
                <a:lnTo>
                  <a:pt x="41672" y="107156"/>
                </a:lnTo>
                <a:cubicBezTo>
                  <a:pt x="44946" y="107156"/>
                  <a:pt x="47625" y="104477"/>
                  <a:pt x="47625" y="101203"/>
                </a:cubicBezTo>
                <a:lnTo>
                  <a:pt x="47625" y="89297"/>
                </a:lnTo>
                <a:cubicBezTo>
                  <a:pt x="47625" y="86023"/>
                  <a:pt x="44946" y="83344"/>
                  <a:pt x="41672" y="83344"/>
                </a:cubicBezTo>
                <a:lnTo>
                  <a:pt x="29766" y="83344"/>
                </a:lnTo>
                <a:cubicBezTo>
                  <a:pt x="26491" y="83344"/>
                  <a:pt x="23812" y="86023"/>
                  <a:pt x="23812" y="89297"/>
                </a:cubicBezTo>
                <a:close/>
                <a:moveTo>
                  <a:pt x="71438" y="89297"/>
                </a:moveTo>
                <a:lnTo>
                  <a:pt x="71438" y="101203"/>
                </a:lnTo>
                <a:cubicBezTo>
                  <a:pt x="71438" y="104477"/>
                  <a:pt x="74116" y="107156"/>
                  <a:pt x="77391" y="107156"/>
                </a:cubicBezTo>
                <a:lnTo>
                  <a:pt x="89297" y="107156"/>
                </a:lnTo>
                <a:cubicBezTo>
                  <a:pt x="92571" y="107156"/>
                  <a:pt x="95250" y="104477"/>
                  <a:pt x="95250" y="101203"/>
                </a:cubicBezTo>
                <a:lnTo>
                  <a:pt x="95250" y="89297"/>
                </a:lnTo>
                <a:cubicBezTo>
                  <a:pt x="95250" y="86023"/>
                  <a:pt x="92571" y="83344"/>
                  <a:pt x="89297" y="83344"/>
                </a:cubicBezTo>
                <a:lnTo>
                  <a:pt x="77391" y="83344"/>
                </a:lnTo>
                <a:cubicBezTo>
                  <a:pt x="74116" y="83344"/>
                  <a:pt x="71438" y="86023"/>
                  <a:pt x="71438" y="89297"/>
                </a:cubicBezTo>
                <a:close/>
                <a:moveTo>
                  <a:pt x="125016" y="83344"/>
                </a:moveTo>
                <a:cubicBezTo>
                  <a:pt x="121741" y="83344"/>
                  <a:pt x="119063" y="86023"/>
                  <a:pt x="119063" y="89297"/>
                </a:cubicBezTo>
                <a:lnTo>
                  <a:pt x="119063" y="101203"/>
                </a:lnTo>
                <a:cubicBezTo>
                  <a:pt x="119063" y="104477"/>
                  <a:pt x="121741" y="107156"/>
                  <a:pt x="125016" y="107156"/>
                </a:cubicBezTo>
                <a:lnTo>
                  <a:pt x="136922" y="107156"/>
                </a:lnTo>
                <a:cubicBezTo>
                  <a:pt x="140196" y="107156"/>
                  <a:pt x="142875" y="104477"/>
                  <a:pt x="142875" y="101203"/>
                </a:cubicBezTo>
                <a:lnTo>
                  <a:pt x="142875" y="89297"/>
                </a:lnTo>
                <a:cubicBezTo>
                  <a:pt x="142875" y="86023"/>
                  <a:pt x="140196" y="83344"/>
                  <a:pt x="136922" y="83344"/>
                </a:cubicBezTo>
                <a:lnTo>
                  <a:pt x="125016" y="83344"/>
                </a:lnTo>
                <a:close/>
                <a:moveTo>
                  <a:pt x="23812" y="136922"/>
                </a:move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41672" y="154781"/>
                </a:lnTo>
                <a:cubicBezTo>
                  <a:pt x="44946" y="154781"/>
                  <a:pt x="47625" y="152102"/>
                  <a:pt x="47625" y="148828"/>
                </a:cubicBezTo>
                <a:lnTo>
                  <a:pt x="47625" y="136922"/>
                </a:lnTo>
                <a:cubicBezTo>
                  <a:pt x="47625" y="133648"/>
                  <a:pt x="44946" y="130969"/>
                  <a:pt x="41672" y="130969"/>
                </a:cubicBezTo>
                <a:lnTo>
                  <a:pt x="29766" y="130969"/>
                </a:lnTo>
                <a:cubicBezTo>
                  <a:pt x="26491" y="130969"/>
                  <a:pt x="23812" y="133648"/>
                  <a:pt x="23812" y="136922"/>
                </a:cubicBezTo>
                <a:close/>
                <a:moveTo>
                  <a:pt x="77391" y="130969"/>
                </a:moveTo>
                <a:cubicBezTo>
                  <a:pt x="74116" y="130969"/>
                  <a:pt x="71438" y="133648"/>
                  <a:pt x="71438" y="136922"/>
                </a:cubicBezTo>
                <a:lnTo>
                  <a:pt x="71438" y="148828"/>
                </a:lnTo>
                <a:cubicBezTo>
                  <a:pt x="71438" y="152102"/>
                  <a:pt x="74116" y="154781"/>
                  <a:pt x="77391" y="154781"/>
                </a:cubicBezTo>
                <a:lnTo>
                  <a:pt x="89297" y="154781"/>
                </a:lnTo>
                <a:cubicBezTo>
                  <a:pt x="92571" y="154781"/>
                  <a:pt x="95250" y="152102"/>
                  <a:pt x="95250" y="148828"/>
                </a:cubicBezTo>
                <a:lnTo>
                  <a:pt x="95250" y="136922"/>
                </a:lnTo>
                <a:cubicBezTo>
                  <a:pt x="95250" y="133648"/>
                  <a:pt x="92571" y="130969"/>
                  <a:pt x="89297" y="130969"/>
                </a:cubicBezTo>
                <a:lnTo>
                  <a:pt x="77391" y="130969"/>
                </a:lnTo>
                <a:close/>
                <a:moveTo>
                  <a:pt x="119063" y="136922"/>
                </a:moveTo>
                <a:lnTo>
                  <a:pt x="119063" y="148828"/>
                </a:lnTo>
                <a:cubicBezTo>
                  <a:pt x="119063" y="152102"/>
                  <a:pt x="121741" y="154781"/>
                  <a:pt x="125016" y="154781"/>
                </a:cubicBezTo>
                <a:lnTo>
                  <a:pt x="136922" y="154781"/>
                </a:lnTo>
                <a:cubicBezTo>
                  <a:pt x="140196" y="154781"/>
                  <a:pt x="142875" y="152102"/>
                  <a:pt x="142875" y="148828"/>
                </a:cubicBezTo>
                <a:lnTo>
                  <a:pt x="142875" y="136922"/>
                </a:lnTo>
                <a:cubicBezTo>
                  <a:pt x="142875" y="133648"/>
                  <a:pt x="140196" y="130969"/>
                  <a:pt x="136922" y="130969"/>
                </a:cubicBezTo>
                <a:lnTo>
                  <a:pt x="125016" y="130969"/>
                </a:lnTo>
                <a:cubicBezTo>
                  <a:pt x="121741" y="130969"/>
                  <a:pt x="119063" y="133648"/>
                  <a:pt x="119063" y="136922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2" name="Text 10"/>
          <p:cNvSpPr/>
          <p:nvPr/>
        </p:nvSpPr>
        <p:spPr>
          <a:xfrm>
            <a:off x="779145" y="3089911"/>
            <a:ext cx="10963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9-Week Development Timeline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4709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4709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5" name="Shape 13"/>
          <p:cNvSpPr/>
          <p:nvPr/>
        </p:nvSpPr>
        <p:spPr>
          <a:xfrm>
            <a:off x="670560" y="35852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711875" y="3623311"/>
            <a:ext cx="247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1-2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13460" y="3623311"/>
            <a:ext cx="124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Ingestion &amp; Schema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70560" y="38900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Built news_fetcher.py, designed DuckDB schema, acquired ~120k articles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290060" y="34709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290060" y="34709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1" name="Shape 19"/>
          <p:cNvSpPr/>
          <p:nvPr/>
        </p:nvSpPr>
        <p:spPr>
          <a:xfrm>
            <a:off x="4411980" y="35852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505920" y="3623311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3623311"/>
            <a:ext cx="1009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Lexical Indexing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11980" y="38900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Implemented TF-IDF and BM25 indexing algorithms, tested lexical lookups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31480" y="34709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031480" y="34709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27" name="Shape 25"/>
          <p:cNvSpPr/>
          <p:nvPr/>
        </p:nvSpPr>
        <p:spPr>
          <a:xfrm>
            <a:off x="8153400" y="35852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8247459" y="3623311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96300" y="3623311"/>
            <a:ext cx="111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Semantic Vectors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153400" y="38900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Implemented sentence-transformers (all-MiniLM-L6-v2) and FAISS indexing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44996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44996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3" name="Shape 31"/>
          <p:cNvSpPr/>
          <p:nvPr/>
        </p:nvSpPr>
        <p:spPr>
          <a:xfrm>
            <a:off x="670560" y="46139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765453" y="4652011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13460" y="4652011"/>
            <a:ext cx="885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Fusion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70560" y="49187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Merged Lexical and Semantic results using RRF with temporal decay boosting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290060" y="44996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290060" y="44996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39" name="Shape 37"/>
          <p:cNvSpPr/>
          <p:nvPr/>
        </p:nvSpPr>
        <p:spPr>
          <a:xfrm>
            <a:off x="4411980" y="46139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505444" y="4652011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754880" y="4652011"/>
            <a:ext cx="962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Framework API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4411980" y="49187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Wrapped retrieval logic in Flask REST APIs, built metrics capturing logic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031480" y="44996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31480" y="44996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45" name="Shape 43"/>
          <p:cNvSpPr/>
          <p:nvPr/>
        </p:nvSpPr>
        <p:spPr>
          <a:xfrm>
            <a:off x="8153400" y="46139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8252579" y="4652011"/>
            <a:ext cx="133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96300" y="4652011"/>
            <a:ext cx="1362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 Architecture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153400" y="49187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Built IR mode UI using Vanilla JS with Tavily-inspired aesthetic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48640" y="55283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5283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1" name="Shape 49"/>
          <p:cNvSpPr/>
          <p:nvPr/>
        </p:nvSpPr>
        <p:spPr>
          <a:xfrm>
            <a:off x="670560" y="56426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762952" y="5680711"/>
            <a:ext cx="15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1013460" y="5680711"/>
            <a:ext cx="85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70560" y="59474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Implemented Local LLM bridge via LM Studio for contextual summarization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4290060" y="5528311"/>
            <a:ext cx="3617595" cy="914400"/>
          </a:xfrm>
          <a:custGeom>
            <a:avLst/>
            <a:gdLst/>
            <a:ahLst/>
            <a:cxnLst/>
            <a:rect l="l" t="t" r="r" b="b"/>
            <a:pathLst>
              <a:path w="3617595" h="914400">
                <a:moveTo>
                  <a:pt x="15240" y="0"/>
                </a:moveTo>
                <a:lnTo>
                  <a:pt x="3541395" y="0"/>
                </a:lnTo>
                <a:cubicBezTo>
                  <a:pt x="3583451" y="0"/>
                  <a:pt x="3617595" y="34144"/>
                  <a:pt x="3617595" y="76200"/>
                </a:cubicBezTo>
                <a:lnTo>
                  <a:pt x="3617595" y="838200"/>
                </a:lnTo>
                <a:cubicBezTo>
                  <a:pt x="3617595" y="880256"/>
                  <a:pt x="3583451" y="914400"/>
                  <a:pt x="3541395" y="914400"/>
                </a:cubicBez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50196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4290060" y="5528311"/>
            <a:ext cx="15240" cy="914400"/>
          </a:xfrm>
          <a:custGeom>
            <a:avLst/>
            <a:gdLst/>
            <a:ahLst/>
            <a:cxnLst/>
            <a:rect l="l" t="t" r="r" b="b"/>
            <a:pathLst>
              <a:path w="15240" h="914400">
                <a:moveTo>
                  <a:pt x="15240" y="0"/>
                </a:moveTo>
                <a:lnTo>
                  <a:pt x="15240" y="0"/>
                </a:lnTo>
                <a:lnTo>
                  <a:pt x="15240" y="914400"/>
                </a:lnTo>
                <a:lnTo>
                  <a:pt x="15240" y="914400"/>
                </a:lnTo>
                <a:cubicBezTo>
                  <a:pt x="6823" y="914400"/>
                  <a:pt x="0" y="907577"/>
                  <a:pt x="0" y="8991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57" name="Shape 55"/>
          <p:cNvSpPr/>
          <p:nvPr/>
        </p:nvSpPr>
        <p:spPr>
          <a:xfrm>
            <a:off x="4411980" y="5642611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4505444" y="5680711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4754880" y="5680711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Evaluation &amp; Tuning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411980" y="5947411"/>
            <a:ext cx="3448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Generated synthetic ground-truths, plotted Precision-Recall curves, fine-tuned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027670" y="5532121"/>
            <a:ext cx="3617595" cy="902970"/>
          </a:xfrm>
          <a:prstGeom prst="roundRect">
            <a:avLst>
              <a:gd name="adj" fmla="val 8439"/>
            </a:avLst>
          </a:prstGeom>
          <a:solidFill>
            <a:srgbClr val="D4A26A">
              <a:alpha val="10196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79118" y="5842636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63" name="Text 61"/>
          <p:cNvSpPr/>
          <p:nvPr/>
        </p:nvSpPr>
        <p:spPr>
          <a:xfrm>
            <a:off x="8614291" y="5661661"/>
            <a:ext cx="3000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Complete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614291" y="5928361"/>
            <a:ext cx="29813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Fully integrated hybrid search with AI explainability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3_Abstract_Blue_Digital_Data_Analytics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34656" b="3465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8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0050" y="1976438"/>
            <a:ext cx="1304925" cy="381000"/>
          </a:xfrm>
          <a:prstGeom prst="roundRect">
            <a:avLst>
              <a:gd name="adj" fmla="val 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00050" y="1976438"/>
            <a:ext cx="38100" cy="3810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2052637"/>
            <a:ext cx="105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02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2586038"/>
            <a:ext cx="1171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4243388"/>
            <a:ext cx="12192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9" name="Text 6"/>
          <p:cNvSpPr/>
          <p:nvPr/>
        </p:nvSpPr>
        <p:spPr>
          <a:xfrm>
            <a:off x="381000" y="451008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flow pipeline, hybrid search, and UI design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Flow Pipeline &amp; Storage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5" name="Shape 3"/>
          <p:cNvSpPr/>
          <p:nvPr/>
        </p:nvSpPr>
        <p:spPr>
          <a:xfrm>
            <a:off x="384810" y="1375410"/>
            <a:ext cx="3703320" cy="4389120"/>
          </a:xfrm>
          <a:prstGeom prst="roundRect">
            <a:avLst>
              <a:gd name="adj" fmla="val 2058"/>
            </a:avLst>
          </a:prstGeom>
          <a:gradFill rotWithShape="1" flip="none">
            <a:gsLst>
              <a:gs pos="0">
                <a:srgbClr val="4A5568">
                  <a:alpha val="25000"/>
                </a:srgbClr>
              </a:gs>
              <a:gs pos="100000">
                <a:srgbClr val="4A5568">
                  <a:alpha val="10000"/>
                </a:srgbClr>
              </a:gs>
            </a:gsLst>
            <a:lin ang="2700000" scaled="1"/>
          </a:gradFill>
          <a:ln w="10160">
            <a:solidFill>
              <a:srgbClr val="D4A26A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020" y="153162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50915" y="1607820"/>
            <a:ext cx="352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2520" y="1626870"/>
            <a:ext cx="1685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Raw Text Ingestion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1020" y="2103120"/>
            <a:ext cx="3390900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55320" y="221742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Input Sources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5320" y="2446020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Offline CSV files and live REST endpoints funnel into the pipeline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1020" y="3131823"/>
            <a:ext cx="3390900" cy="1143000"/>
          </a:xfrm>
          <a:prstGeom prst="roundRect">
            <a:avLst>
              <a:gd name="adj" fmla="val 6667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55320" y="324612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 Engine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5320" y="3474723"/>
            <a:ext cx="323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DuckDB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local serverless warehouse — eliminates need for complex cloud SQL instances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1020" y="4389123"/>
            <a:ext cx="3390900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55320" y="450342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Preprocessing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5320" y="4732023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NLTK lowercasing, stopword dropping via preprocessor.py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9120" y="5436873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50423" y="149602"/>
                </a:moveTo>
                <a:cubicBezTo>
                  <a:pt x="54144" y="153323"/>
                  <a:pt x="60186" y="153323"/>
                  <a:pt x="63907" y="149602"/>
                </a:cubicBezTo>
                <a:lnTo>
                  <a:pt x="111532" y="101977"/>
                </a:lnTo>
                <a:cubicBezTo>
                  <a:pt x="115253" y="98256"/>
                  <a:pt x="115253" y="92214"/>
                  <a:pt x="111532" y="88493"/>
                </a:cubicBezTo>
                <a:cubicBezTo>
                  <a:pt x="107811" y="84773"/>
                  <a:pt x="101769" y="84773"/>
                  <a:pt x="98048" y="88493"/>
                </a:cubicBezTo>
                <a:lnTo>
                  <a:pt x="66675" y="119866"/>
                </a:lnTo>
                <a:lnTo>
                  <a:pt x="66675" y="9525"/>
                </a:lnTo>
                <a:cubicBezTo>
                  <a:pt x="66675" y="4256"/>
                  <a:pt x="62419" y="0"/>
                  <a:pt x="57150" y="0"/>
                </a:cubicBezTo>
                <a:cubicBezTo>
                  <a:pt x="51881" y="0"/>
                  <a:pt x="47625" y="4256"/>
                  <a:pt x="47625" y="9525"/>
                </a:cubicBezTo>
                <a:lnTo>
                  <a:pt x="47625" y="119866"/>
                </a:lnTo>
                <a:lnTo>
                  <a:pt x="16252" y="88493"/>
                </a:lnTo>
                <a:cubicBezTo>
                  <a:pt x="12531" y="84772"/>
                  <a:pt x="6489" y="84772"/>
                  <a:pt x="2768" y="88493"/>
                </a:cubicBezTo>
                <a:cubicBezTo>
                  <a:pt x="-953" y="92214"/>
                  <a:pt x="-953" y="98256"/>
                  <a:pt x="2768" y="101977"/>
                </a:cubicBezTo>
                <a:lnTo>
                  <a:pt x="50393" y="149602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9" name="Text 17"/>
          <p:cNvSpPr/>
          <p:nvPr/>
        </p:nvSpPr>
        <p:spPr>
          <a:xfrm>
            <a:off x="807720" y="5417823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120,000+ articles ingested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45531" y="1375410"/>
            <a:ext cx="3703320" cy="4389120"/>
          </a:xfrm>
          <a:prstGeom prst="roundRect">
            <a:avLst>
              <a:gd name="adj" fmla="val 2058"/>
            </a:avLst>
          </a:prstGeom>
          <a:gradFill rotWithShape="1" flip="none">
            <a:gsLst>
              <a:gs pos="0">
                <a:srgbClr val="4A5568">
                  <a:alpha val="25000"/>
                </a:srgbClr>
              </a:gs>
              <a:gs pos="100000">
                <a:srgbClr val="4A5568">
                  <a:alpha val="10000"/>
                </a:srgbClr>
              </a:gs>
            </a:gsLst>
            <a:lin ang="2700000" scaled="1"/>
          </a:gradFill>
          <a:ln w="10160">
            <a:solidFill>
              <a:srgbClr val="6B7A8F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01741" y="153162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490919" y="1607820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73241" y="1626870"/>
            <a:ext cx="1971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Dual-Index Generation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409361" y="2103120"/>
            <a:ext cx="3379470" cy="952500"/>
          </a:xfrm>
          <a:custGeom>
            <a:avLst/>
            <a:gdLst/>
            <a:ahLst/>
            <a:cxnLst/>
            <a:rect l="l" t="t" r="r" b="b"/>
            <a:pathLst>
              <a:path w="3379470" h="952500">
                <a:moveTo>
                  <a:pt x="15240" y="0"/>
                </a:moveTo>
                <a:lnTo>
                  <a:pt x="3303270" y="0"/>
                </a:lnTo>
                <a:cubicBezTo>
                  <a:pt x="3345326" y="0"/>
                  <a:pt x="3379470" y="34144"/>
                  <a:pt x="3379470" y="76200"/>
                </a:cubicBezTo>
                <a:lnTo>
                  <a:pt x="3379470" y="876300"/>
                </a:lnTo>
                <a:cubicBezTo>
                  <a:pt x="3379470" y="918356"/>
                  <a:pt x="3345326" y="952500"/>
                  <a:pt x="3303270" y="952500"/>
                </a:cubicBezTo>
                <a:lnTo>
                  <a:pt x="15240" y="952500"/>
                </a:lnTo>
                <a:cubicBezTo>
                  <a:pt x="6823" y="952500"/>
                  <a:pt x="0" y="945677"/>
                  <a:pt x="0" y="9372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409361" y="2103120"/>
            <a:ext cx="15240" cy="952500"/>
          </a:xfrm>
          <a:custGeom>
            <a:avLst/>
            <a:gdLst/>
            <a:ahLst/>
            <a:cxnLst/>
            <a:rect l="l" t="t" r="r" b="b"/>
            <a:pathLst>
              <a:path w="15240" h="952500">
                <a:moveTo>
                  <a:pt x="15240" y="0"/>
                </a:moveTo>
                <a:lnTo>
                  <a:pt x="15240" y="0"/>
                </a:lnTo>
                <a:lnTo>
                  <a:pt x="15240" y="952500"/>
                </a:lnTo>
                <a:lnTo>
                  <a:pt x="15240" y="952500"/>
                </a:lnTo>
                <a:cubicBezTo>
                  <a:pt x="6823" y="952500"/>
                  <a:pt x="0" y="945677"/>
                  <a:pt x="0" y="9372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26" name="Shape 24"/>
          <p:cNvSpPr/>
          <p:nvPr/>
        </p:nvSpPr>
        <p:spPr>
          <a:xfrm>
            <a:off x="4566999" y="2245995"/>
            <a:ext cx="100013" cy="133350"/>
          </a:xfrm>
          <a:custGeom>
            <a:avLst/>
            <a:gdLst/>
            <a:ahLst/>
            <a:cxnLst/>
            <a:rect l="l" t="t" r="r" b="b"/>
            <a:pathLst>
              <a:path w="100013" h="133350">
                <a:moveTo>
                  <a:pt x="0" y="16669"/>
                </a:moveTo>
                <a:cubicBezTo>
                  <a:pt x="0" y="7475"/>
                  <a:pt x="7475" y="0"/>
                  <a:pt x="16669" y="0"/>
                </a:cubicBezTo>
                <a:lnTo>
                  <a:pt x="55606" y="0"/>
                </a:lnTo>
                <a:cubicBezTo>
                  <a:pt x="60034" y="0"/>
                  <a:pt x="64279" y="1745"/>
                  <a:pt x="67404" y="4870"/>
                </a:cubicBezTo>
                <a:lnTo>
                  <a:pt x="95142" y="32634"/>
                </a:lnTo>
                <a:cubicBezTo>
                  <a:pt x="98267" y="35760"/>
                  <a:pt x="100013" y="40005"/>
                  <a:pt x="100013" y="44433"/>
                </a:cubicBezTo>
                <a:lnTo>
                  <a:pt x="100013" y="116681"/>
                </a:lnTo>
                <a:cubicBezTo>
                  <a:pt x="100013" y="125875"/>
                  <a:pt x="92538" y="133350"/>
                  <a:pt x="83344" y="133350"/>
                </a:cubicBezTo>
                <a:lnTo>
                  <a:pt x="16669" y="133350"/>
                </a:lnTo>
                <a:cubicBezTo>
                  <a:pt x="7475" y="133350"/>
                  <a:pt x="0" y="125875"/>
                  <a:pt x="0" y="116681"/>
                </a:cubicBezTo>
                <a:lnTo>
                  <a:pt x="0" y="16669"/>
                </a:lnTo>
                <a:close/>
                <a:moveTo>
                  <a:pt x="54173" y="15236"/>
                </a:moveTo>
                <a:lnTo>
                  <a:pt x="54173" y="39588"/>
                </a:lnTo>
                <a:cubicBezTo>
                  <a:pt x="54173" y="43052"/>
                  <a:pt x="56960" y="45839"/>
                  <a:pt x="60424" y="45839"/>
                </a:cubicBezTo>
                <a:lnTo>
                  <a:pt x="84776" y="45839"/>
                </a:lnTo>
                <a:lnTo>
                  <a:pt x="54173" y="15236"/>
                </a:lnTo>
                <a:close/>
                <a:moveTo>
                  <a:pt x="31254" y="66675"/>
                </a:moveTo>
                <a:cubicBezTo>
                  <a:pt x="27790" y="66675"/>
                  <a:pt x="25003" y="69462"/>
                  <a:pt x="25003" y="72926"/>
                </a:cubicBezTo>
                <a:cubicBezTo>
                  <a:pt x="25003" y="76390"/>
                  <a:pt x="27790" y="79177"/>
                  <a:pt x="31254" y="79177"/>
                </a:cubicBezTo>
                <a:lnTo>
                  <a:pt x="68759" y="79177"/>
                </a:lnTo>
                <a:cubicBezTo>
                  <a:pt x="72223" y="79177"/>
                  <a:pt x="75009" y="76390"/>
                  <a:pt x="75009" y="72926"/>
                </a:cubicBezTo>
                <a:cubicBezTo>
                  <a:pt x="75009" y="69462"/>
                  <a:pt x="72223" y="66675"/>
                  <a:pt x="68759" y="66675"/>
                </a:cubicBezTo>
                <a:lnTo>
                  <a:pt x="31254" y="66675"/>
                </a:lnTo>
                <a:close/>
                <a:moveTo>
                  <a:pt x="31254" y="91678"/>
                </a:moveTo>
                <a:cubicBezTo>
                  <a:pt x="27790" y="91678"/>
                  <a:pt x="25003" y="94465"/>
                  <a:pt x="25003" y="97929"/>
                </a:cubicBezTo>
                <a:cubicBezTo>
                  <a:pt x="25003" y="101393"/>
                  <a:pt x="27790" y="104180"/>
                  <a:pt x="31254" y="104180"/>
                </a:cubicBezTo>
                <a:lnTo>
                  <a:pt x="68759" y="104180"/>
                </a:lnTo>
                <a:cubicBezTo>
                  <a:pt x="72223" y="104180"/>
                  <a:pt x="75009" y="101393"/>
                  <a:pt x="75009" y="97929"/>
                </a:cubicBezTo>
                <a:cubicBezTo>
                  <a:pt x="75009" y="94465"/>
                  <a:pt x="72223" y="91678"/>
                  <a:pt x="68759" y="91678"/>
                </a:cubicBezTo>
                <a:lnTo>
                  <a:pt x="31254" y="91678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27" name="Text 25"/>
          <p:cNvSpPr/>
          <p:nvPr/>
        </p:nvSpPr>
        <p:spPr>
          <a:xfrm>
            <a:off x="4702731" y="2217420"/>
            <a:ext cx="3038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Sparse Index (BM25)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31281" y="2484120"/>
            <a:ext cx="3219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Pickled BM25 structural index maps term frequencies and exact phrase bounds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409361" y="3169923"/>
            <a:ext cx="3379470" cy="1181100"/>
          </a:xfrm>
          <a:custGeom>
            <a:avLst/>
            <a:gdLst/>
            <a:ahLst/>
            <a:cxnLst/>
            <a:rect l="l" t="t" r="r" b="b"/>
            <a:pathLst>
              <a:path w="3379470" h="1181100">
                <a:moveTo>
                  <a:pt x="15240" y="0"/>
                </a:moveTo>
                <a:lnTo>
                  <a:pt x="3303270" y="0"/>
                </a:lnTo>
                <a:cubicBezTo>
                  <a:pt x="3345326" y="0"/>
                  <a:pt x="3379470" y="34144"/>
                  <a:pt x="3379470" y="76200"/>
                </a:cubicBezTo>
                <a:lnTo>
                  <a:pt x="3379470" y="1104900"/>
                </a:lnTo>
                <a:cubicBezTo>
                  <a:pt x="3379470" y="1146956"/>
                  <a:pt x="3345326" y="1181100"/>
                  <a:pt x="3303270" y="1181100"/>
                </a:cubicBezTo>
                <a:lnTo>
                  <a:pt x="15240" y="1181100"/>
                </a:lnTo>
                <a:cubicBezTo>
                  <a:pt x="6823" y="1181100"/>
                  <a:pt x="0" y="1174277"/>
                  <a:pt x="0" y="11658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409361" y="3169923"/>
            <a:ext cx="15240" cy="1181100"/>
          </a:xfrm>
          <a:custGeom>
            <a:avLst/>
            <a:gdLst/>
            <a:ahLst/>
            <a:cxnLst/>
            <a:rect l="l" t="t" r="r" b="b"/>
            <a:pathLst>
              <a:path w="15240" h="1181100">
                <a:moveTo>
                  <a:pt x="15240" y="0"/>
                </a:moveTo>
                <a:lnTo>
                  <a:pt x="15240" y="0"/>
                </a:lnTo>
                <a:lnTo>
                  <a:pt x="15240" y="1181100"/>
                </a:lnTo>
                <a:lnTo>
                  <a:pt x="15240" y="1181100"/>
                </a:lnTo>
                <a:cubicBezTo>
                  <a:pt x="6823" y="1181100"/>
                  <a:pt x="0" y="1174277"/>
                  <a:pt x="0" y="1165860"/>
                </a:cubicBezTo>
                <a:lnTo>
                  <a:pt x="0" y="15240"/>
                </a:lnTo>
                <a:cubicBezTo>
                  <a:pt x="0" y="6829"/>
                  <a:pt x="6829" y="0"/>
                  <a:pt x="15240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1" name="Shape 29"/>
          <p:cNvSpPr/>
          <p:nvPr/>
        </p:nvSpPr>
        <p:spPr>
          <a:xfrm>
            <a:off x="4550331" y="3312798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2" name="Text 30"/>
          <p:cNvSpPr/>
          <p:nvPr/>
        </p:nvSpPr>
        <p:spPr>
          <a:xfrm>
            <a:off x="4702731" y="3284223"/>
            <a:ext cx="30384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Dense Index (FAISS)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531281" y="3550923"/>
            <a:ext cx="32194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Pickled FAISS binary indices map vectors capturing conceptual tone and semantic meaning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439841" y="5436873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50423" y="149602"/>
                </a:moveTo>
                <a:cubicBezTo>
                  <a:pt x="54144" y="153323"/>
                  <a:pt x="60186" y="153323"/>
                  <a:pt x="63907" y="149602"/>
                </a:cubicBezTo>
                <a:lnTo>
                  <a:pt x="111532" y="101977"/>
                </a:lnTo>
                <a:cubicBezTo>
                  <a:pt x="115253" y="98256"/>
                  <a:pt x="115253" y="92214"/>
                  <a:pt x="111532" y="88493"/>
                </a:cubicBezTo>
                <a:cubicBezTo>
                  <a:pt x="107811" y="84773"/>
                  <a:pt x="101769" y="84773"/>
                  <a:pt x="98048" y="88493"/>
                </a:cubicBezTo>
                <a:lnTo>
                  <a:pt x="66675" y="119866"/>
                </a:lnTo>
                <a:lnTo>
                  <a:pt x="66675" y="9525"/>
                </a:lnTo>
                <a:cubicBezTo>
                  <a:pt x="66675" y="4256"/>
                  <a:pt x="62419" y="0"/>
                  <a:pt x="57150" y="0"/>
                </a:cubicBezTo>
                <a:cubicBezTo>
                  <a:pt x="51881" y="0"/>
                  <a:pt x="47625" y="4256"/>
                  <a:pt x="47625" y="9525"/>
                </a:cubicBezTo>
                <a:lnTo>
                  <a:pt x="47625" y="119866"/>
                </a:lnTo>
                <a:lnTo>
                  <a:pt x="16252" y="88493"/>
                </a:lnTo>
                <a:cubicBezTo>
                  <a:pt x="12531" y="84772"/>
                  <a:pt x="6489" y="84772"/>
                  <a:pt x="2768" y="88493"/>
                </a:cubicBezTo>
                <a:cubicBezTo>
                  <a:pt x="-953" y="92214"/>
                  <a:pt x="-953" y="98256"/>
                  <a:pt x="2768" y="101977"/>
                </a:cubicBezTo>
                <a:lnTo>
                  <a:pt x="50393" y="149602"/>
                </a:ln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5" name="Text 33"/>
          <p:cNvSpPr/>
          <p:nvPr/>
        </p:nvSpPr>
        <p:spPr>
          <a:xfrm>
            <a:off x="4668441" y="5417823"/>
            <a:ext cx="17240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Two complementary indices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06371" y="1375410"/>
            <a:ext cx="3703320" cy="4389120"/>
          </a:xfrm>
          <a:prstGeom prst="roundRect">
            <a:avLst>
              <a:gd name="adj" fmla="val 2058"/>
            </a:avLst>
          </a:prstGeom>
          <a:gradFill rotWithShape="1" flip="none">
            <a:gsLst>
              <a:gs pos="0">
                <a:srgbClr val="4A5568">
                  <a:alpha val="25000"/>
                </a:srgbClr>
              </a:gs>
              <a:gs pos="100000">
                <a:srgbClr val="4A5568">
                  <a:alpha val="10000"/>
                </a:srgbClr>
              </a:gs>
            </a:gsLst>
            <a:lin ang="2700000" scaled="1"/>
          </a:gradFill>
          <a:ln w="10160">
            <a:solidFill>
              <a:srgbClr val="D4A26A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62581" y="153162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8350806" y="1607820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834081" y="1626870"/>
            <a:ext cx="2066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Search Retrieval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262581" y="2103120"/>
            <a:ext cx="3390900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8376881" y="2217420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Dual Execution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376881" y="2446020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algorithms pull candidate lists simultaneously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262581" y="3131823"/>
            <a:ext cx="3390900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376881" y="324612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Normalization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8376881" y="3474723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normalized and ranked dynamically via formula fusion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262581" y="4160523"/>
            <a:ext cx="3390900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8376881" y="4274823"/>
            <a:ext cx="32289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Dynamic Ranking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76881" y="4503423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RRF with temporal decay — newer articles receive boosted weights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281631" y="543687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0" name="Text 48"/>
          <p:cNvSpPr/>
          <p:nvPr/>
        </p:nvSpPr>
        <p:spPr>
          <a:xfrm>
            <a:off x="8529281" y="5417823"/>
            <a:ext cx="148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Unified results delivered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384810" y="5886451"/>
            <a:ext cx="11418570" cy="693420"/>
          </a:xfrm>
          <a:prstGeom prst="roundRect">
            <a:avLst>
              <a:gd name="adj" fmla="val 10989"/>
            </a:avLst>
          </a:prstGeom>
          <a:solidFill>
            <a:srgbClr val="D4A26A">
              <a:alpha val="10196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12445" y="6118859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3" name="Text 51"/>
          <p:cNvSpPr/>
          <p:nvPr/>
        </p:nvSpPr>
        <p:spPr>
          <a:xfrm>
            <a:off x="848082" y="6004559"/>
            <a:ext cx="1091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Innovation: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system seamlessly loads 120k+ articles into DuckDB and maintains two complementary indices — sparse for exact matching and dense for semantic understanding — enabling both precision and conceptual search capabilities.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Hybrid Search Pipeline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5" name="Shape 3"/>
          <p:cNvSpPr/>
          <p:nvPr/>
        </p:nvSpPr>
        <p:spPr>
          <a:xfrm>
            <a:off x="384810" y="1375410"/>
            <a:ext cx="5627370" cy="1645920"/>
          </a:xfrm>
          <a:prstGeom prst="roundRect">
            <a:avLst>
              <a:gd name="adj" fmla="val 4630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020" y="1531623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36270" y="162687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8" name="Text 6"/>
          <p:cNvSpPr/>
          <p:nvPr/>
        </p:nvSpPr>
        <p:spPr>
          <a:xfrm>
            <a:off x="1036320" y="1588773"/>
            <a:ext cx="2000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Lexical Search (BM25)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9595" y="206502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0" name="Text 8"/>
          <p:cNvSpPr/>
          <p:nvPr/>
        </p:nvSpPr>
        <p:spPr>
          <a:xfrm>
            <a:off x="807720" y="2026923"/>
            <a:ext cx="42576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Searches bm25_index.pkl for exact keyword structural matches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69595" y="236982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2" name="Text 10"/>
          <p:cNvSpPr/>
          <p:nvPr/>
        </p:nvSpPr>
        <p:spPr>
          <a:xfrm>
            <a:off x="807720" y="2331723"/>
            <a:ext cx="4552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Exceptional Recall — captures all documents containing query terms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9595" y="267462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4" name="Text 12"/>
          <p:cNvSpPr/>
          <p:nvPr/>
        </p:nvSpPr>
        <p:spPr>
          <a:xfrm>
            <a:off x="807720" y="2636523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Struggles mildly with semantic precision on nuanced queries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4810" y="3181351"/>
            <a:ext cx="5627370" cy="1645920"/>
          </a:xfrm>
          <a:prstGeom prst="roundRect">
            <a:avLst>
              <a:gd name="adj" fmla="val 4630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020" y="3337559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36270" y="343280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44648" y="20836"/>
                </a:moveTo>
                <a:cubicBezTo>
                  <a:pt x="44648" y="9339"/>
                  <a:pt x="53987" y="0"/>
                  <a:pt x="65484" y="0"/>
                </a:cubicBezTo>
                <a:lnTo>
                  <a:pt x="74414" y="0"/>
                </a:lnTo>
                <a:cubicBezTo>
                  <a:pt x="81000" y="0"/>
                  <a:pt x="86320" y="5321"/>
                  <a:pt x="86320" y="11906"/>
                </a:cubicBezTo>
                <a:lnTo>
                  <a:pt x="86320" y="178594"/>
                </a:lnTo>
                <a:cubicBezTo>
                  <a:pt x="86320" y="185179"/>
                  <a:pt x="81000" y="190500"/>
                  <a:pt x="74414" y="190500"/>
                </a:cubicBezTo>
                <a:lnTo>
                  <a:pt x="62508" y="190500"/>
                </a:lnTo>
                <a:cubicBezTo>
                  <a:pt x="51420" y="190500"/>
                  <a:pt x="42081" y="182910"/>
                  <a:pt x="39439" y="172641"/>
                </a:cubicBezTo>
                <a:cubicBezTo>
                  <a:pt x="39179" y="172641"/>
                  <a:pt x="38956" y="172641"/>
                  <a:pt x="38695" y="172641"/>
                </a:cubicBezTo>
                <a:cubicBezTo>
                  <a:pt x="22250" y="172641"/>
                  <a:pt x="8930" y="159321"/>
                  <a:pt x="8930" y="142875"/>
                </a:cubicBezTo>
                <a:cubicBezTo>
                  <a:pt x="8930" y="136178"/>
                  <a:pt x="11162" y="130001"/>
                  <a:pt x="14883" y="125016"/>
                </a:cubicBezTo>
                <a:cubicBezTo>
                  <a:pt x="7665" y="119583"/>
                  <a:pt x="2977" y="110951"/>
                  <a:pt x="2977" y="101203"/>
                </a:cubicBezTo>
                <a:cubicBezTo>
                  <a:pt x="2977" y="89706"/>
                  <a:pt x="9525" y="79697"/>
                  <a:pt x="19050" y="74749"/>
                </a:cubicBezTo>
                <a:cubicBezTo>
                  <a:pt x="16408" y="70284"/>
                  <a:pt x="14883" y="65075"/>
                  <a:pt x="14883" y="59531"/>
                </a:cubicBezTo>
                <a:cubicBezTo>
                  <a:pt x="14883" y="43086"/>
                  <a:pt x="28203" y="29766"/>
                  <a:pt x="44648" y="29766"/>
                </a:cubicBezTo>
                <a:lnTo>
                  <a:pt x="44648" y="20836"/>
                </a:lnTo>
                <a:close/>
                <a:moveTo>
                  <a:pt x="145852" y="20836"/>
                </a:moveTo>
                <a:lnTo>
                  <a:pt x="145852" y="29766"/>
                </a:lnTo>
                <a:cubicBezTo>
                  <a:pt x="162297" y="29766"/>
                  <a:pt x="175617" y="43086"/>
                  <a:pt x="175617" y="59531"/>
                </a:cubicBezTo>
                <a:cubicBezTo>
                  <a:pt x="175617" y="65112"/>
                  <a:pt x="174092" y="70321"/>
                  <a:pt x="171450" y="74749"/>
                </a:cubicBezTo>
                <a:cubicBezTo>
                  <a:pt x="181012" y="79697"/>
                  <a:pt x="187523" y="89669"/>
                  <a:pt x="187523" y="101203"/>
                </a:cubicBezTo>
                <a:cubicBezTo>
                  <a:pt x="187523" y="110951"/>
                  <a:pt x="182835" y="119583"/>
                  <a:pt x="175617" y="125016"/>
                </a:cubicBezTo>
                <a:cubicBezTo>
                  <a:pt x="179338" y="130001"/>
                  <a:pt x="181570" y="136178"/>
                  <a:pt x="181570" y="142875"/>
                </a:cubicBezTo>
                <a:cubicBezTo>
                  <a:pt x="181570" y="159321"/>
                  <a:pt x="168250" y="172641"/>
                  <a:pt x="151805" y="172641"/>
                </a:cubicBezTo>
                <a:cubicBezTo>
                  <a:pt x="151544" y="172641"/>
                  <a:pt x="151321" y="172641"/>
                  <a:pt x="151061" y="172641"/>
                </a:cubicBezTo>
                <a:cubicBezTo>
                  <a:pt x="148419" y="182910"/>
                  <a:pt x="139080" y="190500"/>
                  <a:pt x="127992" y="190500"/>
                </a:cubicBezTo>
                <a:lnTo>
                  <a:pt x="116086" y="190500"/>
                </a:lnTo>
                <a:cubicBezTo>
                  <a:pt x="109500" y="190500"/>
                  <a:pt x="104180" y="185179"/>
                  <a:pt x="104180" y="178594"/>
                </a:cubicBezTo>
                <a:lnTo>
                  <a:pt x="104180" y="11906"/>
                </a:lnTo>
                <a:cubicBezTo>
                  <a:pt x="104180" y="5321"/>
                  <a:pt x="109500" y="0"/>
                  <a:pt x="116086" y="0"/>
                </a:cubicBezTo>
                <a:lnTo>
                  <a:pt x="125016" y="0"/>
                </a:lnTo>
                <a:cubicBezTo>
                  <a:pt x="136513" y="0"/>
                  <a:pt x="145852" y="9339"/>
                  <a:pt x="145852" y="20836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18" name="Text 16"/>
          <p:cNvSpPr/>
          <p:nvPr/>
        </p:nvSpPr>
        <p:spPr>
          <a:xfrm>
            <a:off x="1036320" y="3394709"/>
            <a:ext cx="2219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Semantic Search (FAISS)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9595" y="387095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0" name="Text 18"/>
          <p:cNvSpPr/>
          <p:nvPr/>
        </p:nvSpPr>
        <p:spPr>
          <a:xfrm>
            <a:off x="807720" y="3832859"/>
            <a:ext cx="4438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Passes queries through sentence-transformers (all-MiniLM-L6-v2)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69595" y="417575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2" name="Text 20"/>
          <p:cNvSpPr/>
          <p:nvPr/>
        </p:nvSpPr>
        <p:spPr>
          <a:xfrm>
            <a:off x="807720" y="4137659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Maps to conceptual dense space via faiss_index.faiss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69595" y="448055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4" name="Text 22"/>
          <p:cNvSpPr/>
          <p:nvPr/>
        </p:nvSpPr>
        <p:spPr>
          <a:xfrm>
            <a:off x="807720" y="4442459"/>
            <a:ext cx="3733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0.80+ contextual Precision on nuanced concept queries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79820" y="1379220"/>
            <a:ext cx="5625465" cy="4053840"/>
          </a:xfrm>
          <a:prstGeom prst="roundRect">
            <a:avLst>
              <a:gd name="adj" fmla="val 1880"/>
            </a:avLst>
          </a:prstGeom>
          <a:gradFill rotWithShape="1" flip="none">
            <a:gsLst>
              <a:gs pos="0">
                <a:srgbClr val="D4A26A">
                  <a:alpha val="20000"/>
                </a:srgbClr>
              </a:gs>
              <a:gs pos="100000">
                <a:srgbClr val="6B7A8F">
                  <a:alpha val="20000"/>
                </a:srgbClr>
              </a:gs>
            </a:gsLst>
            <a:lin ang="2700000" scaled="1"/>
          </a:gradFill>
          <a:ln w="20320">
            <a:solidFill>
              <a:srgbClr val="D4A2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9840" y="1539241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D4A26A"/>
          </a:solidFill>
          <a:ln/>
        </p:spPr>
      </p:sp>
      <p:sp>
        <p:nvSpPr>
          <p:cNvPr id="27" name="Shape 25"/>
          <p:cNvSpPr/>
          <p:nvPr/>
        </p:nvSpPr>
        <p:spPr>
          <a:xfrm>
            <a:off x="6446997" y="1634491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9766" y="38695"/>
                </a:moveTo>
                <a:cubicBezTo>
                  <a:pt x="34694" y="38695"/>
                  <a:pt x="38695" y="34694"/>
                  <a:pt x="38695" y="29766"/>
                </a:cubicBezTo>
                <a:cubicBezTo>
                  <a:pt x="38695" y="24837"/>
                  <a:pt x="34694" y="20836"/>
                  <a:pt x="29766" y="20836"/>
                </a:cubicBezTo>
                <a:cubicBezTo>
                  <a:pt x="24837" y="20836"/>
                  <a:pt x="20836" y="24837"/>
                  <a:pt x="20836" y="29766"/>
                </a:cubicBezTo>
                <a:cubicBezTo>
                  <a:pt x="20836" y="34694"/>
                  <a:pt x="24837" y="38695"/>
                  <a:pt x="29766" y="38695"/>
                </a:cubicBezTo>
                <a:close/>
                <a:moveTo>
                  <a:pt x="59531" y="29766"/>
                </a:moveTo>
                <a:cubicBezTo>
                  <a:pt x="59531" y="41970"/>
                  <a:pt x="52201" y="52462"/>
                  <a:pt x="41672" y="57038"/>
                </a:cubicBezTo>
                <a:lnTo>
                  <a:pt x="41672" y="83344"/>
                </a:lnTo>
                <a:lnTo>
                  <a:pt x="107156" y="83344"/>
                </a:lnTo>
                <a:cubicBezTo>
                  <a:pt x="117016" y="83344"/>
                  <a:pt x="125016" y="75344"/>
                  <a:pt x="125016" y="65484"/>
                </a:cubicBezTo>
                <a:lnTo>
                  <a:pt x="125016" y="57038"/>
                </a:lnTo>
                <a:cubicBezTo>
                  <a:pt x="114486" y="52462"/>
                  <a:pt x="107156" y="41970"/>
                  <a:pt x="107156" y="29766"/>
                </a:cubicBezTo>
                <a:cubicBezTo>
                  <a:pt x="107156" y="13320"/>
                  <a:pt x="120476" y="0"/>
                  <a:pt x="136922" y="0"/>
                </a:cubicBezTo>
                <a:cubicBezTo>
                  <a:pt x="153367" y="0"/>
                  <a:pt x="166688" y="13320"/>
                  <a:pt x="166688" y="29766"/>
                </a:cubicBezTo>
                <a:cubicBezTo>
                  <a:pt x="166688" y="41970"/>
                  <a:pt x="159358" y="52462"/>
                  <a:pt x="148828" y="57038"/>
                </a:cubicBezTo>
                <a:lnTo>
                  <a:pt x="148828" y="65484"/>
                </a:lnTo>
                <a:cubicBezTo>
                  <a:pt x="148828" y="88516"/>
                  <a:pt x="130187" y="107156"/>
                  <a:pt x="107156" y="107156"/>
                </a:cubicBezTo>
                <a:lnTo>
                  <a:pt x="41672" y="107156"/>
                </a:lnTo>
                <a:lnTo>
                  <a:pt x="41672" y="133462"/>
                </a:lnTo>
                <a:cubicBezTo>
                  <a:pt x="52201" y="138038"/>
                  <a:pt x="59531" y="148530"/>
                  <a:pt x="59531" y="160734"/>
                </a:cubicBezTo>
                <a:cubicBezTo>
                  <a:pt x="59531" y="177180"/>
                  <a:pt x="46211" y="190500"/>
                  <a:pt x="29766" y="190500"/>
                </a:cubicBezTo>
                <a:cubicBezTo>
                  <a:pt x="13320" y="190500"/>
                  <a:pt x="0" y="177180"/>
                  <a:pt x="0" y="160734"/>
                </a:cubicBezTo>
                <a:cubicBezTo>
                  <a:pt x="0" y="148530"/>
                  <a:pt x="7330" y="138038"/>
                  <a:pt x="17859" y="133462"/>
                </a:cubicBezTo>
                <a:lnTo>
                  <a:pt x="17859" y="57076"/>
                </a:lnTo>
                <a:cubicBezTo>
                  <a:pt x="7330" y="52462"/>
                  <a:pt x="0" y="41970"/>
                  <a:pt x="0" y="29766"/>
                </a:cubicBezTo>
                <a:cubicBezTo>
                  <a:pt x="0" y="13320"/>
                  <a:pt x="13320" y="0"/>
                  <a:pt x="29766" y="0"/>
                </a:cubicBezTo>
                <a:cubicBezTo>
                  <a:pt x="46211" y="0"/>
                  <a:pt x="59531" y="13320"/>
                  <a:pt x="59531" y="29766"/>
                </a:cubicBezTo>
                <a:close/>
                <a:moveTo>
                  <a:pt x="145852" y="29766"/>
                </a:moveTo>
                <a:cubicBezTo>
                  <a:pt x="145852" y="24837"/>
                  <a:pt x="141850" y="20836"/>
                  <a:pt x="136922" y="20836"/>
                </a:cubicBezTo>
                <a:cubicBezTo>
                  <a:pt x="131993" y="20836"/>
                  <a:pt x="127992" y="24837"/>
                  <a:pt x="127992" y="29766"/>
                </a:cubicBezTo>
                <a:cubicBezTo>
                  <a:pt x="127992" y="34694"/>
                  <a:pt x="131993" y="38695"/>
                  <a:pt x="136922" y="38695"/>
                </a:cubicBezTo>
                <a:cubicBezTo>
                  <a:pt x="141850" y="38695"/>
                  <a:pt x="145852" y="34694"/>
                  <a:pt x="145852" y="29766"/>
                </a:cubicBezTo>
                <a:close/>
                <a:moveTo>
                  <a:pt x="29766" y="169664"/>
                </a:moveTo>
                <a:cubicBezTo>
                  <a:pt x="34694" y="169664"/>
                  <a:pt x="38695" y="165663"/>
                  <a:pt x="38695" y="160734"/>
                </a:cubicBezTo>
                <a:cubicBezTo>
                  <a:pt x="38695" y="155806"/>
                  <a:pt x="34694" y="151805"/>
                  <a:pt x="29766" y="151805"/>
                </a:cubicBezTo>
                <a:cubicBezTo>
                  <a:pt x="24837" y="151805"/>
                  <a:pt x="20836" y="155806"/>
                  <a:pt x="20836" y="160734"/>
                </a:cubicBezTo>
                <a:cubicBezTo>
                  <a:pt x="20836" y="165663"/>
                  <a:pt x="24837" y="169664"/>
                  <a:pt x="29766" y="169664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28" name="Text 26"/>
          <p:cNvSpPr/>
          <p:nvPr/>
        </p:nvSpPr>
        <p:spPr>
          <a:xfrm>
            <a:off x="6835140" y="1596391"/>
            <a:ext cx="1838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Fusion Strategy: RRF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39840" y="2072641"/>
            <a:ext cx="5305425" cy="990600"/>
          </a:xfrm>
          <a:prstGeom prst="roundRect">
            <a:avLst>
              <a:gd name="adj" fmla="val 7692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54140" y="2186941"/>
            <a:ext cx="515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Reciprocal Rank Fusion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54140" y="2491741"/>
            <a:ext cx="5153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Mathematically combines rankings from both indices using RRF formula with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50/50 blend weighting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339840" y="3177541"/>
            <a:ext cx="5305425" cy="990600"/>
          </a:xfrm>
          <a:prstGeom prst="roundRect">
            <a:avLst>
              <a:gd name="adj" fmla="val 7692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6454140" y="3291841"/>
            <a:ext cx="515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Temporal Decay Boosting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54140" y="3596641"/>
            <a:ext cx="5153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Newer articles receive boosted weights, ensuring recency relevance in results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39840" y="4282441"/>
            <a:ext cx="5305425" cy="990600"/>
          </a:xfrm>
          <a:prstGeom prst="roundRect">
            <a:avLst>
              <a:gd name="adj" fmla="val 7692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454140" y="4396741"/>
            <a:ext cx="515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Dynamic Normalization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54140" y="4701541"/>
            <a:ext cx="5153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Candidate lists normalized and ranked dynamically for optimal result ordering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176010" y="5596892"/>
            <a:ext cx="5627370" cy="1226820"/>
          </a:xfrm>
          <a:prstGeom prst="roundRect">
            <a:avLst>
              <a:gd name="adj" fmla="val 6211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34601" y="5800725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39270" y="70489"/>
                </a:moveTo>
                <a:cubicBezTo>
                  <a:pt x="143355" y="69384"/>
                  <a:pt x="147641" y="71326"/>
                  <a:pt x="149483" y="75110"/>
                </a:cubicBezTo>
                <a:lnTo>
                  <a:pt x="155711" y="87701"/>
                </a:lnTo>
                <a:cubicBezTo>
                  <a:pt x="159161" y="88170"/>
                  <a:pt x="162543" y="89107"/>
                  <a:pt x="165724" y="90413"/>
                </a:cubicBezTo>
                <a:lnTo>
                  <a:pt x="177444" y="82611"/>
                </a:lnTo>
                <a:cubicBezTo>
                  <a:pt x="180960" y="80267"/>
                  <a:pt x="185615" y="80736"/>
                  <a:pt x="188595" y="83716"/>
                </a:cubicBezTo>
                <a:lnTo>
                  <a:pt x="195024" y="90145"/>
                </a:lnTo>
                <a:cubicBezTo>
                  <a:pt x="198005" y="93125"/>
                  <a:pt x="198473" y="97814"/>
                  <a:pt x="196129" y="101296"/>
                </a:cubicBezTo>
                <a:lnTo>
                  <a:pt x="188327" y="112983"/>
                </a:lnTo>
                <a:cubicBezTo>
                  <a:pt x="188963" y="114557"/>
                  <a:pt x="189533" y="116198"/>
                  <a:pt x="190001" y="117905"/>
                </a:cubicBezTo>
                <a:cubicBezTo>
                  <a:pt x="190470" y="119613"/>
                  <a:pt x="190772" y="121287"/>
                  <a:pt x="191006" y="122995"/>
                </a:cubicBezTo>
                <a:lnTo>
                  <a:pt x="203630" y="129224"/>
                </a:lnTo>
                <a:cubicBezTo>
                  <a:pt x="207414" y="131099"/>
                  <a:pt x="209357" y="135385"/>
                  <a:pt x="208251" y="139437"/>
                </a:cubicBezTo>
                <a:lnTo>
                  <a:pt x="205907" y="148210"/>
                </a:lnTo>
                <a:cubicBezTo>
                  <a:pt x="204802" y="152262"/>
                  <a:pt x="201018" y="155008"/>
                  <a:pt x="196799" y="154740"/>
                </a:cubicBezTo>
                <a:lnTo>
                  <a:pt x="182735" y="153836"/>
                </a:lnTo>
                <a:cubicBezTo>
                  <a:pt x="180625" y="156549"/>
                  <a:pt x="178181" y="159060"/>
                  <a:pt x="175401" y="161203"/>
                </a:cubicBezTo>
                <a:lnTo>
                  <a:pt x="176306" y="175234"/>
                </a:lnTo>
                <a:cubicBezTo>
                  <a:pt x="176573" y="179453"/>
                  <a:pt x="173828" y="183271"/>
                  <a:pt x="169776" y="184342"/>
                </a:cubicBezTo>
                <a:lnTo>
                  <a:pt x="161002" y="186686"/>
                </a:lnTo>
                <a:cubicBezTo>
                  <a:pt x="156917" y="187791"/>
                  <a:pt x="152664" y="185849"/>
                  <a:pt x="150789" y="182065"/>
                </a:cubicBezTo>
                <a:lnTo>
                  <a:pt x="144560" y="169474"/>
                </a:lnTo>
                <a:cubicBezTo>
                  <a:pt x="141111" y="169005"/>
                  <a:pt x="137729" y="168068"/>
                  <a:pt x="134548" y="166762"/>
                </a:cubicBezTo>
                <a:lnTo>
                  <a:pt x="122828" y="174564"/>
                </a:lnTo>
                <a:cubicBezTo>
                  <a:pt x="119312" y="176908"/>
                  <a:pt x="114657" y="176439"/>
                  <a:pt x="111677" y="173459"/>
                </a:cubicBezTo>
                <a:lnTo>
                  <a:pt x="105248" y="167030"/>
                </a:lnTo>
                <a:cubicBezTo>
                  <a:pt x="102267" y="164050"/>
                  <a:pt x="101798" y="159395"/>
                  <a:pt x="104142" y="155879"/>
                </a:cubicBezTo>
                <a:lnTo>
                  <a:pt x="111945" y="144159"/>
                </a:lnTo>
                <a:cubicBezTo>
                  <a:pt x="111309" y="142585"/>
                  <a:pt x="110739" y="140944"/>
                  <a:pt x="110270" y="139236"/>
                </a:cubicBezTo>
                <a:cubicBezTo>
                  <a:pt x="109802" y="137528"/>
                  <a:pt x="109500" y="135821"/>
                  <a:pt x="109266" y="134146"/>
                </a:cubicBezTo>
                <a:lnTo>
                  <a:pt x="96642" y="127918"/>
                </a:lnTo>
                <a:cubicBezTo>
                  <a:pt x="92858" y="126043"/>
                  <a:pt x="90949" y="121756"/>
                  <a:pt x="92020" y="117704"/>
                </a:cubicBezTo>
                <a:lnTo>
                  <a:pt x="94364" y="108931"/>
                </a:lnTo>
                <a:cubicBezTo>
                  <a:pt x="95470" y="104879"/>
                  <a:pt x="99253" y="102133"/>
                  <a:pt x="103473" y="102401"/>
                </a:cubicBezTo>
                <a:lnTo>
                  <a:pt x="117504" y="103305"/>
                </a:lnTo>
                <a:cubicBezTo>
                  <a:pt x="119613" y="100593"/>
                  <a:pt x="122058" y="98081"/>
                  <a:pt x="124837" y="95938"/>
                </a:cubicBezTo>
                <a:lnTo>
                  <a:pt x="123933" y="81941"/>
                </a:lnTo>
                <a:cubicBezTo>
                  <a:pt x="123665" y="77722"/>
                  <a:pt x="126411" y="73904"/>
                  <a:pt x="130463" y="72833"/>
                </a:cubicBezTo>
                <a:lnTo>
                  <a:pt x="139236" y="70489"/>
                </a:lnTo>
                <a:close/>
                <a:moveTo>
                  <a:pt x="150153" y="113854"/>
                </a:moveTo>
                <a:cubicBezTo>
                  <a:pt x="142021" y="113863"/>
                  <a:pt x="135426" y="120472"/>
                  <a:pt x="135435" y="128604"/>
                </a:cubicBezTo>
                <a:cubicBezTo>
                  <a:pt x="135445" y="136736"/>
                  <a:pt x="142054" y="143331"/>
                  <a:pt x="150186" y="143321"/>
                </a:cubicBezTo>
                <a:cubicBezTo>
                  <a:pt x="158318" y="143312"/>
                  <a:pt x="164913" y="136703"/>
                  <a:pt x="164903" y="128571"/>
                </a:cubicBezTo>
                <a:cubicBezTo>
                  <a:pt x="164894" y="120439"/>
                  <a:pt x="158285" y="113844"/>
                  <a:pt x="150153" y="113854"/>
                </a:cubicBezTo>
                <a:close/>
                <a:moveTo>
                  <a:pt x="75311" y="-15236"/>
                </a:moveTo>
                <a:lnTo>
                  <a:pt x="84084" y="-12892"/>
                </a:lnTo>
                <a:cubicBezTo>
                  <a:pt x="88136" y="-11787"/>
                  <a:pt x="90882" y="-7970"/>
                  <a:pt x="90614" y="-3784"/>
                </a:cubicBezTo>
                <a:lnTo>
                  <a:pt x="89710" y="10213"/>
                </a:lnTo>
                <a:cubicBezTo>
                  <a:pt x="92489" y="12356"/>
                  <a:pt x="94934" y="14834"/>
                  <a:pt x="97043" y="17580"/>
                </a:cubicBezTo>
                <a:lnTo>
                  <a:pt x="111108" y="16676"/>
                </a:lnTo>
                <a:cubicBezTo>
                  <a:pt x="115293" y="16408"/>
                  <a:pt x="119111" y="19154"/>
                  <a:pt x="120216" y="23206"/>
                </a:cubicBezTo>
                <a:lnTo>
                  <a:pt x="122560" y="31979"/>
                </a:lnTo>
                <a:cubicBezTo>
                  <a:pt x="123632" y="36031"/>
                  <a:pt x="121723" y="40318"/>
                  <a:pt x="117939" y="42193"/>
                </a:cubicBezTo>
                <a:lnTo>
                  <a:pt x="105315" y="48421"/>
                </a:lnTo>
                <a:cubicBezTo>
                  <a:pt x="105080" y="50129"/>
                  <a:pt x="104745" y="51837"/>
                  <a:pt x="104310" y="53511"/>
                </a:cubicBezTo>
                <a:cubicBezTo>
                  <a:pt x="103875" y="55185"/>
                  <a:pt x="103272" y="56860"/>
                  <a:pt x="102636" y="58434"/>
                </a:cubicBezTo>
                <a:lnTo>
                  <a:pt x="110438" y="70154"/>
                </a:lnTo>
                <a:cubicBezTo>
                  <a:pt x="112782" y="73670"/>
                  <a:pt x="112313" y="78325"/>
                  <a:pt x="109333" y="81305"/>
                </a:cubicBezTo>
                <a:lnTo>
                  <a:pt x="102903" y="87734"/>
                </a:lnTo>
                <a:cubicBezTo>
                  <a:pt x="99923" y="90714"/>
                  <a:pt x="95269" y="91183"/>
                  <a:pt x="91753" y="88839"/>
                </a:cubicBezTo>
                <a:lnTo>
                  <a:pt x="80032" y="81037"/>
                </a:lnTo>
                <a:cubicBezTo>
                  <a:pt x="76851" y="82343"/>
                  <a:pt x="73469" y="83280"/>
                  <a:pt x="70020" y="83749"/>
                </a:cubicBezTo>
                <a:lnTo>
                  <a:pt x="63791" y="96340"/>
                </a:lnTo>
                <a:cubicBezTo>
                  <a:pt x="61916" y="100124"/>
                  <a:pt x="57630" y="102033"/>
                  <a:pt x="53578" y="100961"/>
                </a:cubicBezTo>
                <a:lnTo>
                  <a:pt x="44805" y="98617"/>
                </a:lnTo>
                <a:cubicBezTo>
                  <a:pt x="40719" y="97512"/>
                  <a:pt x="38007" y="93695"/>
                  <a:pt x="38275" y="89509"/>
                </a:cubicBezTo>
                <a:lnTo>
                  <a:pt x="39179" y="75478"/>
                </a:lnTo>
                <a:cubicBezTo>
                  <a:pt x="36400" y="73335"/>
                  <a:pt x="33955" y="70857"/>
                  <a:pt x="31845" y="68111"/>
                </a:cubicBezTo>
                <a:lnTo>
                  <a:pt x="17781" y="69015"/>
                </a:lnTo>
                <a:cubicBezTo>
                  <a:pt x="13595" y="69283"/>
                  <a:pt x="9778" y="66537"/>
                  <a:pt x="8673" y="62485"/>
                </a:cubicBezTo>
                <a:lnTo>
                  <a:pt x="6329" y="53712"/>
                </a:lnTo>
                <a:cubicBezTo>
                  <a:pt x="5257" y="49660"/>
                  <a:pt x="7166" y="45374"/>
                  <a:pt x="10950" y="43499"/>
                </a:cubicBezTo>
                <a:lnTo>
                  <a:pt x="23574" y="37270"/>
                </a:lnTo>
                <a:cubicBezTo>
                  <a:pt x="23809" y="35562"/>
                  <a:pt x="24144" y="33888"/>
                  <a:pt x="24579" y="32180"/>
                </a:cubicBezTo>
                <a:cubicBezTo>
                  <a:pt x="25048" y="30473"/>
                  <a:pt x="25584" y="28832"/>
                  <a:pt x="26253" y="27258"/>
                </a:cubicBezTo>
                <a:lnTo>
                  <a:pt x="18451" y="15571"/>
                </a:lnTo>
                <a:cubicBezTo>
                  <a:pt x="16107" y="12055"/>
                  <a:pt x="16576" y="7400"/>
                  <a:pt x="19556" y="4420"/>
                </a:cubicBezTo>
                <a:lnTo>
                  <a:pt x="25985" y="-2009"/>
                </a:lnTo>
                <a:cubicBezTo>
                  <a:pt x="28966" y="-4989"/>
                  <a:pt x="33620" y="-5458"/>
                  <a:pt x="37136" y="-3114"/>
                </a:cubicBezTo>
                <a:lnTo>
                  <a:pt x="48857" y="4688"/>
                </a:lnTo>
                <a:cubicBezTo>
                  <a:pt x="52038" y="3382"/>
                  <a:pt x="55420" y="2445"/>
                  <a:pt x="58869" y="1976"/>
                </a:cubicBezTo>
                <a:lnTo>
                  <a:pt x="65097" y="-10615"/>
                </a:lnTo>
                <a:cubicBezTo>
                  <a:pt x="66973" y="-14399"/>
                  <a:pt x="71225" y="-16308"/>
                  <a:pt x="75311" y="-15236"/>
                </a:cubicBezTo>
                <a:close/>
                <a:moveTo>
                  <a:pt x="64428" y="28129"/>
                </a:moveTo>
                <a:cubicBezTo>
                  <a:pt x="56296" y="28129"/>
                  <a:pt x="49694" y="34731"/>
                  <a:pt x="49694" y="42863"/>
                </a:cubicBezTo>
                <a:cubicBezTo>
                  <a:pt x="49694" y="50994"/>
                  <a:pt x="56296" y="57596"/>
                  <a:pt x="64428" y="57596"/>
                </a:cubicBezTo>
                <a:cubicBezTo>
                  <a:pt x="72560" y="57596"/>
                  <a:pt x="79162" y="50994"/>
                  <a:pt x="79162" y="42863"/>
                </a:cubicBezTo>
                <a:cubicBezTo>
                  <a:pt x="79162" y="34731"/>
                  <a:pt x="72560" y="28129"/>
                  <a:pt x="64428" y="28129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40" name="Text 38"/>
          <p:cNvSpPr/>
          <p:nvPr/>
        </p:nvSpPr>
        <p:spPr>
          <a:xfrm>
            <a:off x="6551295" y="5753100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 Processing Flow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32220" y="6134100"/>
            <a:ext cx="809625" cy="533400"/>
          </a:xfrm>
          <a:prstGeom prst="roundRect">
            <a:avLst>
              <a:gd name="adj" fmla="val 7143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413182" y="62103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Query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235904" y="633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2E8F0">
              <a:alpha val="4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459742" y="6134100"/>
            <a:ext cx="809625" cy="533400"/>
          </a:xfrm>
          <a:prstGeom prst="roundRect">
            <a:avLst>
              <a:gd name="adj" fmla="val 7143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540704" y="62103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NLTK Prep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363545" y="633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2E8F0">
              <a:alpha val="4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587383" y="6134100"/>
            <a:ext cx="809625" cy="533400"/>
          </a:xfrm>
          <a:prstGeom prst="roundRect">
            <a:avLst>
              <a:gd name="adj" fmla="val 7143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8668345" y="62103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Dual Search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491067" y="633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2E8F0">
              <a:alpha val="4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714905" y="6134100"/>
            <a:ext cx="809625" cy="533400"/>
          </a:xfrm>
          <a:prstGeom prst="roundRect">
            <a:avLst>
              <a:gd name="adj" fmla="val 7143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9795867" y="62103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RRF Fusion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0618709" y="63341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30902" y="72561"/>
                </a:moveTo>
                <a:cubicBezTo>
                  <a:pt x="134157" y="69306"/>
                  <a:pt x="134157" y="64018"/>
                  <a:pt x="130902" y="60763"/>
                </a:cubicBezTo>
                <a:lnTo>
                  <a:pt x="89230" y="19091"/>
                </a:lnTo>
                <a:cubicBezTo>
                  <a:pt x="85974" y="15835"/>
                  <a:pt x="80687" y="15835"/>
                  <a:pt x="77432" y="19091"/>
                </a:cubicBezTo>
                <a:cubicBezTo>
                  <a:pt x="74176" y="22347"/>
                  <a:pt x="74176" y="27634"/>
                  <a:pt x="77432" y="30889"/>
                </a:cubicBezTo>
                <a:lnTo>
                  <a:pt x="104883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104883" y="75009"/>
                </a:lnTo>
                <a:lnTo>
                  <a:pt x="77432" y="102461"/>
                </a:lnTo>
                <a:cubicBezTo>
                  <a:pt x="74176" y="105716"/>
                  <a:pt x="74176" y="111003"/>
                  <a:pt x="77432" y="114259"/>
                </a:cubicBezTo>
                <a:cubicBezTo>
                  <a:pt x="80687" y="117515"/>
                  <a:pt x="85974" y="117515"/>
                  <a:pt x="89230" y="114259"/>
                </a:cubicBezTo>
                <a:lnTo>
                  <a:pt x="130902" y="72587"/>
                </a:lnTo>
                <a:close/>
              </a:path>
            </a:pathLst>
          </a:custGeom>
          <a:solidFill>
            <a:srgbClr val="E2E8F0">
              <a:alpha val="4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0842546" y="6229350"/>
            <a:ext cx="809625" cy="342900"/>
          </a:xfrm>
          <a:prstGeom prst="roundRect">
            <a:avLst>
              <a:gd name="adj" fmla="val 11111"/>
            </a:avLst>
          </a:prstGeom>
          <a:solidFill>
            <a:srgbClr val="D4A26A">
              <a:alpha val="30196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10923509" y="6305550"/>
            <a:ext cx="647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Generative AI Explainability Integration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5" name="Shape 3"/>
          <p:cNvSpPr/>
          <p:nvPr/>
        </p:nvSpPr>
        <p:spPr>
          <a:xfrm>
            <a:off x="384810" y="1375410"/>
            <a:ext cx="6789420" cy="1550670"/>
          </a:xfrm>
          <a:prstGeom prst="roundRect">
            <a:avLst>
              <a:gd name="adj" fmla="val 4914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020" y="1531623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36270" y="162687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8" name="Text 6"/>
          <p:cNvSpPr/>
          <p:nvPr/>
        </p:nvSpPr>
        <p:spPr>
          <a:xfrm>
            <a:off x="1036320" y="1588773"/>
            <a:ext cx="116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1020" y="2026923"/>
            <a:ext cx="65532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 IR systems return a list of links —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users still have to read through them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No contextual explanation of why results match the query, leading to cognitive overload and reduced search efficiency.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" y="3089911"/>
            <a:ext cx="6777990" cy="3444240"/>
          </a:xfrm>
          <a:prstGeom prst="roundRect">
            <a:avLst>
              <a:gd name="adj" fmla="val 2212"/>
            </a:avLst>
          </a:prstGeom>
          <a:gradFill rotWithShape="1" flip="none">
            <a:gsLst>
              <a:gs pos="0">
                <a:srgbClr val="D4A26A">
                  <a:alpha val="20000"/>
                </a:srgbClr>
              </a:gs>
              <a:gs pos="100000">
                <a:srgbClr val="6B7A8F">
                  <a:alpha val="20000"/>
                </a:srgbClr>
              </a:gs>
            </a:gsLst>
            <a:lin ang="2700000" scaled="1"/>
          </a:gradFill>
          <a:ln w="20320">
            <a:solidFill>
              <a:srgbClr val="D4A2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249932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D4A26A"/>
          </a:solidFill>
          <a:ln/>
        </p:spPr>
      </p:sp>
      <p:sp>
        <p:nvSpPr>
          <p:cNvPr id="12" name="Shape 10"/>
          <p:cNvSpPr/>
          <p:nvPr/>
        </p:nvSpPr>
        <p:spPr>
          <a:xfrm>
            <a:off x="667702" y="3345182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043940" y="3307082"/>
            <a:ext cx="1133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Our Solution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78333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74370" y="3840482"/>
            <a:ext cx="123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7740" y="3745232"/>
            <a:ext cx="424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Intercept Top 5 Results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7740" y="4011932"/>
            <a:ext cx="4248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System captures the highest-ranked articles from hybrid search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39293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62226" y="4450082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7740" y="4354832"/>
            <a:ext cx="4305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Local LLM Processing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7740" y="4621532"/>
            <a:ext cx="4305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Passes through LM Studio (Mistral/Llama) for contextual analysis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500253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61630" y="5059682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7740" y="4964432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AI-Generated Summary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67740" y="5231132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Automatic summary placed at top explaining query-document matches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334250" y="1375410"/>
            <a:ext cx="4474845" cy="3436620"/>
          </a:xfrm>
          <a:prstGeom prst="roundRect">
            <a:avLst>
              <a:gd name="adj" fmla="val 2217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14273" y="157924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87265" y="0"/>
                  <a:pt x="88806" y="335"/>
                  <a:pt x="90212" y="971"/>
                </a:cubicBezTo>
                <a:lnTo>
                  <a:pt x="153300" y="27727"/>
                </a:lnTo>
                <a:cubicBezTo>
                  <a:pt x="160667" y="30841"/>
                  <a:pt x="166159" y="38107"/>
                  <a:pt x="166126" y="46881"/>
                </a:cubicBezTo>
                <a:cubicBezTo>
                  <a:pt x="165958" y="80099"/>
                  <a:pt x="152296" y="140877"/>
                  <a:pt x="94599" y="168503"/>
                </a:cubicBezTo>
                <a:cubicBezTo>
                  <a:pt x="89007" y="171182"/>
                  <a:pt x="82510" y="171182"/>
                  <a:pt x="76918" y="168503"/>
                </a:cubicBezTo>
                <a:cubicBezTo>
                  <a:pt x="19188" y="140877"/>
                  <a:pt x="5559" y="80099"/>
                  <a:pt x="5391" y="46881"/>
                </a:cubicBezTo>
                <a:cubicBezTo>
                  <a:pt x="5358" y="38107"/>
                  <a:pt x="10850" y="30841"/>
                  <a:pt x="18217" y="27727"/>
                </a:cubicBezTo>
                <a:lnTo>
                  <a:pt x="81271" y="971"/>
                </a:lnTo>
                <a:cubicBezTo>
                  <a:pt x="82678" y="335"/>
                  <a:pt x="84185" y="0"/>
                  <a:pt x="85725" y="0"/>
                </a:cubicBezTo>
                <a:close/>
                <a:moveTo>
                  <a:pt x="85725" y="22369"/>
                </a:moveTo>
                <a:lnTo>
                  <a:pt x="85725" y="148981"/>
                </a:lnTo>
                <a:cubicBezTo>
                  <a:pt x="131936" y="126612"/>
                  <a:pt x="144360" y="77052"/>
                  <a:pt x="144661" y="47383"/>
                </a:cubicBezTo>
                <a:lnTo>
                  <a:pt x="85725" y="22402"/>
                </a:lnTo>
                <a:lnTo>
                  <a:pt x="85725" y="22402"/>
                </a:ln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8" name="Text 26"/>
          <p:cNvSpPr/>
          <p:nvPr/>
        </p:nvSpPr>
        <p:spPr>
          <a:xfrm>
            <a:off x="7709535" y="1531623"/>
            <a:ext cx="4029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Technical Safeguards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490460" y="1912623"/>
            <a:ext cx="4162425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604760" y="2026923"/>
            <a:ext cx="400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Context Truncation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04760" y="2255523"/>
            <a:ext cx="4010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Strictly limited to top 5 content_excerpt fragments maximum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490460" y="2941323"/>
            <a:ext cx="4162425" cy="914400"/>
          </a:xfrm>
          <a:prstGeom prst="roundRect">
            <a:avLst>
              <a:gd name="adj" fmla="val 8333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604760" y="3055623"/>
            <a:ext cx="400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Timeout Boundaries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604760" y="3284223"/>
            <a:ext cx="4010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Rigorous thread timeouts prevent AI failure from blocking UI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490460" y="3970023"/>
            <a:ext cx="4162425" cy="685800"/>
          </a:xfrm>
          <a:prstGeom prst="roundRect">
            <a:avLst>
              <a:gd name="adj" fmla="val 11111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7604760" y="4084323"/>
            <a:ext cx="400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Graceful Degradation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604760" y="4312923"/>
            <a:ext cx="4010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 article population continues even if LLM fails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334250" y="4972051"/>
            <a:ext cx="4474845" cy="1569720"/>
          </a:xfrm>
          <a:prstGeom prst="roundRect">
            <a:avLst>
              <a:gd name="adj" fmla="val 4854"/>
            </a:avLst>
          </a:prstGeom>
          <a:solidFill>
            <a:srgbClr val="D4A26A">
              <a:alpha val="10196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56407" y="5128259"/>
            <a:ext cx="428625" cy="342900"/>
          </a:xfrm>
          <a:custGeom>
            <a:avLst/>
            <a:gdLst/>
            <a:ahLst/>
            <a:cxnLst/>
            <a:rect l="l" t="t" r="r" b="b"/>
            <a:pathLst>
              <a:path w="428625" h="342900">
                <a:moveTo>
                  <a:pt x="235744" y="0"/>
                </a:moveTo>
                <a:cubicBezTo>
                  <a:pt x="235744" y="-11854"/>
                  <a:pt x="226167" y="-21431"/>
                  <a:pt x="214313" y="-21431"/>
                </a:cubicBezTo>
                <a:cubicBezTo>
                  <a:pt x="202458" y="-21431"/>
                  <a:pt x="192881" y="-11854"/>
                  <a:pt x="192881" y="0"/>
                </a:cubicBezTo>
                <a:lnTo>
                  <a:pt x="192881" y="42863"/>
                </a:lnTo>
                <a:lnTo>
                  <a:pt x="128588" y="42863"/>
                </a:lnTo>
                <a:cubicBezTo>
                  <a:pt x="93092" y="42863"/>
                  <a:pt x="64294" y="71661"/>
                  <a:pt x="64294" y="107156"/>
                </a:cubicBezTo>
                <a:lnTo>
                  <a:pt x="64294" y="257175"/>
                </a:lnTo>
                <a:cubicBezTo>
                  <a:pt x="64294" y="292671"/>
                  <a:pt x="93092" y="321469"/>
                  <a:pt x="128588" y="321469"/>
                </a:cubicBezTo>
                <a:lnTo>
                  <a:pt x="300038" y="321469"/>
                </a:lnTo>
                <a:cubicBezTo>
                  <a:pt x="335533" y="321469"/>
                  <a:pt x="364331" y="292671"/>
                  <a:pt x="364331" y="257175"/>
                </a:cubicBezTo>
                <a:lnTo>
                  <a:pt x="364331" y="107156"/>
                </a:lnTo>
                <a:cubicBezTo>
                  <a:pt x="364331" y="71661"/>
                  <a:pt x="335533" y="42863"/>
                  <a:pt x="300038" y="42863"/>
                </a:cubicBezTo>
                <a:lnTo>
                  <a:pt x="235744" y="42863"/>
                </a:lnTo>
                <a:lnTo>
                  <a:pt x="235744" y="0"/>
                </a:lnTo>
                <a:close/>
                <a:moveTo>
                  <a:pt x="107156" y="246459"/>
                </a:moveTo>
                <a:cubicBezTo>
                  <a:pt x="107156" y="237552"/>
                  <a:pt x="114322" y="230386"/>
                  <a:pt x="123230" y="230386"/>
                </a:cubicBezTo>
                <a:lnTo>
                  <a:pt x="144661" y="230386"/>
                </a:lnTo>
                <a:cubicBezTo>
                  <a:pt x="153568" y="230386"/>
                  <a:pt x="160734" y="237552"/>
                  <a:pt x="160734" y="246459"/>
                </a:cubicBezTo>
                <a:cubicBezTo>
                  <a:pt x="160734" y="255367"/>
                  <a:pt x="153568" y="262533"/>
                  <a:pt x="144661" y="262533"/>
                </a:cubicBezTo>
                <a:lnTo>
                  <a:pt x="123230" y="262533"/>
                </a:lnTo>
                <a:cubicBezTo>
                  <a:pt x="114322" y="262533"/>
                  <a:pt x="107156" y="255367"/>
                  <a:pt x="107156" y="246459"/>
                </a:cubicBezTo>
                <a:close/>
                <a:moveTo>
                  <a:pt x="187523" y="246459"/>
                </a:moveTo>
                <a:cubicBezTo>
                  <a:pt x="187523" y="237552"/>
                  <a:pt x="194690" y="230386"/>
                  <a:pt x="203597" y="230386"/>
                </a:cubicBezTo>
                <a:lnTo>
                  <a:pt x="225028" y="230386"/>
                </a:lnTo>
                <a:cubicBezTo>
                  <a:pt x="233935" y="230386"/>
                  <a:pt x="241102" y="237552"/>
                  <a:pt x="241102" y="246459"/>
                </a:cubicBezTo>
                <a:cubicBezTo>
                  <a:pt x="241102" y="255367"/>
                  <a:pt x="233935" y="262533"/>
                  <a:pt x="225028" y="262533"/>
                </a:cubicBezTo>
                <a:lnTo>
                  <a:pt x="203597" y="262533"/>
                </a:lnTo>
                <a:cubicBezTo>
                  <a:pt x="194690" y="262533"/>
                  <a:pt x="187523" y="255367"/>
                  <a:pt x="187523" y="246459"/>
                </a:cubicBezTo>
                <a:close/>
                <a:moveTo>
                  <a:pt x="267891" y="246459"/>
                </a:moveTo>
                <a:cubicBezTo>
                  <a:pt x="267891" y="237552"/>
                  <a:pt x="275057" y="230386"/>
                  <a:pt x="283964" y="230386"/>
                </a:cubicBezTo>
                <a:lnTo>
                  <a:pt x="305395" y="230386"/>
                </a:lnTo>
                <a:cubicBezTo>
                  <a:pt x="314303" y="230386"/>
                  <a:pt x="321469" y="237552"/>
                  <a:pt x="321469" y="246459"/>
                </a:cubicBezTo>
                <a:cubicBezTo>
                  <a:pt x="321469" y="255367"/>
                  <a:pt x="314303" y="262533"/>
                  <a:pt x="305395" y="262533"/>
                </a:cubicBezTo>
                <a:lnTo>
                  <a:pt x="283964" y="262533"/>
                </a:lnTo>
                <a:cubicBezTo>
                  <a:pt x="275057" y="262533"/>
                  <a:pt x="267891" y="255367"/>
                  <a:pt x="267891" y="246459"/>
                </a:cubicBezTo>
                <a:close/>
                <a:moveTo>
                  <a:pt x="150019" y="117872"/>
                </a:moveTo>
                <a:cubicBezTo>
                  <a:pt x="167761" y="117872"/>
                  <a:pt x="182166" y="132276"/>
                  <a:pt x="182166" y="150019"/>
                </a:cubicBezTo>
                <a:cubicBezTo>
                  <a:pt x="182166" y="167761"/>
                  <a:pt x="167761" y="182166"/>
                  <a:pt x="150019" y="182166"/>
                </a:cubicBezTo>
                <a:cubicBezTo>
                  <a:pt x="132276" y="182166"/>
                  <a:pt x="117872" y="167761"/>
                  <a:pt x="117872" y="150019"/>
                </a:cubicBezTo>
                <a:cubicBezTo>
                  <a:pt x="117872" y="132276"/>
                  <a:pt x="132276" y="117872"/>
                  <a:pt x="150019" y="117872"/>
                </a:cubicBezTo>
                <a:close/>
                <a:moveTo>
                  <a:pt x="246459" y="150019"/>
                </a:moveTo>
                <a:cubicBezTo>
                  <a:pt x="246459" y="132276"/>
                  <a:pt x="260864" y="117872"/>
                  <a:pt x="278606" y="117872"/>
                </a:cubicBezTo>
                <a:cubicBezTo>
                  <a:pt x="296349" y="117872"/>
                  <a:pt x="310753" y="132276"/>
                  <a:pt x="310753" y="150019"/>
                </a:cubicBezTo>
                <a:cubicBezTo>
                  <a:pt x="310753" y="167761"/>
                  <a:pt x="296349" y="182166"/>
                  <a:pt x="278606" y="182166"/>
                </a:cubicBezTo>
                <a:cubicBezTo>
                  <a:pt x="260864" y="182166"/>
                  <a:pt x="246459" y="167761"/>
                  <a:pt x="246459" y="150019"/>
                </a:cubicBezTo>
                <a:close/>
                <a:moveTo>
                  <a:pt x="42863" y="150019"/>
                </a:moveTo>
                <a:cubicBezTo>
                  <a:pt x="42863" y="138165"/>
                  <a:pt x="33285" y="128588"/>
                  <a:pt x="21431" y="128588"/>
                </a:cubicBezTo>
                <a:cubicBezTo>
                  <a:pt x="9577" y="128588"/>
                  <a:pt x="0" y="138165"/>
                  <a:pt x="0" y="150019"/>
                </a:cubicBezTo>
                <a:lnTo>
                  <a:pt x="0" y="214313"/>
                </a:lnTo>
                <a:cubicBezTo>
                  <a:pt x="0" y="226167"/>
                  <a:pt x="9577" y="235744"/>
                  <a:pt x="21431" y="235744"/>
                </a:cubicBezTo>
                <a:cubicBezTo>
                  <a:pt x="33285" y="235744"/>
                  <a:pt x="42863" y="226167"/>
                  <a:pt x="42863" y="214313"/>
                </a:cubicBezTo>
                <a:lnTo>
                  <a:pt x="42863" y="150019"/>
                </a:lnTo>
                <a:close/>
                <a:moveTo>
                  <a:pt x="407194" y="128588"/>
                </a:moveTo>
                <a:cubicBezTo>
                  <a:pt x="395340" y="128588"/>
                  <a:pt x="385763" y="138165"/>
                  <a:pt x="385763" y="150019"/>
                </a:cubicBezTo>
                <a:lnTo>
                  <a:pt x="385763" y="214313"/>
                </a:lnTo>
                <a:cubicBezTo>
                  <a:pt x="385763" y="226167"/>
                  <a:pt x="395340" y="235744"/>
                  <a:pt x="407194" y="235744"/>
                </a:cubicBezTo>
                <a:cubicBezTo>
                  <a:pt x="419048" y="235744"/>
                  <a:pt x="428625" y="226167"/>
                  <a:pt x="428625" y="214313"/>
                </a:cubicBezTo>
                <a:lnTo>
                  <a:pt x="428625" y="150019"/>
                </a:lnTo>
                <a:cubicBezTo>
                  <a:pt x="428625" y="138165"/>
                  <a:pt x="419048" y="128588"/>
                  <a:pt x="407194" y="128588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40" name="Text 38"/>
          <p:cNvSpPr/>
          <p:nvPr/>
        </p:nvSpPr>
        <p:spPr>
          <a:xfrm>
            <a:off x="7447598" y="5585459"/>
            <a:ext cx="4248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Local LLM Bridge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452360" y="5928359"/>
            <a:ext cx="42386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cloud dependency — all processing happens on consumer hardware via LM Studio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9_High_tech_Blue_Data_Analytics_Interface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8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0050" y="1976438"/>
            <a:ext cx="1304925" cy="381000"/>
          </a:xfrm>
          <a:prstGeom prst="roundRect">
            <a:avLst>
              <a:gd name="adj" fmla="val 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00050" y="1976438"/>
            <a:ext cx="38100" cy="3810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2052637"/>
            <a:ext cx="105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03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2586038"/>
            <a:ext cx="1171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 &amp;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Resolutions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4243388"/>
            <a:ext cx="12192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9" name="Text 6"/>
          <p:cNvSpPr/>
          <p:nvPr/>
        </p:nvSpPr>
        <p:spPr>
          <a:xfrm>
            <a:off x="381000" y="451008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technical obstacles and engineering solutions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CHALLENGES &amp; RESOLUTIONS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 Critical Challenges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5" name="Shape 3"/>
          <p:cNvSpPr/>
          <p:nvPr/>
        </p:nvSpPr>
        <p:spPr>
          <a:xfrm>
            <a:off x="400050" y="1371600"/>
            <a:ext cx="11410950" cy="1628775"/>
          </a:xfrm>
          <a:custGeom>
            <a:avLst/>
            <a:gdLst/>
            <a:ahLst/>
            <a:cxnLst/>
            <a:rect l="l" t="t" r="r" b="b"/>
            <a:pathLst>
              <a:path w="11410950" h="1628775">
                <a:moveTo>
                  <a:pt x="0" y="0"/>
                </a:moveTo>
                <a:lnTo>
                  <a:pt x="11334750" y="0"/>
                </a:lnTo>
                <a:cubicBezTo>
                  <a:pt x="11376806" y="0"/>
                  <a:pt x="11410950" y="34144"/>
                  <a:pt x="11410950" y="76200"/>
                </a:cubicBezTo>
                <a:lnTo>
                  <a:pt x="11410950" y="1552575"/>
                </a:lnTo>
                <a:cubicBezTo>
                  <a:pt x="11410950" y="1594631"/>
                  <a:pt x="11376806" y="1628775"/>
                  <a:pt x="11334750" y="1628775"/>
                </a:cubicBez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14902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1371600"/>
            <a:ext cx="38100" cy="1628775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7" name="Shape 5"/>
          <p:cNvSpPr/>
          <p:nvPr/>
        </p:nvSpPr>
        <p:spPr>
          <a:xfrm>
            <a:off x="571500" y="1555672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81395" y="1631872"/>
            <a:ext cx="352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1100" y="1555672"/>
            <a:ext cx="10572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Severe RAM Saturation on FAISS Index Generation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00150" y="1927147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11" name="Text 9"/>
          <p:cNvSpPr/>
          <p:nvPr/>
        </p:nvSpPr>
        <p:spPr>
          <a:xfrm>
            <a:off x="1352550" y="1898572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1100" y="2127172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sentence-transformers embeddings over 120,000 articles instantly saturated System RAM, causing complete Flask server crashes during bulk ingestion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15100" y="1927147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1898572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Resolution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96050" y="2127172"/>
            <a:ext cx="5238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Decoupled index regeneration into offline background script (rebuild_index.py) that builds .faiss and .pkl binaries offline; main API loads into static read-only memory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00050" y="3111461"/>
            <a:ext cx="11410950" cy="1628775"/>
          </a:xfrm>
          <a:custGeom>
            <a:avLst/>
            <a:gdLst/>
            <a:ahLst/>
            <a:cxnLst/>
            <a:rect l="l" t="t" r="r" b="b"/>
            <a:pathLst>
              <a:path w="11410950" h="1628775">
                <a:moveTo>
                  <a:pt x="0" y="0"/>
                </a:moveTo>
                <a:lnTo>
                  <a:pt x="11334750" y="0"/>
                </a:lnTo>
                <a:cubicBezTo>
                  <a:pt x="11376806" y="0"/>
                  <a:pt x="11410950" y="34144"/>
                  <a:pt x="11410950" y="76200"/>
                </a:cubicBezTo>
                <a:lnTo>
                  <a:pt x="11410950" y="1552575"/>
                </a:lnTo>
                <a:cubicBezTo>
                  <a:pt x="11410950" y="1594631"/>
                  <a:pt x="11376806" y="1628775"/>
                  <a:pt x="11334750" y="1628775"/>
                </a:cubicBez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14902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00050" y="3111461"/>
            <a:ext cx="38100" cy="1628775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18" name="Shape 16"/>
          <p:cNvSpPr/>
          <p:nvPr/>
        </p:nvSpPr>
        <p:spPr>
          <a:xfrm>
            <a:off x="571500" y="340995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660678" y="3486150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1100" y="3409950"/>
            <a:ext cx="10572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Poor Ranking of Ambiguous Concepts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00150" y="37814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22" name="Text 20"/>
          <p:cNvSpPr/>
          <p:nvPr/>
        </p:nvSpPr>
        <p:spPr>
          <a:xfrm>
            <a:off x="1352550" y="3752850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81100" y="3981450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Query "technology AI" returned articles mentioning "technology" 100 times before nuanced AI infrastructure discussions — pure lexical matching failed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15100" y="37814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25" name="Text 23"/>
          <p:cNvSpPr/>
          <p:nvPr/>
        </p:nvSpPr>
        <p:spPr>
          <a:xfrm>
            <a:off x="6667500" y="3752850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Resolution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6050" y="3981450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Implemented true Hybrid Fusion — BM25 ensures target words exist, FAISS ensures context aligns. Mathematically forced 50/50 blend in standard model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00050" y="4851439"/>
            <a:ext cx="11410950" cy="1628775"/>
          </a:xfrm>
          <a:custGeom>
            <a:avLst/>
            <a:gdLst/>
            <a:ahLst/>
            <a:cxnLst/>
            <a:rect l="l" t="t" r="r" b="b"/>
            <a:pathLst>
              <a:path w="11410950" h="1628775">
                <a:moveTo>
                  <a:pt x="0" y="0"/>
                </a:moveTo>
                <a:lnTo>
                  <a:pt x="11334750" y="0"/>
                </a:lnTo>
                <a:cubicBezTo>
                  <a:pt x="11376806" y="0"/>
                  <a:pt x="11410950" y="34144"/>
                  <a:pt x="11410950" y="76200"/>
                </a:cubicBezTo>
                <a:lnTo>
                  <a:pt x="11410950" y="1552575"/>
                </a:lnTo>
                <a:cubicBezTo>
                  <a:pt x="11410950" y="1594631"/>
                  <a:pt x="11376806" y="1628775"/>
                  <a:pt x="11334750" y="1628775"/>
                </a:cubicBez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solidFill>
            <a:srgbClr val="4A5568">
              <a:alpha val="14902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00050" y="4851439"/>
            <a:ext cx="38100" cy="1628775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29" name="Shape 27"/>
          <p:cNvSpPr/>
          <p:nvPr/>
        </p:nvSpPr>
        <p:spPr>
          <a:xfrm>
            <a:off x="571500" y="5035511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59725" y="5111711"/>
            <a:ext cx="3905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81100" y="5035511"/>
            <a:ext cx="10572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Local LLM Timeout &amp; Context Window Truncation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200150" y="540698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43495" y="43495"/>
                </a:moveTo>
                <a:cubicBezTo>
                  <a:pt x="45943" y="41047"/>
                  <a:pt x="49902" y="41047"/>
                  <a:pt x="52324" y="43495"/>
                </a:cubicBezTo>
                <a:lnTo>
                  <a:pt x="66649" y="57820"/>
                </a:lnTo>
                <a:lnTo>
                  <a:pt x="80974" y="43495"/>
                </a:lnTo>
                <a:cubicBezTo>
                  <a:pt x="83422" y="41047"/>
                  <a:pt x="87381" y="41047"/>
                  <a:pt x="89803" y="43495"/>
                </a:cubicBezTo>
                <a:cubicBezTo>
                  <a:pt x="92225" y="45943"/>
                  <a:pt x="92251" y="49902"/>
                  <a:pt x="89803" y="52324"/>
                </a:cubicBezTo>
                <a:lnTo>
                  <a:pt x="75478" y="66649"/>
                </a:lnTo>
                <a:lnTo>
                  <a:pt x="89803" y="80974"/>
                </a:lnTo>
                <a:cubicBezTo>
                  <a:pt x="92251" y="83422"/>
                  <a:pt x="92251" y="87381"/>
                  <a:pt x="89803" y="89803"/>
                </a:cubicBezTo>
                <a:cubicBezTo>
                  <a:pt x="87355" y="92225"/>
                  <a:pt x="83396" y="92251"/>
                  <a:pt x="80974" y="89803"/>
                </a:cubicBezTo>
                <a:lnTo>
                  <a:pt x="66649" y="75478"/>
                </a:lnTo>
                <a:lnTo>
                  <a:pt x="52324" y="89803"/>
                </a:lnTo>
                <a:cubicBezTo>
                  <a:pt x="49876" y="92251"/>
                  <a:pt x="45917" y="92251"/>
                  <a:pt x="43495" y="89803"/>
                </a:cubicBezTo>
                <a:cubicBezTo>
                  <a:pt x="41073" y="87355"/>
                  <a:pt x="41047" y="83396"/>
                  <a:pt x="43495" y="80974"/>
                </a:cubicBezTo>
                <a:lnTo>
                  <a:pt x="57820" y="66649"/>
                </a:lnTo>
                <a:lnTo>
                  <a:pt x="43495" y="52324"/>
                </a:lnTo>
                <a:cubicBezTo>
                  <a:pt x="41047" y="49876"/>
                  <a:pt x="41047" y="45917"/>
                  <a:pt x="43495" y="43495"/>
                </a:cubicBezTo>
                <a:close/>
              </a:path>
            </a:pathLst>
          </a:custGeom>
          <a:solidFill>
            <a:srgbClr val="FF6467"/>
          </a:solidFill>
          <a:ln/>
        </p:spPr>
      </p:sp>
      <p:sp>
        <p:nvSpPr>
          <p:cNvPr id="33" name="Text 31"/>
          <p:cNvSpPr/>
          <p:nvPr/>
        </p:nvSpPr>
        <p:spPr>
          <a:xfrm>
            <a:off x="1352550" y="5378411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646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181100" y="5607011"/>
            <a:ext cx="5238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Summarizing 10 retrieved articles via local Mistral/Llama broke context token limits, halting server execution completely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15100" y="540698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5DF72"/>
          </a:solidFill>
          <a:ln/>
        </p:spPr>
      </p:sp>
      <p:sp>
        <p:nvSpPr>
          <p:cNvPr id="36" name="Text 34"/>
          <p:cNvSpPr/>
          <p:nvPr/>
        </p:nvSpPr>
        <p:spPr>
          <a:xfrm>
            <a:off x="6667500" y="5378411"/>
            <a:ext cx="5057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05DF7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Resolution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96050" y="5607011"/>
            <a:ext cx="52387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Truncated AI input to top 5 content_excerpt fragments maximum. Implemented rigorous thread timeout boundaries so LLM failure doesn't prevent standard article population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5_Abstract_Dark_Mode_Dashboard_Backgroun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1444" r="144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8000"/>
                </a:srgbClr>
              </a:gs>
              <a:gs pos="50000">
                <a:srgbClr val="1A1D21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400050" y="1976438"/>
            <a:ext cx="1304925" cy="381000"/>
          </a:xfrm>
          <a:prstGeom prst="roundRect">
            <a:avLst>
              <a:gd name="adj" fmla="val 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00050" y="1976438"/>
            <a:ext cx="38100" cy="3810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6" name="Text 3"/>
          <p:cNvSpPr/>
          <p:nvPr/>
        </p:nvSpPr>
        <p:spPr>
          <a:xfrm>
            <a:off x="571500" y="2052637"/>
            <a:ext cx="105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 04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2586038"/>
            <a:ext cx="11715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Evaluation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45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1000" y="4243388"/>
            <a:ext cx="12192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9" name="Text 6"/>
          <p:cNvSpPr/>
          <p:nvPr/>
        </p:nvSpPr>
        <p:spPr>
          <a:xfrm>
            <a:off x="381000" y="4510088"/>
            <a:ext cx="65151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Empirical metrics and performance validation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60" kern="0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EVALUATION &amp; RESULTS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Evaluation Metrics &amp; Findings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81100"/>
            <a:ext cx="914400" cy="38100"/>
          </a:xfrm>
          <a:prstGeom prst="roundRect">
            <a:avLst>
              <a:gd name="adj" fmla="val 0"/>
            </a:avLst>
          </a:prstGeom>
          <a:solidFill>
            <a:srgbClr val="6B7A8F"/>
          </a:solidFill>
          <a:ln/>
        </p:spPr>
      </p:sp>
      <p:sp>
        <p:nvSpPr>
          <p:cNvPr id="5" name="Shape 3"/>
          <p:cNvSpPr/>
          <p:nvPr/>
        </p:nvSpPr>
        <p:spPr>
          <a:xfrm>
            <a:off x="384810" y="1375410"/>
            <a:ext cx="5627370" cy="1379220"/>
          </a:xfrm>
          <a:prstGeom prst="roundRect">
            <a:avLst>
              <a:gd name="adj" fmla="val 5525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5548" y="1579243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96441" y="0"/>
                </a:moveTo>
                <a:lnTo>
                  <a:pt x="42863" y="0"/>
                </a:lnTo>
                <a:cubicBezTo>
                  <a:pt x="36935" y="0"/>
                  <a:pt x="32147" y="4789"/>
                  <a:pt x="32147" y="10716"/>
                </a:cubicBezTo>
                <a:cubicBezTo>
                  <a:pt x="32147" y="16643"/>
                  <a:pt x="36935" y="21431"/>
                  <a:pt x="42863" y="21431"/>
                </a:cubicBezTo>
                <a:lnTo>
                  <a:pt x="42863" y="72163"/>
                </a:lnTo>
                <a:lnTo>
                  <a:pt x="2511" y="142752"/>
                </a:lnTo>
                <a:cubicBezTo>
                  <a:pt x="871" y="145666"/>
                  <a:pt x="0" y="148914"/>
                  <a:pt x="0" y="152262"/>
                </a:cubicBezTo>
                <a:cubicBezTo>
                  <a:pt x="0" y="162878"/>
                  <a:pt x="8573" y="171450"/>
                  <a:pt x="19188" y="171450"/>
                </a:cubicBezTo>
                <a:lnTo>
                  <a:pt x="130831" y="171450"/>
                </a:lnTo>
                <a:cubicBezTo>
                  <a:pt x="141413" y="171450"/>
                  <a:pt x="150019" y="162878"/>
                  <a:pt x="150019" y="152262"/>
                </a:cubicBezTo>
                <a:cubicBezTo>
                  <a:pt x="150019" y="148914"/>
                  <a:pt x="149148" y="145632"/>
                  <a:pt x="147507" y="142752"/>
                </a:cubicBezTo>
                <a:lnTo>
                  <a:pt x="107156" y="72163"/>
                </a:lnTo>
                <a:lnTo>
                  <a:pt x="107156" y="21431"/>
                </a:lnTo>
                <a:cubicBezTo>
                  <a:pt x="113083" y="21431"/>
                  <a:pt x="117872" y="16643"/>
                  <a:pt x="117872" y="10716"/>
                </a:cubicBezTo>
                <a:cubicBezTo>
                  <a:pt x="117872" y="4789"/>
                  <a:pt x="113083" y="0"/>
                  <a:pt x="107156" y="0"/>
                </a:cubicBezTo>
                <a:lnTo>
                  <a:pt x="96441" y="0"/>
                </a:lnTo>
                <a:close/>
                <a:moveTo>
                  <a:pt x="64294" y="72163"/>
                </a:moveTo>
                <a:lnTo>
                  <a:pt x="64294" y="21431"/>
                </a:lnTo>
                <a:lnTo>
                  <a:pt x="85725" y="21431"/>
                </a:lnTo>
                <a:lnTo>
                  <a:pt x="85725" y="72163"/>
                </a:lnTo>
                <a:cubicBezTo>
                  <a:pt x="85725" y="75880"/>
                  <a:pt x="86696" y="79564"/>
                  <a:pt x="88538" y="82812"/>
                </a:cubicBezTo>
                <a:lnTo>
                  <a:pt x="102468" y="107156"/>
                </a:lnTo>
                <a:lnTo>
                  <a:pt x="47551" y="107156"/>
                </a:lnTo>
                <a:lnTo>
                  <a:pt x="61481" y="82812"/>
                </a:lnTo>
                <a:cubicBezTo>
                  <a:pt x="63323" y="79564"/>
                  <a:pt x="64294" y="75914"/>
                  <a:pt x="64294" y="72163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7" name="Text 5"/>
          <p:cNvSpPr/>
          <p:nvPr/>
        </p:nvSpPr>
        <p:spPr>
          <a:xfrm>
            <a:off x="760095" y="1531618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Synthetic Ground Truth Methodology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020" y="1912618"/>
            <a:ext cx="5391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Established mathematical ground truths by auto-generating targeted test files (generate_synthetic_data.py) to enable definitive mathematical validation of retrieval accuracy.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88620" y="2918466"/>
            <a:ext cx="5625465" cy="3815715"/>
          </a:xfrm>
          <a:prstGeom prst="roundRect">
            <a:avLst>
              <a:gd name="adj" fmla="val 1997"/>
            </a:avLst>
          </a:prstGeom>
          <a:gradFill rotWithShape="1" flip="none">
            <a:gsLst>
              <a:gs pos="0">
                <a:srgbClr val="D4A26A">
                  <a:alpha val="20000"/>
                </a:srgbClr>
              </a:gs>
              <a:gs pos="100000">
                <a:srgbClr val="6B7A8F">
                  <a:alpha val="20000"/>
                </a:srgbClr>
              </a:gs>
            </a:gsLst>
            <a:lin ang="2700000" scaled="1"/>
          </a:gradFill>
          <a:ln w="20320">
            <a:solidFill>
              <a:srgbClr val="D4A26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453" y="3126107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1" name="Text 9"/>
          <p:cNvSpPr/>
          <p:nvPr/>
        </p:nvSpPr>
        <p:spPr>
          <a:xfrm>
            <a:off x="767715" y="3078482"/>
            <a:ext cx="5172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Performance Results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59482"/>
            <a:ext cx="5305425" cy="1028700"/>
          </a:xfrm>
          <a:prstGeom prst="roundRect">
            <a:avLst>
              <a:gd name="adj" fmla="val 7407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" y="3592832"/>
            <a:ext cx="99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BM25 Lexical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15326" y="3573782"/>
            <a:ext cx="1219200" cy="266700"/>
          </a:xfrm>
          <a:prstGeom prst="roundRect">
            <a:avLst>
              <a:gd name="adj" fmla="val 14286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515326" y="3573782"/>
            <a:ext cx="1285875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Exceptional Recall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2940" y="3916682"/>
            <a:ext cx="5153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Strong exact-match retrieval but mild semantic precision struggles on nuanced queries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602482"/>
            <a:ext cx="5305425" cy="800100"/>
          </a:xfrm>
          <a:prstGeom prst="roundRect">
            <a:avLst>
              <a:gd name="adj" fmla="val 9524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" y="4735832"/>
            <a:ext cx="1152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FAISS Semantic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57130" y="4716782"/>
            <a:ext cx="1076325" cy="266700"/>
          </a:xfrm>
          <a:prstGeom prst="roundRect">
            <a:avLst>
              <a:gd name="adj" fmla="val 14286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657130" y="4716782"/>
            <a:ext cx="114300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0.80+ Precision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940" y="5059682"/>
            <a:ext cx="5153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Incredibly high contextual precision on nuanced concept queries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6260" y="5524502"/>
            <a:ext cx="5292090" cy="1043940"/>
          </a:xfrm>
          <a:prstGeom prst="roundRect">
            <a:avLst>
              <a:gd name="adj" fmla="val 7299"/>
            </a:avLst>
          </a:prstGeom>
          <a:solidFill>
            <a:srgbClr val="1A1D21">
              <a:alpha val="60000"/>
            </a:srgbClr>
          </a:solidFill>
          <a:ln w="20320">
            <a:solidFill>
              <a:srgbClr val="D4A2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8180" y="5665468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Fusion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930140" y="5646418"/>
            <a:ext cx="790575" cy="266700"/>
          </a:xfrm>
          <a:prstGeom prst="roundRect">
            <a:avLst>
              <a:gd name="adj" fmla="val 14286"/>
            </a:avLst>
          </a:prstGeom>
          <a:solidFill>
            <a:srgbClr val="D4A26A"/>
          </a:solidFill>
          <a:ln/>
        </p:spPr>
      </p:sp>
      <p:sp>
        <p:nvSpPr>
          <p:cNvPr id="25" name="Text 23"/>
          <p:cNvSpPr/>
          <p:nvPr/>
        </p:nvSpPr>
        <p:spPr>
          <a:xfrm>
            <a:off x="4930140" y="5646418"/>
            <a:ext cx="857250" cy="266700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1A1D21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BEST MAP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8180" y="5989318"/>
            <a:ext cx="5124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Dramatically stronger MAP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out-of-the-box text searches across unstructured digital journalism datasets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76010" y="1375410"/>
            <a:ext cx="5627370" cy="4170045"/>
          </a:xfrm>
          <a:prstGeom prst="roundRect">
            <a:avLst>
              <a:gd name="adj" fmla="val 1827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56032" y="15792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85725"/>
                </a:moveTo>
                <a:cubicBezTo>
                  <a:pt x="0" y="38412"/>
                  <a:pt x="38412" y="0"/>
                  <a:pt x="85725" y="0"/>
                </a:cubicBez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lose/>
                <a:moveTo>
                  <a:pt x="96441" y="32147"/>
                </a:moveTo>
                <a:cubicBezTo>
                  <a:pt x="96441" y="26233"/>
                  <a:pt x="91639" y="21431"/>
                  <a:pt x="85725" y="21431"/>
                </a:cubicBezTo>
                <a:cubicBezTo>
                  <a:pt x="79811" y="21431"/>
                  <a:pt x="75009" y="26233"/>
                  <a:pt x="75009" y="32147"/>
                </a:cubicBezTo>
                <a:cubicBezTo>
                  <a:pt x="75009" y="38061"/>
                  <a:pt x="79811" y="42863"/>
                  <a:pt x="85725" y="42863"/>
                </a:cubicBezTo>
                <a:cubicBezTo>
                  <a:pt x="91639" y="42863"/>
                  <a:pt x="96441" y="38061"/>
                  <a:pt x="96441" y="32147"/>
                </a:cubicBezTo>
                <a:close/>
                <a:moveTo>
                  <a:pt x="85725" y="139303"/>
                </a:moveTo>
                <a:cubicBezTo>
                  <a:pt x="97546" y="139303"/>
                  <a:pt x="107156" y="129693"/>
                  <a:pt x="107156" y="117872"/>
                </a:cubicBezTo>
                <a:cubicBezTo>
                  <a:pt x="107156" y="112447"/>
                  <a:pt x="105147" y="107458"/>
                  <a:pt x="101798" y="103707"/>
                </a:cubicBezTo>
                <a:lnTo>
                  <a:pt x="125071" y="57195"/>
                </a:lnTo>
                <a:cubicBezTo>
                  <a:pt x="127047" y="53210"/>
                  <a:pt x="125440" y="48388"/>
                  <a:pt x="121488" y="46412"/>
                </a:cubicBezTo>
                <a:cubicBezTo>
                  <a:pt x="117537" y="44436"/>
                  <a:pt x="112681" y="46044"/>
                  <a:pt x="110706" y="49995"/>
                </a:cubicBezTo>
                <a:lnTo>
                  <a:pt x="87433" y="96508"/>
                </a:lnTo>
                <a:cubicBezTo>
                  <a:pt x="86864" y="96474"/>
                  <a:pt x="86294" y="96441"/>
                  <a:pt x="85725" y="96441"/>
                </a:cubicBezTo>
                <a:cubicBezTo>
                  <a:pt x="73904" y="96441"/>
                  <a:pt x="64294" y="106051"/>
                  <a:pt x="64294" y="117872"/>
                </a:cubicBezTo>
                <a:cubicBezTo>
                  <a:pt x="64294" y="129693"/>
                  <a:pt x="73904" y="139303"/>
                  <a:pt x="85725" y="139303"/>
                </a:cubicBezTo>
                <a:close/>
                <a:moveTo>
                  <a:pt x="58936" y="48220"/>
                </a:moveTo>
                <a:cubicBezTo>
                  <a:pt x="58936" y="42306"/>
                  <a:pt x="54134" y="37505"/>
                  <a:pt x="48220" y="37505"/>
                </a:cubicBezTo>
                <a:cubicBezTo>
                  <a:pt x="42306" y="37505"/>
                  <a:pt x="37505" y="42306"/>
                  <a:pt x="37505" y="48220"/>
                </a:cubicBezTo>
                <a:cubicBezTo>
                  <a:pt x="37505" y="54134"/>
                  <a:pt x="42306" y="58936"/>
                  <a:pt x="48220" y="58936"/>
                </a:cubicBezTo>
                <a:cubicBezTo>
                  <a:pt x="54134" y="58936"/>
                  <a:pt x="58936" y="54134"/>
                  <a:pt x="58936" y="48220"/>
                </a:cubicBezTo>
                <a:close/>
                <a:moveTo>
                  <a:pt x="32147" y="96441"/>
                </a:moveTo>
                <a:cubicBezTo>
                  <a:pt x="38061" y="96441"/>
                  <a:pt x="42863" y="91639"/>
                  <a:pt x="42863" y="85725"/>
                </a:cubicBezTo>
                <a:cubicBezTo>
                  <a:pt x="42863" y="79811"/>
                  <a:pt x="38061" y="75009"/>
                  <a:pt x="32147" y="75009"/>
                </a:cubicBezTo>
                <a:cubicBezTo>
                  <a:pt x="26233" y="75009"/>
                  <a:pt x="21431" y="79811"/>
                  <a:pt x="21431" y="85725"/>
                </a:cubicBezTo>
                <a:cubicBezTo>
                  <a:pt x="21431" y="91639"/>
                  <a:pt x="26233" y="96441"/>
                  <a:pt x="32147" y="96441"/>
                </a:cubicBezTo>
                <a:close/>
                <a:moveTo>
                  <a:pt x="150019" y="85725"/>
                </a:moveTo>
                <a:cubicBezTo>
                  <a:pt x="150019" y="79811"/>
                  <a:pt x="145217" y="75009"/>
                  <a:pt x="139303" y="75009"/>
                </a:cubicBezTo>
                <a:cubicBezTo>
                  <a:pt x="133389" y="75009"/>
                  <a:pt x="128588" y="79811"/>
                  <a:pt x="128588" y="85725"/>
                </a:cubicBezTo>
                <a:cubicBezTo>
                  <a:pt x="128588" y="91639"/>
                  <a:pt x="133389" y="96441"/>
                  <a:pt x="139303" y="96441"/>
                </a:cubicBezTo>
                <a:cubicBezTo>
                  <a:pt x="145217" y="96441"/>
                  <a:pt x="150019" y="91639"/>
                  <a:pt x="150019" y="85725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9" name="Text 27"/>
          <p:cNvSpPr/>
          <p:nvPr/>
        </p:nvSpPr>
        <p:spPr>
          <a:xfrm>
            <a:off x="6551295" y="1531618"/>
            <a:ext cx="5181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UI Metrics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32220" y="1912618"/>
            <a:ext cx="5314950" cy="685800"/>
          </a:xfrm>
          <a:prstGeom prst="roundRect">
            <a:avLst>
              <a:gd name="adj" fmla="val 11111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446520" y="2026918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546532" y="2141218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33" name="Text 31"/>
          <p:cNvSpPr/>
          <p:nvPr/>
        </p:nvSpPr>
        <p:spPr>
          <a:xfrm>
            <a:off x="7018020" y="2026918"/>
            <a:ext cx="9239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Precision@20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8020" y="2217418"/>
            <a:ext cx="95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32220" y="2712718"/>
            <a:ext cx="5314950" cy="685800"/>
          </a:xfrm>
          <a:prstGeom prst="roundRect">
            <a:avLst>
              <a:gd name="adj" fmla="val 11111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46520" y="2827018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575107" y="294131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85725" y="57150"/>
                </a:moveTo>
                <a:cubicBezTo>
                  <a:pt x="85725" y="33494"/>
                  <a:pt x="66519" y="14288"/>
                  <a:pt x="42863" y="14288"/>
                </a:cubicBezTo>
                <a:cubicBezTo>
                  <a:pt x="19206" y="14288"/>
                  <a:pt x="0" y="33494"/>
                  <a:pt x="0" y="57150"/>
                </a:cubicBezTo>
                <a:cubicBezTo>
                  <a:pt x="0" y="80806"/>
                  <a:pt x="19206" y="100013"/>
                  <a:pt x="42862" y="100013"/>
                </a:cubicBezTo>
                <a:cubicBezTo>
                  <a:pt x="66519" y="100013"/>
                  <a:pt x="85725" y="80806"/>
                  <a:pt x="85725" y="57150"/>
                </a:cubicBezTo>
                <a:close/>
                <a:moveTo>
                  <a:pt x="200025" y="171450"/>
                </a:moveTo>
                <a:cubicBezTo>
                  <a:pt x="200025" y="147794"/>
                  <a:pt x="180819" y="128588"/>
                  <a:pt x="157163" y="128588"/>
                </a:cubicBezTo>
                <a:cubicBezTo>
                  <a:pt x="133506" y="128588"/>
                  <a:pt x="114300" y="147794"/>
                  <a:pt x="114300" y="171450"/>
                </a:cubicBezTo>
                <a:cubicBezTo>
                  <a:pt x="114300" y="195106"/>
                  <a:pt x="133506" y="214313"/>
                  <a:pt x="157163" y="214313"/>
                </a:cubicBezTo>
                <a:cubicBezTo>
                  <a:pt x="180819" y="214313"/>
                  <a:pt x="200025" y="195106"/>
                  <a:pt x="200025" y="171450"/>
                </a:cubicBezTo>
                <a:close/>
                <a:moveTo>
                  <a:pt x="195828" y="38666"/>
                </a:moveTo>
                <a:cubicBezTo>
                  <a:pt x="201409" y="33084"/>
                  <a:pt x="201409" y="24021"/>
                  <a:pt x="195828" y="18440"/>
                </a:cubicBezTo>
                <a:cubicBezTo>
                  <a:pt x="190247" y="12859"/>
                  <a:pt x="181183" y="12859"/>
                  <a:pt x="175602" y="18440"/>
                </a:cubicBezTo>
                <a:lnTo>
                  <a:pt x="4152" y="189890"/>
                </a:lnTo>
                <a:cubicBezTo>
                  <a:pt x="-1429" y="195471"/>
                  <a:pt x="-1429" y="204534"/>
                  <a:pt x="4152" y="210116"/>
                </a:cubicBezTo>
                <a:cubicBezTo>
                  <a:pt x="9733" y="215697"/>
                  <a:pt x="18797" y="215697"/>
                  <a:pt x="24378" y="210116"/>
                </a:cubicBezTo>
                <a:lnTo>
                  <a:pt x="195828" y="38666"/>
                </a:ln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8" name="Text 36"/>
          <p:cNvSpPr/>
          <p:nvPr/>
        </p:nvSpPr>
        <p:spPr>
          <a:xfrm>
            <a:off x="7018020" y="2827018"/>
            <a:ext cx="981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Recall Tracking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8020" y="3017518"/>
            <a:ext cx="100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Embedded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32220" y="3512818"/>
            <a:ext cx="5314950" cy="685800"/>
          </a:xfrm>
          <a:prstGeom prst="roundRect">
            <a:avLst>
              <a:gd name="adj" fmla="val 11111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46520" y="3627118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546532" y="3741418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38187" y="-8439"/>
                </a:moveTo>
                <a:cubicBezTo>
                  <a:pt x="136356" y="-12010"/>
                  <a:pt x="132651" y="-14287"/>
                  <a:pt x="128632" y="-14287"/>
                </a:cubicBezTo>
                <a:cubicBezTo>
                  <a:pt x="124614" y="-14287"/>
                  <a:pt x="120908" y="-12010"/>
                  <a:pt x="119077" y="-8439"/>
                </a:cubicBezTo>
                <a:lnTo>
                  <a:pt x="86216" y="55944"/>
                </a:lnTo>
                <a:lnTo>
                  <a:pt x="14823" y="67285"/>
                </a:lnTo>
                <a:cubicBezTo>
                  <a:pt x="10850" y="67910"/>
                  <a:pt x="7546" y="70723"/>
                  <a:pt x="6295" y="74563"/>
                </a:cubicBezTo>
                <a:cubicBezTo>
                  <a:pt x="5045" y="78403"/>
                  <a:pt x="6072" y="82600"/>
                  <a:pt x="8885" y="85457"/>
                </a:cubicBezTo>
                <a:lnTo>
                  <a:pt x="59963" y="136580"/>
                </a:lnTo>
                <a:lnTo>
                  <a:pt x="48711" y="207972"/>
                </a:lnTo>
                <a:cubicBezTo>
                  <a:pt x="48086" y="211946"/>
                  <a:pt x="49738" y="215964"/>
                  <a:pt x="52998" y="218331"/>
                </a:cubicBezTo>
                <a:cubicBezTo>
                  <a:pt x="56257" y="220697"/>
                  <a:pt x="60543" y="221054"/>
                  <a:pt x="64160" y="219224"/>
                </a:cubicBezTo>
                <a:lnTo>
                  <a:pt x="128632" y="186452"/>
                </a:lnTo>
                <a:lnTo>
                  <a:pt x="193060" y="219224"/>
                </a:lnTo>
                <a:cubicBezTo>
                  <a:pt x="196632" y="221054"/>
                  <a:pt x="200963" y="220697"/>
                  <a:pt x="204222" y="218331"/>
                </a:cubicBezTo>
                <a:cubicBezTo>
                  <a:pt x="207481" y="215964"/>
                  <a:pt x="209133" y="211991"/>
                  <a:pt x="208508" y="207972"/>
                </a:cubicBezTo>
                <a:lnTo>
                  <a:pt x="197212" y="136580"/>
                </a:lnTo>
                <a:lnTo>
                  <a:pt x="248290" y="85457"/>
                </a:lnTo>
                <a:cubicBezTo>
                  <a:pt x="251147" y="82600"/>
                  <a:pt x="252130" y="78403"/>
                  <a:pt x="250880" y="74563"/>
                </a:cubicBezTo>
                <a:cubicBezTo>
                  <a:pt x="249629" y="70723"/>
                  <a:pt x="246370" y="67910"/>
                  <a:pt x="242352" y="67285"/>
                </a:cubicBezTo>
                <a:lnTo>
                  <a:pt x="171004" y="55944"/>
                </a:lnTo>
                <a:lnTo>
                  <a:pt x="138187" y="-8439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43" name="Text 41"/>
          <p:cNvSpPr/>
          <p:nvPr/>
        </p:nvSpPr>
        <p:spPr>
          <a:xfrm>
            <a:off x="7018020" y="3627118"/>
            <a:ext cx="1190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Average Relevancy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8020" y="3817618"/>
            <a:ext cx="121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Live Calc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32220" y="4312918"/>
            <a:ext cx="5314950" cy="685800"/>
          </a:xfrm>
          <a:prstGeom prst="roundRect">
            <a:avLst>
              <a:gd name="adj" fmla="val 11111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46520" y="4427218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560820" y="454151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ubicBezTo>
                  <a:pt x="0" y="51216"/>
                  <a:pt x="51216" y="0"/>
                  <a:pt x="114300" y="0"/>
                </a:cubicBezTo>
                <a:close/>
                <a:moveTo>
                  <a:pt x="103584" y="53578"/>
                </a:moveTo>
                <a:lnTo>
                  <a:pt x="103584" y="114300"/>
                </a:lnTo>
                <a:cubicBezTo>
                  <a:pt x="103584" y="117872"/>
                  <a:pt x="105370" y="121221"/>
                  <a:pt x="108362" y="123230"/>
                </a:cubicBezTo>
                <a:lnTo>
                  <a:pt x="151224" y="151805"/>
                </a:lnTo>
                <a:cubicBezTo>
                  <a:pt x="156136" y="155109"/>
                  <a:pt x="162788" y="153769"/>
                  <a:pt x="166092" y="148813"/>
                </a:cubicBezTo>
                <a:cubicBezTo>
                  <a:pt x="169396" y="143857"/>
                  <a:pt x="168057" y="137249"/>
                  <a:pt x="163101" y="133945"/>
                </a:cubicBezTo>
                <a:lnTo>
                  <a:pt x="125016" y="108585"/>
                </a:lnTo>
                <a:lnTo>
                  <a:pt x="125016" y="53578"/>
                </a:lnTo>
                <a:cubicBezTo>
                  <a:pt x="125016" y="47640"/>
                  <a:pt x="120238" y="42863"/>
                  <a:pt x="114300" y="42863"/>
                </a:cubicBezTo>
                <a:cubicBezTo>
                  <a:pt x="108362" y="42863"/>
                  <a:pt x="103584" y="47640"/>
                  <a:pt x="103584" y="53578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48" name="Text 46"/>
          <p:cNvSpPr/>
          <p:nvPr/>
        </p:nvSpPr>
        <p:spPr>
          <a:xfrm>
            <a:off x="7018020" y="4427218"/>
            <a:ext cx="1266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E2E8F0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Search Latency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018020" y="4617718"/>
            <a:ext cx="1295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6B7A8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&lt; Milliseconds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76010" y="5703574"/>
            <a:ext cx="5627370" cy="1036320"/>
          </a:xfrm>
          <a:prstGeom prst="roundRect">
            <a:avLst>
              <a:gd name="adj" fmla="val 7353"/>
            </a:avLst>
          </a:prstGeom>
          <a:solidFill>
            <a:srgbClr val="D4A26A">
              <a:alpha val="10196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360795" y="607885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2" name="Text 50"/>
          <p:cNvSpPr/>
          <p:nvPr/>
        </p:nvSpPr>
        <p:spPr>
          <a:xfrm>
            <a:off x="6787634" y="5859782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Achievement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787634" y="6126482"/>
            <a:ext cx="4943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Unified hybrid approach outperforms standalone lexical or semantic methods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5872" y="345872"/>
            <a:ext cx="11569430" cy="207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b="1" spc="54" kern="0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 &amp; FUTURE SCOPE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45872" y="622570"/>
            <a:ext cx="11655898" cy="345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51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 &amp; Future Scope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5872" y="1072204"/>
            <a:ext cx="830094" cy="34587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5" name="Shape 3"/>
          <p:cNvSpPr/>
          <p:nvPr/>
        </p:nvSpPr>
        <p:spPr>
          <a:xfrm>
            <a:off x="352790" y="1252058"/>
            <a:ext cx="5668848" cy="3126686"/>
          </a:xfrm>
          <a:prstGeom prst="roundRect">
            <a:avLst>
              <a:gd name="adj" fmla="val 2212"/>
            </a:avLst>
          </a:prstGeom>
          <a:gradFill rotWithShape="1" flip="none">
            <a:gsLst>
              <a:gs pos="0">
                <a:srgbClr val="D4A26A">
                  <a:alpha val="20000"/>
                </a:srgbClr>
              </a:gs>
              <a:gs pos="100000">
                <a:srgbClr val="6B7A8F">
                  <a:alpha val="20000"/>
                </a:srgbClr>
              </a:gs>
            </a:gsLst>
            <a:lin ang="2700000" scaled="1"/>
          </a:gradFill>
          <a:ln w="20320">
            <a:solidFill>
              <a:srgbClr val="D4A2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32643" y="1431917"/>
            <a:ext cx="415047" cy="415047"/>
          </a:xfrm>
          <a:prstGeom prst="roundRect">
            <a:avLst>
              <a:gd name="adj" fmla="val 16667"/>
            </a:avLst>
          </a:prstGeom>
          <a:solidFill>
            <a:srgbClr val="D4A26A"/>
          </a:solidFill>
          <a:ln/>
        </p:spPr>
      </p:sp>
      <p:sp>
        <p:nvSpPr>
          <p:cNvPr id="7" name="Shape 5"/>
          <p:cNvSpPr/>
          <p:nvPr/>
        </p:nvSpPr>
        <p:spPr>
          <a:xfrm>
            <a:off x="636405" y="1535678"/>
            <a:ext cx="207523" cy="207523"/>
          </a:xfrm>
          <a:custGeom>
            <a:avLst/>
            <a:gdLst/>
            <a:ahLst/>
            <a:cxnLst/>
            <a:rect l="l" t="t" r="r" b="b"/>
            <a:pathLst>
              <a:path w="207523" h="207523">
                <a:moveTo>
                  <a:pt x="103762" y="207523"/>
                </a:moveTo>
                <a:cubicBezTo>
                  <a:pt x="161029" y="207523"/>
                  <a:pt x="207523" y="161029"/>
                  <a:pt x="207523" y="103762"/>
                </a:cubicBezTo>
                <a:cubicBezTo>
                  <a:pt x="207523" y="46494"/>
                  <a:pt x="161029" y="0"/>
                  <a:pt x="103762" y="0"/>
                </a:cubicBezTo>
                <a:cubicBezTo>
                  <a:pt x="46494" y="0"/>
                  <a:pt x="0" y="46494"/>
                  <a:pt x="0" y="103762"/>
                </a:cubicBezTo>
                <a:cubicBezTo>
                  <a:pt x="0" y="161029"/>
                  <a:pt x="46494" y="207523"/>
                  <a:pt x="103762" y="207523"/>
                </a:cubicBezTo>
                <a:close/>
                <a:moveTo>
                  <a:pt x="137971" y="86211"/>
                </a:moveTo>
                <a:lnTo>
                  <a:pt x="105545" y="138092"/>
                </a:lnTo>
                <a:cubicBezTo>
                  <a:pt x="103843" y="140808"/>
                  <a:pt x="100924" y="142510"/>
                  <a:pt x="97722" y="142672"/>
                </a:cubicBezTo>
                <a:cubicBezTo>
                  <a:pt x="94520" y="142834"/>
                  <a:pt x="91440" y="141375"/>
                  <a:pt x="89535" y="138781"/>
                </a:cubicBezTo>
                <a:lnTo>
                  <a:pt x="70080" y="112841"/>
                </a:lnTo>
                <a:cubicBezTo>
                  <a:pt x="66837" y="108544"/>
                  <a:pt x="67729" y="102465"/>
                  <a:pt x="72025" y="99222"/>
                </a:cubicBezTo>
                <a:cubicBezTo>
                  <a:pt x="76322" y="95980"/>
                  <a:pt x="82401" y="96871"/>
                  <a:pt x="85644" y="101168"/>
                </a:cubicBezTo>
                <a:lnTo>
                  <a:pt x="96588" y="115759"/>
                </a:lnTo>
                <a:lnTo>
                  <a:pt x="121474" y="75916"/>
                </a:lnTo>
                <a:cubicBezTo>
                  <a:pt x="124311" y="71377"/>
                  <a:pt x="130310" y="69958"/>
                  <a:pt x="134890" y="72836"/>
                </a:cubicBezTo>
                <a:cubicBezTo>
                  <a:pt x="139470" y="75714"/>
                  <a:pt x="140848" y="81672"/>
                  <a:pt x="137971" y="86252"/>
                </a:cubicBezTo>
                <a:close/>
              </a:path>
            </a:pathLst>
          </a:custGeom>
          <a:solidFill>
            <a:srgbClr val="1A1D21"/>
          </a:solidFill>
          <a:ln/>
        </p:spPr>
      </p:sp>
      <p:sp>
        <p:nvSpPr>
          <p:cNvPr id="8" name="Text 6"/>
          <p:cNvSpPr/>
          <p:nvPr/>
        </p:nvSpPr>
        <p:spPr>
          <a:xfrm>
            <a:off x="1051452" y="1501091"/>
            <a:ext cx="1815830" cy="276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4" b="1" dirty="0">
                <a:solidFill>
                  <a:srgbClr val="D4A26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Conclusion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9937" y="2019900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35809" y="75281"/>
                </a:moveTo>
                <a:cubicBezTo>
                  <a:pt x="139187" y="71904"/>
                  <a:pt x="139187" y="66418"/>
                  <a:pt x="135809" y="63041"/>
                </a:cubicBezTo>
                <a:lnTo>
                  <a:pt x="92575" y="19807"/>
                </a:lnTo>
                <a:cubicBezTo>
                  <a:pt x="89197" y="16429"/>
                  <a:pt x="83712" y="16429"/>
                  <a:pt x="80334" y="19807"/>
                </a:cubicBezTo>
                <a:cubicBezTo>
                  <a:pt x="76957" y="23184"/>
                  <a:pt x="76957" y="28670"/>
                  <a:pt x="80334" y="32047"/>
                </a:cubicBezTo>
                <a:lnTo>
                  <a:pt x="108815" y="60528"/>
                </a:lnTo>
                <a:lnTo>
                  <a:pt x="8647" y="60528"/>
                </a:lnTo>
                <a:cubicBezTo>
                  <a:pt x="3864" y="60528"/>
                  <a:pt x="0" y="64392"/>
                  <a:pt x="0" y="69174"/>
                </a:cubicBezTo>
                <a:cubicBezTo>
                  <a:pt x="0" y="73957"/>
                  <a:pt x="3864" y="77821"/>
                  <a:pt x="8647" y="77821"/>
                </a:cubicBezTo>
                <a:lnTo>
                  <a:pt x="108815" y="77821"/>
                </a:lnTo>
                <a:lnTo>
                  <a:pt x="80334" y="106302"/>
                </a:lnTo>
                <a:cubicBezTo>
                  <a:pt x="76957" y="109679"/>
                  <a:pt x="76957" y="115165"/>
                  <a:pt x="80334" y="118542"/>
                </a:cubicBezTo>
                <a:cubicBezTo>
                  <a:pt x="83712" y="121920"/>
                  <a:pt x="89197" y="121920"/>
                  <a:pt x="92575" y="118542"/>
                </a:cubicBezTo>
                <a:lnTo>
                  <a:pt x="135809" y="75308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0" name="Text 8"/>
          <p:cNvSpPr/>
          <p:nvPr/>
        </p:nvSpPr>
        <p:spPr>
          <a:xfrm>
            <a:off x="809341" y="1985312"/>
            <a:ext cx="5101617" cy="449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Successfully bridged modern enterprise Information Retrieval concepts with </a:t>
            </a:r>
            <a:pPr>
              <a:lnSpc>
                <a:spcPct val="14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localized, embedded, consumer hardware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9937" y="2607883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35809" y="75281"/>
                </a:moveTo>
                <a:cubicBezTo>
                  <a:pt x="139187" y="71904"/>
                  <a:pt x="139187" y="66418"/>
                  <a:pt x="135809" y="63041"/>
                </a:cubicBezTo>
                <a:lnTo>
                  <a:pt x="92575" y="19807"/>
                </a:lnTo>
                <a:cubicBezTo>
                  <a:pt x="89197" y="16429"/>
                  <a:pt x="83712" y="16429"/>
                  <a:pt x="80334" y="19807"/>
                </a:cubicBezTo>
                <a:cubicBezTo>
                  <a:pt x="76957" y="23184"/>
                  <a:pt x="76957" y="28670"/>
                  <a:pt x="80334" y="32047"/>
                </a:cubicBezTo>
                <a:lnTo>
                  <a:pt x="108815" y="60528"/>
                </a:lnTo>
                <a:lnTo>
                  <a:pt x="8647" y="60528"/>
                </a:lnTo>
                <a:cubicBezTo>
                  <a:pt x="3864" y="60528"/>
                  <a:pt x="0" y="64392"/>
                  <a:pt x="0" y="69174"/>
                </a:cubicBezTo>
                <a:cubicBezTo>
                  <a:pt x="0" y="73957"/>
                  <a:pt x="3864" y="77821"/>
                  <a:pt x="8647" y="77821"/>
                </a:cubicBezTo>
                <a:lnTo>
                  <a:pt x="108815" y="77821"/>
                </a:lnTo>
                <a:lnTo>
                  <a:pt x="80334" y="106302"/>
                </a:lnTo>
                <a:cubicBezTo>
                  <a:pt x="76957" y="109679"/>
                  <a:pt x="76957" y="115165"/>
                  <a:pt x="80334" y="118542"/>
                </a:cubicBezTo>
                <a:cubicBezTo>
                  <a:pt x="83712" y="121920"/>
                  <a:pt x="89197" y="121920"/>
                  <a:pt x="92575" y="118542"/>
                </a:cubicBezTo>
                <a:lnTo>
                  <a:pt x="135809" y="75308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2" name="Text 10"/>
          <p:cNvSpPr/>
          <p:nvPr/>
        </p:nvSpPr>
        <p:spPr>
          <a:xfrm>
            <a:off x="809341" y="2573295"/>
            <a:ext cx="5101617" cy="449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Moved beyond Google-style primitive scraping — system fully analyzes </a:t>
            </a:r>
            <a:pPr>
              <a:lnSpc>
                <a:spcPct val="14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semantic density internally</a:t>
            </a:r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cloud dependency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9937" y="3195865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35809" y="75281"/>
                </a:moveTo>
                <a:cubicBezTo>
                  <a:pt x="139187" y="71904"/>
                  <a:pt x="139187" y="66418"/>
                  <a:pt x="135809" y="63041"/>
                </a:cubicBezTo>
                <a:lnTo>
                  <a:pt x="92575" y="19807"/>
                </a:lnTo>
                <a:cubicBezTo>
                  <a:pt x="89197" y="16429"/>
                  <a:pt x="83712" y="16429"/>
                  <a:pt x="80334" y="19807"/>
                </a:cubicBezTo>
                <a:cubicBezTo>
                  <a:pt x="76957" y="23184"/>
                  <a:pt x="76957" y="28670"/>
                  <a:pt x="80334" y="32047"/>
                </a:cubicBezTo>
                <a:lnTo>
                  <a:pt x="108815" y="60528"/>
                </a:lnTo>
                <a:lnTo>
                  <a:pt x="8647" y="60528"/>
                </a:lnTo>
                <a:cubicBezTo>
                  <a:pt x="3864" y="60528"/>
                  <a:pt x="0" y="64392"/>
                  <a:pt x="0" y="69174"/>
                </a:cubicBezTo>
                <a:cubicBezTo>
                  <a:pt x="0" y="73957"/>
                  <a:pt x="3864" y="77821"/>
                  <a:pt x="8647" y="77821"/>
                </a:cubicBezTo>
                <a:lnTo>
                  <a:pt x="108815" y="77821"/>
                </a:lnTo>
                <a:lnTo>
                  <a:pt x="80334" y="106302"/>
                </a:lnTo>
                <a:cubicBezTo>
                  <a:pt x="76957" y="109679"/>
                  <a:pt x="76957" y="115165"/>
                  <a:pt x="80334" y="118542"/>
                </a:cubicBezTo>
                <a:cubicBezTo>
                  <a:pt x="83712" y="121920"/>
                  <a:pt x="89197" y="121920"/>
                  <a:pt x="92575" y="118542"/>
                </a:cubicBezTo>
                <a:lnTo>
                  <a:pt x="135809" y="75308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341" y="3161278"/>
            <a:ext cx="5101617" cy="449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Proved that </a:t>
            </a:r>
            <a:pPr>
              <a:lnSpc>
                <a:spcPct val="14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semantic hybrid searches yield better relevancy</a:t>
            </a:r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than strictly lexical queries across 120,000+ articles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9937" y="3783848"/>
            <a:ext cx="138349" cy="138349"/>
          </a:xfrm>
          <a:custGeom>
            <a:avLst/>
            <a:gdLst/>
            <a:ahLst/>
            <a:cxnLst/>
            <a:rect l="l" t="t" r="r" b="b"/>
            <a:pathLst>
              <a:path w="138349" h="138349">
                <a:moveTo>
                  <a:pt x="135809" y="75281"/>
                </a:moveTo>
                <a:cubicBezTo>
                  <a:pt x="139187" y="71904"/>
                  <a:pt x="139187" y="66418"/>
                  <a:pt x="135809" y="63041"/>
                </a:cubicBezTo>
                <a:lnTo>
                  <a:pt x="92575" y="19807"/>
                </a:lnTo>
                <a:cubicBezTo>
                  <a:pt x="89197" y="16429"/>
                  <a:pt x="83712" y="16429"/>
                  <a:pt x="80334" y="19807"/>
                </a:cubicBezTo>
                <a:cubicBezTo>
                  <a:pt x="76957" y="23184"/>
                  <a:pt x="76957" y="28670"/>
                  <a:pt x="80334" y="32047"/>
                </a:cubicBezTo>
                <a:lnTo>
                  <a:pt x="108815" y="60528"/>
                </a:lnTo>
                <a:lnTo>
                  <a:pt x="8647" y="60528"/>
                </a:lnTo>
                <a:cubicBezTo>
                  <a:pt x="3864" y="60528"/>
                  <a:pt x="0" y="64392"/>
                  <a:pt x="0" y="69174"/>
                </a:cubicBezTo>
                <a:cubicBezTo>
                  <a:pt x="0" y="73957"/>
                  <a:pt x="3864" y="77821"/>
                  <a:pt x="8647" y="77821"/>
                </a:cubicBezTo>
                <a:lnTo>
                  <a:pt x="108815" y="77821"/>
                </a:lnTo>
                <a:lnTo>
                  <a:pt x="80334" y="106302"/>
                </a:lnTo>
                <a:cubicBezTo>
                  <a:pt x="76957" y="109679"/>
                  <a:pt x="76957" y="115165"/>
                  <a:pt x="80334" y="118542"/>
                </a:cubicBezTo>
                <a:cubicBezTo>
                  <a:pt x="83712" y="121920"/>
                  <a:pt x="89197" y="121920"/>
                  <a:pt x="92575" y="118542"/>
                </a:cubicBezTo>
                <a:lnTo>
                  <a:pt x="135809" y="75308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6" name="Text 14"/>
          <p:cNvSpPr/>
          <p:nvPr/>
        </p:nvSpPr>
        <p:spPr>
          <a:xfrm>
            <a:off x="809341" y="3749261"/>
            <a:ext cx="5101617" cy="449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89" dirty="0">
                <a:solidFill>
                  <a:srgbClr val="E2E8F0">
                    <a:alpha val="9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Achieved real-time metrics tracking (Precision@20, Recall, Latency) with </a:t>
            </a:r>
            <a:pPr>
              <a:lnSpc>
                <a:spcPct val="14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millisecond response times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9331" y="4527471"/>
            <a:ext cx="5670577" cy="2324262"/>
          </a:xfrm>
          <a:prstGeom prst="roundRect">
            <a:avLst>
              <a:gd name="adj" fmla="val 2976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6B7A8F">
                <a:alpha val="30196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2483" y="4712511"/>
            <a:ext cx="136187" cy="155643"/>
          </a:xfrm>
          <a:custGeom>
            <a:avLst/>
            <a:gdLst/>
            <a:ahLst/>
            <a:cxnLst/>
            <a:rect l="l" t="t" r="r" b="b"/>
            <a:pathLst>
              <a:path w="136187" h="155643">
                <a:moveTo>
                  <a:pt x="74751" y="-7873"/>
                </a:moveTo>
                <a:cubicBezTo>
                  <a:pt x="70678" y="-10366"/>
                  <a:pt x="65540" y="-10366"/>
                  <a:pt x="61467" y="-7873"/>
                </a:cubicBezTo>
                <a:cubicBezTo>
                  <a:pt x="54049" y="-3344"/>
                  <a:pt x="49459" y="-2128"/>
                  <a:pt x="40765" y="-2310"/>
                </a:cubicBezTo>
                <a:cubicBezTo>
                  <a:pt x="35992" y="-2432"/>
                  <a:pt x="31554" y="152"/>
                  <a:pt x="29244" y="4347"/>
                </a:cubicBezTo>
                <a:cubicBezTo>
                  <a:pt x="25079" y="11977"/>
                  <a:pt x="21705" y="15351"/>
                  <a:pt x="14075" y="19516"/>
                </a:cubicBezTo>
                <a:cubicBezTo>
                  <a:pt x="9880" y="21796"/>
                  <a:pt x="7326" y="26265"/>
                  <a:pt x="7417" y="31037"/>
                </a:cubicBezTo>
                <a:cubicBezTo>
                  <a:pt x="7630" y="39731"/>
                  <a:pt x="6384" y="44322"/>
                  <a:pt x="1854" y="51739"/>
                </a:cubicBezTo>
                <a:cubicBezTo>
                  <a:pt x="-638" y="55812"/>
                  <a:pt x="-638" y="60950"/>
                  <a:pt x="1854" y="65023"/>
                </a:cubicBezTo>
                <a:cubicBezTo>
                  <a:pt x="6384" y="72441"/>
                  <a:pt x="7600" y="77031"/>
                  <a:pt x="7417" y="85725"/>
                </a:cubicBezTo>
                <a:cubicBezTo>
                  <a:pt x="7296" y="90498"/>
                  <a:pt x="9880" y="94936"/>
                  <a:pt x="14075" y="97246"/>
                </a:cubicBezTo>
                <a:cubicBezTo>
                  <a:pt x="20793" y="100924"/>
                  <a:pt x="24198" y="103964"/>
                  <a:pt x="27785" y="109862"/>
                </a:cubicBezTo>
                <a:lnTo>
                  <a:pt x="12980" y="139379"/>
                </a:lnTo>
                <a:cubicBezTo>
                  <a:pt x="11187" y="142997"/>
                  <a:pt x="12646" y="147374"/>
                  <a:pt x="16233" y="149168"/>
                </a:cubicBezTo>
                <a:lnTo>
                  <a:pt x="42376" y="162239"/>
                </a:lnTo>
                <a:cubicBezTo>
                  <a:pt x="45872" y="163972"/>
                  <a:pt x="50128" y="162665"/>
                  <a:pt x="52013" y="159260"/>
                </a:cubicBezTo>
                <a:lnTo>
                  <a:pt x="68063" y="130351"/>
                </a:lnTo>
                <a:lnTo>
                  <a:pt x="84114" y="159260"/>
                </a:lnTo>
                <a:cubicBezTo>
                  <a:pt x="85999" y="162665"/>
                  <a:pt x="90254" y="164002"/>
                  <a:pt x="93750" y="162239"/>
                </a:cubicBezTo>
                <a:lnTo>
                  <a:pt x="119893" y="149168"/>
                </a:lnTo>
                <a:cubicBezTo>
                  <a:pt x="123511" y="147374"/>
                  <a:pt x="124970" y="142997"/>
                  <a:pt x="123146" y="139379"/>
                </a:cubicBezTo>
                <a:lnTo>
                  <a:pt x="108372" y="109831"/>
                </a:lnTo>
                <a:cubicBezTo>
                  <a:pt x="111929" y="103934"/>
                  <a:pt x="115364" y="100894"/>
                  <a:pt x="122082" y="97216"/>
                </a:cubicBezTo>
                <a:cubicBezTo>
                  <a:pt x="126277" y="94936"/>
                  <a:pt x="128831" y="90467"/>
                  <a:pt x="128739" y="85695"/>
                </a:cubicBezTo>
                <a:cubicBezTo>
                  <a:pt x="128527" y="77001"/>
                  <a:pt x="129773" y="72410"/>
                  <a:pt x="134302" y="64993"/>
                </a:cubicBezTo>
                <a:cubicBezTo>
                  <a:pt x="136795" y="60919"/>
                  <a:pt x="136795" y="55782"/>
                  <a:pt x="134302" y="51709"/>
                </a:cubicBezTo>
                <a:cubicBezTo>
                  <a:pt x="129773" y="44291"/>
                  <a:pt x="128557" y="39701"/>
                  <a:pt x="128739" y="31007"/>
                </a:cubicBezTo>
                <a:cubicBezTo>
                  <a:pt x="128861" y="26234"/>
                  <a:pt x="126277" y="21796"/>
                  <a:pt x="122082" y="19486"/>
                </a:cubicBezTo>
                <a:cubicBezTo>
                  <a:pt x="114452" y="15321"/>
                  <a:pt x="111078" y="11947"/>
                  <a:pt x="106913" y="4317"/>
                </a:cubicBezTo>
                <a:cubicBezTo>
                  <a:pt x="104633" y="122"/>
                  <a:pt x="100164" y="-2432"/>
                  <a:pt x="95392" y="-2341"/>
                </a:cubicBezTo>
                <a:cubicBezTo>
                  <a:pt x="86698" y="-2128"/>
                  <a:pt x="82108" y="-3374"/>
                  <a:pt x="74690" y="-7904"/>
                </a:cubicBezTo>
                <a:close/>
                <a:moveTo>
                  <a:pt x="68094" y="29183"/>
                </a:moveTo>
                <a:cubicBezTo>
                  <a:pt x="84200" y="29183"/>
                  <a:pt x="97277" y="42259"/>
                  <a:pt x="97277" y="58366"/>
                </a:cubicBezTo>
                <a:cubicBezTo>
                  <a:pt x="97277" y="74472"/>
                  <a:pt x="84200" y="87549"/>
                  <a:pt x="68094" y="87549"/>
                </a:cubicBezTo>
                <a:cubicBezTo>
                  <a:pt x="51987" y="87549"/>
                  <a:pt x="38911" y="74472"/>
                  <a:pt x="38911" y="58366"/>
                </a:cubicBezTo>
                <a:cubicBezTo>
                  <a:pt x="38911" y="42259"/>
                  <a:pt x="51987" y="29183"/>
                  <a:pt x="68094" y="29183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19" name="Text 17"/>
          <p:cNvSpPr/>
          <p:nvPr/>
        </p:nvSpPr>
        <p:spPr>
          <a:xfrm>
            <a:off x="690015" y="4669277"/>
            <a:ext cx="5265906" cy="242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26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Achievements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91139" y="5015149"/>
            <a:ext cx="2645923" cy="795506"/>
          </a:xfrm>
          <a:prstGeom prst="roundRect">
            <a:avLst>
              <a:gd name="adj" fmla="val 8696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721688" y="5118911"/>
            <a:ext cx="181583" cy="207523"/>
          </a:xfrm>
          <a:custGeom>
            <a:avLst/>
            <a:gdLst/>
            <a:ahLst/>
            <a:cxnLst/>
            <a:rect l="l" t="t" r="r" b="b"/>
            <a:pathLst>
              <a:path w="181583" h="207523">
                <a:moveTo>
                  <a:pt x="25940" y="12970"/>
                </a:moveTo>
                <a:cubicBezTo>
                  <a:pt x="11633" y="12970"/>
                  <a:pt x="0" y="24603"/>
                  <a:pt x="0" y="38911"/>
                </a:cubicBezTo>
                <a:lnTo>
                  <a:pt x="0" y="64851"/>
                </a:lnTo>
                <a:cubicBezTo>
                  <a:pt x="0" y="79159"/>
                  <a:pt x="11633" y="90791"/>
                  <a:pt x="25940" y="90791"/>
                </a:cubicBezTo>
                <a:lnTo>
                  <a:pt x="155643" y="90791"/>
                </a:lnTo>
                <a:cubicBezTo>
                  <a:pt x="169950" y="90791"/>
                  <a:pt x="181583" y="79159"/>
                  <a:pt x="181583" y="64851"/>
                </a:cubicBezTo>
                <a:lnTo>
                  <a:pt x="181583" y="38911"/>
                </a:lnTo>
                <a:cubicBezTo>
                  <a:pt x="181583" y="24603"/>
                  <a:pt x="169950" y="12970"/>
                  <a:pt x="155643" y="12970"/>
                </a:cubicBezTo>
                <a:lnTo>
                  <a:pt x="25940" y="12970"/>
                </a:lnTo>
                <a:close/>
                <a:moveTo>
                  <a:pt x="113489" y="42153"/>
                </a:moveTo>
                <a:cubicBezTo>
                  <a:pt x="118858" y="42153"/>
                  <a:pt x="123217" y="46512"/>
                  <a:pt x="123217" y="51881"/>
                </a:cubicBezTo>
                <a:cubicBezTo>
                  <a:pt x="123217" y="57250"/>
                  <a:pt x="118858" y="61609"/>
                  <a:pt x="113489" y="61609"/>
                </a:cubicBezTo>
                <a:cubicBezTo>
                  <a:pt x="108121" y="61609"/>
                  <a:pt x="103762" y="57250"/>
                  <a:pt x="103762" y="51881"/>
                </a:cubicBezTo>
                <a:cubicBezTo>
                  <a:pt x="103762" y="46512"/>
                  <a:pt x="108121" y="42153"/>
                  <a:pt x="113489" y="42153"/>
                </a:cubicBezTo>
                <a:close/>
                <a:moveTo>
                  <a:pt x="136187" y="51881"/>
                </a:moveTo>
                <a:cubicBezTo>
                  <a:pt x="136187" y="46512"/>
                  <a:pt x="140546" y="42153"/>
                  <a:pt x="145915" y="42153"/>
                </a:cubicBezTo>
                <a:cubicBezTo>
                  <a:pt x="151284" y="42153"/>
                  <a:pt x="155643" y="46512"/>
                  <a:pt x="155643" y="51881"/>
                </a:cubicBezTo>
                <a:cubicBezTo>
                  <a:pt x="155643" y="57250"/>
                  <a:pt x="151284" y="61609"/>
                  <a:pt x="145915" y="61609"/>
                </a:cubicBezTo>
                <a:cubicBezTo>
                  <a:pt x="140546" y="61609"/>
                  <a:pt x="136187" y="57250"/>
                  <a:pt x="136187" y="51881"/>
                </a:cubicBezTo>
                <a:close/>
                <a:moveTo>
                  <a:pt x="25940" y="116732"/>
                </a:moveTo>
                <a:cubicBezTo>
                  <a:pt x="11633" y="116732"/>
                  <a:pt x="0" y="128365"/>
                  <a:pt x="0" y="142672"/>
                </a:cubicBezTo>
                <a:lnTo>
                  <a:pt x="0" y="168613"/>
                </a:lnTo>
                <a:cubicBezTo>
                  <a:pt x="0" y="182921"/>
                  <a:pt x="11633" y="194553"/>
                  <a:pt x="25940" y="194553"/>
                </a:cubicBezTo>
                <a:lnTo>
                  <a:pt x="155643" y="194553"/>
                </a:lnTo>
                <a:cubicBezTo>
                  <a:pt x="169950" y="194553"/>
                  <a:pt x="181583" y="182921"/>
                  <a:pt x="181583" y="168613"/>
                </a:cubicBezTo>
                <a:lnTo>
                  <a:pt x="181583" y="142672"/>
                </a:lnTo>
                <a:cubicBezTo>
                  <a:pt x="181583" y="128365"/>
                  <a:pt x="169950" y="116732"/>
                  <a:pt x="155643" y="116732"/>
                </a:cubicBezTo>
                <a:lnTo>
                  <a:pt x="25940" y="116732"/>
                </a:lnTo>
                <a:close/>
                <a:moveTo>
                  <a:pt x="113489" y="145915"/>
                </a:moveTo>
                <a:cubicBezTo>
                  <a:pt x="118858" y="145915"/>
                  <a:pt x="123217" y="150274"/>
                  <a:pt x="123217" y="155643"/>
                </a:cubicBezTo>
                <a:cubicBezTo>
                  <a:pt x="123217" y="161011"/>
                  <a:pt x="118858" y="165370"/>
                  <a:pt x="113489" y="165370"/>
                </a:cubicBezTo>
                <a:cubicBezTo>
                  <a:pt x="108121" y="165370"/>
                  <a:pt x="103762" y="161011"/>
                  <a:pt x="103762" y="155643"/>
                </a:cubicBezTo>
                <a:cubicBezTo>
                  <a:pt x="103762" y="150274"/>
                  <a:pt x="108121" y="145915"/>
                  <a:pt x="113489" y="145915"/>
                </a:cubicBezTo>
                <a:close/>
                <a:moveTo>
                  <a:pt x="136187" y="155643"/>
                </a:moveTo>
                <a:cubicBezTo>
                  <a:pt x="136187" y="150274"/>
                  <a:pt x="140546" y="145915"/>
                  <a:pt x="145915" y="145915"/>
                </a:cubicBezTo>
                <a:cubicBezTo>
                  <a:pt x="151284" y="145915"/>
                  <a:pt x="155643" y="150274"/>
                  <a:pt x="155643" y="155643"/>
                </a:cubicBezTo>
                <a:cubicBezTo>
                  <a:pt x="155643" y="161011"/>
                  <a:pt x="151284" y="165370"/>
                  <a:pt x="145915" y="165370"/>
                </a:cubicBezTo>
                <a:cubicBezTo>
                  <a:pt x="140546" y="165370"/>
                  <a:pt x="136187" y="161011"/>
                  <a:pt x="136187" y="155643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22" name="Text 20"/>
          <p:cNvSpPr/>
          <p:nvPr/>
        </p:nvSpPr>
        <p:spPr>
          <a:xfrm>
            <a:off x="564637" y="5395609"/>
            <a:ext cx="2498928" cy="172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3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Standalone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68960" y="5568545"/>
            <a:ext cx="2490281" cy="138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817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cloud required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237689" y="5015149"/>
            <a:ext cx="2645923" cy="795506"/>
          </a:xfrm>
          <a:prstGeom prst="roundRect">
            <a:avLst>
              <a:gd name="adj" fmla="val 8696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468346" y="5118911"/>
            <a:ext cx="181583" cy="207523"/>
          </a:xfrm>
          <a:custGeom>
            <a:avLst/>
            <a:gdLst/>
            <a:ahLst/>
            <a:cxnLst/>
            <a:rect l="l" t="t" r="r" b="b"/>
            <a:pathLst>
              <a:path w="181583" h="207523">
                <a:moveTo>
                  <a:pt x="137322" y="-4013"/>
                </a:moveTo>
                <a:cubicBezTo>
                  <a:pt x="142145" y="-527"/>
                  <a:pt x="143929" y="5796"/>
                  <a:pt x="141740" y="11308"/>
                </a:cubicBezTo>
                <a:lnTo>
                  <a:pt x="109963" y="90791"/>
                </a:lnTo>
                <a:lnTo>
                  <a:pt x="168613" y="90791"/>
                </a:lnTo>
                <a:cubicBezTo>
                  <a:pt x="174085" y="90791"/>
                  <a:pt x="178948" y="94196"/>
                  <a:pt x="180813" y="99344"/>
                </a:cubicBezTo>
                <a:cubicBezTo>
                  <a:pt x="182677" y="104491"/>
                  <a:pt x="181097" y="110247"/>
                  <a:pt x="176922" y="113733"/>
                </a:cubicBezTo>
                <a:lnTo>
                  <a:pt x="60190" y="211009"/>
                </a:lnTo>
                <a:cubicBezTo>
                  <a:pt x="55610" y="214819"/>
                  <a:pt x="49084" y="215022"/>
                  <a:pt x="44261" y="211536"/>
                </a:cubicBezTo>
                <a:cubicBezTo>
                  <a:pt x="39438" y="208050"/>
                  <a:pt x="37654" y="201727"/>
                  <a:pt x="39843" y="196215"/>
                </a:cubicBezTo>
                <a:lnTo>
                  <a:pt x="71620" y="116732"/>
                </a:lnTo>
                <a:lnTo>
                  <a:pt x="12970" y="116732"/>
                </a:lnTo>
                <a:cubicBezTo>
                  <a:pt x="7498" y="116732"/>
                  <a:pt x="2635" y="113327"/>
                  <a:pt x="770" y="108180"/>
                </a:cubicBezTo>
                <a:cubicBezTo>
                  <a:pt x="-1094" y="103032"/>
                  <a:pt x="486" y="97277"/>
                  <a:pt x="4661" y="93791"/>
                </a:cubicBezTo>
                <a:lnTo>
                  <a:pt x="121393" y="-3486"/>
                </a:lnTo>
                <a:cubicBezTo>
                  <a:pt x="125973" y="-7296"/>
                  <a:pt x="132499" y="-7498"/>
                  <a:pt x="137322" y="-4013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26" name="Text 24"/>
          <p:cNvSpPr/>
          <p:nvPr/>
        </p:nvSpPr>
        <p:spPr>
          <a:xfrm>
            <a:off x="3311187" y="5395609"/>
            <a:ext cx="2498928" cy="172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3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Search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315511" y="5568545"/>
            <a:ext cx="2490281" cy="138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817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BM25 + FAISS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91139" y="5914307"/>
            <a:ext cx="2645923" cy="795506"/>
          </a:xfrm>
          <a:prstGeom prst="roundRect">
            <a:avLst>
              <a:gd name="adj" fmla="val 8696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682777" y="6018069"/>
            <a:ext cx="259404" cy="207523"/>
          </a:xfrm>
          <a:custGeom>
            <a:avLst/>
            <a:gdLst/>
            <a:ahLst/>
            <a:cxnLst/>
            <a:rect l="l" t="t" r="r" b="b"/>
            <a:pathLst>
              <a:path w="259404" h="207523">
                <a:moveTo>
                  <a:pt x="142672" y="0"/>
                </a:moveTo>
                <a:cubicBezTo>
                  <a:pt x="142672" y="-7174"/>
                  <a:pt x="136876" y="-12970"/>
                  <a:pt x="129702" y="-12970"/>
                </a:cubicBezTo>
                <a:cubicBezTo>
                  <a:pt x="122528" y="-12970"/>
                  <a:pt x="116732" y="-7174"/>
                  <a:pt x="116732" y="0"/>
                </a:cubicBezTo>
                <a:lnTo>
                  <a:pt x="116732" y="25940"/>
                </a:lnTo>
                <a:lnTo>
                  <a:pt x="77821" y="25940"/>
                </a:lnTo>
                <a:cubicBezTo>
                  <a:pt x="56339" y="25940"/>
                  <a:pt x="38911" y="43369"/>
                  <a:pt x="38911" y="64851"/>
                </a:cubicBezTo>
                <a:lnTo>
                  <a:pt x="38911" y="155643"/>
                </a:lnTo>
                <a:cubicBezTo>
                  <a:pt x="38911" y="177124"/>
                  <a:pt x="56339" y="194553"/>
                  <a:pt x="77821" y="194553"/>
                </a:cubicBezTo>
                <a:lnTo>
                  <a:pt x="181583" y="194553"/>
                </a:lnTo>
                <a:cubicBezTo>
                  <a:pt x="203065" y="194553"/>
                  <a:pt x="220494" y="177124"/>
                  <a:pt x="220494" y="155643"/>
                </a:cubicBezTo>
                <a:lnTo>
                  <a:pt x="220494" y="64851"/>
                </a:lnTo>
                <a:cubicBezTo>
                  <a:pt x="220494" y="43369"/>
                  <a:pt x="203065" y="25940"/>
                  <a:pt x="181583" y="25940"/>
                </a:cubicBezTo>
                <a:lnTo>
                  <a:pt x="142672" y="25940"/>
                </a:lnTo>
                <a:lnTo>
                  <a:pt x="142672" y="0"/>
                </a:lnTo>
                <a:close/>
                <a:moveTo>
                  <a:pt x="64851" y="149157"/>
                </a:moveTo>
                <a:cubicBezTo>
                  <a:pt x="64851" y="143767"/>
                  <a:pt x="69188" y="139430"/>
                  <a:pt x="74579" y="139430"/>
                </a:cubicBezTo>
                <a:lnTo>
                  <a:pt x="87549" y="139430"/>
                </a:lnTo>
                <a:cubicBezTo>
                  <a:pt x="92940" y="139430"/>
                  <a:pt x="97277" y="143767"/>
                  <a:pt x="97277" y="149157"/>
                </a:cubicBezTo>
                <a:cubicBezTo>
                  <a:pt x="97277" y="154548"/>
                  <a:pt x="92940" y="158885"/>
                  <a:pt x="87549" y="158885"/>
                </a:cubicBezTo>
                <a:lnTo>
                  <a:pt x="74579" y="158885"/>
                </a:lnTo>
                <a:cubicBezTo>
                  <a:pt x="69188" y="158885"/>
                  <a:pt x="64851" y="154548"/>
                  <a:pt x="64851" y="149157"/>
                </a:cubicBezTo>
                <a:close/>
                <a:moveTo>
                  <a:pt x="113489" y="149157"/>
                </a:moveTo>
                <a:cubicBezTo>
                  <a:pt x="113489" y="143767"/>
                  <a:pt x="117826" y="139430"/>
                  <a:pt x="123217" y="139430"/>
                </a:cubicBezTo>
                <a:lnTo>
                  <a:pt x="136187" y="139430"/>
                </a:lnTo>
                <a:cubicBezTo>
                  <a:pt x="141578" y="139430"/>
                  <a:pt x="145915" y="143767"/>
                  <a:pt x="145915" y="149157"/>
                </a:cubicBezTo>
                <a:cubicBezTo>
                  <a:pt x="145915" y="154548"/>
                  <a:pt x="141578" y="158885"/>
                  <a:pt x="136187" y="158885"/>
                </a:cubicBezTo>
                <a:lnTo>
                  <a:pt x="123217" y="158885"/>
                </a:lnTo>
                <a:cubicBezTo>
                  <a:pt x="117826" y="158885"/>
                  <a:pt x="113489" y="154548"/>
                  <a:pt x="113489" y="149157"/>
                </a:cubicBezTo>
                <a:close/>
                <a:moveTo>
                  <a:pt x="162128" y="149157"/>
                </a:moveTo>
                <a:cubicBezTo>
                  <a:pt x="162128" y="143767"/>
                  <a:pt x="166465" y="139430"/>
                  <a:pt x="171855" y="139430"/>
                </a:cubicBezTo>
                <a:lnTo>
                  <a:pt x="184826" y="139430"/>
                </a:lnTo>
                <a:cubicBezTo>
                  <a:pt x="190216" y="139430"/>
                  <a:pt x="194553" y="143767"/>
                  <a:pt x="194553" y="149157"/>
                </a:cubicBezTo>
                <a:cubicBezTo>
                  <a:pt x="194553" y="154548"/>
                  <a:pt x="190216" y="158885"/>
                  <a:pt x="184826" y="158885"/>
                </a:cubicBezTo>
                <a:lnTo>
                  <a:pt x="171855" y="158885"/>
                </a:lnTo>
                <a:cubicBezTo>
                  <a:pt x="166465" y="158885"/>
                  <a:pt x="162128" y="154548"/>
                  <a:pt x="162128" y="149157"/>
                </a:cubicBezTo>
                <a:close/>
                <a:moveTo>
                  <a:pt x="90791" y="71336"/>
                </a:moveTo>
                <a:cubicBezTo>
                  <a:pt x="101529" y="71336"/>
                  <a:pt x="110247" y="80054"/>
                  <a:pt x="110247" y="90791"/>
                </a:cubicBezTo>
                <a:cubicBezTo>
                  <a:pt x="110247" y="101529"/>
                  <a:pt x="101529" y="110247"/>
                  <a:pt x="90791" y="110247"/>
                </a:cubicBezTo>
                <a:cubicBezTo>
                  <a:pt x="80054" y="110247"/>
                  <a:pt x="71336" y="101529"/>
                  <a:pt x="71336" y="90791"/>
                </a:cubicBezTo>
                <a:cubicBezTo>
                  <a:pt x="71336" y="80054"/>
                  <a:pt x="80054" y="71336"/>
                  <a:pt x="90791" y="71336"/>
                </a:cubicBezTo>
                <a:close/>
                <a:moveTo>
                  <a:pt x="149157" y="90791"/>
                </a:moveTo>
                <a:cubicBezTo>
                  <a:pt x="149157" y="80054"/>
                  <a:pt x="157875" y="71336"/>
                  <a:pt x="168613" y="71336"/>
                </a:cubicBezTo>
                <a:cubicBezTo>
                  <a:pt x="179350" y="71336"/>
                  <a:pt x="188068" y="80054"/>
                  <a:pt x="188068" y="90791"/>
                </a:cubicBezTo>
                <a:cubicBezTo>
                  <a:pt x="188068" y="101529"/>
                  <a:pt x="179350" y="110247"/>
                  <a:pt x="168613" y="110247"/>
                </a:cubicBezTo>
                <a:cubicBezTo>
                  <a:pt x="157875" y="110247"/>
                  <a:pt x="149157" y="101529"/>
                  <a:pt x="149157" y="90791"/>
                </a:cubicBezTo>
                <a:close/>
                <a:moveTo>
                  <a:pt x="25940" y="90791"/>
                </a:moveTo>
                <a:cubicBezTo>
                  <a:pt x="25940" y="83617"/>
                  <a:pt x="20144" y="77821"/>
                  <a:pt x="12970" y="77821"/>
                </a:cubicBezTo>
                <a:cubicBezTo>
                  <a:pt x="5796" y="77821"/>
                  <a:pt x="0" y="83617"/>
                  <a:pt x="0" y="90791"/>
                </a:cubicBezTo>
                <a:lnTo>
                  <a:pt x="0" y="129702"/>
                </a:lnTo>
                <a:cubicBezTo>
                  <a:pt x="0" y="136876"/>
                  <a:pt x="5796" y="142672"/>
                  <a:pt x="12970" y="142672"/>
                </a:cubicBezTo>
                <a:cubicBezTo>
                  <a:pt x="20144" y="142672"/>
                  <a:pt x="25940" y="136876"/>
                  <a:pt x="25940" y="129702"/>
                </a:cubicBezTo>
                <a:lnTo>
                  <a:pt x="25940" y="90791"/>
                </a:lnTo>
                <a:close/>
                <a:moveTo>
                  <a:pt x="246434" y="77821"/>
                </a:moveTo>
                <a:cubicBezTo>
                  <a:pt x="239260" y="77821"/>
                  <a:pt x="233464" y="83617"/>
                  <a:pt x="233464" y="90791"/>
                </a:cubicBezTo>
                <a:lnTo>
                  <a:pt x="233464" y="129702"/>
                </a:lnTo>
                <a:cubicBezTo>
                  <a:pt x="233464" y="136876"/>
                  <a:pt x="239260" y="142672"/>
                  <a:pt x="246434" y="142672"/>
                </a:cubicBezTo>
                <a:cubicBezTo>
                  <a:pt x="253608" y="142672"/>
                  <a:pt x="259404" y="136876"/>
                  <a:pt x="259404" y="129702"/>
                </a:cubicBezTo>
                <a:lnTo>
                  <a:pt x="259404" y="90791"/>
                </a:lnTo>
                <a:cubicBezTo>
                  <a:pt x="259404" y="83617"/>
                  <a:pt x="253608" y="77821"/>
                  <a:pt x="246434" y="77821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30" name="Text 28"/>
          <p:cNvSpPr/>
          <p:nvPr/>
        </p:nvSpPr>
        <p:spPr>
          <a:xfrm>
            <a:off x="564637" y="6294767"/>
            <a:ext cx="2498928" cy="172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3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 Summary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8960" y="6467703"/>
            <a:ext cx="2490281" cy="138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817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LLM bridge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37689" y="5914307"/>
            <a:ext cx="2645923" cy="795506"/>
          </a:xfrm>
          <a:prstGeom prst="roundRect">
            <a:avLst>
              <a:gd name="adj" fmla="val 8696"/>
            </a:avLst>
          </a:prstGeom>
          <a:solidFill>
            <a:srgbClr val="1A1D21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455376" y="6018069"/>
            <a:ext cx="207523" cy="207523"/>
          </a:xfrm>
          <a:custGeom>
            <a:avLst/>
            <a:gdLst/>
            <a:ahLst/>
            <a:cxnLst/>
            <a:rect l="l" t="t" r="r" b="b"/>
            <a:pathLst>
              <a:path w="207523" h="207523">
                <a:moveTo>
                  <a:pt x="12970" y="12970"/>
                </a:moveTo>
                <a:cubicBezTo>
                  <a:pt x="20144" y="12970"/>
                  <a:pt x="25940" y="18766"/>
                  <a:pt x="25940" y="25940"/>
                </a:cubicBezTo>
                <a:lnTo>
                  <a:pt x="25940" y="162128"/>
                </a:lnTo>
                <a:cubicBezTo>
                  <a:pt x="25940" y="165694"/>
                  <a:pt x="28859" y="168613"/>
                  <a:pt x="32426" y="168613"/>
                </a:cubicBezTo>
                <a:lnTo>
                  <a:pt x="194553" y="168613"/>
                </a:lnTo>
                <a:cubicBezTo>
                  <a:pt x="201727" y="168613"/>
                  <a:pt x="207523" y="174409"/>
                  <a:pt x="207523" y="181583"/>
                </a:cubicBezTo>
                <a:cubicBezTo>
                  <a:pt x="207523" y="188757"/>
                  <a:pt x="201727" y="194553"/>
                  <a:pt x="194553" y="194553"/>
                </a:cubicBezTo>
                <a:lnTo>
                  <a:pt x="32426" y="194553"/>
                </a:lnTo>
                <a:cubicBezTo>
                  <a:pt x="14510" y="194553"/>
                  <a:pt x="0" y="180043"/>
                  <a:pt x="0" y="162128"/>
                </a:cubicBezTo>
                <a:lnTo>
                  <a:pt x="0" y="25940"/>
                </a:lnTo>
                <a:cubicBezTo>
                  <a:pt x="0" y="18766"/>
                  <a:pt x="5796" y="12970"/>
                  <a:pt x="12970" y="12970"/>
                </a:cubicBezTo>
                <a:close/>
                <a:moveTo>
                  <a:pt x="51881" y="38911"/>
                </a:moveTo>
                <a:cubicBezTo>
                  <a:pt x="51881" y="31736"/>
                  <a:pt x="57677" y="25940"/>
                  <a:pt x="64851" y="25940"/>
                </a:cubicBezTo>
                <a:lnTo>
                  <a:pt x="142672" y="25940"/>
                </a:lnTo>
                <a:cubicBezTo>
                  <a:pt x="149846" y="25940"/>
                  <a:pt x="155643" y="31736"/>
                  <a:pt x="155643" y="38911"/>
                </a:cubicBezTo>
                <a:cubicBezTo>
                  <a:pt x="155643" y="46085"/>
                  <a:pt x="149846" y="51881"/>
                  <a:pt x="142672" y="51881"/>
                </a:cubicBezTo>
                <a:lnTo>
                  <a:pt x="64851" y="51881"/>
                </a:lnTo>
                <a:cubicBezTo>
                  <a:pt x="57677" y="51881"/>
                  <a:pt x="51881" y="46085"/>
                  <a:pt x="51881" y="38911"/>
                </a:cubicBezTo>
                <a:close/>
                <a:moveTo>
                  <a:pt x="64851" y="71336"/>
                </a:moveTo>
                <a:lnTo>
                  <a:pt x="116732" y="71336"/>
                </a:lnTo>
                <a:cubicBezTo>
                  <a:pt x="123906" y="71336"/>
                  <a:pt x="129702" y="77132"/>
                  <a:pt x="129702" y="84306"/>
                </a:cubicBezTo>
                <a:cubicBezTo>
                  <a:pt x="129702" y="91481"/>
                  <a:pt x="123906" y="97277"/>
                  <a:pt x="116732" y="97277"/>
                </a:cubicBezTo>
                <a:lnTo>
                  <a:pt x="64851" y="97277"/>
                </a:lnTo>
                <a:cubicBezTo>
                  <a:pt x="57677" y="97277"/>
                  <a:pt x="51881" y="91481"/>
                  <a:pt x="51881" y="84306"/>
                </a:cubicBezTo>
                <a:cubicBezTo>
                  <a:pt x="51881" y="77132"/>
                  <a:pt x="57677" y="71336"/>
                  <a:pt x="64851" y="71336"/>
                </a:cubicBezTo>
                <a:close/>
                <a:moveTo>
                  <a:pt x="64851" y="116732"/>
                </a:moveTo>
                <a:lnTo>
                  <a:pt x="168613" y="116732"/>
                </a:lnTo>
                <a:cubicBezTo>
                  <a:pt x="175787" y="116732"/>
                  <a:pt x="181583" y="122528"/>
                  <a:pt x="181583" y="129702"/>
                </a:cubicBezTo>
                <a:cubicBezTo>
                  <a:pt x="181583" y="136876"/>
                  <a:pt x="175787" y="142672"/>
                  <a:pt x="168613" y="142672"/>
                </a:cubicBezTo>
                <a:lnTo>
                  <a:pt x="64851" y="142672"/>
                </a:lnTo>
                <a:cubicBezTo>
                  <a:pt x="57677" y="142672"/>
                  <a:pt x="51881" y="136876"/>
                  <a:pt x="51881" y="129702"/>
                </a:cubicBezTo>
                <a:cubicBezTo>
                  <a:pt x="51881" y="122528"/>
                  <a:pt x="57677" y="116732"/>
                  <a:pt x="64851" y="116732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34" name="Text 32"/>
          <p:cNvSpPr/>
          <p:nvPr/>
        </p:nvSpPr>
        <p:spPr>
          <a:xfrm>
            <a:off x="3311187" y="6294767"/>
            <a:ext cx="2498928" cy="172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3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Metrics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315511" y="6467703"/>
            <a:ext cx="2490281" cy="138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817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Live evaluation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67661" y="1248599"/>
            <a:ext cx="5670577" cy="5601403"/>
          </a:xfrm>
          <a:prstGeom prst="roundRect">
            <a:avLst>
              <a:gd name="adj" fmla="val 1235"/>
            </a:avLst>
          </a:prstGeom>
          <a:solidFill>
            <a:srgbClr val="4A5568">
              <a:alpha val="14902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4055" y="1424992"/>
            <a:ext cx="415047" cy="415047"/>
          </a:xfrm>
          <a:prstGeom prst="roundRect">
            <a:avLst>
              <a:gd name="adj" fmla="val 16667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47817" y="1528754"/>
            <a:ext cx="207523" cy="207523"/>
          </a:xfrm>
          <a:custGeom>
            <a:avLst/>
            <a:gdLst/>
            <a:ahLst/>
            <a:cxnLst/>
            <a:rect l="l" t="t" r="r" b="b"/>
            <a:pathLst>
              <a:path w="207523" h="207523">
                <a:moveTo>
                  <a:pt x="51881" y="129702"/>
                </a:moveTo>
                <a:lnTo>
                  <a:pt x="9930" y="129702"/>
                </a:lnTo>
                <a:cubicBezTo>
                  <a:pt x="-162" y="129702"/>
                  <a:pt x="-6364" y="118718"/>
                  <a:pt x="-1175" y="110044"/>
                </a:cubicBezTo>
                <a:lnTo>
                  <a:pt x="20266" y="74295"/>
                </a:lnTo>
                <a:cubicBezTo>
                  <a:pt x="23792" y="68418"/>
                  <a:pt x="30115" y="64851"/>
                  <a:pt x="36965" y="64851"/>
                </a:cubicBezTo>
                <a:lnTo>
                  <a:pt x="75470" y="64851"/>
                </a:lnTo>
                <a:cubicBezTo>
                  <a:pt x="106315" y="12605"/>
                  <a:pt x="152319" y="9971"/>
                  <a:pt x="183083" y="14470"/>
                </a:cubicBezTo>
                <a:cubicBezTo>
                  <a:pt x="188271" y="15240"/>
                  <a:pt x="192324" y="19293"/>
                  <a:pt x="193054" y="24441"/>
                </a:cubicBezTo>
                <a:cubicBezTo>
                  <a:pt x="197553" y="55204"/>
                  <a:pt x="194918" y="101208"/>
                  <a:pt x="142672" y="132053"/>
                </a:cubicBezTo>
                <a:lnTo>
                  <a:pt x="142672" y="170558"/>
                </a:lnTo>
                <a:cubicBezTo>
                  <a:pt x="142672" y="177408"/>
                  <a:pt x="139106" y="183731"/>
                  <a:pt x="133228" y="187257"/>
                </a:cubicBezTo>
                <a:lnTo>
                  <a:pt x="97479" y="208699"/>
                </a:lnTo>
                <a:cubicBezTo>
                  <a:pt x="88846" y="213887"/>
                  <a:pt x="77821" y="207645"/>
                  <a:pt x="77821" y="197593"/>
                </a:cubicBezTo>
                <a:lnTo>
                  <a:pt x="77821" y="155643"/>
                </a:lnTo>
                <a:cubicBezTo>
                  <a:pt x="77821" y="141335"/>
                  <a:pt x="66189" y="129702"/>
                  <a:pt x="51881" y="129702"/>
                </a:cubicBezTo>
                <a:lnTo>
                  <a:pt x="51840" y="129702"/>
                </a:lnTo>
                <a:close/>
                <a:moveTo>
                  <a:pt x="162128" y="64851"/>
                </a:moveTo>
                <a:cubicBezTo>
                  <a:pt x="162128" y="54113"/>
                  <a:pt x="153410" y="45396"/>
                  <a:pt x="142672" y="45396"/>
                </a:cubicBezTo>
                <a:cubicBezTo>
                  <a:pt x="131935" y="45396"/>
                  <a:pt x="123217" y="54113"/>
                  <a:pt x="123217" y="64851"/>
                </a:cubicBezTo>
                <a:cubicBezTo>
                  <a:pt x="123217" y="75589"/>
                  <a:pt x="131935" y="84306"/>
                  <a:pt x="142672" y="84306"/>
                </a:cubicBezTo>
                <a:cubicBezTo>
                  <a:pt x="153410" y="84306"/>
                  <a:pt x="162128" y="75589"/>
                  <a:pt x="162128" y="64851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39" name="Text 37"/>
          <p:cNvSpPr/>
          <p:nvPr/>
        </p:nvSpPr>
        <p:spPr>
          <a:xfrm>
            <a:off x="6862864" y="1494167"/>
            <a:ext cx="1322962" cy="276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4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Future Scope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50973" y="1978388"/>
            <a:ext cx="5316058" cy="968443"/>
          </a:xfrm>
          <a:custGeom>
            <a:avLst/>
            <a:gdLst/>
            <a:ahLst/>
            <a:cxnLst/>
            <a:rect l="l" t="t" r="r" b="b"/>
            <a:pathLst>
              <a:path w="5316058" h="968443">
                <a:moveTo>
                  <a:pt x="13843" y="0"/>
                </a:moveTo>
                <a:lnTo>
                  <a:pt x="5246878" y="0"/>
                </a:lnTo>
                <a:cubicBezTo>
                  <a:pt x="5285104" y="0"/>
                  <a:pt x="5316093" y="30989"/>
                  <a:pt x="5316093" y="69215"/>
                </a:cubicBezTo>
                <a:lnTo>
                  <a:pt x="5316093" y="899287"/>
                </a:lnTo>
                <a:cubicBezTo>
                  <a:pt x="5316093" y="937513"/>
                  <a:pt x="5285104" y="968502"/>
                  <a:pt x="5246878" y="968502"/>
                </a:cubicBez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350973" y="1978388"/>
            <a:ext cx="13835" cy="968443"/>
          </a:xfrm>
          <a:custGeom>
            <a:avLst/>
            <a:gdLst/>
            <a:ahLst/>
            <a:cxnLst/>
            <a:rect l="l" t="t" r="r" b="b"/>
            <a:pathLst>
              <a:path w="13835" h="968443">
                <a:moveTo>
                  <a:pt x="13843" y="0"/>
                </a:moveTo>
                <a:lnTo>
                  <a:pt x="13843" y="0"/>
                </a:lnTo>
                <a:lnTo>
                  <a:pt x="13843" y="968502"/>
                </a:ln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42" name="Shape 40"/>
          <p:cNvSpPr/>
          <p:nvPr/>
        </p:nvSpPr>
        <p:spPr>
          <a:xfrm>
            <a:off x="6496239" y="2116737"/>
            <a:ext cx="345872" cy="345872"/>
          </a:xfrm>
          <a:prstGeom prst="roundRect">
            <a:avLst>
              <a:gd name="adj" fmla="val 2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593516" y="2211852"/>
            <a:ext cx="155643" cy="155643"/>
          </a:xfrm>
          <a:custGeom>
            <a:avLst/>
            <a:gdLst/>
            <a:ahLst/>
            <a:cxnLst/>
            <a:rect l="l" t="t" r="r" b="b"/>
            <a:pathLst>
              <a:path w="155643" h="155643">
                <a:moveTo>
                  <a:pt x="145945" y="58366"/>
                </a:moveTo>
                <a:lnTo>
                  <a:pt x="148347" y="58366"/>
                </a:lnTo>
                <a:cubicBezTo>
                  <a:pt x="152390" y="58366"/>
                  <a:pt x="155643" y="55113"/>
                  <a:pt x="155643" y="51070"/>
                </a:cubicBezTo>
                <a:lnTo>
                  <a:pt x="155643" y="7296"/>
                </a:lnTo>
                <a:cubicBezTo>
                  <a:pt x="155643" y="4347"/>
                  <a:pt x="153879" y="1672"/>
                  <a:pt x="151144" y="547"/>
                </a:cubicBezTo>
                <a:cubicBezTo>
                  <a:pt x="148408" y="-578"/>
                  <a:pt x="145277" y="61"/>
                  <a:pt x="143179" y="2128"/>
                </a:cubicBezTo>
                <a:lnTo>
                  <a:pt x="127463" y="17875"/>
                </a:lnTo>
                <a:cubicBezTo>
                  <a:pt x="113996" y="6718"/>
                  <a:pt x="96669" y="0"/>
                  <a:pt x="77821" y="0"/>
                </a:cubicBezTo>
                <a:cubicBezTo>
                  <a:pt x="38607" y="0"/>
                  <a:pt x="6171" y="29001"/>
                  <a:pt x="790" y="66726"/>
                </a:cubicBezTo>
                <a:cubicBezTo>
                  <a:pt x="30" y="72045"/>
                  <a:pt x="3709" y="76970"/>
                  <a:pt x="9028" y="77730"/>
                </a:cubicBezTo>
                <a:cubicBezTo>
                  <a:pt x="14348" y="78490"/>
                  <a:pt x="19273" y="74781"/>
                  <a:pt x="20033" y="69492"/>
                </a:cubicBezTo>
                <a:cubicBezTo>
                  <a:pt x="24076" y="41191"/>
                  <a:pt x="48426" y="19455"/>
                  <a:pt x="77821" y="19455"/>
                </a:cubicBezTo>
                <a:cubicBezTo>
                  <a:pt x="91318" y="19455"/>
                  <a:pt x="103721" y="24015"/>
                  <a:pt x="113601" y="31706"/>
                </a:cubicBezTo>
                <a:lnTo>
                  <a:pt x="99405" y="45902"/>
                </a:lnTo>
                <a:cubicBezTo>
                  <a:pt x="97307" y="48000"/>
                  <a:pt x="96699" y="51131"/>
                  <a:pt x="97824" y="53867"/>
                </a:cubicBezTo>
                <a:cubicBezTo>
                  <a:pt x="98949" y="56603"/>
                  <a:pt x="101624" y="58366"/>
                  <a:pt x="104572" y="58366"/>
                </a:cubicBezTo>
                <a:lnTo>
                  <a:pt x="145945" y="58366"/>
                </a:lnTo>
                <a:close/>
                <a:moveTo>
                  <a:pt x="154883" y="88917"/>
                </a:moveTo>
                <a:cubicBezTo>
                  <a:pt x="155643" y="83597"/>
                  <a:pt x="151934" y="78672"/>
                  <a:pt x="146644" y="77912"/>
                </a:cubicBezTo>
                <a:cubicBezTo>
                  <a:pt x="141355" y="77153"/>
                  <a:pt x="136400" y="80861"/>
                  <a:pt x="135640" y="86151"/>
                </a:cubicBezTo>
                <a:cubicBezTo>
                  <a:pt x="131597" y="114422"/>
                  <a:pt x="107247" y="136157"/>
                  <a:pt x="77852" y="136157"/>
                </a:cubicBezTo>
                <a:cubicBezTo>
                  <a:pt x="64355" y="136157"/>
                  <a:pt x="51952" y="131597"/>
                  <a:pt x="42072" y="123906"/>
                </a:cubicBezTo>
                <a:lnTo>
                  <a:pt x="56238" y="109740"/>
                </a:lnTo>
                <a:cubicBezTo>
                  <a:pt x="58336" y="107643"/>
                  <a:pt x="58944" y="104512"/>
                  <a:pt x="57819" y="101776"/>
                </a:cubicBezTo>
                <a:cubicBezTo>
                  <a:pt x="56694" y="99040"/>
                  <a:pt x="54019" y="97277"/>
                  <a:pt x="51070" y="97277"/>
                </a:cubicBezTo>
                <a:lnTo>
                  <a:pt x="7296" y="97277"/>
                </a:lnTo>
                <a:cubicBezTo>
                  <a:pt x="3253" y="97277"/>
                  <a:pt x="0" y="100529"/>
                  <a:pt x="0" y="104572"/>
                </a:cubicBezTo>
                <a:lnTo>
                  <a:pt x="0" y="148347"/>
                </a:lnTo>
                <a:cubicBezTo>
                  <a:pt x="0" y="151296"/>
                  <a:pt x="1763" y="153971"/>
                  <a:pt x="4499" y="155095"/>
                </a:cubicBezTo>
                <a:cubicBezTo>
                  <a:pt x="7235" y="156220"/>
                  <a:pt x="10366" y="155582"/>
                  <a:pt x="12464" y="153515"/>
                </a:cubicBezTo>
                <a:lnTo>
                  <a:pt x="28210" y="137768"/>
                </a:lnTo>
                <a:cubicBezTo>
                  <a:pt x="41647" y="148924"/>
                  <a:pt x="58974" y="155643"/>
                  <a:pt x="77821" y="155643"/>
                </a:cubicBezTo>
                <a:cubicBezTo>
                  <a:pt x="117036" y="155643"/>
                  <a:pt x="149472" y="126642"/>
                  <a:pt x="154852" y="88917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44" name="Text 42"/>
          <p:cNvSpPr/>
          <p:nvPr/>
        </p:nvSpPr>
        <p:spPr>
          <a:xfrm>
            <a:off x="6945874" y="2116737"/>
            <a:ext cx="4651983" cy="207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Streaming Index Rebuilds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945874" y="2393435"/>
            <a:ext cx="4651983" cy="415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Transition FAISS build generation to active background synchronization pool using </a:t>
            </a:r>
            <a:pPr>
              <a:lnSpc>
                <a:spcPct val="13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Redis/Celery</a:t>
            </a:r>
            <a:pPr>
              <a:lnSpc>
                <a:spcPct val="130000"/>
              </a:lnSpc>
            </a:pPr>
            <a:r>
              <a:rPr lang="en-US" sz="1089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cumulative on-the-fly index rebuilding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50973" y="3085180"/>
            <a:ext cx="5316058" cy="968443"/>
          </a:xfrm>
          <a:custGeom>
            <a:avLst/>
            <a:gdLst/>
            <a:ahLst/>
            <a:cxnLst/>
            <a:rect l="l" t="t" r="r" b="b"/>
            <a:pathLst>
              <a:path w="5316058" h="968443">
                <a:moveTo>
                  <a:pt x="13843" y="0"/>
                </a:moveTo>
                <a:lnTo>
                  <a:pt x="5246878" y="0"/>
                </a:lnTo>
                <a:cubicBezTo>
                  <a:pt x="5285104" y="0"/>
                  <a:pt x="5316093" y="30989"/>
                  <a:pt x="5316093" y="69215"/>
                </a:cubicBezTo>
                <a:lnTo>
                  <a:pt x="5316093" y="899287"/>
                </a:lnTo>
                <a:cubicBezTo>
                  <a:pt x="5316093" y="937513"/>
                  <a:pt x="5285104" y="968502"/>
                  <a:pt x="5246878" y="968502"/>
                </a:cubicBez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350973" y="3085180"/>
            <a:ext cx="13835" cy="968443"/>
          </a:xfrm>
          <a:custGeom>
            <a:avLst/>
            <a:gdLst/>
            <a:ahLst/>
            <a:cxnLst/>
            <a:rect l="l" t="t" r="r" b="b"/>
            <a:pathLst>
              <a:path w="13835" h="968443">
                <a:moveTo>
                  <a:pt x="13843" y="0"/>
                </a:moveTo>
                <a:lnTo>
                  <a:pt x="13843" y="0"/>
                </a:lnTo>
                <a:lnTo>
                  <a:pt x="13843" y="968502"/>
                </a:ln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48" name="Shape 46"/>
          <p:cNvSpPr/>
          <p:nvPr/>
        </p:nvSpPr>
        <p:spPr>
          <a:xfrm>
            <a:off x="6496239" y="3223529"/>
            <a:ext cx="345872" cy="345872"/>
          </a:xfrm>
          <a:prstGeom prst="roundRect">
            <a:avLst>
              <a:gd name="adj" fmla="val 2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03244" y="3318643"/>
            <a:ext cx="136187" cy="155643"/>
          </a:xfrm>
          <a:custGeom>
            <a:avLst/>
            <a:gdLst/>
            <a:ahLst/>
            <a:cxnLst/>
            <a:rect l="l" t="t" r="r" b="b"/>
            <a:pathLst>
              <a:path w="136187" h="155643">
                <a:moveTo>
                  <a:pt x="136187" y="62561"/>
                </a:moveTo>
                <a:cubicBezTo>
                  <a:pt x="131688" y="65540"/>
                  <a:pt x="126520" y="67942"/>
                  <a:pt x="121140" y="69857"/>
                </a:cubicBezTo>
                <a:cubicBezTo>
                  <a:pt x="106852" y="74964"/>
                  <a:pt x="88096" y="77821"/>
                  <a:pt x="68094" y="77821"/>
                </a:cubicBezTo>
                <a:cubicBezTo>
                  <a:pt x="48091" y="77821"/>
                  <a:pt x="29305" y="74933"/>
                  <a:pt x="15047" y="69857"/>
                </a:cubicBezTo>
                <a:cubicBezTo>
                  <a:pt x="9697" y="67942"/>
                  <a:pt x="4499" y="65540"/>
                  <a:pt x="0" y="62561"/>
                </a:cubicBezTo>
                <a:lnTo>
                  <a:pt x="0" y="87549"/>
                </a:lnTo>
                <a:cubicBezTo>
                  <a:pt x="0" y="100985"/>
                  <a:pt x="30490" y="111868"/>
                  <a:pt x="68094" y="111868"/>
                </a:cubicBezTo>
                <a:cubicBezTo>
                  <a:pt x="105697" y="111868"/>
                  <a:pt x="136187" y="100985"/>
                  <a:pt x="136187" y="87549"/>
                </a:cubicBezTo>
                <a:lnTo>
                  <a:pt x="136187" y="62561"/>
                </a:lnTo>
                <a:close/>
                <a:moveTo>
                  <a:pt x="136187" y="38911"/>
                </a:moveTo>
                <a:lnTo>
                  <a:pt x="136187" y="24319"/>
                </a:lnTo>
                <a:cubicBezTo>
                  <a:pt x="136187" y="10883"/>
                  <a:pt x="105697" y="0"/>
                  <a:pt x="68094" y="0"/>
                </a:cubicBezTo>
                <a:cubicBezTo>
                  <a:pt x="30490" y="0"/>
                  <a:pt x="0" y="10883"/>
                  <a:pt x="0" y="24319"/>
                </a:cubicBezTo>
                <a:lnTo>
                  <a:pt x="0" y="38911"/>
                </a:lnTo>
                <a:cubicBezTo>
                  <a:pt x="0" y="52347"/>
                  <a:pt x="30490" y="63230"/>
                  <a:pt x="68094" y="63230"/>
                </a:cubicBezTo>
                <a:cubicBezTo>
                  <a:pt x="105697" y="63230"/>
                  <a:pt x="136187" y="52347"/>
                  <a:pt x="136187" y="38911"/>
                </a:cubicBezTo>
                <a:close/>
                <a:moveTo>
                  <a:pt x="121140" y="118495"/>
                </a:moveTo>
                <a:cubicBezTo>
                  <a:pt x="106883" y="123572"/>
                  <a:pt x="88127" y="126460"/>
                  <a:pt x="68094" y="126460"/>
                </a:cubicBezTo>
                <a:cubicBezTo>
                  <a:pt x="48061" y="126460"/>
                  <a:pt x="29305" y="123572"/>
                  <a:pt x="15047" y="118495"/>
                </a:cubicBezTo>
                <a:cubicBezTo>
                  <a:pt x="9697" y="116580"/>
                  <a:pt x="4499" y="114178"/>
                  <a:pt x="0" y="111199"/>
                </a:cubicBezTo>
                <a:lnTo>
                  <a:pt x="0" y="131323"/>
                </a:lnTo>
                <a:cubicBezTo>
                  <a:pt x="0" y="144760"/>
                  <a:pt x="30490" y="155643"/>
                  <a:pt x="68094" y="155643"/>
                </a:cubicBezTo>
                <a:cubicBezTo>
                  <a:pt x="105697" y="155643"/>
                  <a:pt x="136187" y="144760"/>
                  <a:pt x="136187" y="131323"/>
                </a:cubicBezTo>
                <a:lnTo>
                  <a:pt x="136187" y="111199"/>
                </a:lnTo>
                <a:cubicBezTo>
                  <a:pt x="131688" y="114178"/>
                  <a:pt x="126520" y="116580"/>
                  <a:pt x="121140" y="118495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50" name="Text 48"/>
          <p:cNvSpPr/>
          <p:nvPr/>
        </p:nvSpPr>
        <p:spPr>
          <a:xfrm>
            <a:off x="6945874" y="3223529"/>
            <a:ext cx="4651983" cy="207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Dynamic Warehouse Integration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945874" y="3500226"/>
            <a:ext cx="4651983" cy="415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Eliminate batched offline reconstruction — index rebuilds automatically as new news enters the database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50973" y="4191971"/>
            <a:ext cx="5316058" cy="968443"/>
          </a:xfrm>
          <a:custGeom>
            <a:avLst/>
            <a:gdLst/>
            <a:ahLst/>
            <a:cxnLst/>
            <a:rect l="l" t="t" r="r" b="b"/>
            <a:pathLst>
              <a:path w="5316058" h="968443">
                <a:moveTo>
                  <a:pt x="13843" y="0"/>
                </a:moveTo>
                <a:lnTo>
                  <a:pt x="5246878" y="0"/>
                </a:lnTo>
                <a:cubicBezTo>
                  <a:pt x="5285104" y="0"/>
                  <a:pt x="5316093" y="30989"/>
                  <a:pt x="5316093" y="69215"/>
                </a:cubicBezTo>
                <a:lnTo>
                  <a:pt x="5316093" y="899287"/>
                </a:lnTo>
                <a:cubicBezTo>
                  <a:pt x="5316093" y="937513"/>
                  <a:pt x="5285104" y="968502"/>
                  <a:pt x="5246878" y="968502"/>
                </a:cubicBez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350973" y="4191971"/>
            <a:ext cx="13835" cy="968443"/>
          </a:xfrm>
          <a:custGeom>
            <a:avLst/>
            <a:gdLst/>
            <a:ahLst/>
            <a:cxnLst/>
            <a:rect l="l" t="t" r="r" b="b"/>
            <a:pathLst>
              <a:path w="13835" h="968443">
                <a:moveTo>
                  <a:pt x="13843" y="0"/>
                </a:moveTo>
                <a:lnTo>
                  <a:pt x="13843" y="0"/>
                </a:lnTo>
                <a:lnTo>
                  <a:pt x="13843" y="968502"/>
                </a:lnTo>
                <a:lnTo>
                  <a:pt x="13843" y="968502"/>
                </a:lnTo>
                <a:cubicBezTo>
                  <a:pt x="6198" y="968502"/>
                  <a:pt x="0" y="962304"/>
                  <a:pt x="0" y="954659"/>
                </a:cubicBezTo>
                <a:lnTo>
                  <a:pt x="0" y="13843"/>
                </a:lnTo>
                <a:cubicBezTo>
                  <a:pt x="0" y="6198"/>
                  <a:pt x="6198" y="0"/>
                  <a:pt x="13843" y="0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4" name="Shape 52"/>
          <p:cNvSpPr/>
          <p:nvPr/>
        </p:nvSpPr>
        <p:spPr>
          <a:xfrm>
            <a:off x="6496239" y="4330320"/>
            <a:ext cx="345872" cy="345872"/>
          </a:xfrm>
          <a:prstGeom prst="roundRect">
            <a:avLst>
              <a:gd name="adj" fmla="val 2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6603244" y="4425435"/>
            <a:ext cx="136187" cy="155643"/>
          </a:xfrm>
          <a:custGeom>
            <a:avLst/>
            <a:gdLst/>
            <a:ahLst/>
            <a:cxnLst/>
            <a:rect l="l" t="t" r="r" b="b"/>
            <a:pathLst>
              <a:path w="136187" h="155643">
                <a:moveTo>
                  <a:pt x="51070" y="9728"/>
                </a:moveTo>
                <a:lnTo>
                  <a:pt x="7296" y="9728"/>
                </a:lnTo>
                <a:cubicBezTo>
                  <a:pt x="3253" y="9728"/>
                  <a:pt x="0" y="12980"/>
                  <a:pt x="0" y="17023"/>
                </a:cubicBezTo>
                <a:lnTo>
                  <a:pt x="0" y="60798"/>
                </a:lnTo>
                <a:cubicBezTo>
                  <a:pt x="0" y="63747"/>
                  <a:pt x="1763" y="66422"/>
                  <a:pt x="4499" y="67546"/>
                </a:cubicBezTo>
                <a:cubicBezTo>
                  <a:pt x="7235" y="68671"/>
                  <a:pt x="10366" y="68033"/>
                  <a:pt x="12464" y="65966"/>
                </a:cubicBezTo>
                <a:lnTo>
                  <a:pt x="24623" y="53806"/>
                </a:lnTo>
                <a:lnTo>
                  <a:pt x="48638" y="77821"/>
                </a:lnTo>
                <a:lnTo>
                  <a:pt x="24623" y="101836"/>
                </a:lnTo>
                <a:lnTo>
                  <a:pt x="12464" y="89677"/>
                </a:lnTo>
                <a:cubicBezTo>
                  <a:pt x="10366" y="87579"/>
                  <a:pt x="7235" y="86971"/>
                  <a:pt x="4499" y="88096"/>
                </a:cubicBezTo>
                <a:cubicBezTo>
                  <a:pt x="1763" y="89221"/>
                  <a:pt x="0" y="91896"/>
                  <a:pt x="0" y="94845"/>
                </a:cubicBezTo>
                <a:lnTo>
                  <a:pt x="0" y="138619"/>
                </a:lnTo>
                <a:cubicBezTo>
                  <a:pt x="0" y="142662"/>
                  <a:pt x="3253" y="145915"/>
                  <a:pt x="7296" y="145915"/>
                </a:cubicBezTo>
                <a:lnTo>
                  <a:pt x="51070" y="145915"/>
                </a:lnTo>
                <a:cubicBezTo>
                  <a:pt x="54019" y="145915"/>
                  <a:pt x="56694" y="144152"/>
                  <a:pt x="57819" y="141416"/>
                </a:cubicBezTo>
                <a:cubicBezTo>
                  <a:pt x="58944" y="138680"/>
                  <a:pt x="58336" y="135549"/>
                  <a:pt x="56238" y="133451"/>
                </a:cubicBezTo>
                <a:lnTo>
                  <a:pt x="44078" y="121292"/>
                </a:lnTo>
                <a:lnTo>
                  <a:pt x="68094" y="97277"/>
                </a:lnTo>
                <a:lnTo>
                  <a:pt x="92109" y="121292"/>
                </a:lnTo>
                <a:lnTo>
                  <a:pt x="79949" y="133451"/>
                </a:lnTo>
                <a:cubicBezTo>
                  <a:pt x="77852" y="135549"/>
                  <a:pt x="77244" y="138680"/>
                  <a:pt x="78368" y="141416"/>
                </a:cubicBezTo>
                <a:cubicBezTo>
                  <a:pt x="79493" y="144152"/>
                  <a:pt x="82168" y="145915"/>
                  <a:pt x="85117" y="145915"/>
                </a:cubicBezTo>
                <a:lnTo>
                  <a:pt x="128891" y="145915"/>
                </a:lnTo>
                <a:cubicBezTo>
                  <a:pt x="132935" y="145915"/>
                  <a:pt x="136187" y="142662"/>
                  <a:pt x="136187" y="138619"/>
                </a:cubicBezTo>
                <a:lnTo>
                  <a:pt x="136187" y="94845"/>
                </a:lnTo>
                <a:cubicBezTo>
                  <a:pt x="136187" y="91896"/>
                  <a:pt x="134424" y="89221"/>
                  <a:pt x="131688" y="88096"/>
                </a:cubicBezTo>
                <a:cubicBezTo>
                  <a:pt x="128952" y="86971"/>
                  <a:pt x="125821" y="87579"/>
                  <a:pt x="123724" y="89677"/>
                </a:cubicBezTo>
                <a:lnTo>
                  <a:pt x="111564" y="101836"/>
                </a:lnTo>
                <a:lnTo>
                  <a:pt x="87549" y="77821"/>
                </a:lnTo>
                <a:lnTo>
                  <a:pt x="111564" y="53806"/>
                </a:lnTo>
                <a:lnTo>
                  <a:pt x="123724" y="65966"/>
                </a:lnTo>
                <a:cubicBezTo>
                  <a:pt x="125821" y="68063"/>
                  <a:pt x="128952" y="68671"/>
                  <a:pt x="131688" y="67546"/>
                </a:cubicBezTo>
                <a:cubicBezTo>
                  <a:pt x="134424" y="66422"/>
                  <a:pt x="136187" y="63747"/>
                  <a:pt x="136187" y="60798"/>
                </a:cubicBezTo>
                <a:lnTo>
                  <a:pt x="136187" y="17023"/>
                </a:lnTo>
                <a:cubicBezTo>
                  <a:pt x="136187" y="12980"/>
                  <a:pt x="132935" y="9728"/>
                  <a:pt x="128891" y="9728"/>
                </a:cubicBezTo>
                <a:lnTo>
                  <a:pt x="85117" y="9728"/>
                </a:lnTo>
                <a:cubicBezTo>
                  <a:pt x="82168" y="9728"/>
                  <a:pt x="79493" y="11491"/>
                  <a:pt x="78368" y="14227"/>
                </a:cubicBezTo>
                <a:cubicBezTo>
                  <a:pt x="77244" y="16963"/>
                  <a:pt x="77882" y="20094"/>
                  <a:pt x="79949" y="22191"/>
                </a:cubicBezTo>
                <a:lnTo>
                  <a:pt x="92109" y="34351"/>
                </a:lnTo>
                <a:lnTo>
                  <a:pt x="68094" y="58366"/>
                </a:lnTo>
                <a:lnTo>
                  <a:pt x="44078" y="34351"/>
                </a:lnTo>
                <a:lnTo>
                  <a:pt x="56238" y="22191"/>
                </a:lnTo>
                <a:cubicBezTo>
                  <a:pt x="58336" y="20094"/>
                  <a:pt x="58944" y="16963"/>
                  <a:pt x="57819" y="14227"/>
                </a:cubicBezTo>
                <a:cubicBezTo>
                  <a:pt x="56694" y="11491"/>
                  <a:pt x="54019" y="9728"/>
                  <a:pt x="51070" y="9728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56" name="Text 54"/>
          <p:cNvSpPr/>
          <p:nvPr/>
        </p:nvSpPr>
        <p:spPr>
          <a:xfrm>
            <a:off x="6945874" y="4330320"/>
            <a:ext cx="4651983" cy="207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Scalability Enhancements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945874" y="4607018"/>
            <a:ext cx="4651983" cy="415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Support for larger corpora beyond 120k articles with distributed processing capabilities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47514" y="6042174"/>
            <a:ext cx="5316058" cy="629488"/>
          </a:xfrm>
          <a:prstGeom prst="roundRect">
            <a:avLst>
              <a:gd name="adj" fmla="val 10989"/>
            </a:avLst>
          </a:prstGeom>
          <a:solidFill>
            <a:srgbClr val="D4A26A">
              <a:alpha val="10196"/>
            </a:srgbClr>
          </a:solidFill>
          <a:ln w="10160">
            <a:solidFill>
              <a:srgbClr val="D4A26A">
                <a:alpha val="30196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54734" y="6149392"/>
            <a:ext cx="5170791" cy="415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89" b="1" dirty="0">
                <a:solidFill>
                  <a:srgbClr val="D4A26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Vision:</a:t>
            </a:r>
            <a:pPr>
              <a:lnSpc>
                <a:spcPct val="130000"/>
              </a:lnSpc>
            </a:pPr>
            <a:r>
              <a:rPr lang="en-US" sz="1089" dirty="0">
                <a:solidFill>
                  <a:srgbClr val="E2E8F0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fully autonomous, self-updating semantic search engine operating entirely on local infrastructure with zero cloud dependency.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5beqdm23l5qus/images/2_Free_Abstract_Network_Visualization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rcRect l="0" r="0" t="34238" b="3423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 flip="none">
            <a:gsLst>
              <a:gs pos="0">
                <a:srgbClr val="1A1D21">
                  <a:alpha val="95000"/>
                </a:srgbClr>
              </a:gs>
              <a:gs pos="50000">
                <a:srgbClr val="1A1D21">
                  <a:alpha val="85000"/>
                </a:srgbClr>
              </a:gs>
              <a:gs pos="100000">
                <a:srgbClr val="6B7A8F">
                  <a:alpha val="30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5638681" y="1428750"/>
            <a:ext cx="914400" cy="38100"/>
          </a:xfrm>
          <a:prstGeom prst="roundRect">
            <a:avLst>
              <a:gd name="adj" fmla="val 0"/>
            </a:avLst>
          </a:prstGeom>
          <a:solidFill>
            <a:srgbClr val="D4A26A"/>
          </a:solidFill>
          <a:ln/>
        </p:spPr>
      </p:sp>
      <p:sp>
        <p:nvSpPr>
          <p:cNvPr id="5" name="Text 2"/>
          <p:cNvSpPr/>
          <p:nvPr/>
        </p:nvSpPr>
        <p:spPr>
          <a:xfrm>
            <a:off x="3888343" y="1771650"/>
            <a:ext cx="441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540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988356" y="2686050"/>
            <a:ext cx="42195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dirty="0">
                <a:solidFill>
                  <a:srgbClr val="6B7A8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Information Retrieval Techniques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012168" y="3181350"/>
            <a:ext cx="4171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Final Project Presentation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077414" y="42100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241721" y="43719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32172" y="116086"/>
                </a:moveTo>
                <a:cubicBezTo>
                  <a:pt x="232172" y="141703"/>
                  <a:pt x="223856" y="165367"/>
                  <a:pt x="209848" y="184565"/>
                </a:cubicBezTo>
                <a:lnTo>
                  <a:pt x="280504" y="255277"/>
                </a:lnTo>
                <a:cubicBezTo>
                  <a:pt x="287480" y="262254"/>
                  <a:pt x="287480" y="273583"/>
                  <a:pt x="280504" y="280560"/>
                </a:cubicBezTo>
                <a:cubicBezTo>
                  <a:pt x="273527" y="287536"/>
                  <a:pt x="262198" y="287536"/>
                  <a:pt x="255222" y="280560"/>
                </a:cubicBezTo>
                <a:lnTo>
                  <a:pt x="184565" y="209848"/>
                </a:lnTo>
                <a:cubicBezTo>
                  <a:pt x="165367" y="223856"/>
                  <a:pt x="141703" y="232172"/>
                  <a:pt x="116086" y="232172"/>
                </a:cubicBezTo>
                <a:cubicBezTo>
                  <a:pt x="51960" y="232172"/>
                  <a:pt x="0" y="180212"/>
                  <a:pt x="0" y="116086"/>
                </a:cubicBezTo>
                <a:cubicBezTo>
                  <a:pt x="0" y="51960"/>
                  <a:pt x="51960" y="0"/>
                  <a:pt x="116086" y="0"/>
                </a:cubicBezTo>
                <a:cubicBezTo>
                  <a:pt x="180212" y="0"/>
                  <a:pt x="232172" y="51960"/>
                  <a:pt x="232172" y="116086"/>
                </a:cubicBezTo>
                <a:close/>
                <a:moveTo>
                  <a:pt x="116086" y="196453"/>
                </a:moveTo>
                <a:cubicBezTo>
                  <a:pt x="160442" y="196453"/>
                  <a:pt x="196453" y="160442"/>
                  <a:pt x="196453" y="116086"/>
                </a:cubicBezTo>
                <a:cubicBezTo>
                  <a:pt x="196453" y="71730"/>
                  <a:pt x="160442" y="35719"/>
                  <a:pt x="116086" y="35719"/>
                </a:cubicBezTo>
                <a:cubicBezTo>
                  <a:pt x="71730" y="35719"/>
                  <a:pt x="35719" y="71730"/>
                  <a:pt x="35719" y="116086"/>
                </a:cubicBezTo>
                <a:cubicBezTo>
                  <a:pt x="35719" y="160442"/>
                  <a:pt x="71730" y="196453"/>
                  <a:pt x="116086" y="196453"/>
                </a:cubicBez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0" name="Text 7"/>
          <p:cNvSpPr/>
          <p:nvPr/>
        </p:nvSpPr>
        <p:spPr>
          <a:xfrm>
            <a:off x="3634978" y="493395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Hybrid Search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639741" y="52006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BM25 + FAISS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791081" y="42100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6B7A8F">
              <a:alpha val="2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955387" y="43719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66973" y="31254"/>
                </a:moveTo>
                <a:cubicBezTo>
                  <a:pt x="66973" y="14008"/>
                  <a:pt x="80981" y="0"/>
                  <a:pt x="98227" y="0"/>
                </a:cubicBezTo>
                <a:lnTo>
                  <a:pt x="111621" y="0"/>
                </a:lnTo>
                <a:cubicBezTo>
                  <a:pt x="121500" y="0"/>
                  <a:pt x="129480" y="7981"/>
                  <a:pt x="129480" y="17859"/>
                </a:cubicBezTo>
                <a:lnTo>
                  <a:pt x="129480" y="267891"/>
                </a:lnTo>
                <a:cubicBezTo>
                  <a:pt x="129480" y="277769"/>
                  <a:pt x="121500" y="285750"/>
                  <a:pt x="111621" y="285750"/>
                </a:cubicBezTo>
                <a:lnTo>
                  <a:pt x="93762" y="285750"/>
                </a:lnTo>
                <a:cubicBezTo>
                  <a:pt x="77130" y="285750"/>
                  <a:pt x="63122" y="274365"/>
                  <a:pt x="59159" y="258961"/>
                </a:cubicBezTo>
                <a:cubicBezTo>
                  <a:pt x="58769" y="258961"/>
                  <a:pt x="58434" y="258961"/>
                  <a:pt x="58043" y="258961"/>
                </a:cubicBezTo>
                <a:cubicBezTo>
                  <a:pt x="33375" y="258961"/>
                  <a:pt x="13395" y="238981"/>
                  <a:pt x="13395" y="214313"/>
                </a:cubicBezTo>
                <a:cubicBezTo>
                  <a:pt x="13395" y="204267"/>
                  <a:pt x="16743" y="195002"/>
                  <a:pt x="22324" y="187523"/>
                </a:cubicBezTo>
                <a:cubicBezTo>
                  <a:pt x="11497" y="179375"/>
                  <a:pt x="4465" y="166427"/>
                  <a:pt x="4465" y="151805"/>
                </a:cubicBezTo>
                <a:cubicBezTo>
                  <a:pt x="4465" y="134559"/>
                  <a:pt x="14288" y="119546"/>
                  <a:pt x="28575" y="112123"/>
                </a:cubicBezTo>
                <a:cubicBezTo>
                  <a:pt x="24612" y="105426"/>
                  <a:pt x="22324" y="97613"/>
                  <a:pt x="22324" y="89297"/>
                </a:cubicBezTo>
                <a:cubicBezTo>
                  <a:pt x="22324" y="64629"/>
                  <a:pt x="42304" y="44648"/>
                  <a:pt x="66973" y="44648"/>
                </a:cubicBezTo>
                <a:lnTo>
                  <a:pt x="66973" y="31254"/>
                </a:lnTo>
                <a:close/>
                <a:moveTo>
                  <a:pt x="218777" y="31254"/>
                </a:moveTo>
                <a:lnTo>
                  <a:pt x="218777" y="44648"/>
                </a:lnTo>
                <a:cubicBezTo>
                  <a:pt x="243446" y="44648"/>
                  <a:pt x="263426" y="64629"/>
                  <a:pt x="263426" y="89297"/>
                </a:cubicBezTo>
                <a:cubicBezTo>
                  <a:pt x="263426" y="97668"/>
                  <a:pt x="261138" y="105482"/>
                  <a:pt x="257175" y="112123"/>
                </a:cubicBezTo>
                <a:cubicBezTo>
                  <a:pt x="271518" y="119546"/>
                  <a:pt x="281285" y="134503"/>
                  <a:pt x="281285" y="151805"/>
                </a:cubicBezTo>
                <a:cubicBezTo>
                  <a:pt x="281285" y="166427"/>
                  <a:pt x="274253" y="179375"/>
                  <a:pt x="263426" y="187523"/>
                </a:cubicBezTo>
                <a:cubicBezTo>
                  <a:pt x="269007" y="195002"/>
                  <a:pt x="272355" y="204267"/>
                  <a:pt x="272355" y="214313"/>
                </a:cubicBezTo>
                <a:cubicBezTo>
                  <a:pt x="272355" y="238981"/>
                  <a:pt x="252375" y="258961"/>
                  <a:pt x="227707" y="258961"/>
                </a:cubicBezTo>
                <a:cubicBezTo>
                  <a:pt x="227316" y="258961"/>
                  <a:pt x="226981" y="258961"/>
                  <a:pt x="226591" y="258961"/>
                </a:cubicBezTo>
                <a:cubicBezTo>
                  <a:pt x="222628" y="274365"/>
                  <a:pt x="208620" y="285750"/>
                  <a:pt x="191988" y="285750"/>
                </a:cubicBezTo>
                <a:lnTo>
                  <a:pt x="174129" y="285750"/>
                </a:lnTo>
                <a:cubicBezTo>
                  <a:pt x="164250" y="285750"/>
                  <a:pt x="156270" y="277769"/>
                  <a:pt x="156270" y="267891"/>
                </a:cubicBezTo>
                <a:lnTo>
                  <a:pt x="156270" y="17859"/>
                </a:lnTo>
                <a:cubicBezTo>
                  <a:pt x="156270" y="7981"/>
                  <a:pt x="164250" y="0"/>
                  <a:pt x="174129" y="0"/>
                </a:cubicBezTo>
                <a:lnTo>
                  <a:pt x="187523" y="0"/>
                </a:lnTo>
                <a:cubicBezTo>
                  <a:pt x="204769" y="0"/>
                  <a:pt x="218777" y="14008"/>
                  <a:pt x="218777" y="31254"/>
                </a:cubicBezTo>
                <a:close/>
              </a:path>
            </a:pathLst>
          </a:custGeom>
          <a:solidFill>
            <a:srgbClr val="6B7A8F"/>
          </a:solidFill>
          <a:ln/>
        </p:spPr>
      </p:sp>
      <p:sp>
        <p:nvSpPr>
          <p:cNvPr id="14" name="Text 11"/>
          <p:cNvSpPr/>
          <p:nvPr/>
        </p:nvSpPr>
        <p:spPr>
          <a:xfrm>
            <a:off x="5348645" y="493395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AI-Powered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353408" y="52006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LLM Integration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504748" y="42100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D4A26A">
              <a:alpha val="20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669054" y="437197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35719" y="35719"/>
                </a:moveTo>
                <a:cubicBezTo>
                  <a:pt x="35719" y="25840"/>
                  <a:pt x="27738" y="17859"/>
                  <a:pt x="17859" y="17859"/>
                </a:cubicBezTo>
                <a:cubicBezTo>
                  <a:pt x="7981" y="17859"/>
                  <a:pt x="0" y="25840"/>
                  <a:pt x="0" y="35719"/>
                </a:cubicBezTo>
                <a:lnTo>
                  <a:pt x="0" y="223242"/>
                </a:lnTo>
                <a:cubicBezTo>
                  <a:pt x="0" y="247910"/>
                  <a:pt x="19980" y="267891"/>
                  <a:pt x="44648" y="267891"/>
                </a:cubicBezTo>
                <a:lnTo>
                  <a:pt x="267891" y="267891"/>
                </a:lnTo>
                <a:cubicBezTo>
                  <a:pt x="277769" y="267891"/>
                  <a:pt x="285750" y="259910"/>
                  <a:pt x="285750" y="250031"/>
                </a:cubicBezTo>
                <a:cubicBezTo>
                  <a:pt x="285750" y="240153"/>
                  <a:pt x="277769" y="232172"/>
                  <a:pt x="267891" y="232172"/>
                </a:cubicBezTo>
                <a:lnTo>
                  <a:pt x="44648" y="232172"/>
                </a:lnTo>
                <a:cubicBezTo>
                  <a:pt x="39737" y="232172"/>
                  <a:pt x="35719" y="228154"/>
                  <a:pt x="35719" y="223242"/>
                </a:cubicBezTo>
                <a:lnTo>
                  <a:pt x="35719" y="35719"/>
                </a:lnTo>
                <a:close/>
                <a:moveTo>
                  <a:pt x="262644" y="84051"/>
                </a:moveTo>
                <a:cubicBezTo>
                  <a:pt x="269621" y="77074"/>
                  <a:pt x="269621" y="65745"/>
                  <a:pt x="262644" y="58769"/>
                </a:cubicBezTo>
                <a:cubicBezTo>
                  <a:pt x="255668" y="51792"/>
                  <a:pt x="244339" y="51792"/>
                  <a:pt x="237362" y="58769"/>
                </a:cubicBezTo>
                <a:lnTo>
                  <a:pt x="178594" y="117593"/>
                </a:lnTo>
                <a:lnTo>
                  <a:pt x="146558" y="85613"/>
                </a:lnTo>
                <a:cubicBezTo>
                  <a:pt x="139582" y="78637"/>
                  <a:pt x="128253" y="78637"/>
                  <a:pt x="121276" y="85613"/>
                </a:cubicBezTo>
                <a:lnTo>
                  <a:pt x="67698" y="139192"/>
                </a:lnTo>
                <a:cubicBezTo>
                  <a:pt x="60722" y="146168"/>
                  <a:pt x="60722" y="157497"/>
                  <a:pt x="67698" y="164474"/>
                </a:cubicBezTo>
                <a:cubicBezTo>
                  <a:pt x="74675" y="171450"/>
                  <a:pt x="86004" y="171450"/>
                  <a:pt x="92980" y="164474"/>
                </a:cubicBezTo>
                <a:lnTo>
                  <a:pt x="133945" y="123509"/>
                </a:lnTo>
                <a:lnTo>
                  <a:pt x="165981" y="155544"/>
                </a:lnTo>
                <a:cubicBezTo>
                  <a:pt x="172957" y="162520"/>
                  <a:pt x="184286" y="162520"/>
                  <a:pt x="191263" y="155544"/>
                </a:cubicBezTo>
                <a:lnTo>
                  <a:pt x="262700" y="84106"/>
                </a:lnTo>
                <a:close/>
              </a:path>
            </a:pathLst>
          </a:custGeom>
          <a:solidFill>
            <a:srgbClr val="D4A26A"/>
          </a:solidFill>
          <a:ln/>
        </p:spPr>
      </p:sp>
      <p:sp>
        <p:nvSpPr>
          <p:cNvPr id="18" name="Text 15"/>
          <p:cNvSpPr/>
          <p:nvPr/>
        </p:nvSpPr>
        <p:spPr>
          <a:xfrm>
            <a:off x="7062311" y="4933950"/>
            <a:ext cx="1495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E2E8F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Metrics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067074" y="5200650"/>
            <a:ext cx="148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E2E8F0">
                    <a:alpha val="6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Live Evaluation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Information Retrieval Techniques (IRT)</dc:title>
  <dc:subject>Information Retrieval Techniques (IRT)</dc:subject>
  <dc:creator>Kimi</dc:creator>
  <cp:lastModifiedBy>Kimi</cp:lastModifiedBy>
  <cp:revision>1</cp:revision>
  <dcterms:created xsi:type="dcterms:W3CDTF">2026-04-21T17:58:15Z</dcterms:created>
  <dcterms:modified xsi:type="dcterms:W3CDTF">2026-04-21T17:58:15Z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{"Label":"Information Retrieval Techniques (IRT)","ContentProducer":"001191110108MACG2KBH8F10000","ProduceID":"19db0f06-b962-8cdc-8000-000010bbfc7e","ReservedCode1":"","ContentPropagator":"001191110108MACG2KBH8F20000","PropagateID":"19db0f06-b962-8cdc-8000-000010bbfc7e","ReservedCode2":""}</vt:lpwstr>
  </property>
</Properties>
</file>