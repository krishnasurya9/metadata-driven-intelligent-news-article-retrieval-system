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embeddedFontLs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7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2_Free_Abstract_Network_Visualization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6B7A8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381000"/>
            <a:ext cx="2200275" cy="381000"/>
          </a:xfrm>
          <a:prstGeom prst="roundRect">
            <a:avLst>
              <a:gd name="adj" fmla="val 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81000"/>
            <a:ext cx="38100" cy="3810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45720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PROJECT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84349" y="3810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IRT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766888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Metadata-Driven Intelligent News Article Retrieval System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381000" y="3926681"/>
            <a:ext cx="12192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4624388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standalone, offline-capable search engine combining Lexical and Semantic retrieval strategies to parse 120,000+ digital news articles efficiently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" y="624840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319213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5" name="Text 12"/>
          <p:cNvSpPr/>
          <p:nvPr/>
        </p:nvSpPr>
        <p:spPr>
          <a:xfrm>
            <a:off x="1557338" y="62484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120,000+ Articles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045738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7" name="Text 14"/>
          <p:cNvSpPr/>
          <p:nvPr/>
        </p:nvSpPr>
        <p:spPr>
          <a:xfrm>
            <a:off x="3293388" y="62484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AI Search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154305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526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6048" y="204787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95262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37160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goal, 9-week development timeline, and key milestones from ingestion to evaluation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383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638300"/>
            <a:ext cx="38100" cy="154305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9526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69512" y="20478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0" y="195262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2800" y="237160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 pipeline, hybrid search strategy, generative AI integration, and UI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0995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409950"/>
            <a:ext cx="38100" cy="154305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7242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8902" y="38195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72427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Resolutions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14325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critical technical obstacles and engineering solutions implemented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0995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409950"/>
            <a:ext cx="38100" cy="154305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7242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68321" y="38195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372427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Results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414325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metrics, synthetic ground truth validation, and performance findings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181600"/>
            <a:ext cx="11410950" cy="1295400"/>
          </a:xfrm>
          <a:custGeom>
            <a:avLst/>
            <a:gdLst/>
            <a:ahLst/>
            <a:cxnLst/>
            <a:rect l="l" t="t" r="r" b="b"/>
            <a:pathLst>
              <a:path w="11410950" h="129540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219200"/>
                </a:lnTo>
                <a:cubicBezTo>
                  <a:pt x="11410950" y="1261256"/>
                  <a:pt x="11376806" y="1295400"/>
                  <a:pt x="11334750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181600"/>
            <a:ext cx="38100" cy="12954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4959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40926" y="559117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3500" y="5495925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3500" y="5914906"/>
            <a:ext cx="1032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achievements and roadmap for real-time streaming index rebuilds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7_Abstract_Ai_Neural_Network_Concept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276350" cy="381000"/>
          </a:xfrm>
          <a:prstGeom prst="roundRect">
            <a:avLst>
              <a:gd name="adj" fmla="val 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Objectives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Goal, timeline, and key objectives of the IRT module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11418570" cy="1398270"/>
          </a:xfrm>
          <a:prstGeom prst="roundRect">
            <a:avLst>
              <a:gd name="adj" fmla="val 5450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5320" y="1645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53162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0620" y="1874520"/>
            <a:ext cx="10572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 a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standalone, offline-capable search engine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combining Lexical and Semantic retrieval strategies to parse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120,000+ digital news articles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efficiently. The system transitions beyond rudimentary keyword search, introducing dense semantic vectors, custom evaluation metrics, and Local LLM-augmented search explainability.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933701"/>
            <a:ext cx="11418570" cy="3665220"/>
          </a:xfrm>
          <a:prstGeom prst="roundRect">
            <a:avLst>
              <a:gd name="adj" fmla="val 2079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739" y="312801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2" name="Text 10"/>
          <p:cNvSpPr/>
          <p:nvPr/>
        </p:nvSpPr>
        <p:spPr>
          <a:xfrm>
            <a:off x="779145" y="3089911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9-Week Development Timeline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709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4709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560" y="35852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1875" y="362331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3460" y="3623311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 &amp; Schema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0560" y="38900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news_fetcher.py, designed DuckDB schema, acquired ~120k articles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0060" y="34709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90060" y="34709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1980" y="35852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05920" y="362331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623311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Indexing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1980" y="38900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TF-IDF and BM25 indexing algorithms, tested lexical lookups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31480" y="34709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31480" y="34709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Shape 25"/>
          <p:cNvSpPr/>
          <p:nvPr/>
        </p:nvSpPr>
        <p:spPr>
          <a:xfrm>
            <a:off x="8153400" y="35852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47459" y="362331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96300" y="3623311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Vectors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53400" y="38900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sentence-transformers (all-MiniLM-L6-v2) and FAISS indexing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4996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4996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3" name="Shape 31"/>
          <p:cNvSpPr/>
          <p:nvPr/>
        </p:nvSpPr>
        <p:spPr>
          <a:xfrm>
            <a:off x="670560" y="46139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65453" y="465201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3460" y="4652011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Fusion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0560" y="49187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Merged Lexical and Semantic results using RRF with temporal decay boosting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90060" y="44996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90060" y="44996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11980" y="46139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05444" y="465201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54880" y="4652011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API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11980" y="49187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Wrapped retrieval logic in Flask REST APIs, built metrics capturing logic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31480" y="44996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31480" y="44996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53400" y="46139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52579" y="4652011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96300" y="4652011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Architecture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53400" y="49187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IR mode UI using Vanilla JS with Tavily-inspired aesthetic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8640" y="55283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55283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1" name="Shape 49"/>
          <p:cNvSpPr/>
          <p:nvPr/>
        </p:nvSpPr>
        <p:spPr>
          <a:xfrm>
            <a:off x="670560" y="56426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62952" y="5680711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13460" y="5680711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0560" y="59474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Local LLM bridge via LM Studio for contextual summarization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90060" y="552831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290060" y="552831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7" name="Shape 55"/>
          <p:cNvSpPr/>
          <p:nvPr/>
        </p:nvSpPr>
        <p:spPr>
          <a:xfrm>
            <a:off x="4411980" y="564261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505444" y="568071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754880" y="5680711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Tuning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411980" y="594741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synthetic ground-truths, plotted Precision-Recall curves, fine-tuned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27670" y="5532121"/>
            <a:ext cx="3617595" cy="902970"/>
          </a:xfrm>
          <a:prstGeom prst="roundRect">
            <a:avLst>
              <a:gd name="adj" fmla="val 843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79118" y="584263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3" name="Text 61"/>
          <p:cNvSpPr/>
          <p:nvPr/>
        </p:nvSpPr>
        <p:spPr>
          <a:xfrm>
            <a:off x="8614291" y="5661661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Complete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14291" y="5928361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integrated hybrid search with AI explainability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3_Abstract_Blue_Digital_Data_Analytics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34656" b="346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304925" cy="381000"/>
          </a:xfrm>
          <a:prstGeom prst="roundRect">
            <a:avLst>
              <a:gd name="adj" fmla="val 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 pipeline, hybrid search, and UI 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Pipeline &amp; Storage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3703320" cy="4389120"/>
          </a:xfrm>
          <a:prstGeom prst="roundRect">
            <a:avLst>
              <a:gd name="adj" fmla="val 2058"/>
            </a:avLst>
          </a:prstGeom>
          <a:gradFill flip="none" rotWithShape="1">
            <a:gsLst>
              <a:gs pos="0">
                <a:srgbClr val="4A5568">
                  <a:alpha val="25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50915" y="160782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2520" y="162687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 Ingestion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210312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5320" y="221742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320" y="244602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CSV files and live REST endpoints funnel into the pipeline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3131823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5320" y="32461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20" y="3474723"/>
            <a:ext cx="323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DuckDB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local serverless warehouse — eliminates need for complex cloud SQL instances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43891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5320" y="45034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20" y="47320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NLTK lowercasing, stopword dropping via preprocessor.py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543687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720" y="541782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120,000+ articles ingested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375410"/>
            <a:ext cx="3703320" cy="4389120"/>
          </a:xfrm>
          <a:prstGeom prst="roundRect">
            <a:avLst>
              <a:gd name="adj" fmla="val 2058"/>
            </a:avLst>
          </a:prstGeom>
          <a:gradFill flip="none" rotWithShape="1">
            <a:gsLst>
              <a:gs pos="0">
                <a:srgbClr val="4A5568">
                  <a:alpha val="25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6B7A8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1741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90919" y="16078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73241" y="162687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Dual-Index Generation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9361" y="2103120"/>
            <a:ext cx="3379470" cy="952500"/>
          </a:xfrm>
          <a:custGeom>
            <a:avLst/>
            <a:gdLst/>
            <a:ahLst/>
            <a:cxnLst/>
            <a:rect l="l" t="t" r="r" b="b"/>
            <a:pathLst>
              <a:path w="3379470" h="952500">
                <a:moveTo>
                  <a:pt x="15240" y="0"/>
                </a:moveTo>
                <a:lnTo>
                  <a:pt x="3303270" y="0"/>
                </a:lnTo>
                <a:cubicBezTo>
                  <a:pt x="3345326" y="0"/>
                  <a:pt x="3379470" y="34144"/>
                  <a:pt x="3379470" y="76200"/>
                </a:cubicBezTo>
                <a:lnTo>
                  <a:pt x="3379470" y="876300"/>
                </a:lnTo>
                <a:cubicBezTo>
                  <a:pt x="3379470" y="918356"/>
                  <a:pt x="3345326" y="952500"/>
                  <a:pt x="3303270" y="952500"/>
                </a:cubicBezTo>
                <a:lnTo>
                  <a:pt x="15240" y="952500"/>
                </a:lnTo>
                <a:cubicBezTo>
                  <a:pt x="6823" y="952500"/>
                  <a:pt x="0" y="945677"/>
                  <a:pt x="0" y="937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09361" y="2103120"/>
            <a:ext cx="15240" cy="952500"/>
          </a:xfrm>
          <a:custGeom>
            <a:avLst/>
            <a:gdLst/>
            <a:ahLst/>
            <a:cxnLst/>
            <a:rect l="l" t="t" r="r" b="b"/>
            <a:pathLst>
              <a:path w="15240" h="952500">
                <a:moveTo>
                  <a:pt x="15240" y="0"/>
                </a:moveTo>
                <a:lnTo>
                  <a:pt x="15240" y="0"/>
                </a:lnTo>
                <a:lnTo>
                  <a:pt x="15240" y="952500"/>
                </a:lnTo>
                <a:lnTo>
                  <a:pt x="15240" y="952500"/>
                </a:lnTo>
                <a:cubicBezTo>
                  <a:pt x="6823" y="952500"/>
                  <a:pt x="0" y="945677"/>
                  <a:pt x="0" y="9372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66999" y="224599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2731" y="221742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 Index (BM25)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31281" y="2484120"/>
            <a:ext cx="3219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Pickled BM25 structural index maps term frequencies and exact phrase bounds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9361" y="3169923"/>
            <a:ext cx="3379470" cy="1181100"/>
          </a:xfrm>
          <a:custGeom>
            <a:avLst/>
            <a:gdLst/>
            <a:ahLst/>
            <a:cxnLst/>
            <a:rect l="l" t="t" r="r" b="b"/>
            <a:pathLst>
              <a:path w="3379470" h="1181100">
                <a:moveTo>
                  <a:pt x="15240" y="0"/>
                </a:moveTo>
                <a:lnTo>
                  <a:pt x="3303270" y="0"/>
                </a:lnTo>
                <a:cubicBezTo>
                  <a:pt x="3345326" y="0"/>
                  <a:pt x="3379470" y="34144"/>
                  <a:pt x="3379470" y="76200"/>
                </a:cubicBezTo>
                <a:lnTo>
                  <a:pt x="3379470" y="1104900"/>
                </a:lnTo>
                <a:cubicBezTo>
                  <a:pt x="3379470" y="1146956"/>
                  <a:pt x="3345326" y="1181100"/>
                  <a:pt x="3303270" y="1181100"/>
                </a:cubicBezTo>
                <a:lnTo>
                  <a:pt x="15240" y="1181100"/>
                </a:lnTo>
                <a:cubicBezTo>
                  <a:pt x="6823" y="1181100"/>
                  <a:pt x="0" y="1174277"/>
                  <a:pt x="0" y="11658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09361" y="3169923"/>
            <a:ext cx="15240" cy="1181100"/>
          </a:xfrm>
          <a:custGeom>
            <a:avLst/>
            <a:gdLst/>
            <a:ahLst/>
            <a:cxnLst/>
            <a:rect l="l" t="t" r="r" b="b"/>
            <a:pathLst>
              <a:path w="15240" h="1181100">
                <a:moveTo>
                  <a:pt x="15240" y="0"/>
                </a:moveTo>
                <a:lnTo>
                  <a:pt x="15240" y="0"/>
                </a:lnTo>
                <a:lnTo>
                  <a:pt x="15240" y="1181100"/>
                </a:lnTo>
                <a:lnTo>
                  <a:pt x="15240" y="1181100"/>
                </a:lnTo>
                <a:cubicBezTo>
                  <a:pt x="6823" y="1181100"/>
                  <a:pt x="0" y="1174277"/>
                  <a:pt x="0" y="11658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50331" y="331279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2731" y="3284223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Index (FAISS)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31281" y="3550923"/>
            <a:ext cx="3219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Pickled FAISS binary indices map vectors capturing conceptual tone and semantic meaning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39841" y="543687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8441" y="5417823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complementary indices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6371" y="1375410"/>
            <a:ext cx="3703320" cy="4389120"/>
          </a:xfrm>
          <a:prstGeom prst="roundRect">
            <a:avLst>
              <a:gd name="adj" fmla="val 2058"/>
            </a:avLst>
          </a:prstGeom>
          <a:gradFill flip="none" rotWithShape="1">
            <a:gsLst>
              <a:gs pos="0">
                <a:srgbClr val="4A5568">
                  <a:alpha val="25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62581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350806" y="16078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34081" y="162687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 Retrieval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2581" y="210312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376881" y="221742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Execution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76881" y="244602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algorithms pull candidate lists simultaneously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62581" y="31318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376881" y="32461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76881" y="34747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normalized and ranked dynamically via formula fusion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62581" y="41605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76881" y="42748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Ranking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76881" y="45034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RRF with temporal decay — newer articles receive boosted weights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81631" y="54368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0" name="Text 48"/>
          <p:cNvSpPr/>
          <p:nvPr/>
        </p:nvSpPr>
        <p:spPr>
          <a:xfrm>
            <a:off x="8529281" y="5417823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results delivered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4810" y="5886451"/>
            <a:ext cx="11418570" cy="693420"/>
          </a:xfrm>
          <a:prstGeom prst="roundRect">
            <a:avLst>
              <a:gd name="adj" fmla="val 1098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445" y="611885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3" name="Text 51"/>
          <p:cNvSpPr/>
          <p:nvPr/>
        </p:nvSpPr>
        <p:spPr>
          <a:xfrm>
            <a:off x="848082" y="6004559"/>
            <a:ext cx="1091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seamlessly loads 120k+ articles into DuckDB and maintains two complementary indices — sparse for exact matching and dense for semantic understanding — enabling both precision and conceptual search capabilities.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Hybrid Search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5627370" cy="1645920"/>
          </a:xfrm>
          <a:prstGeom prst="roundRect">
            <a:avLst>
              <a:gd name="adj" fmla="val 4630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2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6270" y="16268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1036320" y="1588773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Lexical Search (BM25)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9595" y="20650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8"/>
          <p:cNvSpPr/>
          <p:nvPr/>
        </p:nvSpPr>
        <p:spPr>
          <a:xfrm>
            <a:off x="807720" y="2026923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Searches bm25_index.pkl for exact keyword structural matches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595" y="23698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2" name="Text 10"/>
          <p:cNvSpPr/>
          <p:nvPr/>
        </p:nvSpPr>
        <p:spPr>
          <a:xfrm>
            <a:off x="807720" y="2331723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Exceptional Recall — captures all documents containing query terms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9595" y="26746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2"/>
          <p:cNvSpPr/>
          <p:nvPr/>
        </p:nvSpPr>
        <p:spPr>
          <a:xfrm>
            <a:off x="807720" y="2636523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mildly with semantic precision on nuanced queries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3181351"/>
            <a:ext cx="5627370" cy="1645920"/>
          </a:xfrm>
          <a:prstGeom prst="roundRect">
            <a:avLst>
              <a:gd name="adj" fmla="val 4630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020" y="333755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6270" y="34328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8" name="Text 16"/>
          <p:cNvSpPr/>
          <p:nvPr/>
        </p:nvSpPr>
        <p:spPr>
          <a:xfrm>
            <a:off x="1036320" y="3394709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Search (FAISS)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9595" y="387095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0" name="Text 18"/>
          <p:cNvSpPr/>
          <p:nvPr/>
        </p:nvSpPr>
        <p:spPr>
          <a:xfrm>
            <a:off x="807720" y="3832859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Passes queries through sentence-transformers (all-MiniLM-L6-v2)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9595" y="417575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2" name="Text 20"/>
          <p:cNvSpPr/>
          <p:nvPr/>
        </p:nvSpPr>
        <p:spPr>
          <a:xfrm>
            <a:off x="807720" y="4137659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to conceptual dense space via faiss_index.faiss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9595" y="448055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4" name="Text 22"/>
          <p:cNvSpPr/>
          <p:nvPr/>
        </p:nvSpPr>
        <p:spPr>
          <a:xfrm>
            <a:off x="807720" y="4442459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0.80+ contextual Precision on nuanced concept queries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9820" y="1379220"/>
            <a:ext cx="5625465" cy="4053840"/>
          </a:xfrm>
          <a:prstGeom prst="roundRect">
            <a:avLst>
              <a:gd name="adj" fmla="val 1880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9840" y="153924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4A26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46997" y="163449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6835140" y="1596391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Strategy: RRF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9840" y="2072641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54140" y="2186941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Reciprocal Rank Fusion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4140" y="2491741"/>
            <a:ext cx="515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Mathematically combines rankings from both indices using RRF formula with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50/50 blend weighting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9840" y="3177541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54140" y="3291841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Decay Boosting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4140" y="3596641"/>
            <a:ext cx="515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Newer articles receive boosted weights, ensuring recency relevance in results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9840" y="4282441"/>
            <a:ext cx="5305425" cy="990600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54140" y="4396741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Normalization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4140" y="4701541"/>
            <a:ext cx="515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lists normalized and ranked dynamically for optimal result ordering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010" y="5596892"/>
            <a:ext cx="5627370" cy="1226820"/>
          </a:xfrm>
          <a:prstGeom prst="roundRect">
            <a:avLst>
              <a:gd name="adj" fmla="val 6211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4601" y="58007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0" name="Text 38"/>
          <p:cNvSpPr/>
          <p:nvPr/>
        </p:nvSpPr>
        <p:spPr>
          <a:xfrm>
            <a:off x="6551295" y="57531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Processing Flow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2220" y="6134100"/>
            <a:ext cx="809625" cy="533400"/>
          </a:xfrm>
          <a:prstGeom prst="roundRect">
            <a:avLst>
              <a:gd name="adj" fmla="val 7143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13182" y="621030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35904" y="633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E2E8F0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9742" y="6134100"/>
            <a:ext cx="809625" cy="533400"/>
          </a:xfrm>
          <a:prstGeom prst="roundRect">
            <a:avLst>
              <a:gd name="adj" fmla="val 7143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540704" y="621030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NLTK Prep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3545" y="633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E2E8F0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87383" y="6134100"/>
            <a:ext cx="809625" cy="533400"/>
          </a:xfrm>
          <a:prstGeom prst="roundRect">
            <a:avLst>
              <a:gd name="adj" fmla="val 7143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668345" y="621030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Search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491067" y="633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E2E8F0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714905" y="6134100"/>
            <a:ext cx="809625" cy="533400"/>
          </a:xfrm>
          <a:prstGeom prst="roundRect">
            <a:avLst>
              <a:gd name="adj" fmla="val 7143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795867" y="621030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RRF Fusion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618709" y="633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E2E8F0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842546" y="6229350"/>
            <a:ext cx="809625" cy="342900"/>
          </a:xfrm>
          <a:prstGeom prst="roundRect">
            <a:avLst>
              <a:gd name="adj" fmla="val 11111"/>
            </a:avLst>
          </a:prstGeom>
          <a:solidFill>
            <a:srgbClr val="D4A26A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923509" y="63055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9_High_tech_Blue_Data_Analytics_Interface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304925" cy="381000"/>
          </a:xfrm>
          <a:prstGeom prst="roundRect">
            <a:avLst>
              <a:gd name="adj" fmla="val 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technical obstacles and engineering solutions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RESOLUTIONS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Critical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11410950" cy="1628775"/>
          </a:xfrm>
          <a:custGeom>
            <a:avLst/>
            <a:gdLst/>
            <a:ahLst/>
            <a:cxnLst/>
            <a:rect l="l" t="t" r="r" b="b"/>
            <a:pathLst>
              <a:path w="11410950" h="1628775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552575"/>
                </a:lnTo>
                <a:cubicBezTo>
                  <a:pt x="11410950" y="1594631"/>
                  <a:pt x="11376806" y="1628775"/>
                  <a:pt x="11334750" y="1628775"/>
                </a:cubicBez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628775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55672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1395" y="1631872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555672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 RAM Saturation on FAISS Index Generation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00150" y="19271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189857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" y="2127172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sentence-transformers embeddings over 120,000 articles instantly saturated System RAM, causing complete Flask server crashes during bulk ingestion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5100" y="19271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0" y="189857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6050" y="2127172"/>
            <a:ext cx="523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Decoupled index regeneration into offline background script (rebuild_index.py) that builds .faiss and .pkl binaries offline; main API loads into static read-only memory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111461"/>
            <a:ext cx="11410950" cy="1628775"/>
          </a:xfrm>
          <a:custGeom>
            <a:avLst/>
            <a:gdLst/>
            <a:ahLst/>
            <a:cxnLst/>
            <a:rect l="l" t="t" r="r" b="b"/>
            <a:pathLst>
              <a:path w="11410950" h="1628775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552575"/>
                </a:lnTo>
                <a:cubicBezTo>
                  <a:pt x="11410950" y="1594631"/>
                  <a:pt x="11376806" y="1628775"/>
                  <a:pt x="11334750" y="1628775"/>
                </a:cubicBez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4902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111461"/>
            <a:ext cx="38100" cy="1628775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34099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0678" y="34861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3409950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Ranking of Ambiguous Concepts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0150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50" y="37528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3981450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"technology AI" returned articles mentioning "technology" 100 times before nuanced AI infrastructure discussions — pure lexical matching failed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15100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5" name="Text 23"/>
          <p:cNvSpPr/>
          <p:nvPr/>
        </p:nvSpPr>
        <p:spPr>
          <a:xfrm>
            <a:off x="6667500" y="37528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Resolution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6050" y="3981450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true Hybrid Fusion — BM25 ensures target words exist, FAISS ensures context aligns. Mathematically forced 50/50 blend in standard model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4851439"/>
            <a:ext cx="11410950" cy="1628775"/>
          </a:xfrm>
          <a:custGeom>
            <a:avLst/>
            <a:gdLst/>
            <a:ahLst/>
            <a:cxnLst/>
            <a:rect l="l" t="t" r="r" b="b"/>
            <a:pathLst>
              <a:path w="11410950" h="1628775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552575"/>
                </a:lnTo>
                <a:cubicBezTo>
                  <a:pt x="11410950" y="1594631"/>
                  <a:pt x="11376806" y="1628775"/>
                  <a:pt x="11334750" y="1628775"/>
                </a:cubicBez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4902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0050" y="4851439"/>
            <a:ext cx="38100" cy="1628775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" y="503551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9725" y="511171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1100" y="5035511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LLM Timeout &amp; Context Window Truncation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00150" y="54069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1352550" y="5378411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1100" y="5607011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Summarizing 10 retrieved articles via local Mistral/Llama broke context token limits, halting server execution completely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15100" y="54069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6" name="Text 34"/>
          <p:cNvSpPr/>
          <p:nvPr/>
        </p:nvSpPr>
        <p:spPr>
          <a:xfrm>
            <a:off x="6667500" y="5378411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Resolution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6050" y="5607011"/>
            <a:ext cx="523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Truncated AI input to top 5 content_excerpt fragments maximum. Implemented rigorous thread timeout boundaries so LLM failure doesn't prevent standard article population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5_Abstract_Dark_Mode_Dashboard_Backgroun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44" r="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304925" cy="381000"/>
          </a:xfrm>
          <a:prstGeom prst="roundRect">
            <a:avLst>
              <a:gd name="adj" fmla="val 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Results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metrics and performance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 &amp;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5627370" cy="1379220"/>
          </a:xfrm>
          <a:prstGeom prst="roundRect">
            <a:avLst>
              <a:gd name="adj" fmla="val 5525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5548" y="157924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5"/>
          <p:cNvSpPr/>
          <p:nvPr/>
        </p:nvSpPr>
        <p:spPr>
          <a:xfrm>
            <a:off x="760095" y="1531618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Ground Truth 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12618"/>
            <a:ext cx="5391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Established mathematical ground truths by auto-generating targeted test files (generate_synthetic_data.py) to enable definitive mathematical validation of retrieval accuracy.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" y="2918466"/>
            <a:ext cx="5625465" cy="3815715"/>
          </a:xfrm>
          <a:prstGeom prst="roundRect">
            <a:avLst>
              <a:gd name="adj" fmla="val 1997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2453" y="31261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1" name="Text 9"/>
          <p:cNvSpPr/>
          <p:nvPr/>
        </p:nvSpPr>
        <p:spPr>
          <a:xfrm>
            <a:off x="767715" y="3078482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Results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59482"/>
            <a:ext cx="5305425" cy="1028700"/>
          </a:xfrm>
          <a:prstGeom prst="roundRect">
            <a:avLst>
              <a:gd name="adj" fmla="val 7407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" y="3592832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BM25 Lexical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15326" y="3573782"/>
            <a:ext cx="1219200" cy="2667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15326" y="3573782"/>
            <a:ext cx="12858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Exceptional Recall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" y="3916682"/>
            <a:ext cx="515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exact-match retrieval but mild semantic precision struggles on nuanced queries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02482"/>
            <a:ext cx="5305425" cy="800100"/>
          </a:xfrm>
          <a:prstGeom prst="roundRect">
            <a:avLst>
              <a:gd name="adj" fmla="val 9524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" y="4735832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FAISS Semantic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57130" y="4716782"/>
            <a:ext cx="1076325" cy="266700"/>
          </a:xfrm>
          <a:prstGeom prst="roundRect">
            <a:avLst>
              <a:gd name="adj" fmla="val 14286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57130" y="4716782"/>
            <a:ext cx="11430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0.80+ Precision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" y="5059682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Incredibly high contextual precision on nuanced concept queries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6260" y="5524502"/>
            <a:ext cx="5292090" cy="1043940"/>
          </a:xfrm>
          <a:prstGeom prst="roundRect">
            <a:avLst>
              <a:gd name="adj" fmla="val 7299"/>
            </a:avLst>
          </a:prstGeom>
          <a:solidFill>
            <a:srgbClr val="1A1D21">
              <a:alpha val="60000"/>
            </a:srgbClr>
          </a:solidFill>
          <a:ln w="20320">
            <a:solidFill>
              <a:srgbClr val="D4A2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180" y="5665468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Fusion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0140" y="5646418"/>
            <a:ext cx="790575" cy="266700"/>
          </a:xfrm>
          <a:prstGeom prst="roundRect">
            <a:avLst>
              <a:gd name="adj" fmla="val 14286"/>
            </a:avLst>
          </a:prstGeom>
          <a:solidFill>
            <a:srgbClr val="D4A26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0140" y="5646418"/>
            <a:ext cx="85725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MAP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8180" y="5989318"/>
            <a:ext cx="512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Dramatically stronger MAP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out-of-the-box text searches across unstructured digital journalism datasets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1375410"/>
            <a:ext cx="5627370" cy="4170045"/>
          </a:xfrm>
          <a:prstGeom prst="roundRect">
            <a:avLst>
              <a:gd name="adj" fmla="val 1827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6032" y="15792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9" name="Text 27"/>
          <p:cNvSpPr/>
          <p:nvPr/>
        </p:nvSpPr>
        <p:spPr>
          <a:xfrm>
            <a:off x="6551295" y="1531618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UI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2220" y="1912618"/>
            <a:ext cx="5314950" cy="6858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46520" y="202691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46532" y="21412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36490" y="-7144"/>
                  <a:pt x="142875" y="-759"/>
                  <a:pt x="142875" y="7144"/>
                </a:cubicBezTo>
                <a:lnTo>
                  <a:pt x="142875" y="15314"/>
                </a:lnTo>
                <a:cubicBezTo>
                  <a:pt x="186675" y="21565"/>
                  <a:pt x="221322" y="56212"/>
                  <a:pt x="227573" y="100013"/>
                </a:cubicBezTo>
                <a:lnTo>
                  <a:pt x="235744" y="100013"/>
                </a:lnTo>
                <a:cubicBezTo>
                  <a:pt x="243647" y="100013"/>
                  <a:pt x="250031" y="106397"/>
                  <a:pt x="250031" y="114300"/>
                </a:cubicBezTo>
                <a:cubicBezTo>
                  <a:pt x="250031" y="122203"/>
                  <a:pt x="243647" y="128588"/>
                  <a:pt x="235744" y="128588"/>
                </a:cubicBezTo>
                <a:lnTo>
                  <a:pt x="227573" y="128588"/>
                </a:lnTo>
                <a:cubicBezTo>
                  <a:pt x="221322" y="172388"/>
                  <a:pt x="186675" y="207035"/>
                  <a:pt x="142875" y="213286"/>
                </a:cubicBezTo>
                <a:lnTo>
                  <a:pt x="142875" y="221456"/>
                </a:lnTo>
                <a:cubicBezTo>
                  <a:pt x="142875" y="229359"/>
                  <a:pt x="136490" y="235744"/>
                  <a:pt x="128588" y="235744"/>
                </a:cubicBezTo>
                <a:cubicBezTo>
                  <a:pt x="120685" y="235744"/>
                  <a:pt x="114300" y="229359"/>
                  <a:pt x="114300" y="221456"/>
                </a:cubicBezTo>
                <a:lnTo>
                  <a:pt x="114300" y="213286"/>
                </a:lnTo>
                <a:cubicBezTo>
                  <a:pt x="70500" y="207035"/>
                  <a:pt x="35853" y="172388"/>
                  <a:pt x="29602" y="128588"/>
                </a:cubicBezTo>
                <a:lnTo>
                  <a:pt x="21431" y="128588"/>
                </a:lnTo>
                <a:cubicBezTo>
                  <a:pt x="13528" y="128588"/>
                  <a:pt x="7144" y="122203"/>
                  <a:pt x="7144" y="114300"/>
                </a:cubicBezTo>
                <a:cubicBezTo>
                  <a:pt x="7144" y="106397"/>
                  <a:pt x="13528" y="100013"/>
                  <a:pt x="21431" y="100013"/>
                </a:cubicBezTo>
                <a:lnTo>
                  <a:pt x="29602" y="100013"/>
                </a:lnTo>
                <a:cubicBezTo>
                  <a:pt x="35853" y="56212"/>
                  <a:pt x="70500" y="21565"/>
                  <a:pt x="114300" y="15314"/>
                </a:cubicBezTo>
                <a:lnTo>
                  <a:pt x="114300" y="7144"/>
                </a:lnTo>
                <a:cubicBezTo>
                  <a:pt x="114300" y="-759"/>
                  <a:pt x="120685" y="-7144"/>
                  <a:pt x="128588" y="-7144"/>
                </a:cubicBezTo>
                <a:close/>
                <a:moveTo>
                  <a:pt x="58579" y="128588"/>
                </a:moveTo>
                <a:cubicBezTo>
                  <a:pt x="64249" y="156582"/>
                  <a:pt x="86305" y="178638"/>
                  <a:pt x="114300" y="184309"/>
                </a:cubicBezTo>
                <a:lnTo>
                  <a:pt x="114300" y="178594"/>
                </a:lnTo>
                <a:cubicBezTo>
                  <a:pt x="114300" y="170691"/>
                  <a:pt x="120685" y="164306"/>
                  <a:pt x="128588" y="164306"/>
                </a:cubicBezTo>
                <a:cubicBezTo>
                  <a:pt x="136490" y="164306"/>
                  <a:pt x="142875" y="170691"/>
                  <a:pt x="142875" y="178594"/>
                </a:cubicBezTo>
                <a:lnTo>
                  <a:pt x="142875" y="184309"/>
                </a:lnTo>
                <a:cubicBezTo>
                  <a:pt x="170870" y="178638"/>
                  <a:pt x="192926" y="156582"/>
                  <a:pt x="198596" y="128588"/>
                </a:cubicBezTo>
                <a:lnTo>
                  <a:pt x="192881" y="128588"/>
                </a:lnTo>
                <a:cubicBezTo>
                  <a:pt x="184978" y="128588"/>
                  <a:pt x="178594" y="122203"/>
                  <a:pt x="178594" y="114300"/>
                </a:cubicBezTo>
                <a:cubicBezTo>
                  <a:pt x="178594" y="106397"/>
                  <a:pt x="184978" y="100013"/>
                  <a:pt x="192881" y="100013"/>
                </a:cubicBezTo>
                <a:lnTo>
                  <a:pt x="198596" y="100013"/>
                </a:lnTo>
                <a:cubicBezTo>
                  <a:pt x="192926" y="72018"/>
                  <a:pt x="170870" y="49962"/>
                  <a:pt x="142875" y="44291"/>
                </a:cubicBezTo>
                <a:lnTo>
                  <a:pt x="142875" y="50006"/>
                </a:lnTo>
                <a:cubicBezTo>
                  <a:pt x="142875" y="57909"/>
                  <a:pt x="136490" y="64294"/>
                  <a:pt x="128588" y="64294"/>
                </a:cubicBezTo>
                <a:cubicBezTo>
                  <a:pt x="120685" y="64294"/>
                  <a:pt x="114300" y="57909"/>
                  <a:pt x="114300" y="50006"/>
                </a:cubicBezTo>
                <a:lnTo>
                  <a:pt x="114300" y="44291"/>
                </a:lnTo>
                <a:cubicBezTo>
                  <a:pt x="86305" y="49962"/>
                  <a:pt x="64249" y="72018"/>
                  <a:pt x="58579" y="100013"/>
                </a:cubicBezTo>
                <a:lnTo>
                  <a:pt x="64294" y="100013"/>
                </a:lnTo>
                <a:cubicBezTo>
                  <a:pt x="72197" y="100013"/>
                  <a:pt x="78581" y="106397"/>
                  <a:pt x="78581" y="114300"/>
                </a:cubicBezTo>
                <a:cubicBezTo>
                  <a:pt x="78581" y="122203"/>
                  <a:pt x="72197" y="128588"/>
                  <a:pt x="64294" y="128588"/>
                </a:cubicBezTo>
                <a:lnTo>
                  <a:pt x="58579" y="128588"/>
                </a:lnTo>
                <a:close/>
                <a:moveTo>
                  <a:pt x="128588" y="92869"/>
                </a:moveTo>
                <a:cubicBezTo>
                  <a:pt x="140416" y="92869"/>
                  <a:pt x="150019" y="102472"/>
                  <a:pt x="150019" y="114300"/>
                </a:cubicBezTo>
                <a:cubicBezTo>
                  <a:pt x="150019" y="126128"/>
                  <a:pt x="140416" y="135731"/>
                  <a:pt x="128588" y="135731"/>
                </a:cubicBezTo>
                <a:cubicBezTo>
                  <a:pt x="116759" y="135731"/>
                  <a:pt x="107156" y="126128"/>
                  <a:pt x="107156" y="114300"/>
                </a:cubicBezTo>
                <a:cubicBezTo>
                  <a:pt x="107156" y="102472"/>
                  <a:pt x="116759" y="92869"/>
                  <a:pt x="128588" y="9286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3" name="Text 31"/>
          <p:cNvSpPr/>
          <p:nvPr/>
        </p:nvSpPr>
        <p:spPr>
          <a:xfrm>
            <a:off x="7018020" y="2026918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Precision@20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8020" y="2217418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2220" y="2712718"/>
            <a:ext cx="5314950" cy="6858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46520" y="282701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75107" y="29413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8" name="Text 36"/>
          <p:cNvSpPr/>
          <p:nvPr/>
        </p:nvSpPr>
        <p:spPr>
          <a:xfrm>
            <a:off x="7018020" y="2827018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Tracking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8020" y="3017518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2220" y="3512818"/>
            <a:ext cx="5314950" cy="6858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46520" y="362711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46532" y="37414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3" name="Text 41"/>
          <p:cNvSpPr/>
          <p:nvPr/>
        </p:nvSpPr>
        <p:spPr>
          <a:xfrm>
            <a:off x="7018020" y="3627118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Relevancy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8020" y="3817618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Calc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2220" y="4312918"/>
            <a:ext cx="5314950" cy="685800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46520" y="442721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60820" y="45415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8" name="Text 46"/>
          <p:cNvSpPr/>
          <p:nvPr/>
        </p:nvSpPr>
        <p:spPr>
          <a:xfrm>
            <a:off x="7018020" y="4427218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Latency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18020" y="4617718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Milliseconds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010" y="5703574"/>
            <a:ext cx="5627370" cy="1036320"/>
          </a:xfrm>
          <a:prstGeom prst="roundRect">
            <a:avLst>
              <a:gd name="adj" fmla="val 7353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60795" y="607885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2" name="Text 50"/>
          <p:cNvSpPr/>
          <p:nvPr/>
        </p:nvSpPr>
        <p:spPr>
          <a:xfrm>
            <a:off x="6787634" y="5859782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87634" y="6126482"/>
            <a:ext cx="4943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hybrid approach outperforms standalone lexical or semantic methods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72" y="345872"/>
            <a:ext cx="1156943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kern="0" spc="54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872" y="622570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872" y="1072204"/>
            <a:ext cx="830094" cy="34587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52790" y="1252058"/>
            <a:ext cx="5668848" cy="3126686"/>
          </a:xfrm>
          <a:prstGeom prst="roundRect">
            <a:avLst>
              <a:gd name="adj" fmla="val 2212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2643" y="1431917"/>
            <a:ext cx="415047" cy="415047"/>
          </a:xfrm>
          <a:prstGeom prst="roundRect">
            <a:avLst>
              <a:gd name="adj" fmla="val 16667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636405" y="1535678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103762" y="207523"/>
                </a:moveTo>
                <a:cubicBezTo>
                  <a:pt x="161029" y="207523"/>
                  <a:pt x="207523" y="161029"/>
                  <a:pt x="207523" y="103762"/>
                </a:cubicBezTo>
                <a:cubicBezTo>
                  <a:pt x="207523" y="46494"/>
                  <a:pt x="161029" y="0"/>
                  <a:pt x="103762" y="0"/>
                </a:cubicBezTo>
                <a:cubicBezTo>
                  <a:pt x="46494" y="0"/>
                  <a:pt x="0" y="46494"/>
                  <a:pt x="0" y="103762"/>
                </a:cubicBezTo>
                <a:cubicBezTo>
                  <a:pt x="0" y="161029"/>
                  <a:pt x="46494" y="207523"/>
                  <a:pt x="103762" y="207523"/>
                </a:cubicBezTo>
                <a:close/>
                <a:moveTo>
                  <a:pt x="137971" y="86211"/>
                </a:moveTo>
                <a:lnTo>
                  <a:pt x="105545" y="138092"/>
                </a:lnTo>
                <a:cubicBezTo>
                  <a:pt x="103843" y="140808"/>
                  <a:pt x="100924" y="142510"/>
                  <a:pt x="97722" y="142672"/>
                </a:cubicBezTo>
                <a:cubicBezTo>
                  <a:pt x="94520" y="142834"/>
                  <a:pt x="91440" y="141375"/>
                  <a:pt x="89535" y="138781"/>
                </a:cubicBezTo>
                <a:lnTo>
                  <a:pt x="70080" y="112841"/>
                </a:lnTo>
                <a:cubicBezTo>
                  <a:pt x="66837" y="108544"/>
                  <a:pt x="67729" y="102465"/>
                  <a:pt x="72025" y="99222"/>
                </a:cubicBezTo>
                <a:cubicBezTo>
                  <a:pt x="76322" y="95980"/>
                  <a:pt x="82401" y="96871"/>
                  <a:pt x="85644" y="101168"/>
                </a:cubicBezTo>
                <a:lnTo>
                  <a:pt x="96588" y="115759"/>
                </a:lnTo>
                <a:lnTo>
                  <a:pt x="121474" y="75916"/>
                </a:lnTo>
                <a:cubicBezTo>
                  <a:pt x="124311" y="71377"/>
                  <a:pt x="130310" y="69958"/>
                  <a:pt x="134890" y="72836"/>
                </a:cubicBezTo>
                <a:cubicBezTo>
                  <a:pt x="139470" y="75714"/>
                  <a:pt x="140848" y="81672"/>
                  <a:pt x="137971" y="8625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051452" y="1501091"/>
            <a:ext cx="1815830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9937" y="2019900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35809" y="75281"/>
                </a:moveTo>
                <a:cubicBezTo>
                  <a:pt x="139187" y="71904"/>
                  <a:pt x="139187" y="66418"/>
                  <a:pt x="135809" y="63041"/>
                </a:cubicBezTo>
                <a:lnTo>
                  <a:pt x="92575" y="19807"/>
                </a:lnTo>
                <a:cubicBezTo>
                  <a:pt x="89197" y="16429"/>
                  <a:pt x="83712" y="16429"/>
                  <a:pt x="80334" y="19807"/>
                </a:cubicBezTo>
                <a:cubicBezTo>
                  <a:pt x="76957" y="23184"/>
                  <a:pt x="76957" y="28670"/>
                  <a:pt x="80334" y="32047"/>
                </a:cubicBezTo>
                <a:lnTo>
                  <a:pt x="108815" y="60528"/>
                </a:lnTo>
                <a:lnTo>
                  <a:pt x="8647" y="60528"/>
                </a:lnTo>
                <a:cubicBezTo>
                  <a:pt x="3864" y="60528"/>
                  <a:pt x="0" y="64392"/>
                  <a:pt x="0" y="69174"/>
                </a:cubicBezTo>
                <a:cubicBezTo>
                  <a:pt x="0" y="73957"/>
                  <a:pt x="3864" y="77821"/>
                  <a:pt x="8647" y="77821"/>
                </a:cubicBezTo>
                <a:lnTo>
                  <a:pt x="108815" y="77821"/>
                </a:lnTo>
                <a:lnTo>
                  <a:pt x="80334" y="106302"/>
                </a:lnTo>
                <a:cubicBezTo>
                  <a:pt x="76957" y="109679"/>
                  <a:pt x="76957" y="115165"/>
                  <a:pt x="80334" y="118542"/>
                </a:cubicBezTo>
                <a:cubicBezTo>
                  <a:pt x="83712" y="121920"/>
                  <a:pt x="89197" y="121920"/>
                  <a:pt x="92575" y="118542"/>
                </a:cubicBezTo>
                <a:lnTo>
                  <a:pt x="135809" y="7530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8"/>
          <p:cNvSpPr/>
          <p:nvPr/>
        </p:nvSpPr>
        <p:spPr>
          <a:xfrm>
            <a:off x="809341" y="1985312"/>
            <a:ext cx="5101617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bridged modern enterprise Information Retrieval concepts with </a:t>
            </a:r>
            <a:r>
              <a:rPr lang="en-US" sz="108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localized, embedded, consumer hardware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9937" y="260788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35809" y="75281"/>
                </a:moveTo>
                <a:cubicBezTo>
                  <a:pt x="139187" y="71904"/>
                  <a:pt x="139187" y="66418"/>
                  <a:pt x="135809" y="63041"/>
                </a:cubicBezTo>
                <a:lnTo>
                  <a:pt x="92575" y="19807"/>
                </a:lnTo>
                <a:cubicBezTo>
                  <a:pt x="89197" y="16429"/>
                  <a:pt x="83712" y="16429"/>
                  <a:pt x="80334" y="19807"/>
                </a:cubicBezTo>
                <a:cubicBezTo>
                  <a:pt x="76957" y="23184"/>
                  <a:pt x="76957" y="28670"/>
                  <a:pt x="80334" y="32047"/>
                </a:cubicBezTo>
                <a:lnTo>
                  <a:pt x="108815" y="60528"/>
                </a:lnTo>
                <a:lnTo>
                  <a:pt x="8647" y="60528"/>
                </a:lnTo>
                <a:cubicBezTo>
                  <a:pt x="3864" y="60528"/>
                  <a:pt x="0" y="64392"/>
                  <a:pt x="0" y="69174"/>
                </a:cubicBezTo>
                <a:cubicBezTo>
                  <a:pt x="0" y="73957"/>
                  <a:pt x="3864" y="77821"/>
                  <a:pt x="8647" y="77821"/>
                </a:cubicBezTo>
                <a:lnTo>
                  <a:pt x="108815" y="77821"/>
                </a:lnTo>
                <a:lnTo>
                  <a:pt x="80334" y="106302"/>
                </a:lnTo>
                <a:cubicBezTo>
                  <a:pt x="76957" y="109679"/>
                  <a:pt x="76957" y="115165"/>
                  <a:pt x="80334" y="118542"/>
                </a:cubicBezTo>
                <a:cubicBezTo>
                  <a:pt x="83712" y="121920"/>
                  <a:pt x="89197" y="121920"/>
                  <a:pt x="92575" y="118542"/>
                </a:cubicBezTo>
                <a:lnTo>
                  <a:pt x="135809" y="7530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2" name="Text 10"/>
          <p:cNvSpPr/>
          <p:nvPr/>
        </p:nvSpPr>
        <p:spPr>
          <a:xfrm>
            <a:off x="809341" y="2573295"/>
            <a:ext cx="5101617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Moved beyond Google-style primitive scraping — system fully analyzes </a:t>
            </a:r>
            <a:r>
              <a:rPr lang="en-US" sz="108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density internally</a:t>
            </a:r>
            <a:r>
              <a:rPr lang="en-US" sz="1089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cloud dependency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9937" y="3195865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35809" y="75281"/>
                </a:moveTo>
                <a:cubicBezTo>
                  <a:pt x="139187" y="71904"/>
                  <a:pt x="139187" y="66418"/>
                  <a:pt x="135809" y="63041"/>
                </a:cubicBezTo>
                <a:lnTo>
                  <a:pt x="92575" y="19807"/>
                </a:lnTo>
                <a:cubicBezTo>
                  <a:pt x="89197" y="16429"/>
                  <a:pt x="83712" y="16429"/>
                  <a:pt x="80334" y="19807"/>
                </a:cubicBezTo>
                <a:cubicBezTo>
                  <a:pt x="76957" y="23184"/>
                  <a:pt x="76957" y="28670"/>
                  <a:pt x="80334" y="32047"/>
                </a:cubicBezTo>
                <a:lnTo>
                  <a:pt x="108815" y="60528"/>
                </a:lnTo>
                <a:lnTo>
                  <a:pt x="8647" y="60528"/>
                </a:lnTo>
                <a:cubicBezTo>
                  <a:pt x="3864" y="60528"/>
                  <a:pt x="0" y="64392"/>
                  <a:pt x="0" y="69174"/>
                </a:cubicBezTo>
                <a:cubicBezTo>
                  <a:pt x="0" y="73957"/>
                  <a:pt x="3864" y="77821"/>
                  <a:pt x="8647" y="77821"/>
                </a:cubicBezTo>
                <a:lnTo>
                  <a:pt x="108815" y="77821"/>
                </a:lnTo>
                <a:lnTo>
                  <a:pt x="80334" y="106302"/>
                </a:lnTo>
                <a:cubicBezTo>
                  <a:pt x="76957" y="109679"/>
                  <a:pt x="76957" y="115165"/>
                  <a:pt x="80334" y="118542"/>
                </a:cubicBezTo>
                <a:cubicBezTo>
                  <a:pt x="83712" y="121920"/>
                  <a:pt x="89197" y="121920"/>
                  <a:pt x="92575" y="118542"/>
                </a:cubicBezTo>
                <a:lnTo>
                  <a:pt x="135809" y="7530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341" y="3161278"/>
            <a:ext cx="5101617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Proved that </a:t>
            </a:r>
            <a:r>
              <a:rPr lang="en-US" sz="108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hybrid searches yield better relevancy</a:t>
            </a:r>
            <a:r>
              <a:rPr lang="en-US" sz="1089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strictly lexical queries across 120,000+ articles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9937" y="3783848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35809" y="75281"/>
                </a:moveTo>
                <a:cubicBezTo>
                  <a:pt x="139187" y="71904"/>
                  <a:pt x="139187" y="66418"/>
                  <a:pt x="135809" y="63041"/>
                </a:cubicBezTo>
                <a:lnTo>
                  <a:pt x="92575" y="19807"/>
                </a:lnTo>
                <a:cubicBezTo>
                  <a:pt x="89197" y="16429"/>
                  <a:pt x="83712" y="16429"/>
                  <a:pt x="80334" y="19807"/>
                </a:cubicBezTo>
                <a:cubicBezTo>
                  <a:pt x="76957" y="23184"/>
                  <a:pt x="76957" y="28670"/>
                  <a:pt x="80334" y="32047"/>
                </a:cubicBezTo>
                <a:lnTo>
                  <a:pt x="108815" y="60528"/>
                </a:lnTo>
                <a:lnTo>
                  <a:pt x="8647" y="60528"/>
                </a:lnTo>
                <a:cubicBezTo>
                  <a:pt x="3864" y="60528"/>
                  <a:pt x="0" y="64392"/>
                  <a:pt x="0" y="69174"/>
                </a:cubicBezTo>
                <a:cubicBezTo>
                  <a:pt x="0" y="73957"/>
                  <a:pt x="3864" y="77821"/>
                  <a:pt x="8647" y="77821"/>
                </a:cubicBezTo>
                <a:lnTo>
                  <a:pt x="108815" y="77821"/>
                </a:lnTo>
                <a:lnTo>
                  <a:pt x="80334" y="106302"/>
                </a:lnTo>
                <a:cubicBezTo>
                  <a:pt x="76957" y="109679"/>
                  <a:pt x="76957" y="115165"/>
                  <a:pt x="80334" y="118542"/>
                </a:cubicBezTo>
                <a:cubicBezTo>
                  <a:pt x="83712" y="121920"/>
                  <a:pt x="89197" y="121920"/>
                  <a:pt x="92575" y="118542"/>
                </a:cubicBezTo>
                <a:lnTo>
                  <a:pt x="135809" y="75308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6" name="Text 14"/>
          <p:cNvSpPr/>
          <p:nvPr/>
        </p:nvSpPr>
        <p:spPr>
          <a:xfrm>
            <a:off x="809341" y="3749261"/>
            <a:ext cx="5101617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real-time metrics tracking (Precision@20, Recall, Latency) with </a:t>
            </a:r>
            <a:r>
              <a:rPr lang="en-US" sz="108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millisecond response times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9331" y="4527471"/>
            <a:ext cx="5670577" cy="2324262"/>
          </a:xfrm>
          <a:prstGeom prst="roundRect">
            <a:avLst>
              <a:gd name="adj" fmla="val 2976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2483" y="4712511"/>
            <a:ext cx="136187" cy="155643"/>
          </a:xfrm>
          <a:custGeom>
            <a:avLst/>
            <a:gdLst/>
            <a:ahLst/>
            <a:cxnLst/>
            <a:rect l="l" t="t" r="r" b="b"/>
            <a:pathLst>
              <a:path w="136187" h="155643">
                <a:moveTo>
                  <a:pt x="74751" y="-7873"/>
                </a:moveTo>
                <a:cubicBezTo>
                  <a:pt x="70678" y="-10366"/>
                  <a:pt x="65540" y="-10366"/>
                  <a:pt x="61467" y="-7873"/>
                </a:cubicBezTo>
                <a:cubicBezTo>
                  <a:pt x="54049" y="-3344"/>
                  <a:pt x="49459" y="-2128"/>
                  <a:pt x="40765" y="-2310"/>
                </a:cubicBezTo>
                <a:cubicBezTo>
                  <a:pt x="35992" y="-2432"/>
                  <a:pt x="31554" y="152"/>
                  <a:pt x="29244" y="4347"/>
                </a:cubicBezTo>
                <a:cubicBezTo>
                  <a:pt x="25079" y="11977"/>
                  <a:pt x="21705" y="15351"/>
                  <a:pt x="14075" y="19516"/>
                </a:cubicBezTo>
                <a:cubicBezTo>
                  <a:pt x="9880" y="21796"/>
                  <a:pt x="7326" y="26265"/>
                  <a:pt x="7417" y="31037"/>
                </a:cubicBezTo>
                <a:cubicBezTo>
                  <a:pt x="7630" y="39731"/>
                  <a:pt x="6384" y="44322"/>
                  <a:pt x="1854" y="51739"/>
                </a:cubicBezTo>
                <a:cubicBezTo>
                  <a:pt x="-638" y="55812"/>
                  <a:pt x="-638" y="60950"/>
                  <a:pt x="1854" y="65023"/>
                </a:cubicBezTo>
                <a:cubicBezTo>
                  <a:pt x="6384" y="72441"/>
                  <a:pt x="7600" y="77031"/>
                  <a:pt x="7417" y="85725"/>
                </a:cubicBezTo>
                <a:cubicBezTo>
                  <a:pt x="7296" y="90498"/>
                  <a:pt x="9880" y="94936"/>
                  <a:pt x="14075" y="97246"/>
                </a:cubicBezTo>
                <a:cubicBezTo>
                  <a:pt x="20793" y="100924"/>
                  <a:pt x="24198" y="103964"/>
                  <a:pt x="27785" y="109862"/>
                </a:cubicBezTo>
                <a:lnTo>
                  <a:pt x="12980" y="139379"/>
                </a:lnTo>
                <a:cubicBezTo>
                  <a:pt x="11187" y="142997"/>
                  <a:pt x="12646" y="147374"/>
                  <a:pt x="16233" y="149168"/>
                </a:cubicBezTo>
                <a:lnTo>
                  <a:pt x="42376" y="162239"/>
                </a:lnTo>
                <a:cubicBezTo>
                  <a:pt x="45872" y="163972"/>
                  <a:pt x="50128" y="162665"/>
                  <a:pt x="52013" y="159260"/>
                </a:cubicBezTo>
                <a:lnTo>
                  <a:pt x="68063" y="130351"/>
                </a:lnTo>
                <a:lnTo>
                  <a:pt x="84114" y="159260"/>
                </a:lnTo>
                <a:cubicBezTo>
                  <a:pt x="85999" y="162665"/>
                  <a:pt x="90254" y="164002"/>
                  <a:pt x="93750" y="162239"/>
                </a:cubicBezTo>
                <a:lnTo>
                  <a:pt x="119893" y="149168"/>
                </a:lnTo>
                <a:cubicBezTo>
                  <a:pt x="123511" y="147374"/>
                  <a:pt x="124970" y="142997"/>
                  <a:pt x="123146" y="139379"/>
                </a:cubicBezTo>
                <a:lnTo>
                  <a:pt x="108372" y="109831"/>
                </a:lnTo>
                <a:cubicBezTo>
                  <a:pt x="111929" y="103934"/>
                  <a:pt x="115364" y="100894"/>
                  <a:pt x="122082" y="97216"/>
                </a:cubicBezTo>
                <a:cubicBezTo>
                  <a:pt x="126277" y="94936"/>
                  <a:pt x="128831" y="90467"/>
                  <a:pt x="128739" y="85695"/>
                </a:cubicBezTo>
                <a:cubicBezTo>
                  <a:pt x="128527" y="77001"/>
                  <a:pt x="129773" y="72410"/>
                  <a:pt x="134302" y="64993"/>
                </a:cubicBezTo>
                <a:cubicBezTo>
                  <a:pt x="136795" y="60919"/>
                  <a:pt x="136795" y="55782"/>
                  <a:pt x="134302" y="51709"/>
                </a:cubicBezTo>
                <a:cubicBezTo>
                  <a:pt x="129773" y="44291"/>
                  <a:pt x="128557" y="39701"/>
                  <a:pt x="128739" y="31007"/>
                </a:cubicBezTo>
                <a:cubicBezTo>
                  <a:pt x="128861" y="26234"/>
                  <a:pt x="126277" y="21796"/>
                  <a:pt x="122082" y="19486"/>
                </a:cubicBezTo>
                <a:cubicBezTo>
                  <a:pt x="114452" y="15321"/>
                  <a:pt x="111078" y="11947"/>
                  <a:pt x="106913" y="4317"/>
                </a:cubicBezTo>
                <a:cubicBezTo>
                  <a:pt x="104633" y="122"/>
                  <a:pt x="100164" y="-2432"/>
                  <a:pt x="95392" y="-2341"/>
                </a:cubicBezTo>
                <a:cubicBezTo>
                  <a:pt x="86698" y="-2128"/>
                  <a:pt x="82108" y="-3374"/>
                  <a:pt x="74690" y="-7904"/>
                </a:cubicBezTo>
                <a:close/>
                <a:moveTo>
                  <a:pt x="68094" y="29183"/>
                </a:moveTo>
                <a:cubicBezTo>
                  <a:pt x="84200" y="29183"/>
                  <a:pt x="97277" y="42259"/>
                  <a:pt x="97277" y="58366"/>
                </a:cubicBezTo>
                <a:cubicBezTo>
                  <a:pt x="97277" y="74472"/>
                  <a:pt x="84200" y="87549"/>
                  <a:pt x="68094" y="87549"/>
                </a:cubicBezTo>
                <a:cubicBezTo>
                  <a:pt x="51987" y="87549"/>
                  <a:pt x="38911" y="74472"/>
                  <a:pt x="38911" y="58366"/>
                </a:cubicBezTo>
                <a:cubicBezTo>
                  <a:pt x="38911" y="42259"/>
                  <a:pt x="51987" y="29183"/>
                  <a:pt x="68094" y="29183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Text 17"/>
          <p:cNvSpPr/>
          <p:nvPr/>
        </p:nvSpPr>
        <p:spPr>
          <a:xfrm>
            <a:off x="690015" y="4669277"/>
            <a:ext cx="5265906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1139" y="5015149"/>
            <a:ext cx="2645923" cy="795506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21688" y="5118911"/>
            <a:ext cx="181583" cy="207523"/>
          </a:xfrm>
          <a:custGeom>
            <a:avLst/>
            <a:gdLst/>
            <a:ahLst/>
            <a:cxnLst/>
            <a:rect l="l" t="t" r="r" b="b"/>
            <a:pathLst>
              <a:path w="181583" h="207523">
                <a:moveTo>
                  <a:pt x="25940" y="12970"/>
                </a:moveTo>
                <a:cubicBezTo>
                  <a:pt x="11633" y="12970"/>
                  <a:pt x="0" y="24603"/>
                  <a:pt x="0" y="38911"/>
                </a:cubicBezTo>
                <a:lnTo>
                  <a:pt x="0" y="64851"/>
                </a:lnTo>
                <a:cubicBezTo>
                  <a:pt x="0" y="79159"/>
                  <a:pt x="11633" y="90791"/>
                  <a:pt x="25940" y="90791"/>
                </a:cubicBezTo>
                <a:lnTo>
                  <a:pt x="155643" y="90791"/>
                </a:lnTo>
                <a:cubicBezTo>
                  <a:pt x="169950" y="90791"/>
                  <a:pt x="181583" y="79159"/>
                  <a:pt x="181583" y="64851"/>
                </a:cubicBezTo>
                <a:lnTo>
                  <a:pt x="181583" y="38911"/>
                </a:lnTo>
                <a:cubicBezTo>
                  <a:pt x="181583" y="24603"/>
                  <a:pt x="169950" y="12970"/>
                  <a:pt x="155643" y="12970"/>
                </a:cubicBezTo>
                <a:lnTo>
                  <a:pt x="25940" y="12970"/>
                </a:lnTo>
                <a:close/>
                <a:moveTo>
                  <a:pt x="113489" y="42153"/>
                </a:moveTo>
                <a:cubicBezTo>
                  <a:pt x="118858" y="42153"/>
                  <a:pt x="123217" y="46512"/>
                  <a:pt x="123217" y="51881"/>
                </a:cubicBezTo>
                <a:cubicBezTo>
                  <a:pt x="123217" y="57250"/>
                  <a:pt x="118858" y="61609"/>
                  <a:pt x="113489" y="61609"/>
                </a:cubicBezTo>
                <a:cubicBezTo>
                  <a:pt x="108121" y="61609"/>
                  <a:pt x="103762" y="57250"/>
                  <a:pt x="103762" y="51881"/>
                </a:cubicBezTo>
                <a:cubicBezTo>
                  <a:pt x="103762" y="46512"/>
                  <a:pt x="108121" y="42153"/>
                  <a:pt x="113489" y="42153"/>
                </a:cubicBezTo>
                <a:close/>
                <a:moveTo>
                  <a:pt x="136187" y="51881"/>
                </a:moveTo>
                <a:cubicBezTo>
                  <a:pt x="136187" y="46512"/>
                  <a:pt x="140546" y="42153"/>
                  <a:pt x="145915" y="42153"/>
                </a:cubicBezTo>
                <a:cubicBezTo>
                  <a:pt x="151284" y="42153"/>
                  <a:pt x="155643" y="46512"/>
                  <a:pt x="155643" y="51881"/>
                </a:cubicBezTo>
                <a:cubicBezTo>
                  <a:pt x="155643" y="57250"/>
                  <a:pt x="151284" y="61609"/>
                  <a:pt x="145915" y="61609"/>
                </a:cubicBezTo>
                <a:cubicBezTo>
                  <a:pt x="140546" y="61609"/>
                  <a:pt x="136187" y="57250"/>
                  <a:pt x="136187" y="51881"/>
                </a:cubicBezTo>
                <a:close/>
                <a:moveTo>
                  <a:pt x="25940" y="116732"/>
                </a:moveTo>
                <a:cubicBezTo>
                  <a:pt x="11633" y="116732"/>
                  <a:pt x="0" y="128365"/>
                  <a:pt x="0" y="142672"/>
                </a:cubicBezTo>
                <a:lnTo>
                  <a:pt x="0" y="168613"/>
                </a:lnTo>
                <a:cubicBezTo>
                  <a:pt x="0" y="182921"/>
                  <a:pt x="11633" y="194553"/>
                  <a:pt x="25940" y="194553"/>
                </a:cubicBezTo>
                <a:lnTo>
                  <a:pt x="155643" y="194553"/>
                </a:lnTo>
                <a:cubicBezTo>
                  <a:pt x="169950" y="194553"/>
                  <a:pt x="181583" y="182921"/>
                  <a:pt x="181583" y="168613"/>
                </a:cubicBezTo>
                <a:lnTo>
                  <a:pt x="181583" y="142672"/>
                </a:lnTo>
                <a:cubicBezTo>
                  <a:pt x="181583" y="128365"/>
                  <a:pt x="169950" y="116732"/>
                  <a:pt x="155643" y="116732"/>
                </a:cubicBezTo>
                <a:lnTo>
                  <a:pt x="25940" y="116732"/>
                </a:lnTo>
                <a:close/>
                <a:moveTo>
                  <a:pt x="113489" y="145915"/>
                </a:moveTo>
                <a:cubicBezTo>
                  <a:pt x="118858" y="145915"/>
                  <a:pt x="123217" y="150274"/>
                  <a:pt x="123217" y="155643"/>
                </a:cubicBezTo>
                <a:cubicBezTo>
                  <a:pt x="123217" y="161011"/>
                  <a:pt x="118858" y="165370"/>
                  <a:pt x="113489" y="165370"/>
                </a:cubicBezTo>
                <a:cubicBezTo>
                  <a:pt x="108121" y="165370"/>
                  <a:pt x="103762" y="161011"/>
                  <a:pt x="103762" y="155643"/>
                </a:cubicBezTo>
                <a:cubicBezTo>
                  <a:pt x="103762" y="150274"/>
                  <a:pt x="108121" y="145915"/>
                  <a:pt x="113489" y="145915"/>
                </a:cubicBezTo>
                <a:close/>
                <a:moveTo>
                  <a:pt x="136187" y="155643"/>
                </a:moveTo>
                <a:cubicBezTo>
                  <a:pt x="136187" y="150274"/>
                  <a:pt x="140546" y="145915"/>
                  <a:pt x="145915" y="145915"/>
                </a:cubicBezTo>
                <a:cubicBezTo>
                  <a:pt x="151284" y="145915"/>
                  <a:pt x="155643" y="150274"/>
                  <a:pt x="155643" y="155643"/>
                </a:cubicBezTo>
                <a:cubicBezTo>
                  <a:pt x="155643" y="161011"/>
                  <a:pt x="151284" y="165370"/>
                  <a:pt x="145915" y="165370"/>
                </a:cubicBezTo>
                <a:cubicBezTo>
                  <a:pt x="140546" y="165370"/>
                  <a:pt x="136187" y="161011"/>
                  <a:pt x="136187" y="15564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2" name="Text 20"/>
          <p:cNvSpPr/>
          <p:nvPr/>
        </p:nvSpPr>
        <p:spPr>
          <a:xfrm>
            <a:off x="564637" y="5395609"/>
            <a:ext cx="249892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8960" y="5568545"/>
            <a:ext cx="2490281" cy="13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7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cloud required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37689" y="5015149"/>
            <a:ext cx="2645923" cy="795506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68346" y="5118911"/>
            <a:ext cx="181583" cy="207523"/>
          </a:xfrm>
          <a:custGeom>
            <a:avLst/>
            <a:gdLst/>
            <a:ahLst/>
            <a:cxnLst/>
            <a:rect l="l" t="t" r="r" b="b"/>
            <a:pathLst>
              <a:path w="181583" h="207523">
                <a:moveTo>
                  <a:pt x="137322" y="-4013"/>
                </a:moveTo>
                <a:cubicBezTo>
                  <a:pt x="142145" y="-527"/>
                  <a:pt x="143929" y="5796"/>
                  <a:pt x="141740" y="11308"/>
                </a:cubicBezTo>
                <a:lnTo>
                  <a:pt x="109963" y="90791"/>
                </a:lnTo>
                <a:lnTo>
                  <a:pt x="168613" y="90791"/>
                </a:lnTo>
                <a:cubicBezTo>
                  <a:pt x="174085" y="90791"/>
                  <a:pt x="178948" y="94196"/>
                  <a:pt x="180813" y="99344"/>
                </a:cubicBezTo>
                <a:cubicBezTo>
                  <a:pt x="182677" y="104491"/>
                  <a:pt x="181097" y="110247"/>
                  <a:pt x="176922" y="113733"/>
                </a:cubicBezTo>
                <a:lnTo>
                  <a:pt x="60190" y="211009"/>
                </a:lnTo>
                <a:cubicBezTo>
                  <a:pt x="55610" y="214819"/>
                  <a:pt x="49084" y="215022"/>
                  <a:pt x="44261" y="211536"/>
                </a:cubicBezTo>
                <a:cubicBezTo>
                  <a:pt x="39438" y="208050"/>
                  <a:pt x="37654" y="201727"/>
                  <a:pt x="39843" y="196215"/>
                </a:cubicBezTo>
                <a:lnTo>
                  <a:pt x="71620" y="116732"/>
                </a:lnTo>
                <a:lnTo>
                  <a:pt x="12970" y="116732"/>
                </a:lnTo>
                <a:cubicBezTo>
                  <a:pt x="7498" y="116732"/>
                  <a:pt x="2635" y="113327"/>
                  <a:pt x="770" y="108180"/>
                </a:cubicBezTo>
                <a:cubicBezTo>
                  <a:pt x="-1094" y="103032"/>
                  <a:pt x="486" y="97277"/>
                  <a:pt x="4661" y="93791"/>
                </a:cubicBezTo>
                <a:lnTo>
                  <a:pt x="121393" y="-3486"/>
                </a:lnTo>
                <a:cubicBezTo>
                  <a:pt x="125973" y="-7296"/>
                  <a:pt x="132499" y="-7498"/>
                  <a:pt x="137322" y="-4013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6" name="Text 24"/>
          <p:cNvSpPr/>
          <p:nvPr/>
        </p:nvSpPr>
        <p:spPr>
          <a:xfrm>
            <a:off x="3311187" y="5395609"/>
            <a:ext cx="249892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15511" y="5568545"/>
            <a:ext cx="2490281" cy="13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7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BM25 + FAISS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1139" y="5914307"/>
            <a:ext cx="2645923" cy="795506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82777" y="6018069"/>
            <a:ext cx="259404" cy="207523"/>
          </a:xfrm>
          <a:custGeom>
            <a:avLst/>
            <a:gdLst/>
            <a:ahLst/>
            <a:cxnLst/>
            <a:rect l="l" t="t" r="r" b="b"/>
            <a:pathLst>
              <a:path w="259404" h="207523">
                <a:moveTo>
                  <a:pt x="142672" y="0"/>
                </a:moveTo>
                <a:cubicBezTo>
                  <a:pt x="142672" y="-7174"/>
                  <a:pt x="136876" y="-12970"/>
                  <a:pt x="129702" y="-12970"/>
                </a:cubicBezTo>
                <a:cubicBezTo>
                  <a:pt x="122528" y="-12970"/>
                  <a:pt x="116732" y="-7174"/>
                  <a:pt x="116732" y="0"/>
                </a:cubicBezTo>
                <a:lnTo>
                  <a:pt x="116732" y="25940"/>
                </a:lnTo>
                <a:lnTo>
                  <a:pt x="77821" y="25940"/>
                </a:lnTo>
                <a:cubicBezTo>
                  <a:pt x="56339" y="25940"/>
                  <a:pt x="38911" y="43369"/>
                  <a:pt x="38911" y="64851"/>
                </a:cubicBezTo>
                <a:lnTo>
                  <a:pt x="38911" y="155643"/>
                </a:lnTo>
                <a:cubicBezTo>
                  <a:pt x="38911" y="177124"/>
                  <a:pt x="56339" y="194553"/>
                  <a:pt x="77821" y="194553"/>
                </a:cubicBezTo>
                <a:lnTo>
                  <a:pt x="181583" y="194553"/>
                </a:lnTo>
                <a:cubicBezTo>
                  <a:pt x="203065" y="194553"/>
                  <a:pt x="220494" y="177124"/>
                  <a:pt x="220494" y="155643"/>
                </a:cubicBezTo>
                <a:lnTo>
                  <a:pt x="220494" y="64851"/>
                </a:lnTo>
                <a:cubicBezTo>
                  <a:pt x="220494" y="43369"/>
                  <a:pt x="203065" y="25940"/>
                  <a:pt x="181583" y="25940"/>
                </a:cubicBezTo>
                <a:lnTo>
                  <a:pt x="142672" y="25940"/>
                </a:lnTo>
                <a:lnTo>
                  <a:pt x="142672" y="0"/>
                </a:lnTo>
                <a:close/>
                <a:moveTo>
                  <a:pt x="64851" y="149157"/>
                </a:moveTo>
                <a:cubicBezTo>
                  <a:pt x="64851" y="143767"/>
                  <a:pt x="69188" y="139430"/>
                  <a:pt x="74579" y="139430"/>
                </a:cubicBezTo>
                <a:lnTo>
                  <a:pt x="87549" y="139430"/>
                </a:lnTo>
                <a:cubicBezTo>
                  <a:pt x="92940" y="139430"/>
                  <a:pt x="97277" y="143767"/>
                  <a:pt x="97277" y="149157"/>
                </a:cubicBezTo>
                <a:cubicBezTo>
                  <a:pt x="97277" y="154548"/>
                  <a:pt x="92940" y="158885"/>
                  <a:pt x="87549" y="158885"/>
                </a:cubicBezTo>
                <a:lnTo>
                  <a:pt x="74579" y="158885"/>
                </a:lnTo>
                <a:cubicBezTo>
                  <a:pt x="69188" y="158885"/>
                  <a:pt x="64851" y="154548"/>
                  <a:pt x="64851" y="149157"/>
                </a:cubicBezTo>
                <a:close/>
                <a:moveTo>
                  <a:pt x="113489" y="149157"/>
                </a:moveTo>
                <a:cubicBezTo>
                  <a:pt x="113489" y="143767"/>
                  <a:pt x="117826" y="139430"/>
                  <a:pt x="123217" y="139430"/>
                </a:cubicBezTo>
                <a:lnTo>
                  <a:pt x="136187" y="139430"/>
                </a:lnTo>
                <a:cubicBezTo>
                  <a:pt x="141578" y="139430"/>
                  <a:pt x="145915" y="143767"/>
                  <a:pt x="145915" y="149157"/>
                </a:cubicBezTo>
                <a:cubicBezTo>
                  <a:pt x="145915" y="154548"/>
                  <a:pt x="141578" y="158885"/>
                  <a:pt x="136187" y="158885"/>
                </a:cubicBezTo>
                <a:lnTo>
                  <a:pt x="123217" y="158885"/>
                </a:lnTo>
                <a:cubicBezTo>
                  <a:pt x="117826" y="158885"/>
                  <a:pt x="113489" y="154548"/>
                  <a:pt x="113489" y="149157"/>
                </a:cubicBezTo>
                <a:close/>
                <a:moveTo>
                  <a:pt x="162128" y="149157"/>
                </a:moveTo>
                <a:cubicBezTo>
                  <a:pt x="162128" y="143767"/>
                  <a:pt x="166465" y="139430"/>
                  <a:pt x="171855" y="139430"/>
                </a:cubicBezTo>
                <a:lnTo>
                  <a:pt x="184826" y="139430"/>
                </a:lnTo>
                <a:cubicBezTo>
                  <a:pt x="190216" y="139430"/>
                  <a:pt x="194553" y="143767"/>
                  <a:pt x="194553" y="149157"/>
                </a:cubicBezTo>
                <a:cubicBezTo>
                  <a:pt x="194553" y="154548"/>
                  <a:pt x="190216" y="158885"/>
                  <a:pt x="184826" y="158885"/>
                </a:cubicBezTo>
                <a:lnTo>
                  <a:pt x="171855" y="158885"/>
                </a:lnTo>
                <a:cubicBezTo>
                  <a:pt x="166465" y="158885"/>
                  <a:pt x="162128" y="154548"/>
                  <a:pt x="162128" y="149157"/>
                </a:cubicBezTo>
                <a:close/>
                <a:moveTo>
                  <a:pt x="90791" y="71336"/>
                </a:moveTo>
                <a:cubicBezTo>
                  <a:pt x="101529" y="71336"/>
                  <a:pt x="110247" y="80054"/>
                  <a:pt x="110247" y="90791"/>
                </a:cubicBezTo>
                <a:cubicBezTo>
                  <a:pt x="110247" y="101529"/>
                  <a:pt x="101529" y="110247"/>
                  <a:pt x="90791" y="110247"/>
                </a:cubicBezTo>
                <a:cubicBezTo>
                  <a:pt x="80054" y="110247"/>
                  <a:pt x="71336" y="101529"/>
                  <a:pt x="71336" y="90791"/>
                </a:cubicBezTo>
                <a:cubicBezTo>
                  <a:pt x="71336" y="80054"/>
                  <a:pt x="80054" y="71336"/>
                  <a:pt x="90791" y="71336"/>
                </a:cubicBezTo>
                <a:close/>
                <a:moveTo>
                  <a:pt x="149157" y="90791"/>
                </a:moveTo>
                <a:cubicBezTo>
                  <a:pt x="149157" y="80054"/>
                  <a:pt x="157875" y="71336"/>
                  <a:pt x="168613" y="71336"/>
                </a:cubicBezTo>
                <a:cubicBezTo>
                  <a:pt x="179350" y="71336"/>
                  <a:pt x="188068" y="80054"/>
                  <a:pt x="188068" y="90791"/>
                </a:cubicBezTo>
                <a:cubicBezTo>
                  <a:pt x="188068" y="101529"/>
                  <a:pt x="179350" y="110247"/>
                  <a:pt x="168613" y="110247"/>
                </a:cubicBezTo>
                <a:cubicBezTo>
                  <a:pt x="157875" y="110247"/>
                  <a:pt x="149157" y="101529"/>
                  <a:pt x="149157" y="90791"/>
                </a:cubicBezTo>
                <a:close/>
                <a:moveTo>
                  <a:pt x="25940" y="90791"/>
                </a:moveTo>
                <a:cubicBezTo>
                  <a:pt x="25940" y="83617"/>
                  <a:pt x="20144" y="77821"/>
                  <a:pt x="12970" y="77821"/>
                </a:cubicBezTo>
                <a:cubicBezTo>
                  <a:pt x="5796" y="77821"/>
                  <a:pt x="0" y="83617"/>
                  <a:pt x="0" y="90791"/>
                </a:cubicBezTo>
                <a:lnTo>
                  <a:pt x="0" y="129702"/>
                </a:lnTo>
                <a:cubicBezTo>
                  <a:pt x="0" y="136876"/>
                  <a:pt x="5796" y="142672"/>
                  <a:pt x="12970" y="142672"/>
                </a:cubicBezTo>
                <a:cubicBezTo>
                  <a:pt x="20144" y="142672"/>
                  <a:pt x="25940" y="136876"/>
                  <a:pt x="25940" y="129702"/>
                </a:cubicBezTo>
                <a:lnTo>
                  <a:pt x="25940" y="90791"/>
                </a:lnTo>
                <a:close/>
                <a:moveTo>
                  <a:pt x="246434" y="77821"/>
                </a:moveTo>
                <a:cubicBezTo>
                  <a:pt x="239260" y="77821"/>
                  <a:pt x="233464" y="83617"/>
                  <a:pt x="233464" y="90791"/>
                </a:cubicBezTo>
                <a:lnTo>
                  <a:pt x="233464" y="129702"/>
                </a:lnTo>
                <a:cubicBezTo>
                  <a:pt x="233464" y="136876"/>
                  <a:pt x="239260" y="142672"/>
                  <a:pt x="246434" y="142672"/>
                </a:cubicBezTo>
                <a:cubicBezTo>
                  <a:pt x="253608" y="142672"/>
                  <a:pt x="259404" y="136876"/>
                  <a:pt x="259404" y="129702"/>
                </a:cubicBezTo>
                <a:lnTo>
                  <a:pt x="259404" y="90791"/>
                </a:lnTo>
                <a:cubicBezTo>
                  <a:pt x="259404" y="83617"/>
                  <a:pt x="253608" y="77821"/>
                  <a:pt x="246434" y="7782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0" name="Text 28"/>
          <p:cNvSpPr/>
          <p:nvPr/>
        </p:nvSpPr>
        <p:spPr>
          <a:xfrm>
            <a:off x="564637" y="6294767"/>
            <a:ext cx="249892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Summary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8960" y="6467703"/>
            <a:ext cx="2490281" cy="13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7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LLM bridge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37689" y="5914307"/>
            <a:ext cx="2645923" cy="795506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55376" y="6018069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12970" y="12970"/>
                </a:moveTo>
                <a:cubicBezTo>
                  <a:pt x="20144" y="12970"/>
                  <a:pt x="25940" y="18766"/>
                  <a:pt x="25940" y="25940"/>
                </a:cubicBezTo>
                <a:lnTo>
                  <a:pt x="25940" y="162128"/>
                </a:lnTo>
                <a:cubicBezTo>
                  <a:pt x="25940" y="165694"/>
                  <a:pt x="28859" y="168613"/>
                  <a:pt x="32426" y="168613"/>
                </a:cubicBezTo>
                <a:lnTo>
                  <a:pt x="194553" y="168613"/>
                </a:lnTo>
                <a:cubicBezTo>
                  <a:pt x="201727" y="168613"/>
                  <a:pt x="207523" y="174409"/>
                  <a:pt x="207523" y="181583"/>
                </a:cubicBezTo>
                <a:cubicBezTo>
                  <a:pt x="207523" y="188757"/>
                  <a:pt x="201727" y="194553"/>
                  <a:pt x="194553" y="194553"/>
                </a:cubicBezTo>
                <a:lnTo>
                  <a:pt x="32426" y="194553"/>
                </a:lnTo>
                <a:cubicBezTo>
                  <a:pt x="14510" y="194553"/>
                  <a:pt x="0" y="180043"/>
                  <a:pt x="0" y="162128"/>
                </a:cubicBezTo>
                <a:lnTo>
                  <a:pt x="0" y="25940"/>
                </a:lnTo>
                <a:cubicBezTo>
                  <a:pt x="0" y="18766"/>
                  <a:pt x="5796" y="12970"/>
                  <a:pt x="12970" y="12970"/>
                </a:cubicBezTo>
                <a:close/>
                <a:moveTo>
                  <a:pt x="51881" y="38911"/>
                </a:moveTo>
                <a:cubicBezTo>
                  <a:pt x="51881" y="31736"/>
                  <a:pt x="57677" y="25940"/>
                  <a:pt x="64851" y="25940"/>
                </a:cubicBezTo>
                <a:lnTo>
                  <a:pt x="142672" y="25940"/>
                </a:lnTo>
                <a:cubicBezTo>
                  <a:pt x="149846" y="25940"/>
                  <a:pt x="155643" y="31736"/>
                  <a:pt x="155643" y="38911"/>
                </a:cubicBezTo>
                <a:cubicBezTo>
                  <a:pt x="155643" y="46085"/>
                  <a:pt x="149846" y="51881"/>
                  <a:pt x="142672" y="51881"/>
                </a:cubicBezTo>
                <a:lnTo>
                  <a:pt x="64851" y="51881"/>
                </a:lnTo>
                <a:cubicBezTo>
                  <a:pt x="57677" y="51881"/>
                  <a:pt x="51881" y="46085"/>
                  <a:pt x="51881" y="38911"/>
                </a:cubicBezTo>
                <a:close/>
                <a:moveTo>
                  <a:pt x="64851" y="71336"/>
                </a:moveTo>
                <a:lnTo>
                  <a:pt x="116732" y="71336"/>
                </a:lnTo>
                <a:cubicBezTo>
                  <a:pt x="123906" y="71336"/>
                  <a:pt x="129702" y="77132"/>
                  <a:pt x="129702" y="84306"/>
                </a:cubicBezTo>
                <a:cubicBezTo>
                  <a:pt x="129702" y="91481"/>
                  <a:pt x="123906" y="97277"/>
                  <a:pt x="116732" y="97277"/>
                </a:cubicBezTo>
                <a:lnTo>
                  <a:pt x="64851" y="97277"/>
                </a:lnTo>
                <a:cubicBezTo>
                  <a:pt x="57677" y="97277"/>
                  <a:pt x="51881" y="91481"/>
                  <a:pt x="51881" y="84306"/>
                </a:cubicBezTo>
                <a:cubicBezTo>
                  <a:pt x="51881" y="77132"/>
                  <a:pt x="57677" y="71336"/>
                  <a:pt x="64851" y="71336"/>
                </a:cubicBezTo>
                <a:close/>
                <a:moveTo>
                  <a:pt x="64851" y="116732"/>
                </a:moveTo>
                <a:lnTo>
                  <a:pt x="168613" y="116732"/>
                </a:lnTo>
                <a:cubicBezTo>
                  <a:pt x="175787" y="116732"/>
                  <a:pt x="181583" y="122528"/>
                  <a:pt x="181583" y="129702"/>
                </a:cubicBezTo>
                <a:cubicBezTo>
                  <a:pt x="181583" y="136876"/>
                  <a:pt x="175787" y="142672"/>
                  <a:pt x="168613" y="142672"/>
                </a:cubicBezTo>
                <a:lnTo>
                  <a:pt x="64851" y="142672"/>
                </a:lnTo>
                <a:cubicBezTo>
                  <a:pt x="57677" y="142672"/>
                  <a:pt x="51881" y="136876"/>
                  <a:pt x="51881" y="129702"/>
                </a:cubicBezTo>
                <a:cubicBezTo>
                  <a:pt x="51881" y="122528"/>
                  <a:pt x="57677" y="116732"/>
                  <a:pt x="64851" y="116732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4" name="Text 32"/>
          <p:cNvSpPr/>
          <p:nvPr/>
        </p:nvSpPr>
        <p:spPr>
          <a:xfrm>
            <a:off x="3311187" y="6294767"/>
            <a:ext cx="249892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Metrics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15511" y="6467703"/>
            <a:ext cx="2490281" cy="13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7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evaluation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7661" y="1248599"/>
            <a:ext cx="5670577" cy="5601403"/>
          </a:xfrm>
          <a:prstGeom prst="roundRect">
            <a:avLst>
              <a:gd name="adj" fmla="val 1235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4055" y="1424992"/>
            <a:ext cx="415047" cy="415047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47817" y="1528754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51881" y="129702"/>
                </a:moveTo>
                <a:lnTo>
                  <a:pt x="9930" y="129702"/>
                </a:lnTo>
                <a:cubicBezTo>
                  <a:pt x="-162" y="129702"/>
                  <a:pt x="-6364" y="118718"/>
                  <a:pt x="-1175" y="110044"/>
                </a:cubicBezTo>
                <a:lnTo>
                  <a:pt x="20266" y="74295"/>
                </a:lnTo>
                <a:cubicBezTo>
                  <a:pt x="23792" y="68418"/>
                  <a:pt x="30115" y="64851"/>
                  <a:pt x="36965" y="64851"/>
                </a:cubicBezTo>
                <a:lnTo>
                  <a:pt x="75470" y="64851"/>
                </a:lnTo>
                <a:cubicBezTo>
                  <a:pt x="106315" y="12605"/>
                  <a:pt x="152319" y="9971"/>
                  <a:pt x="183083" y="14470"/>
                </a:cubicBezTo>
                <a:cubicBezTo>
                  <a:pt x="188271" y="15240"/>
                  <a:pt x="192324" y="19293"/>
                  <a:pt x="193054" y="24441"/>
                </a:cubicBezTo>
                <a:cubicBezTo>
                  <a:pt x="197553" y="55204"/>
                  <a:pt x="194918" y="101208"/>
                  <a:pt x="142672" y="132053"/>
                </a:cubicBezTo>
                <a:lnTo>
                  <a:pt x="142672" y="170558"/>
                </a:lnTo>
                <a:cubicBezTo>
                  <a:pt x="142672" y="177408"/>
                  <a:pt x="139106" y="183731"/>
                  <a:pt x="133228" y="187257"/>
                </a:cubicBezTo>
                <a:lnTo>
                  <a:pt x="97479" y="208699"/>
                </a:lnTo>
                <a:cubicBezTo>
                  <a:pt x="88846" y="213887"/>
                  <a:pt x="77821" y="207645"/>
                  <a:pt x="77821" y="197593"/>
                </a:cubicBezTo>
                <a:lnTo>
                  <a:pt x="77821" y="155643"/>
                </a:lnTo>
                <a:cubicBezTo>
                  <a:pt x="77821" y="141335"/>
                  <a:pt x="66189" y="129702"/>
                  <a:pt x="51881" y="129702"/>
                </a:cubicBezTo>
                <a:lnTo>
                  <a:pt x="51840" y="129702"/>
                </a:lnTo>
                <a:close/>
                <a:moveTo>
                  <a:pt x="162128" y="64851"/>
                </a:moveTo>
                <a:cubicBezTo>
                  <a:pt x="162128" y="54113"/>
                  <a:pt x="153410" y="45396"/>
                  <a:pt x="142672" y="45396"/>
                </a:cubicBezTo>
                <a:cubicBezTo>
                  <a:pt x="131935" y="45396"/>
                  <a:pt x="123217" y="54113"/>
                  <a:pt x="123217" y="64851"/>
                </a:cubicBezTo>
                <a:cubicBezTo>
                  <a:pt x="123217" y="75589"/>
                  <a:pt x="131935" y="84306"/>
                  <a:pt x="142672" y="84306"/>
                </a:cubicBezTo>
                <a:cubicBezTo>
                  <a:pt x="153410" y="84306"/>
                  <a:pt x="162128" y="75589"/>
                  <a:pt x="162128" y="6485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Text 37"/>
          <p:cNvSpPr/>
          <p:nvPr/>
        </p:nvSpPr>
        <p:spPr>
          <a:xfrm>
            <a:off x="6862864" y="1494167"/>
            <a:ext cx="1322962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0973" y="1978388"/>
            <a:ext cx="5316058" cy="968443"/>
          </a:xfrm>
          <a:custGeom>
            <a:avLst/>
            <a:gdLst/>
            <a:ahLst/>
            <a:cxnLst/>
            <a:rect l="l" t="t" r="r" b="b"/>
            <a:pathLst>
              <a:path w="5316058" h="968443">
                <a:moveTo>
                  <a:pt x="13843" y="0"/>
                </a:moveTo>
                <a:lnTo>
                  <a:pt x="5246878" y="0"/>
                </a:lnTo>
                <a:cubicBezTo>
                  <a:pt x="5285104" y="0"/>
                  <a:pt x="5316093" y="30989"/>
                  <a:pt x="5316093" y="69215"/>
                </a:cubicBezTo>
                <a:lnTo>
                  <a:pt x="5316093" y="899287"/>
                </a:lnTo>
                <a:cubicBezTo>
                  <a:pt x="5316093" y="937513"/>
                  <a:pt x="5285104" y="968502"/>
                  <a:pt x="5246878" y="968502"/>
                </a:cubicBezTo>
                <a:lnTo>
                  <a:pt x="13843" y="968502"/>
                </a:lnTo>
                <a:cubicBezTo>
                  <a:pt x="6198" y="968502"/>
                  <a:pt x="0" y="962304"/>
                  <a:pt x="0" y="954659"/>
                </a:cubicBezTo>
                <a:lnTo>
                  <a:pt x="0" y="13843"/>
                </a:lnTo>
                <a:cubicBezTo>
                  <a:pt x="0" y="6198"/>
                  <a:pt x="6198" y="0"/>
                  <a:pt x="13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50973" y="1978388"/>
            <a:ext cx="13835" cy="968443"/>
          </a:xfrm>
          <a:custGeom>
            <a:avLst/>
            <a:gdLst/>
            <a:ahLst/>
            <a:cxnLst/>
            <a:rect l="l" t="t" r="r" b="b"/>
            <a:pathLst>
              <a:path w="13835" h="968443">
                <a:moveTo>
                  <a:pt x="13843" y="0"/>
                </a:moveTo>
                <a:lnTo>
                  <a:pt x="13843" y="0"/>
                </a:lnTo>
                <a:lnTo>
                  <a:pt x="13843" y="968502"/>
                </a:lnTo>
                <a:lnTo>
                  <a:pt x="13843" y="968502"/>
                </a:lnTo>
                <a:cubicBezTo>
                  <a:pt x="6198" y="968502"/>
                  <a:pt x="0" y="962304"/>
                  <a:pt x="0" y="954659"/>
                </a:cubicBezTo>
                <a:lnTo>
                  <a:pt x="0" y="13843"/>
                </a:lnTo>
                <a:cubicBezTo>
                  <a:pt x="0" y="6198"/>
                  <a:pt x="6198" y="0"/>
                  <a:pt x="138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6239" y="2116737"/>
            <a:ext cx="345872" cy="345872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93516" y="2211852"/>
            <a:ext cx="155643" cy="155643"/>
          </a:xfrm>
          <a:custGeom>
            <a:avLst/>
            <a:gdLst/>
            <a:ahLst/>
            <a:cxnLst/>
            <a:rect l="l" t="t" r="r" b="b"/>
            <a:pathLst>
              <a:path w="155643" h="155643">
                <a:moveTo>
                  <a:pt x="145945" y="58366"/>
                </a:moveTo>
                <a:lnTo>
                  <a:pt x="148347" y="58366"/>
                </a:lnTo>
                <a:cubicBezTo>
                  <a:pt x="152390" y="58366"/>
                  <a:pt x="155643" y="55113"/>
                  <a:pt x="155643" y="51070"/>
                </a:cubicBezTo>
                <a:lnTo>
                  <a:pt x="155643" y="7296"/>
                </a:lnTo>
                <a:cubicBezTo>
                  <a:pt x="155643" y="4347"/>
                  <a:pt x="153879" y="1672"/>
                  <a:pt x="151144" y="547"/>
                </a:cubicBezTo>
                <a:cubicBezTo>
                  <a:pt x="148408" y="-578"/>
                  <a:pt x="145277" y="61"/>
                  <a:pt x="143179" y="2128"/>
                </a:cubicBezTo>
                <a:lnTo>
                  <a:pt x="127463" y="17875"/>
                </a:lnTo>
                <a:cubicBezTo>
                  <a:pt x="113996" y="6718"/>
                  <a:pt x="96669" y="0"/>
                  <a:pt x="77821" y="0"/>
                </a:cubicBezTo>
                <a:cubicBezTo>
                  <a:pt x="38607" y="0"/>
                  <a:pt x="6171" y="29001"/>
                  <a:pt x="790" y="66726"/>
                </a:cubicBezTo>
                <a:cubicBezTo>
                  <a:pt x="30" y="72045"/>
                  <a:pt x="3709" y="76970"/>
                  <a:pt x="9028" y="77730"/>
                </a:cubicBezTo>
                <a:cubicBezTo>
                  <a:pt x="14348" y="78490"/>
                  <a:pt x="19273" y="74781"/>
                  <a:pt x="20033" y="69492"/>
                </a:cubicBezTo>
                <a:cubicBezTo>
                  <a:pt x="24076" y="41191"/>
                  <a:pt x="48426" y="19455"/>
                  <a:pt x="77821" y="19455"/>
                </a:cubicBezTo>
                <a:cubicBezTo>
                  <a:pt x="91318" y="19455"/>
                  <a:pt x="103721" y="24015"/>
                  <a:pt x="113601" y="31706"/>
                </a:cubicBezTo>
                <a:lnTo>
                  <a:pt x="99405" y="45902"/>
                </a:lnTo>
                <a:cubicBezTo>
                  <a:pt x="97307" y="48000"/>
                  <a:pt x="96699" y="51131"/>
                  <a:pt x="97824" y="53867"/>
                </a:cubicBezTo>
                <a:cubicBezTo>
                  <a:pt x="98949" y="56603"/>
                  <a:pt x="101624" y="58366"/>
                  <a:pt x="104572" y="58366"/>
                </a:cubicBezTo>
                <a:lnTo>
                  <a:pt x="145945" y="58366"/>
                </a:lnTo>
                <a:close/>
                <a:moveTo>
                  <a:pt x="154883" y="88917"/>
                </a:moveTo>
                <a:cubicBezTo>
                  <a:pt x="155643" y="83597"/>
                  <a:pt x="151934" y="78672"/>
                  <a:pt x="146644" y="77912"/>
                </a:cubicBezTo>
                <a:cubicBezTo>
                  <a:pt x="141355" y="77153"/>
                  <a:pt x="136400" y="80861"/>
                  <a:pt x="135640" y="86151"/>
                </a:cubicBezTo>
                <a:cubicBezTo>
                  <a:pt x="131597" y="114422"/>
                  <a:pt x="107247" y="136157"/>
                  <a:pt x="77852" y="136157"/>
                </a:cubicBezTo>
                <a:cubicBezTo>
                  <a:pt x="64355" y="136157"/>
                  <a:pt x="51952" y="131597"/>
                  <a:pt x="42072" y="123906"/>
                </a:cubicBezTo>
                <a:lnTo>
                  <a:pt x="56238" y="109740"/>
                </a:lnTo>
                <a:cubicBezTo>
                  <a:pt x="58336" y="107643"/>
                  <a:pt x="58944" y="104512"/>
                  <a:pt x="57819" y="101776"/>
                </a:cubicBezTo>
                <a:cubicBezTo>
                  <a:pt x="56694" y="99040"/>
                  <a:pt x="54019" y="97277"/>
                  <a:pt x="51070" y="97277"/>
                </a:cubicBezTo>
                <a:lnTo>
                  <a:pt x="7296" y="97277"/>
                </a:lnTo>
                <a:cubicBezTo>
                  <a:pt x="3253" y="97277"/>
                  <a:pt x="0" y="100529"/>
                  <a:pt x="0" y="104572"/>
                </a:cubicBezTo>
                <a:lnTo>
                  <a:pt x="0" y="148347"/>
                </a:lnTo>
                <a:cubicBezTo>
                  <a:pt x="0" y="151296"/>
                  <a:pt x="1763" y="153971"/>
                  <a:pt x="4499" y="155095"/>
                </a:cubicBezTo>
                <a:cubicBezTo>
                  <a:pt x="7235" y="156220"/>
                  <a:pt x="10366" y="155582"/>
                  <a:pt x="12464" y="153515"/>
                </a:cubicBezTo>
                <a:lnTo>
                  <a:pt x="28210" y="137768"/>
                </a:lnTo>
                <a:cubicBezTo>
                  <a:pt x="41647" y="148924"/>
                  <a:pt x="58974" y="155643"/>
                  <a:pt x="77821" y="155643"/>
                </a:cubicBezTo>
                <a:cubicBezTo>
                  <a:pt x="117036" y="155643"/>
                  <a:pt x="149472" y="126642"/>
                  <a:pt x="154852" y="88917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4" name="Text 42"/>
          <p:cNvSpPr/>
          <p:nvPr/>
        </p:nvSpPr>
        <p:spPr>
          <a:xfrm>
            <a:off x="6945874" y="2116737"/>
            <a:ext cx="465198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Streaming Index Rebuilds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45874" y="2393435"/>
            <a:ext cx="4651983" cy="41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 FAISS build generation to active background synchronization pool using </a:t>
            </a:r>
            <a:r>
              <a:rPr lang="en-US" sz="108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Redis/Celery</a:t>
            </a:r>
            <a:r>
              <a:rPr lang="en-US" sz="108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cumulative on-the-fly index rebuilding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0973" y="3085180"/>
            <a:ext cx="5316058" cy="968443"/>
          </a:xfrm>
          <a:custGeom>
            <a:avLst/>
            <a:gdLst/>
            <a:ahLst/>
            <a:cxnLst/>
            <a:rect l="l" t="t" r="r" b="b"/>
            <a:pathLst>
              <a:path w="5316058" h="968443">
                <a:moveTo>
                  <a:pt x="13843" y="0"/>
                </a:moveTo>
                <a:lnTo>
                  <a:pt x="5246878" y="0"/>
                </a:lnTo>
                <a:cubicBezTo>
                  <a:pt x="5285104" y="0"/>
                  <a:pt x="5316093" y="30989"/>
                  <a:pt x="5316093" y="69215"/>
                </a:cubicBezTo>
                <a:lnTo>
                  <a:pt x="5316093" y="899287"/>
                </a:lnTo>
                <a:cubicBezTo>
                  <a:pt x="5316093" y="937513"/>
                  <a:pt x="5285104" y="968502"/>
                  <a:pt x="5246878" y="968502"/>
                </a:cubicBezTo>
                <a:lnTo>
                  <a:pt x="13843" y="968502"/>
                </a:lnTo>
                <a:cubicBezTo>
                  <a:pt x="6198" y="968502"/>
                  <a:pt x="0" y="962304"/>
                  <a:pt x="0" y="954659"/>
                </a:cubicBezTo>
                <a:lnTo>
                  <a:pt x="0" y="13843"/>
                </a:lnTo>
                <a:cubicBezTo>
                  <a:pt x="0" y="6198"/>
                  <a:pt x="6198" y="0"/>
                  <a:pt x="13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50973" y="3085180"/>
            <a:ext cx="13835" cy="968443"/>
          </a:xfrm>
          <a:custGeom>
            <a:avLst/>
            <a:gdLst/>
            <a:ahLst/>
            <a:cxnLst/>
            <a:rect l="l" t="t" r="r" b="b"/>
            <a:pathLst>
              <a:path w="13835" h="968443">
                <a:moveTo>
                  <a:pt x="13843" y="0"/>
                </a:moveTo>
                <a:lnTo>
                  <a:pt x="13843" y="0"/>
                </a:lnTo>
                <a:lnTo>
                  <a:pt x="13843" y="968502"/>
                </a:lnTo>
                <a:lnTo>
                  <a:pt x="13843" y="968502"/>
                </a:lnTo>
                <a:cubicBezTo>
                  <a:pt x="6198" y="968502"/>
                  <a:pt x="0" y="962304"/>
                  <a:pt x="0" y="954659"/>
                </a:cubicBezTo>
                <a:lnTo>
                  <a:pt x="0" y="13843"/>
                </a:lnTo>
                <a:cubicBezTo>
                  <a:pt x="0" y="6198"/>
                  <a:pt x="6198" y="0"/>
                  <a:pt x="13843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8" name="Shape 46"/>
          <p:cNvSpPr/>
          <p:nvPr/>
        </p:nvSpPr>
        <p:spPr>
          <a:xfrm>
            <a:off x="6496239" y="3223529"/>
            <a:ext cx="345872" cy="345872"/>
          </a:xfrm>
          <a:prstGeom prst="roundRect">
            <a:avLst>
              <a:gd name="adj" fmla="val 2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03244" y="3318643"/>
            <a:ext cx="136187" cy="155643"/>
          </a:xfrm>
          <a:custGeom>
            <a:avLst/>
            <a:gdLst/>
            <a:ahLst/>
            <a:cxnLst/>
            <a:rect l="l" t="t" r="r" b="b"/>
            <a:pathLst>
              <a:path w="136187" h="155643">
                <a:moveTo>
                  <a:pt x="136187" y="62561"/>
                </a:moveTo>
                <a:cubicBezTo>
                  <a:pt x="131688" y="65540"/>
                  <a:pt x="126520" y="67942"/>
                  <a:pt x="121140" y="69857"/>
                </a:cubicBezTo>
                <a:cubicBezTo>
                  <a:pt x="106852" y="74964"/>
                  <a:pt x="88096" y="77821"/>
                  <a:pt x="68094" y="77821"/>
                </a:cubicBezTo>
                <a:cubicBezTo>
                  <a:pt x="48091" y="77821"/>
                  <a:pt x="29305" y="74933"/>
                  <a:pt x="15047" y="69857"/>
                </a:cubicBezTo>
                <a:cubicBezTo>
                  <a:pt x="9697" y="67942"/>
                  <a:pt x="4499" y="65540"/>
                  <a:pt x="0" y="62561"/>
                </a:cubicBezTo>
                <a:lnTo>
                  <a:pt x="0" y="87549"/>
                </a:lnTo>
                <a:cubicBezTo>
                  <a:pt x="0" y="100985"/>
                  <a:pt x="30490" y="111868"/>
                  <a:pt x="68094" y="111868"/>
                </a:cubicBezTo>
                <a:cubicBezTo>
                  <a:pt x="105697" y="111868"/>
                  <a:pt x="136187" y="100985"/>
                  <a:pt x="136187" y="87549"/>
                </a:cubicBezTo>
                <a:lnTo>
                  <a:pt x="136187" y="62561"/>
                </a:lnTo>
                <a:close/>
                <a:moveTo>
                  <a:pt x="136187" y="38911"/>
                </a:moveTo>
                <a:lnTo>
                  <a:pt x="136187" y="24319"/>
                </a:lnTo>
                <a:cubicBezTo>
                  <a:pt x="136187" y="10883"/>
                  <a:pt x="105697" y="0"/>
                  <a:pt x="68094" y="0"/>
                </a:cubicBezTo>
                <a:cubicBezTo>
                  <a:pt x="30490" y="0"/>
                  <a:pt x="0" y="10883"/>
                  <a:pt x="0" y="24319"/>
                </a:cubicBezTo>
                <a:lnTo>
                  <a:pt x="0" y="38911"/>
                </a:lnTo>
                <a:cubicBezTo>
                  <a:pt x="0" y="52347"/>
                  <a:pt x="30490" y="63230"/>
                  <a:pt x="68094" y="63230"/>
                </a:cubicBezTo>
                <a:cubicBezTo>
                  <a:pt x="105697" y="63230"/>
                  <a:pt x="136187" y="52347"/>
                  <a:pt x="136187" y="38911"/>
                </a:cubicBezTo>
                <a:close/>
                <a:moveTo>
                  <a:pt x="121140" y="118495"/>
                </a:moveTo>
                <a:cubicBezTo>
                  <a:pt x="106883" y="123572"/>
                  <a:pt x="88127" y="126460"/>
                  <a:pt x="68094" y="126460"/>
                </a:cubicBezTo>
                <a:cubicBezTo>
                  <a:pt x="48061" y="126460"/>
                  <a:pt x="29305" y="123572"/>
                  <a:pt x="15047" y="118495"/>
                </a:cubicBezTo>
                <a:cubicBezTo>
                  <a:pt x="9697" y="116580"/>
                  <a:pt x="4499" y="114178"/>
                  <a:pt x="0" y="111199"/>
                </a:cubicBezTo>
                <a:lnTo>
                  <a:pt x="0" y="131323"/>
                </a:lnTo>
                <a:cubicBezTo>
                  <a:pt x="0" y="144760"/>
                  <a:pt x="30490" y="155643"/>
                  <a:pt x="68094" y="155643"/>
                </a:cubicBezTo>
                <a:cubicBezTo>
                  <a:pt x="105697" y="155643"/>
                  <a:pt x="136187" y="144760"/>
                  <a:pt x="136187" y="131323"/>
                </a:cubicBezTo>
                <a:lnTo>
                  <a:pt x="136187" y="111199"/>
                </a:lnTo>
                <a:cubicBezTo>
                  <a:pt x="131688" y="114178"/>
                  <a:pt x="126520" y="116580"/>
                  <a:pt x="121140" y="118495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0" name="Text 48"/>
          <p:cNvSpPr/>
          <p:nvPr/>
        </p:nvSpPr>
        <p:spPr>
          <a:xfrm>
            <a:off x="6945874" y="3223529"/>
            <a:ext cx="465198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Warehouse Integration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45874" y="3500226"/>
            <a:ext cx="4651983" cy="41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batched offline reconstruction — index rebuilds automatically as new news enters the database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0973" y="4191971"/>
            <a:ext cx="5316058" cy="968443"/>
          </a:xfrm>
          <a:custGeom>
            <a:avLst/>
            <a:gdLst/>
            <a:ahLst/>
            <a:cxnLst/>
            <a:rect l="l" t="t" r="r" b="b"/>
            <a:pathLst>
              <a:path w="5316058" h="968443">
                <a:moveTo>
                  <a:pt x="13843" y="0"/>
                </a:moveTo>
                <a:lnTo>
                  <a:pt x="5246878" y="0"/>
                </a:lnTo>
                <a:cubicBezTo>
                  <a:pt x="5285104" y="0"/>
                  <a:pt x="5316093" y="30989"/>
                  <a:pt x="5316093" y="69215"/>
                </a:cubicBezTo>
                <a:lnTo>
                  <a:pt x="5316093" y="899287"/>
                </a:lnTo>
                <a:cubicBezTo>
                  <a:pt x="5316093" y="937513"/>
                  <a:pt x="5285104" y="968502"/>
                  <a:pt x="5246878" y="968502"/>
                </a:cubicBezTo>
                <a:lnTo>
                  <a:pt x="13843" y="968502"/>
                </a:lnTo>
                <a:cubicBezTo>
                  <a:pt x="6198" y="968502"/>
                  <a:pt x="0" y="962304"/>
                  <a:pt x="0" y="954659"/>
                </a:cubicBezTo>
                <a:lnTo>
                  <a:pt x="0" y="13843"/>
                </a:lnTo>
                <a:cubicBezTo>
                  <a:pt x="0" y="6198"/>
                  <a:pt x="6198" y="0"/>
                  <a:pt x="13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50973" y="4191971"/>
            <a:ext cx="13835" cy="968443"/>
          </a:xfrm>
          <a:custGeom>
            <a:avLst/>
            <a:gdLst/>
            <a:ahLst/>
            <a:cxnLst/>
            <a:rect l="l" t="t" r="r" b="b"/>
            <a:pathLst>
              <a:path w="13835" h="968443">
                <a:moveTo>
                  <a:pt x="13843" y="0"/>
                </a:moveTo>
                <a:lnTo>
                  <a:pt x="13843" y="0"/>
                </a:lnTo>
                <a:lnTo>
                  <a:pt x="13843" y="968502"/>
                </a:lnTo>
                <a:lnTo>
                  <a:pt x="13843" y="968502"/>
                </a:lnTo>
                <a:cubicBezTo>
                  <a:pt x="6198" y="968502"/>
                  <a:pt x="0" y="962304"/>
                  <a:pt x="0" y="954659"/>
                </a:cubicBezTo>
                <a:lnTo>
                  <a:pt x="0" y="13843"/>
                </a:lnTo>
                <a:cubicBezTo>
                  <a:pt x="0" y="6198"/>
                  <a:pt x="6198" y="0"/>
                  <a:pt x="1384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4" name="Shape 52"/>
          <p:cNvSpPr/>
          <p:nvPr/>
        </p:nvSpPr>
        <p:spPr>
          <a:xfrm>
            <a:off x="6496239" y="4330320"/>
            <a:ext cx="345872" cy="345872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03244" y="4425435"/>
            <a:ext cx="136187" cy="155643"/>
          </a:xfrm>
          <a:custGeom>
            <a:avLst/>
            <a:gdLst/>
            <a:ahLst/>
            <a:cxnLst/>
            <a:rect l="l" t="t" r="r" b="b"/>
            <a:pathLst>
              <a:path w="136187" h="155643">
                <a:moveTo>
                  <a:pt x="51070" y="9728"/>
                </a:moveTo>
                <a:lnTo>
                  <a:pt x="7296" y="9728"/>
                </a:lnTo>
                <a:cubicBezTo>
                  <a:pt x="3253" y="9728"/>
                  <a:pt x="0" y="12980"/>
                  <a:pt x="0" y="17023"/>
                </a:cubicBezTo>
                <a:lnTo>
                  <a:pt x="0" y="60798"/>
                </a:lnTo>
                <a:cubicBezTo>
                  <a:pt x="0" y="63747"/>
                  <a:pt x="1763" y="66422"/>
                  <a:pt x="4499" y="67546"/>
                </a:cubicBezTo>
                <a:cubicBezTo>
                  <a:pt x="7235" y="68671"/>
                  <a:pt x="10366" y="68033"/>
                  <a:pt x="12464" y="65966"/>
                </a:cubicBezTo>
                <a:lnTo>
                  <a:pt x="24623" y="53806"/>
                </a:lnTo>
                <a:lnTo>
                  <a:pt x="48638" y="77821"/>
                </a:lnTo>
                <a:lnTo>
                  <a:pt x="24623" y="101836"/>
                </a:lnTo>
                <a:lnTo>
                  <a:pt x="12464" y="89677"/>
                </a:lnTo>
                <a:cubicBezTo>
                  <a:pt x="10366" y="87579"/>
                  <a:pt x="7235" y="86971"/>
                  <a:pt x="4499" y="88096"/>
                </a:cubicBezTo>
                <a:cubicBezTo>
                  <a:pt x="1763" y="89221"/>
                  <a:pt x="0" y="91896"/>
                  <a:pt x="0" y="94845"/>
                </a:cubicBezTo>
                <a:lnTo>
                  <a:pt x="0" y="138619"/>
                </a:lnTo>
                <a:cubicBezTo>
                  <a:pt x="0" y="142662"/>
                  <a:pt x="3253" y="145915"/>
                  <a:pt x="7296" y="145915"/>
                </a:cubicBezTo>
                <a:lnTo>
                  <a:pt x="51070" y="145915"/>
                </a:lnTo>
                <a:cubicBezTo>
                  <a:pt x="54019" y="145915"/>
                  <a:pt x="56694" y="144152"/>
                  <a:pt x="57819" y="141416"/>
                </a:cubicBezTo>
                <a:cubicBezTo>
                  <a:pt x="58944" y="138680"/>
                  <a:pt x="58336" y="135549"/>
                  <a:pt x="56238" y="133451"/>
                </a:cubicBezTo>
                <a:lnTo>
                  <a:pt x="44078" y="121292"/>
                </a:lnTo>
                <a:lnTo>
                  <a:pt x="68094" y="97277"/>
                </a:lnTo>
                <a:lnTo>
                  <a:pt x="92109" y="121292"/>
                </a:lnTo>
                <a:lnTo>
                  <a:pt x="79949" y="133451"/>
                </a:lnTo>
                <a:cubicBezTo>
                  <a:pt x="77852" y="135549"/>
                  <a:pt x="77244" y="138680"/>
                  <a:pt x="78368" y="141416"/>
                </a:cubicBezTo>
                <a:cubicBezTo>
                  <a:pt x="79493" y="144152"/>
                  <a:pt x="82168" y="145915"/>
                  <a:pt x="85117" y="145915"/>
                </a:cubicBezTo>
                <a:lnTo>
                  <a:pt x="128891" y="145915"/>
                </a:lnTo>
                <a:cubicBezTo>
                  <a:pt x="132935" y="145915"/>
                  <a:pt x="136187" y="142662"/>
                  <a:pt x="136187" y="138619"/>
                </a:cubicBezTo>
                <a:lnTo>
                  <a:pt x="136187" y="94845"/>
                </a:lnTo>
                <a:cubicBezTo>
                  <a:pt x="136187" y="91896"/>
                  <a:pt x="134424" y="89221"/>
                  <a:pt x="131688" y="88096"/>
                </a:cubicBezTo>
                <a:cubicBezTo>
                  <a:pt x="128952" y="86971"/>
                  <a:pt x="125821" y="87579"/>
                  <a:pt x="123724" y="89677"/>
                </a:cubicBezTo>
                <a:lnTo>
                  <a:pt x="111564" y="101836"/>
                </a:lnTo>
                <a:lnTo>
                  <a:pt x="87549" y="77821"/>
                </a:lnTo>
                <a:lnTo>
                  <a:pt x="111564" y="53806"/>
                </a:lnTo>
                <a:lnTo>
                  <a:pt x="123724" y="65966"/>
                </a:lnTo>
                <a:cubicBezTo>
                  <a:pt x="125821" y="68063"/>
                  <a:pt x="128952" y="68671"/>
                  <a:pt x="131688" y="67546"/>
                </a:cubicBezTo>
                <a:cubicBezTo>
                  <a:pt x="134424" y="66422"/>
                  <a:pt x="136187" y="63747"/>
                  <a:pt x="136187" y="60798"/>
                </a:cubicBezTo>
                <a:lnTo>
                  <a:pt x="136187" y="17023"/>
                </a:lnTo>
                <a:cubicBezTo>
                  <a:pt x="136187" y="12980"/>
                  <a:pt x="132935" y="9728"/>
                  <a:pt x="128891" y="9728"/>
                </a:cubicBezTo>
                <a:lnTo>
                  <a:pt x="85117" y="9728"/>
                </a:lnTo>
                <a:cubicBezTo>
                  <a:pt x="82168" y="9728"/>
                  <a:pt x="79493" y="11491"/>
                  <a:pt x="78368" y="14227"/>
                </a:cubicBezTo>
                <a:cubicBezTo>
                  <a:pt x="77244" y="16963"/>
                  <a:pt x="77882" y="20094"/>
                  <a:pt x="79949" y="22191"/>
                </a:cubicBezTo>
                <a:lnTo>
                  <a:pt x="92109" y="34351"/>
                </a:lnTo>
                <a:lnTo>
                  <a:pt x="68094" y="58366"/>
                </a:lnTo>
                <a:lnTo>
                  <a:pt x="44078" y="34351"/>
                </a:lnTo>
                <a:lnTo>
                  <a:pt x="56238" y="22191"/>
                </a:lnTo>
                <a:cubicBezTo>
                  <a:pt x="58336" y="20094"/>
                  <a:pt x="58944" y="16963"/>
                  <a:pt x="57819" y="14227"/>
                </a:cubicBezTo>
                <a:cubicBezTo>
                  <a:pt x="56694" y="11491"/>
                  <a:pt x="54019" y="9728"/>
                  <a:pt x="51070" y="972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6" name="Text 54"/>
          <p:cNvSpPr/>
          <p:nvPr/>
        </p:nvSpPr>
        <p:spPr>
          <a:xfrm>
            <a:off x="6945874" y="4330320"/>
            <a:ext cx="465198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Enhancements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45874" y="4607018"/>
            <a:ext cx="4651983" cy="41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larger corpora beyond 120k articles with distributed processing capabilities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47514" y="6042174"/>
            <a:ext cx="5316058" cy="629488"/>
          </a:xfrm>
          <a:prstGeom prst="roundRect">
            <a:avLst>
              <a:gd name="adj" fmla="val 1098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4734" y="6149392"/>
            <a:ext cx="5170791" cy="41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Vision:</a:t>
            </a:r>
            <a:r>
              <a:rPr lang="en-US" sz="108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fully autonomous, self-updating semantic search engine operating entirely on local infrastructure with zero cloud dependency.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2_Free_Abstract_Network_Visualization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6B7A8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681" y="142875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Text 2"/>
          <p:cNvSpPr/>
          <p:nvPr/>
        </p:nvSpPr>
        <p:spPr>
          <a:xfrm>
            <a:off x="3888343" y="1771650"/>
            <a:ext cx="441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88356" y="2686050"/>
            <a:ext cx="4219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Retrieval Techniques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12168" y="318135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Project Presentation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77414" y="4210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241721" y="4371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7"/>
          <p:cNvSpPr/>
          <p:nvPr/>
        </p:nvSpPr>
        <p:spPr>
          <a:xfrm>
            <a:off x="3634978" y="49339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39741" y="520065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BM25 + FAISS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1081" y="4210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55387" y="4371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4" name="Text 11"/>
          <p:cNvSpPr/>
          <p:nvPr/>
        </p:nvSpPr>
        <p:spPr>
          <a:xfrm>
            <a:off x="5348645" y="49339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53408" y="520065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LLM Integration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04748" y="4210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69054" y="4371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8" name="Text 15"/>
          <p:cNvSpPr/>
          <p:nvPr/>
        </p:nvSpPr>
        <p:spPr>
          <a:xfrm>
            <a:off x="7062311" y="49339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Metrics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67074" y="520065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Evaluation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1131</Words>
  <Application>Microsoft Office PowerPoint</Application>
  <PresentationFormat>Widescreen</PresentationFormat>
  <Paragraphs>213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Quattrocento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Retrieval Techniques (IRT)</dc:title>
  <dc:subject>Information Retrieval Techniques (IRT)</dc:subject>
  <dc:creator>Kimi</dc:creator>
  <cp:lastModifiedBy>krishna surya</cp:lastModifiedBy>
  <cp:revision>2</cp:revision>
  <dcterms:created xsi:type="dcterms:W3CDTF">2026-04-21T17:58:15Z</dcterms:created>
  <dcterms:modified xsi:type="dcterms:W3CDTF">2026-05-13T10:09:37Z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{"Label":"Information Retrieval Techniques (IRT)","ContentProducer":"001191110108MACG2KBH8F10000","ProduceID":"19db0f06-b962-8cdc-8000-000010bbfc7e","ReservedCode1":"","ContentPropagator":"001191110108MACG2KBH8F20000","PropagateID":"19db0f06-b962-8cdc-8000-000010bbfc7e","ReservedCode2":""}</vt:lpwstr>
  </property>
</Properties>
</file>