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9" r:id="rId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184" autoAdjust="0"/>
  </p:normalViewPr>
  <p:slideViewPr>
    <p:cSldViewPr>
      <p:cViewPr varScale="1">
        <p:scale>
          <a:sx n="48" d="100"/>
          <a:sy n="48" d="100"/>
        </p:scale>
        <p:origin x="121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89B59-534F-4F10-9476-99534BDDDC22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9E2A0-75AB-404D-96E5-9507F4A42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5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Today, we are excited to present our project: a </a:t>
            </a:r>
            <a:r>
              <a:rPr lang="en-US" b="1" dirty="0"/>
              <a:t>Metadata-Driven Intelligent News Article Retrieval System</a:t>
            </a:r>
            <a:r>
              <a:rPr lang="en-US" dirty="0"/>
              <a:t>. This work focuses on implementing a Retrieval-Augmented Answer Generation—or RAG—system specifically tailored for news intelligence. Developed by P. Krishna Surya and Shanmuka Vardhan, our goal is to move beyond simple searches and toward true synthesis.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072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sheer volume of digital news is overwhelming, creating vast amounts of data every single day. However, traditional retrieval systems are struggling to keep up. We’ve identified three critical failures:</a:t>
            </a:r>
          </a:p>
          <a:p>
            <a:r>
              <a:rPr lang="en-US" b="1" dirty="0"/>
              <a:t>Context Failure:</a:t>
            </a:r>
            <a:r>
              <a:rPr lang="en-US" dirty="0"/>
              <a:t> They often miss the deep contextual relevance of a story.</a:t>
            </a:r>
          </a:p>
          <a:p>
            <a:r>
              <a:rPr lang="en-US" b="1" dirty="0"/>
              <a:t>Metadata Blindness:</a:t>
            </a:r>
            <a:r>
              <a:rPr lang="en-US" dirty="0"/>
              <a:t> Crucial signals like publication dates, tags, and sources are often ignored in favor of simple keyword matching.</a:t>
            </a:r>
          </a:p>
          <a:p>
            <a:r>
              <a:rPr lang="en-US" b="1" dirty="0"/>
              <a:t>Lack of Synthesis:</a:t>
            </a:r>
            <a:r>
              <a:rPr lang="en-US" dirty="0"/>
              <a:t> Users are left with raw lists of links instead of actual answers to their questions. Our system acts as a filter to turn this noise into synthesized, contextually relevant answers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6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primary goal is to develop a </a:t>
            </a:r>
            <a:r>
              <a:rPr lang="en-US" b="1" dirty="0"/>
              <a:t>standalone, explainable AI system</a:t>
            </a:r>
            <a:r>
              <a:rPr lang="en-US" dirty="0"/>
              <a:t> for news intelligence. To achieve this, our vision is built on four pillars:</a:t>
            </a:r>
          </a:p>
          <a:p>
            <a:r>
              <a:rPr lang="en-US" b="1" dirty="0"/>
              <a:t>Design:</a:t>
            </a:r>
            <a:r>
              <a:rPr lang="en-US" dirty="0"/>
              <a:t> Creating a metadata-aware retrieval architecture.</a:t>
            </a:r>
          </a:p>
          <a:p>
            <a:r>
              <a:rPr lang="en-US" b="1" dirty="0"/>
              <a:t>Implementation:</a:t>
            </a:r>
            <a:r>
              <a:rPr lang="en-US" dirty="0"/>
              <a:t> Using proven IR models like TF-IDF and BM25.</a:t>
            </a:r>
          </a:p>
          <a:p>
            <a:r>
              <a:rPr lang="en-US" b="1" dirty="0"/>
              <a:t>Synthesis:</a:t>
            </a:r>
            <a:r>
              <a:rPr lang="en-US" dirty="0"/>
              <a:t> Generating grounded answers using small-scale, local LLMs.</a:t>
            </a:r>
          </a:p>
          <a:p>
            <a:r>
              <a:rPr lang="en-US" b="1" dirty="0"/>
              <a:t>Evaluation:</a:t>
            </a:r>
            <a:r>
              <a:rPr lang="en-US" dirty="0"/>
              <a:t> Rigorously testing our results by comparing top-ranked vs. bottom-ranked documents to ensure quality."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408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utilize a four-stage hybrid approach to manage data:</a:t>
            </a:r>
          </a:p>
          <a:p>
            <a:r>
              <a:rPr lang="en-US" b="1" dirty="0"/>
              <a:t>Ingest:</a:t>
            </a:r>
            <a:r>
              <a:rPr lang="en-US" dirty="0"/>
              <a:t> We pull full text, titles, and summaries.</a:t>
            </a:r>
          </a:p>
          <a:p>
            <a:r>
              <a:rPr lang="en-US" b="1" dirty="0"/>
              <a:t>Enrich:</a:t>
            </a:r>
            <a:r>
              <a:rPr lang="en-US" dirty="0"/>
              <a:t> We extract rich metadata including tags, dates, and sources.</a:t>
            </a:r>
          </a:p>
          <a:p>
            <a:r>
              <a:rPr lang="en-US" b="1" dirty="0"/>
              <a:t>Process:</a:t>
            </a:r>
            <a:r>
              <a:rPr lang="en-US" dirty="0"/>
              <a:t> The data undergoes tokenization and normalization.</a:t>
            </a:r>
          </a:p>
          <a:p>
            <a:r>
              <a:rPr lang="en-US" b="1" dirty="0"/>
              <a:t>Retrieve:</a:t>
            </a:r>
            <a:r>
              <a:rPr lang="en-US" dirty="0"/>
              <a:t> Finally, we use hybrid scoring, combining traditional text similarity with metadata weighting for the most accurate results."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533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under the hood at the pipeline. Once raw documents enter the system, they are preprocessed through tokenization and metadata filtering. We then establish a </a:t>
            </a:r>
            <a:r>
              <a:rPr lang="en-US" b="1" dirty="0"/>
              <a:t>Base Score</a:t>
            </a:r>
            <a:r>
              <a:rPr lang="en-US" dirty="0"/>
              <a:t> using TF-IDF Cosine Similarity. What makes us unique is the </a:t>
            </a:r>
            <a:r>
              <a:rPr lang="en-US" b="1" dirty="0"/>
              <a:t>Metadata Boosting</a:t>
            </a:r>
            <a:r>
              <a:rPr lang="en-US" dirty="0"/>
              <a:t>. We apply a recency multiplier, title match boosts, and source authority weighting. This allows us to select a refined retrieval set—contrasting the top 20 against the bottom 20 documents for maximum precision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30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"Our architecture is designed for performance and independence:</a:t>
            </a:r>
          </a:p>
          <a:p>
            <a:r>
              <a:rPr lang="en-US" b="1" dirty="0"/>
              <a:t>Frontend:</a:t>
            </a:r>
            <a:r>
              <a:rPr lang="en-US" dirty="0"/>
              <a:t> Built with HTML, JavaScript, and JetBrains Mono for a clean experience.</a:t>
            </a:r>
          </a:p>
          <a:p>
            <a:r>
              <a:rPr lang="en-US" b="1" dirty="0"/>
              <a:t>Backend:</a:t>
            </a:r>
            <a:r>
              <a:rPr lang="en-US" dirty="0"/>
              <a:t> Powered by Python and Flask, utilizing our custom IR engine and Guardian service.</a:t>
            </a:r>
          </a:p>
          <a:p>
            <a:r>
              <a:rPr lang="en-US" b="1" dirty="0"/>
              <a:t>Data Persistence:</a:t>
            </a:r>
            <a:r>
              <a:rPr lang="en-US" dirty="0"/>
              <a:t> We use </a:t>
            </a:r>
            <a:r>
              <a:rPr lang="en-US" b="1" dirty="0" err="1"/>
              <a:t>DuckDB</a:t>
            </a:r>
            <a:r>
              <a:rPr lang="en-US" dirty="0"/>
              <a:t>, an embedded database that allows for no-install, high-speed analytical queries.</a:t>
            </a:r>
          </a:p>
          <a:p>
            <a:r>
              <a:rPr lang="en-US" b="1" dirty="0"/>
              <a:t>News Source:</a:t>
            </a:r>
            <a:r>
              <a:rPr lang="en-US" dirty="0"/>
              <a:t> We integrate directly with The Guardian API.</a:t>
            </a:r>
          </a:p>
          <a:p>
            <a:r>
              <a:rPr lang="en-US" b="1" dirty="0"/>
              <a:t>AI Layer:</a:t>
            </a:r>
            <a:r>
              <a:rPr lang="en-US" dirty="0"/>
              <a:t> We run local LLM services via Ollama or LM Studio, ensuring data never has to leave the local environment."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1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key philosophy of our project is that retrieval is handled by classical IR techniques, while the language model is used </a:t>
            </a:r>
            <a:r>
              <a:rPr lang="en-US" i="1" dirty="0"/>
              <a:t>only</a:t>
            </a:r>
            <a:r>
              <a:rPr lang="en-US" dirty="0"/>
              <a:t> for post-retrieval organization. This provides:</a:t>
            </a:r>
          </a:p>
          <a:p>
            <a:r>
              <a:rPr lang="en-US" b="1" dirty="0"/>
              <a:t>Exclusive Context:</a:t>
            </a:r>
            <a:r>
              <a:rPr lang="en-US" dirty="0"/>
              <a:t> The retrieved documents are the </a:t>
            </a:r>
            <a:r>
              <a:rPr lang="en-US" i="1" dirty="0"/>
              <a:t>only</a:t>
            </a:r>
            <a:r>
              <a:rPr lang="en-US" dirty="0"/>
              <a:t> source of truth, preventing 'hallucinations'.</a:t>
            </a:r>
          </a:p>
          <a:p>
            <a:r>
              <a:rPr lang="en-US" b="1" dirty="0" err="1"/>
              <a:t>Groundedness</a:t>
            </a:r>
            <a:r>
              <a:rPr lang="en-US" b="1" dirty="0"/>
              <a:t>:</a:t>
            </a:r>
            <a:r>
              <a:rPr lang="en-US" dirty="0"/>
              <a:t> This ensures factual answers and eliminates redundancy.</a:t>
            </a:r>
          </a:p>
          <a:p>
            <a:r>
              <a:rPr lang="en-US" b="1" dirty="0"/>
              <a:t>Efficiency:</a:t>
            </a:r>
            <a:r>
              <a:rPr lang="en-US" dirty="0"/>
              <a:t> By using small-scale local models, we avoid expensive and privacy-risking external APIs."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89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our system stands out through three core values:</a:t>
            </a:r>
          </a:p>
          <a:p>
            <a:r>
              <a:rPr lang="en-US" b="1" dirty="0"/>
              <a:t>Metadata Awareness:</a:t>
            </a:r>
            <a:r>
              <a:rPr lang="en-US" dirty="0"/>
              <a:t> Our ranking is significantly smarter because it weights the 'who, when, and where' of a news story.</a:t>
            </a:r>
          </a:p>
          <a:p>
            <a:r>
              <a:rPr lang="en-US" b="1" dirty="0"/>
              <a:t>Offline First:</a:t>
            </a:r>
            <a:r>
              <a:rPr lang="en-US" dirty="0"/>
              <a:t> Using </a:t>
            </a:r>
            <a:r>
              <a:rPr lang="en-US" dirty="0" err="1"/>
              <a:t>DuckDB</a:t>
            </a:r>
            <a:r>
              <a:rPr lang="en-US" dirty="0"/>
              <a:t> and local LLMs, this is a fully reproducible system that doesn't require an internet connection once data is ingested.</a:t>
            </a:r>
          </a:p>
          <a:p>
            <a:r>
              <a:rPr lang="en-US" b="1" dirty="0"/>
              <a:t>Explainable (XAI):</a:t>
            </a:r>
            <a:r>
              <a:rPr lang="en-US" dirty="0"/>
              <a:t> We prioritize transparency. Users can actually see </a:t>
            </a:r>
            <a:r>
              <a:rPr lang="en-US" i="1" dirty="0"/>
              <a:t>why</a:t>
            </a:r>
            <a:r>
              <a:rPr lang="en-US" dirty="0"/>
              <a:t> a document was ranked highly, making the AI a partner rather than a black box. Thank you for your time. Are there any questions?"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9E2A0-75AB-404D-96E5-9507F4A426A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098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30854" y="2550583"/>
            <a:ext cx="6854825" cy="601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513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345294" y="2446161"/>
            <a:ext cx="6675755" cy="5940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0311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7600" y="1689100"/>
            <a:ext cx="7924800" cy="7188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07900" y="889000"/>
            <a:ext cx="584200" cy="749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9003" y="554919"/>
            <a:ext cx="15877193" cy="1158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9403" y="1983316"/>
            <a:ext cx="7604759" cy="652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png"/><Relationship Id="rId9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7457" y="720019"/>
            <a:ext cx="6736715" cy="4094479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 marR="5080" indent="15875">
              <a:lnSpc>
                <a:spcPct val="87600"/>
              </a:lnSpc>
              <a:spcBef>
                <a:spcPts val="1230"/>
              </a:spcBef>
            </a:pPr>
            <a:r>
              <a:rPr sz="7400" spc="-160" dirty="0">
                <a:solidFill>
                  <a:srgbClr val="1D1D1D"/>
                </a:solidFill>
                <a:latin typeface="Arial"/>
                <a:cs typeface="Arial"/>
              </a:rPr>
              <a:t>Metadata-</a:t>
            </a:r>
            <a:r>
              <a:rPr sz="7400" spc="-110" dirty="0">
                <a:solidFill>
                  <a:srgbClr val="1D1D1D"/>
                </a:solidFill>
                <a:latin typeface="Arial"/>
                <a:cs typeface="Arial"/>
              </a:rPr>
              <a:t>Driven </a:t>
            </a:r>
            <a:r>
              <a:rPr sz="7350" spc="-20" dirty="0">
                <a:solidFill>
                  <a:srgbClr val="1C1C1C"/>
                </a:solidFill>
                <a:latin typeface="Arial"/>
                <a:cs typeface="Arial"/>
              </a:rPr>
              <a:t>Intelligent</a:t>
            </a:r>
            <a:r>
              <a:rPr sz="7350" spc="-45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7350" spc="-345" dirty="0">
                <a:solidFill>
                  <a:srgbClr val="1D1D1D"/>
                </a:solidFill>
                <a:latin typeface="Arial"/>
                <a:cs typeface="Arial"/>
              </a:rPr>
              <a:t>News </a:t>
            </a:r>
            <a:r>
              <a:rPr sz="7350" spc="-10" dirty="0">
                <a:solidFill>
                  <a:srgbClr val="1C1C1C"/>
                </a:solidFill>
                <a:latin typeface="Arial"/>
                <a:cs typeface="Arial"/>
              </a:rPr>
              <a:t>Article</a:t>
            </a:r>
            <a:r>
              <a:rPr sz="7350" spc="-54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7350" spc="-125" dirty="0">
                <a:solidFill>
                  <a:srgbClr val="1A1A1A"/>
                </a:solidFill>
                <a:latin typeface="Arial"/>
                <a:cs typeface="Arial"/>
              </a:rPr>
              <a:t>Retrieval </a:t>
            </a:r>
            <a:r>
              <a:rPr sz="7300" spc="-60" dirty="0">
                <a:solidFill>
                  <a:srgbClr val="1D1D1D"/>
                </a:solidFill>
                <a:latin typeface="Arial"/>
                <a:cs typeface="Arial"/>
              </a:rPr>
              <a:t>System</a:t>
            </a:r>
            <a:endParaRPr sz="73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7457" y="4876800"/>
            <a:ext cx="7409180" cy="4231287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1750" marR="5080" indent="635">
              <a:lnSpc>
                <a:spcPts val="4800"/>
              </a:lnSpc>
              <a:spcBef>
                <a:spcPts val="495"/>
              </a:spcBef>
            </a:pPr>
            <a:r>
              <a:rPr sz="4200" dirty="0">
                <a:latin typeface="Arial"/>
                <a:cs typeface="Arial"/>
              </a:rPr>
              <a:t>Zeroth</a:t>
            </a:r>
            <a:r>
              <a:rPr sz="4200" spc="-120" dirty="0">
                <a:latin typeface="Arial"/>
                <a:cs typeface="Arial"/>
              </a:rPr>
              <a:t> </a:t>
            </a:r>
            <a:r>
              <a:rPr sz="4200" spc="-65" dirty="0">
                <a:latin typeface="Arial"/>
                <a:cs typeface="Arial"/>
              </a:rPr>
              <a:t>Review:</a:t>
            </a:r>
            <a:r>
              <a:rPr sz="4200" spc="-150" dirty="0">
                <a:latin typeface="Arial"/>
                <a:cs typeface="Arial"/>
              </a:rPr>
              <a:t> </a:t>
            </a:r>
            <a:r>
              <a:rPr sz="4200" spc="-10" dirty="0">
                <a:latin typeface="Arial"/>
                <a:cs typeface="Arial"/>
              </a:rPr>
              <a:t>Retrieval- </a:t>
            </a:r>
            <a:r>
              <a:rPr sz="4200" dirty="0">
                <a:latin typeface="Arial"/>
                <a:cs typeface="Arial"/>
              </a:rPr>
              <a:t>Augmented</a:t>
            </a:r>
            <a:r>
              <a:rPr sz="4200" spc="-95" dirty="0">
                <a:latin typeface="Arial"/>
                <a:cs typeface="Arial"/>
              </a:rPr>
              <a:t> </a:t>
            </a:r>
            <a:r>
              <a:rPr sz="4200" spc="-10" dirty="0">
                <a:latin typeface="Arial"/>
                <a:cs typeface="Arial"/>
              </a:rPr>
              <a:t>Answer</a:t>
            </a:r>
            <a:r>
              <a:rPr sz="4200" spc="-140" dirty="0">
                <a:latin typeface="Arial"/>
                <a:cs typeface="Arial"/>
              </a:rPr>
              <a:t> </a:t>
            </a:r>
            <a:r>
              <a:rPr sz="4200" spc="-45" dirty="0">
                <a:latin typeface="Arial"/>
                <a:cs typeface="Arial"/>
              </a:rPr>
              <a:t>Generation </a:t>
            </a:r>
            <a:r>
              <a:rPr sz="4200" spc="-360" dirty="0">
                <a:latin typeface="Arial"/>
                <a:cs typeface="Arial"/>
              </a:rPr>
              <a:t>(RAG)</a:t>
            </a:r>
            <a:r>
              <a:rPr sz="4200" spc="505" dirty="0">
                <a:latin typeface="Arial"/>
                <a:cs typeface="Arial"/>
              </a:rPr>
              <a:t> </a:t>
            </a:r>
            <a:r>
              <a:rPr sz="4200" spc="-10" dirty="0">
                <a:latin typeface="Arial"/>
                <a:cs typeface="Arial"/>
              </a:rPr>
              <a:t>Implementation</a:t>
            </a:r>
            <a:endParaRPr sz="4200" dirty="0">
              <a:latin typeface="Arial"/>
              <a:cs typeface="Arial"/>
            </a:endParaRPr>
          </a:p>
          <a:p>
            <a:pPr marL="31750">
              <a:lnSpc>
                <a:spcPts val="3670"/>
              </a:lnSpc>
            </a:pPr>
            <a:r>
              <a:rPr lang="en-IN" sz="3200" spc="-10" dirty="0">
                <a:latin typeface="Arial"/>
                <a:cs typeface="Arial"/>
              </a:rPr>
              <a:t>By</a:t>
            </a:r>
            <a:r>
              <a:rPr sz="3200" spc="-10" dirty="0">
                <a:latin typeface="Arial"/>
                <a:cs typeface="Arial"/>
              </a:rPr>
              <a:t>:</a:t>
            </a:r>
            <a:endParaRPr sz="3200" dirty="0">
              <a:latin typeface="Arial"/>
              <a:cs typeface="Arial"/>
            </a:endParaRPr>
          </a:p>
          <a:p>
            <a:pPr marL="12700" marR="1702435">
              <a:lnSpc>
                <a:spcPts val="3500"/>
              </a:lnSpc>
              <a:spcBef>
                <a:spcPts val="229"/>
              </a:spcBef>
            </a:pPr>
            <a:r>
              <a:rPr sz="3200" spc="-290" dirty="0">
                <a:latin typeface="Arial"/>
                <a:cs typeface="Arial"/>
              </a:rPr>
              <a:t>P.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10" dirty="0">
                <a:latin typeface="Arial"/>
                <a:cs typeface="Arial"/>
              </a:rPr>
              <a:t>Krishna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-125" dirty="0">
                <a:latin typeface="Arial"/>
                <a:cs typeface="Arial"/>
              </a:rPr>
              <a:t>Surya</a:t>
            </a:r>
            <a:r>
              <a:rPr sz="3200" spc="-55" dirty="0">
                <a:latin typeface="Arial"/>
                <a:cs typeface="Arial"/>
              </a:rPr>
              <a:t> </a:t>
            </a:r>
            <a:br>
              <a:rPr lang="en-IN" sz="3200" spc="-55" dirty="0">
                <a:latin typeface="Arial"/>
                <a:cs typeface="Arial"/>
              </a:rPr>
            </a:br>
            <a:r>
              <a:rPr sz="3200" spc="-50" dirty="0">
                <a:latin typeface="Arial"/>
                <a:cs typeface="Arial"/>
              </a:rPr>
              <a:t>(22BSD7030) </a:t>
            </a:r>
            <a:endParaRPr lang="en-IN" sz="3200" spc="-50" dirty="0">
              <a:latin typeface="Arial"/>
              <a:cs typeface="Arial"/>
            </a:endParaRPr>
          </a:p>
          <a:p>
            <a:pPr marL="12700" marR="1702435">
              <a:lnSpc>
                <a:spcPts val="3500"/>
              </a:lnSpc>
              <a:spcBef>
                <a:spcPts val="229"/>
              </a:spcBef>
            </a:pPr>
            <a:r>
              <a:rPr lang="en-IN" sz="3200" spc="-50" dirty="0">
                <a:latin typeface="Arial"/>
                <a:cs typeface="Arial"/>
              </a:rPr>
              <a:t>Shanmuka </a:t>
            </a:r>
            <a:r>
              <a:rPr sz="3200" spc="-110" dirty="0">
                <a:latin typeface="Arial"/>
                <a:cs typeface="Arial"/>
              </a:rPr>
              <a:t>Vardhan </a:t>
            </a:r>
            <a:r>
              <a:rPr sz="3200" spc="-170" dirty="0">
                <a:latin typeface="Arial"/>
                <a:cs typeface="Arial"/>
              </a:rPr>
              <a:t>(22BSD7022)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9700" y="0"/>
            <a:ext cx="8445500" cy="9131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926" y="585963"/>
            <a:ext cx="9683750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dirty="0"/>
              <a:t>The</a:t>
            </a:r>
            <a:r>
              <a:rPr sz="4200" spc="-200" dirty="0"/>
              <a:t> </a:t>
            </a:r>
            <a:r>
              <a:rPr sz="4200" dirty="0"/>
              <a:t>Challenge</a:t>
            </a:r>
            <a:r>
              <a:rPr sz="4200" spc="120" dirty="0"/>
              <a:t> </a:t>
            </a:r>
            <a:r>
              <a:rPr sz="4200" spc="85" dirty="0"/>
              <a:t>of</a:t>
            </a:r>
            <a:r>
              <a:rPr sz="4200" spc="15" dirty="0"/>
              <a:t> </a:t>
            </a:r>
            <a:r>
              <a:rPr sz="4200" spc="75" dirty="0"/>
              <a:t>Digital</a:t>
            </a:r>
            <a:r>
              <a:rPr sz="4200" spc="-160" dirty="0"/>
              <a:t> </a:t>
            </a:r>
            <a:r>
              <a:rPr sz="4200" dirty="0"/>
              <a:t>News</a:t>
            </a:r>
            <a:r>
              <a:rPr sz="4200" spc="25" dirty="0"/>
              <a:t> </a:t>
            </a:r>
            <a:r>
              <a:rPr sz="4200" spc="-10" dirty="0"/>
              <a:t>Overload</a:t>
            </a:r>
            <a:endParaRPr sz="42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954"/>
              </a:lnSpc>
              <a:spcBef>
                <a:spcPts val="130"/>
              </a:spcBef>
            </a:pPr>
            <a:r>
              <a:rPr spc="-10" dirty="0"/>
              <a:t>Digital</a:t>
            </a:r>
            <a:r>
              <a:rPr spc="-160" dirty="0"/>
              <a:t> </a:t>
            </a:r>
            <a:r>
              <a:rPr dirty="0"/>
              <a:t>news</a:t>
            </a:r>
            <a:r>
              <a:rPr spc="-130" dirty="0"/>
              <a:t> </a:t>
            </a:r>
            <a:r>
              <a:rPr dirty="0"/>
              <a:t>growth</a:t>
            </a:r>
            <a:r>
              <a:rPr spc="-70" dirty="0"/>
              <a:t> </a:t>
            </a:r>
            <a:r>
              <a:rPr spc="-10" dirty="0"/>
              <a:t>creates</a:t>
            </a:r>
            <a:r>
              <a:rPr spc="35" dirty="0"/>
              <a:t> </a:t>
            </a:r>
            <a:r>
              <a:rPr dirty="0"/>
              <a:t>vast</a:t>
            </a:r>
            <a:r>
              <a:rPr spc="-65" dirty="0"/>
              <a:t> </a:t>
            </a:r>
            <a:r>
              <a:rPr spc="-10" dirty="0"/>
              <a:t>daily</a:t>
            </a:r>
          </a:p>
          <a:p>
            <a:pPr marL="16510">
              <a:lnSpc>
                <a:spcPts val="4135"/>
              </a:lnSpc>
            </a:pPr>
            <a:r>
              <a:rPr sz="3450" spc="-25" dirty="0"/>
              <a:t>article</a:t>
            </a:r>
            <a:r>
              <a:rPr sz="3450" spc="-220" dirty="0"/>
              <a:t> </a:t>
            </a:r>
            <a:r>
              <a:rPr sz="3450" spc="-125" dirty="0"/>
              <a:t>volumes</a:t>
            </a:r>
            <a:r>
              <a:rPr sz="3450" spc="-114" dirty="0"/>
              <a:t> </a:t>
            </a:r>
            <a:r>
              <a:rPr sz="3450" spc="-90" dirty="0"/>
              <a:t>across</a:t>
            </a:r>
            <a:r>
              <a:rPr sz="3450" spc="-75" dirty="0"/>
              <a:t> </a:t>
            </a:r>
            <a:r>
              <a:rPr sz="3450" spc="-10" dirty="0"/>
              <a:t>domains.</a:t>
            </a:r>
            <a:endParaRPr sz="3450" dirty="0"/>
          </a:p>
          <a:p>
            <a:pPr marL="22860">
              <a:lnSpc>
                <a:spcPct val="100000"/>
              </a:lnSpc>
              <a:spcBef>
                <a:spcPts val="10"/>
              </a:spcBef>
            </a:pPr>
            <a:r>
              <a:rPr spc="-30" dirty="0"/>
              <a:t>Traditional</a:t>
            </a:r>
            <a:r>
              <a:rPr spc="-60" dirty="0"/>
              <a:t> </a:t>
            </a:r>
            <a:r>
              <a:rPr spc="-25" dirty="0"/>
              <a:t>systems</a:t>
            </a:r>
            <a:r>
              <a:rPr spc="-120" dirty="0"/>
              <a:t> </a:t>
            </a:r>
            <a:r>
              <a:rPr dirty="0"/>
              <a:t>face</a:t>
            </a:r>
            <a:r>
              <a:rPr spc="-225" dirty="0"/>
              <a:t> </a:t>
            </a:r>
            <a:r>
              <a:rPr dirty="0"/>
              <a:t>key</a:t>
            </a:r>
            <a:r>
              <a:rPr spc="-180" dirty="0"/>
              <a:t> </a:t>
            </a:r>
            <a:r>
              <a:rPr spc="-10" dirty="0"/>
              <a:t>challenges:</a:t>
            </a:r>
          </a:p>
          <a:p>
            <a:pPr marL="658495" marR="269875" indent="-356870">
              <a:lnSpc>
                <a:spcPct val="100600"/>
              </a:lnSpc>
              <a:spcBef>
                <a:spcPts val="920"/>
              </a:spcBef>
              <a:buChar char="•"/>
              <a:tabLst>
                <a:tab pos="663575" algn="l"/>
              </a:tabLst>
            </a:pPr>
            <a:r>
              <a:rPr spc="60" dirty="0"/>
              <a:t>Context</a:t>
            </a:r>
            <a:r>
              <a:rPr spc="-180" dirty="0"/>
              <a:t> </a:t>
            </a:r>
            <a:r>
              <a:rPr dirty="0"/>
              <a:t>Failure:</a:t>
            </a:r>
            <a:r>
              <a:rPr spc="-65" dirty="0"/>
              <a:t> </a:t>
            </a:r>
            <a:r>
              <a:rPr spc="-30" dirty="0"/>
              <a:t>Traditional</a:t>
            </a:r>
            <a:r>
              <a:rPr spc="40" dirty="0"/>
              <a:t> </a:t>
            </a:r>
            <a:r>
              <a:rPr spc="-10" dirty="0"/>
              <a:t>systems 	</a:t>
            </a:r>
            <a:r>
              <a:rPr sz="3450" dirty="0"/>
              <a:t>fail</a:t>
            </a:r>
            <a:r>
              <a:rPr sz="3450" spc="-225" dirty="0"/>
              <a:t> </a:t>
            </a:r>
            <a:r>
              <a:rPr sz="3450" dirty="0"/>
              <a:t>to</a:t>
            </a:r>
            <a:r>
              <a:rPr sz="3450" spc="-215" dirty="0"/>
              <a:t> </a:t>
            </a:r>
            <a:r>
              <a:rPr sz="3450" spc="-75" dirty="0"/>
              <a:t>capture </a:t>
            </a:r>
            <a:r>
              <a:rPr sz="3450" spc="-95" dirty="0"/>
              <a:t>deep</a:t>
            </a:r>
            <a:r>
              <a:rPr sz="3450" spc="-114" dirty="0"/>
              <a:t> </a:t>
            </a:r>
            <a:r>
              <a:rPr sz="3450" spc="-10" dirty="0"/>
              <a:t>contextual 	</a:t>
            </a:r>
            <a:r>
              <a:rPr spc="-10" dirty="0"/>
              <a:t>relevance.</a:t>
            </a:r>
            <a:endParaRPr sz="3450" dirty="0"/>
          </a:p>
          <a:p>
            <a:pPr marL="660400" marR="18415" indent="-358775">
              <a:lnSpc>
                <a:spcPct val="102499"/>
              </a:lnSpc>
              <a:spcBef>
                <a:spcPts val="685"/>
              </a:spcBef>
              <a:buChar char="•"/>
              <a:tabLst>
                <a:tab pos="664845" algn="l"/>
              </a:tabLst>
            </a:pPr>
            <a:r>
              <a:rPr sz="3400" dirty="0"/>
              <a:t>Metadata</a:t>
            </a:r>
            <a:r>
              <a:rPr sz="3400" spc="-240" dirty="0"/>
              <a:t> </a:t>
            </a:r>
            <a:r>
              <a:rPr sz="3400" dirty="0"/>
              <a:t>Blindness:</a:t>
            </a:r>
            <a:r>
              <a:rPr sz="3400" spc="-114" dirty="0"/>
              <a:t> </a:t>
            </a:r>
            <a:r>
              <a:rPr sz="3400" spc="-125" dirty="0"/>
              <a:t>Rich</a:t>
            </a:r>
            <a:r>
              <a:rPr sz="3400" spc="-70" dirty="0"/>
              <a:t> </a:t>
            </a:r>
            <a:r>
              <a:rPr sz="3400" spc="-90" dirty="0"/>
              <a:t>signals</a:t>
            </a:r>
            <a:r>
              <a:rPr sz="3400" spc="-145" dirty="0"/>
              <a:t> </a:t>
            </a:r>
            <a:r>
              <a:rPr sz="3400" spc="-20" dirty="0"/>
              <a:t>like 	</a:t>
            </a:r>
            <a:r>
              <a:rPr spc="-30" dirty="0"/>
              <a:t>source,</a:t>
            </a:r>
            <a:r>
              <a:rPr spc="-190" dirty="0"/>
              <a:t> </a:t>
            </a:r>
            <a:r>
              <a:rPr dirty="0"/>
              <a:t>publication</a:t>
            </a:r>
            <a:r>
              <a:rPr spc="10" dirty="0"/>
              <a:t> </a:t>
            </a:r>
            <a:r>
              <a:rPr dirty="0"/>
              <a:t>date,</a:t>
            </a:r>
            <a:r>
              <a:rPr spc="-15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tags</a:t>
            </a:r>
            <a:r>
              <a:rPr spc="-135" dirty="0"/>
              <a:t> </a:t>
            </a:r>
            <a:r>
              <a:rPr spc="-25" dirty="0"/>
              <a:t>are 	</a:t>
            </a:r>
            <a:r>
              <a:rPr dirty="0"/>
              <a:t>often</a:t>
            </a:r>
            <a:r>
              <a:rPr spc="-114" dirty="0"/>
              <a:t> </a:t>
            </a:r>
            <a:r>
              <a:rPr dirty="0"/>
              <a:t>ignored</a:t>
            </a:r>
            <a:r>
              <a:rPr spc="70" dirty="0"/>
              <a:t> </a:t>
            </a:r>
            <a:r>
              <a:rPr dirty="0"/>
              <a:t>in</a:t>
            </a:r>
            <a:r>
              <a:rPr spc="-145" dirty="0"/>
              <a:t> </a:t>
            </a:r>
            <a:r>
              <a:rPr spc="-20" dirty="0"/>
              <a:t>favour</a:t>
            </a:r>
            <a:r>
              <a:rPr spc="7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simple 	</a:t>
            </a:r>
            <a:r>
              <a:rPr dirty="0"/>
              <a:t>keyword</a:t>
            </a:r>
            <a:r>
              <a:rPr spc="-160" dirty="0"/>
              <a:t> </a:t>
            </a:r>
            <a:r>
              <a:rPr spc="-10" dirty="0"/>
              <a:t>matching.</a:t>
            </a:r>
            <a:endParaRPr sz="3400" dirty="0"/>
          </a:p>
          <a:p>
            <a:pPr marL="661670" indent="-360045">
              <a:lnSpc>
                <a:spcPct val="100000"/>
              </a:lnSpc>
              <a:spcBef>
                <a:spcPts val="940"/>
              </a:spcBef>
              <a:buChar char="•"/>
              <a:tabLst>
                <a:tab pos="661670" algn="l"/>
              </a:tabLst>
            </a:pPr>
            <a:r>
              <a:rPr dirty="0"/>
              <a:t>Lack</a:t>
            </a:r>
            <a:r>
              <a:rPr spc="-170" dirty="0"/>
              <a:t> </a:t>
            </a:r>
            <a:r>
              <a:rPr spc="90" dirty="0"/>
              <a:t>of</a:t>
            </a:r>
            <a:r>
              <a:rPr spc="-150" dirty="0"/>
              <a:t> </a:t>
            </a:r>
            <a:r>
              <a:rPr dirty="0"/>
              <a:t>Synthesis:</a:t>
            </a:r>
            <a:r>
              <a:rPr spc="110" dirty="0"/>
              <a:t> </a:t>
            </a:r>
            <a:r>
              <a:rPr spc="-45" dirty="0"/>
              <a:t>Users</a:t>
            </a:r>
            <a:r>
              <a:rPr spc="5" dirty="0"/>
              <a:t> </a:t>
            </a:r>
            <a:r>
              <a:rPr spc="-20" dirty="0"/>
              <a:t>receive</a:t>
            </a:r>
            <a:r>
              <a:rPr spc="110" dirty="0"/>
              <a:t> </a:t>
            </a:r>
            <a:r>
              <a:rPr spc="-25" dirty="0"/>
              <a:t>raw</a:t>
            </a:r>
          </a:p>
          <a:p>
            <a:pPr marL="664845">
              <a:lnSpc>
                <a:spcPct val="100000"/>
              </a:lnSpc>
              <a:spcBef>
                <a:spcPts val="40"/>
              </a:spcBef>
            </a:pPr>
            <a:r>
              <a:rPr sz="3400" dirty="0"/>
              <a:t>lists</a:t>
            </a:r>
            <a:r>
              <a:rPr sz="3400" spc="-240" dirty="0"/>
              <a:t> </a:t>
            </a:r>
            <a:r>
              <a:rPr sz="3400" spc="-10" dirty="0"/>
              <a:t>rather</a:t>
            </a:r>
            <a:r>
              <a:rPr sz="3400" spc="-190" dirty="0"/>
              <a:t> </a:t>
            </a:r>
            <a:r>
              <a:rPr sz="3400" dirty="0"/>
              <a:t>than</a:t>
            </a:r>
            <a:r>
              <a:rPr sz="3400" spc="-200" dirty="0"/>
              <a:t> </a:t>
            </a:r>
            <a:r>
              <a:rPr sz="3400" spc="-55" dirty="0"/>
              <a:t>synthesized</a:t>
            </a:r>
            <a:r>
              <a:rPr sz="3400" dirty="0"/>
              <a:t> </a:t>
            </a:r>
            <a:r>
              <a:rPr sz="3400" spc="-110" dirty="0"/>
              <a:t>answers.</a:t>
            </a:r>
            <a:endParaRPr sz="3400" dirty="0"/>
          </a:p>
        </p:txBody>
      </p:sp>
      <p:sp>
        <p:nvSpPr>
          <p:cNvPr id="5" name="object 5"/>
          <p:cNvSpPr txBox="1"/>
          <p:nvPr/>
        </p:nvSpPr>
        <p:spPr>
          <a:xfrm>
            <a:off x="10608087" y="5777441"/>
            <a:ext cx="1060450" cy="104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88620" algn="r">
              <a:lnSpc>
                <a:spcPts val="1595"/>
              </a:lnSpc>
              <a:spcBef>
                <a:spcPts val="105"/>
              </a:spcBef>
            </a:pPr>
            <a:r>
              <a:rPr sz="1450" spc="-20" dirty="0">
                <a:solidFill>
                  <a:srgbClr val="494949"/>
                </a:solidFill>
                <a:latin typeface="Consolas"/>
                <a:cs typeface="Consolas"/>
              </a:rPr>
              <a:t>Los{</a:t>
            </a:r>
            <a:endParaRPr sz="1450">
              <a:latin typeface="Consolas"/>
              <a:cs typeface="Consolas"/>
            </a:endParaRPr>
          </a:p>
          <a:p>
            <a:pPr marR="400050" algn="r">
              <a:lnSpc>
                <a:spcPts val="1775"/>
              </a:lnSpc>
            </a:pPr>
            <a:r>
              <a:rPr sz="1600" spc="-155" dirty="0">
                <a:solidFill>
                  <a:srgbClr val="2A2A2A"/>
                </a:solidFill>
                <a:latin typeface="Consolas"/>
                <a:cs typeface="Consolas"/>
              </a:rPr>
              <a:t>Context</a:t>
            </a:r>
            <a:endParaRPr sz="1600">
              <a:latin typeface="Consolas"/>
              <a:cs typeface="Consolas"/>
            </a:endParaRPr>
          </a:p>
          <a:p>
            <a:pPr marL="273685" marR="5080" indent="161290">
              <a:lnSpc>
                <a:spcPts val="1600"/>
              </a:lnSpc>
              <a:spcBef>
                <a:spcPts val="1500"/>
              </a:spcBef>
            </a:pPr>
            <a:r>
              <a:rPr sz="1500" spc="-45" dirty="0">
                <a:solidFill>
                  <a:srgbClr val="3B3B3B"/>
                </a:solidFill>
                <a:latin typeface="Arial"/>
                <a:cs typeface="Arial"/>
              </a:rPr>
              <a:t>Ignored </a:t>
            </a:r>
            <a:r>
              <a:rPr sz="1500" spc="-35" dirty="0">
                <a:solidFill>
                  <a:srgbClr val="3D3D3D"/>
                </a:solidFill>
                <a:latin typeface="Arial"/>
                <a:cs typeface="Arial"/>
              </a:rPr>
              <a:t>Metadata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17771" y="6987822"/>
            <a:ext cx="123444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30" dirty="0">
                <a:solidFill>
                  <a:srgbClr val="3F3F3F"/>
                </a:solidFill>
                <a:latin typeface="Arial"/>
                <a:cs typeface="Arial"/>
              </a:rPr>
              <a:t>Unsynthesized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4080" y="6298847"/>
            <a:ext cx="85407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45" dirty="0">
                <a:solidFill>
                  <a:srgbClr val="545454"/>
                </a:solidFill>
                <a:latin typeface="Arial"/>
                <a:cs typeface="Arial"/>
              </a:rPr>
              <a:t>FILTER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30565" y="7106002"/>
            <a:ext cx="1360170" cy="4978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12725" marR="5080" indent="-200660">
              <a:lnSpc>
                <a:spcPts val="1800"/>
              </a:lnSpc>
              <a:spcBef>
                <a:spcPts val="254"/>
              </a:spcBef>
            </a:pP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SYNTHESIZED </a:t>
            </a:r>
            <a:r>
              <a:rPr sz="1600" spc="-10" dirty="0">
                <a:solidFill>
                  <a:srgbClr val="484848"/>
                </a:solidFill>
                <a:latin typeface="Arial"/>
                <a:cs typeface="Arial"/>
              </a:rPr>
              <a:t>ANSWERS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47669" y="7580841"/>
            <a:ext cx="1026160" cy="4191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indent="5080">
              <a:lnSpc>
                <a:spcPct val="77600"/>
              </a:lnSpc>
              <a:spcBef>
                <a:spcPts val="495"/>
              </a:spcBef>
            </a:pPr>
            <a:r>
              <a:rPr sz="1450" spc="-195" dirty="0">
                <a:solidFill>
                  <a:srgbClr val="3D3D3D"/>
                </a:solidFill>
                <a:latin typeface="Arial"/>
                <a:cs typeface="Arial"/>
              </a:rPr>
              <a:t>COuTE</a:t>
            </a:r>
            <a:r>
              <a:rPr sz="1450" spc="-14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450" spc="-190" dirty="0">
                <a:solidFill>
                  <a:srgbClr val="282828"/>
                </a:solidFill>
                <a:latin typeface="Arial"/>
                <a:cs typeface="Arial"/>
              </a:rPr>
              <a:t>xT</a:t>
            </a:r>
            <a:r>
              <a:rPr sz="1450" spc="-190" dirty="0">
                <a:solidFill>
                  <a:srgbClr val="363636"/>
                </a:solidFill>
                <a:latin typeface="Arial"/>
                <a:cs typeface="Arial"/>
              </a:rPr>
              <a:t>UAE </a:t>
            </a:r>
            <a:r>
              <a:rPr sz="1450" spc="-270" dirty="0">
                <a:solidFill>
                  <a:srgbClr val="313131"/>
                </a:solidFill>
                <a:latin typeface="Arial"/>
                <a:cs typeface="Arial"/>
              </a:rPr>
              <a:t>RELEVANCE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58083" y="8351660"/>
            <a:ext cx="915669" cy="3987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135"/>
              </a:spcBef>
            </a:pPr>
            <a:r>
              <a:rPr sz="1350" spc="-10" dirty="0">
                <a:solidFill>
                  <a:srgbClr val="424242"/>
                </a:solidFill>
                <a:latin typeface="Consolas"/>
                <a:cs typeface="Consolas"/>
              </a:rPr>
              <a:t>METADATA</a:t>
            </a:r>
            <a:endParaRPr sz="1350">
              <a:latin typeface="Consolas"/>
              <a:cs typeface="Consolas"/>
            </a:endParaRPr>
          </a:p>
          <a:p>
            <a:pPr marL="15875">
              <a:lnSpc>
                <a:spcPts val="1390"/>
              </a:lnSpc>
            </a:pPr>
            <a:r>
              <a:rPr sz="1250" spc="65" dirty="0">
                <a:solidFill>
                  <a:srgbClr val="444444"/>
                </a:solidFill>
                <a:latin typeface="Consolas"/>
                <a:cs typeface="Consolas"/>
              </a:rPr>
              <a:t>AWAPENESS</a:t>
            </a:r>
            <a:endParaRPr sz="12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400" y="9103783"/>
            <a:ext cx="7726045" cy="0"/>
          </a:xfrm>
          <a:custGeom>
            <a:avLst/>
            <a:gdLst/>
            <a:ahLst/>
            <a:cxnLst/>
            <a:rect l="l" t="t" r="r" b="b"/>
            <a:pathLst>
              <a:path w="7726045">
                <a:moveTo>
                  <a:pt x="0" y="0"/>
                </a:moveTo>
                <a:lnTo>
                  <a:pt x="7725833" y="0"/>
                </a:lnTo>
              </a:path>
            </a:pathLst>
          </a:custGeom>
          <a:ln w="29633">
            <a:solidFill>
              <a:srgbClr val="1F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423400" y="7351183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5">
                <a:moveTo>
                  <a:pt x="0" y="0"/>
                </a:moveTo>
                <a:lnTo>
                  <a:pt x="270933" y="0"/>
                </a:lnTo>
              </a:path>
            </a:pathLst>
          </a:custGeom>
          <a:ln w="29633">
            <a:solidFill>
              <a:srgbClr val="232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423400" y="7095066"/>
            <a:ext cx="271145" cy="271145"/>
            <a:chOff x="9423400" y="7095066"/>
            <a:chExt cx="271145" cy="271145"/>
          </a:xfrm>
        </p:grpSpPr>
        <p:sp>
          <p:nvSpPr>
            <p:cNvPr id="5" name="object 5"/>
            <p:cNvSpPr/>
            <p:nvPr/>
          </p:nvSpPr>
          <p:spPr>
            <a:xfrm>
              <a:off x="9423400" y="7095066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0" y="14816"/>
                  </a:moveTo>
                  <a:lnTo>
                    <a:pt x="270933" y="14816"/>
                  </a:lnTo>
                </a:path>
                <a:path w="271145" h="271145">
                  <a:moveTo>
                    <a:pt x="14816" y="270933"/>
                  </a:moveTo>
                  <a:lnTo>
                    <a:pt x="14816" y="0"/>
                  </a:lnTo>
                </a:path>
              </a:pathLst>
            </a:custGeom>
            <a:ln w="29633">
              <a:solidFill>
                <a:srgbClr val="232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9516" y="7095066"/>
              <a:ext cx="0" cy="271145"/>
            </a:xfrm>
            <a:custGeom>
              <a:avLst/>
              <a:gdLst/>
              <a:ahLst/>
              <a:cxnLst/>
              <a:rect l="l" t="t" r="r" b="b"/>
              <a:pathLst>
                <a:path h="271145">
                  <a:moveTo>
                    <a:pt x="0" y="2709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232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991600" y="9091083"/>
            <a:ext cx="7738745" cy="0"/>
          </a:xfrm>
          <a:custGeom>
            <a:avLst/>
            <a:gdLst/>
            <a:ahLst/>
            <a:cxnLst/>
            <a:rect l="l" t="t" r="r" b="b"/>
            <a:pathLst>
              <a:path w="7738744">
                <a:moveTo>
                  <a:pt x="0" y="0"/>
                </a:moveTo>
                <a:lnTo>
                  <a:pt x="7738533" y="0"/>
                </a:lnTo>
              </a:path>
            </a:pathLst>
          </a:custGeom>
          <a:ln w="29633">
            <a:solidFill>
              <a:srgbClr val="232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7400" y="6309783"/>
            <a:ext cx="7738745" cy="0"/>
          </a:xfrm>
          <a:custGeom>
            <a:avLst/>
            <a:gdLst/>
            <a:ahLst/>
            <a:cxnLst/>
            <a:rect l="l" t="t" r="r" b="b"/>
            <a:pathLst>
              <a:path w="7738745">
                <a:moveTo>
                  <a:pt x="0" y="0"/>
                </a:moveTo>
                <a:lnTo>
                  <a:pt x="7738533" y="0"/>
                </a:lnTo>
              </a:path>
            </a:pathLst>
          </a:custGeom>
          <a:ln w="29633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1600" y="6309783"/>
            <a:ext cx="7738745" cy="0"/>
          </a:xfrm>
          <a:custGeom>
            <a:avLst/>
            <a:gdLst/>
            <a:ahLst/>
            <a:cxnLst/>
            <a:rect l="l" t="t" r="r" b="b"/>
            <a:pathLst>
              <a:path w="7738744">
                <a:moveTo>
                  <a:pt x="0" y="0"/>
                </a:moveTo>
                <a:lnTo>
                  <a:pt x="7738533" y="0"/>
                </a:lnTo>
              </a:path>
            </a:pathLst>
          </a:custGeom>
          <a:ln w="29633">
            <a:solidFill>
              <a:srgbClr val="2B2F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2702" y="6665383"/>
            <a:ext cx="7848600" cy="24257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200" y="6692900"/>
            <a:ext cx="7861300" cy="2413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200" y="3784600"/>
            <a:ext cx="7848600" cy="2540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15400" y="3784600"/>
            <a:ext cx="7848600" cy="25400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3300" y="4102100"/>
            <a:ext cx="698500" cy="67310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9207500" y="4038600"/>
            <a:ext cx="685800" cy="774700"/>
            <a:chOff x="9207500" y="4038600"/>
            <a:chExt cx="685800" cy="7747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99600" y="4038600"/>
              <a:ext cx="393700" cy="3937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07500" y="4356100"/>
              <a:ext cx="457200" cy="4572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68790" y="396169"/>
            <a:ext cx="8862695" cy="777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00" spc="-85" dirty="0"/>
              <a:t>Core</a:t>
            </a:r>
            <a:r>
              <a:rPr sz="4900" spc="-260" dirty="0"/>
              <a:t> </a:t>
            </a:r>
            <a:r>
              <a:rPr sz="4900" dirty="0"/>
              <a:t>Project</a:t>
            </a:r>
            <a:r>
              <a:rPr sz="4900" spc="-330" dirty="0"/>
              <a:t> </a:t>
            </a:r>
            <a:r>
              <a:rPr sz="4900" dirty="0"/>
              <a:t>Objectives</a:t>
            </a:r>
            <a:r>
              <a:rPr sz="4900" spc="-80" dirty="0"/>
              <a:t> </a:t>
            </a:r>
            <a:r>
              <a:rPr sz="4900" spc="-140" dirty="0"/>
              <a:t>&amp;</a:t>
            </a:r>
            <a:r>
              <a:rPr sz="4900" spc="-229" dirty="0"/>
              <a:t> </a:t>
            </a:r>
            <a:r>
              <a:rPr sz="4900" spc="-10" dirty="0"/>
              <a:t>Vision</a:t>
            </a:r>
            <a:endParaRPr sz="4900"/>
          </a:p>
        </p:txBody>
      </p:sp>
      <p:sp>
        <p:nvSpPr>
          <p:cNvPr id="19" name="object 19"/>
          <p:cNvSpPr txBox="1"/>
          <p:nvPr/>
        </p:nvSpPr>
        <p:spPr>
          <a:xfrm>
            <a:off x="767820" y="1628422"/>
            <a:ext cx="15593060" cy="15792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7780" marR="5080" indent="-5715">
              <a:lnSpc>
                <a:spcPts val="5900"/>
              </a:lnSpc>
              <a:spcBef>
                <a:spcPts val="630"/>
              </a:spcBef>
            </a:pPr>
            <a:r>
              <a:rPr sz="5250" i="1" spc="-45" dirty="0">
                <a:latin typeface="Arial"/>
                <a:cs typeface="Arial"/>
              </a:rPr>
              <a:t>“Primary</a:t>
            </a:r>
            <a:r>
              <a:rPr sz="5250" i="1" spc="-325" dirty="0">
                <a:latin typeface="Arial"/>
                <a:cs typeface="Arial"/>
              </a:rPr>
              <a:t> </a:t>
            </a:r>
            <a:r>
              <a:rPr sz="5250" i="1" spc="-114" dirty="0">
                <a:latin typeface="Arial"/>
                <a:cs typeface="Arial"/>
              </a:rPr>
              <a:t>Goal:</a:t>
            </a:r>
            <a:r>
              <a:rPr sz="5250" i="1" spc="-250" dirty="0">
                <a:latin typeface="Arial"/>
                <a:cs typeface="Arial"/>
              </a:rPr>
              <a:t> </a:t>
            </a:r>
            <a:r>
              <a:rPr sz="5250" i="1" spc="-345" dirty="0">
                <a:latin typeface="Arial"/>
                <a:cs typeface="Arial"/>
              </a:rPr>
              <a:t>To</a:t>
            </a:r>
            <a:r>
              <a:rPr sz="5250" i="1" spc="-60" dirty="0">
                <a:latin typeface="Arial"/>
                <a:cs typeface="Arial"/>
              </a:rPr>
              <a:t> </a:t>
            </a:r>
            <a:r>
              <a:rPr sz="5250" i="1" spc="-85" dirty="0">
                <a:latin typeface="Arial"/>
                <a:cs typeface="Arial"/>
              </a:rPr>
              <a:t>develop</a:t>
            </a:r>
            <a:r>
              <a:rPr sz="5250" i="1" spc="-285" dirty="0">
                <a:latin typeface="Arial"/>
                <a:cs typeface="Arial"/>
              </a:rPr>
              <a:t> </a:t>
            </a:r>
            <a:r>
              <a:rPr sz="5250" i="1" spc="-240" dirty="0">
                <a:latin typeface="Arial"/>
                <a:cs typeface="Arial"/>
              </a:rPr>
              <a:t>a </a:t>
            </a:r>
            <a:r>
              <a:rPr sz="5250" i="1" spc="-95" dirty="0">
                <a:latin typeface="Arial"/>
                <a:cs typeface="Arial"/>
              </a:rPr>
              <a:t>standalone,</a:t>
            </a:r>
            <a:r>
              <a:rPr sz="5250" i="1" spc="-270" dirty="0">
                <a:latin typeface="Arial"/>
                <a:cs typeface="Arial"/>
              </a:rPr>
              <a:t> </a:t>
            </a:r>
            <a:r>
              <a:rPr sz="5250" i="1" spc="-120" dirty="0">
                <a:latin typeface="Arial"/>
                <a:cs typeface="Arial"/>
              </a:rPr>
              <a:t>explainable</a:t>
            </a:r>
            <a:r>
              <a:rPr sz="5250" i="1" spc="110" dirty="0">
                <a:latin typeface="Arial"/>
                <a:cs typeface="Arial"/>
              </a:rPr>
              <a:t> </a:t>
            </a:r>
            <a:r>
              <a:rPr sz="5250" i="1" spc="-25" dirty="0">
                <a:latin typeface="Arial"/>
                <a:cs typeface="Arial"/>
              </a:rPr>
              <a:t>Al </a:t>
            </a:r>
            <a:r>
              <a:rPr sz="5250" i="1" dirty="0">
                <a:latin typeface="Arial"/>
                <a:cs typeface="Arial"/>
              </a:rPr>
              <a:t>system</a:t>
            </a:r>
            <a:r>
              <a:rPr sz="5250" i="1" spc="-50" dirty="0">
                <a:latin typeface="Arial"/>
                <a:cs typeface="Arial"/>
              </a:rPr>
              <a:t> </a:t>
            </a:r>
            <a:r>
              <a:rPr sz="5250" i="1" dirty="0">
                <a:latin typeface="Arial"/>
                <a:cs typeface="Arial"/>
              </a:rPr>
              <a:t>for</a:t>
            </a:r>
            <a:r>
              <a:rPr sz="5250" i="1" spc="-160" dirty="0">
                <a:latin typeface="Arial"/>
                <a:cs typeface="Arial"/>
              </a:rPr>
              <a:t> </a:t>
            </a:r>
            <a:r>
              <a:rPr sz="5250" i="1" spc="-70" dirty="0">
                <a:latin typeface="Arial"/>
                <a:cs typeface="Arial"/>
              </a:rPr>
              <a:t>news</a:t>
            </a:r>
            <a:r>
              <a:rPr sz="5250" i="1" spc="-140" dirty="0">
                <a:latin typeface="Arial"/>
                <a:cs typeface="Arial"/>
              </a:rPr>
              <a:t> </a:t>
            </a:r>
            <a:r>
              <a:rPr sz="5250" i="1" spc="-10" dirty="0">
                <a:latin typeface="Arial"/>
                <a:cs typeface="Arial"/>
              </a:rPr>
              <a:t>intelligence.”</a:t>
            </a:r>
            <a:endParaRPr sz="5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2300" y="3924300"/>
            <a:ext cx="1638300" cy="1701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1300" y="4648200"/>
            <a:ext cx="1384300" cy="368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8200" y="3937000"/>
            <a:ext cx="1676400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9100" y="4648200"/>
            <a:ext cx="1397000" cy="368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31400" y="3987800"/>
            <a:ext cx="1587500" cy="1587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26900" y="4648200"/>
            <a:ext cx="1397000" cy="368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70000" y="3924300"/>
            <a:ext cx="1600200" cy="17018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57426" y="566913"/>
            <a:ext cx="7975600" cy="1882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780">
              <a:lnSpc>
                <a:spcPts val="7145"/>
              </a:lnSpc>
              <a:spcBef>
                <a:spcPts val="135"/>
              </a:spcBef>
            </a:pPr>
            <a:r>
              <a:rPr sz="6700" spc="-280" dirty="0"/>
              <a:t>Methodology:</a:t>
            </a:r>
            <a:r>
              <a:rPr sz="6700" spc="120" dirty="0"/>
              <a:t> </a:t>
            </a:r>
            <a:r>
              <a:rPr sz="6700" spc="-405" dirty="0"/>
              <a:t>A</a:t>
            </a:r>
            <a:r>
              <a:rPr sz="6700" spc="-595" dirty="0"/>
              <a:t> </a:t>
            </a:r>
            <a:r>
              <a:rPr sz="6700" spc="-160" dirty="0"/>
              <a:t>Hybrid</a:t>
            </a:r>
            <a:endParaRPr sz="6700"/>
          </a:p>
          <a:p>
            <a:pPr marL="12700">
              <a:lnSpc>
                <a:spcPts val="7445"/>
              </a:lnSpc>
            </a:pPr>
            <a:r>
              <a:rPr sz="6950" spc="-415" dirty="0"/>
              <a:t>Retrievial</a:t>
            </a:r>
            <a:r>
              <a:rPr sz="6950" spc="-105" dirty="0"/>
              <a:t> </a:t>
            </a:r>
            <a:r>
              <a:rPr sz="6950" spc="-465" dirty="0"/>
              <a:t>Approach</a:t>
            </a:r>
            <a:endParaRPr sz="6950"/>
          </a:p>
        </p:txBody>
      </p:sp>
      <p:sp>
        <p:nvSpPr>
          <p:cNvPr id="10" name="object 10"/>
          <p:cNvSpPr txBox="1"/>
          <p:nvPr/>
        </p:nvSpPr>
        <p:spPr>
          <a:xfrm>
            <a:off x="1528109" y="5902257"/>
            <a:ext cx="2343785" cy="176403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R="19050" algn="ctr">
              <a:lnSpc>
                <a:spcPct val="100000"/>
              </a:lnSpc>
              <a:spcBef>
                <a:spcPts val="1175"/>
              </a:spcBef>
            </a:pPr>
            <a:r>
              <a:rPr sz="3750" spc="50" dirty="0">
                <a:solidFill>
                  <a:srgbClr val="2470C6"/>
                </a:solidFill>
                <a:latin typeface="Arial"/>
                <a:cs typeface="Arial"/>
              </a:rPr>
              <a:t>Ingest</a:t>
            </a:r>
            <a:endParaRPr sz="3750">
              <a:latin typeface="Arial"/>
              <a:cs typeface="Arial"/>
            </a:endParaRPr>
          </a:p>
          <a:p>
            <a:pPr algn="ctr">
              <a:lnSpc>
                <a:spcPts val="3700"/>
              </a:lnSpc>
              <a:spcBef>
                <a:spcPts val="950"/>
              </a:spcBef>
            </a:pPr>
            <a:r>
              <a:rPr sz="3250" spc="-270" dirty="0">
                <a:latin typeface="Arial"/>
                <a:cs typeface="Arial"/>
              </a:rPr>
              <a:t>Full</a:t>
            </a:r>
            <a:r>
              <a:rPr sz="3250" spc="30" dirty="0">
                <a:latin typeface="Arial"/>
                <a:cs typeface="Arial"/>
              </a:rPr>
              <a:t> </a:t>
            </a:r>
            <a:r>
              <a:rPr sz="3250" spc="-120" dirty="0">
                <a:latin typeface="Arial"/>
                <a:cs typeface="Arial"/>
              </a:rPr>
              <a:t>text,</a:t>
            </a:r>
            <a:r>
              <a:rPr sz="3250" spc="-195" dirty="0">
                <a:latin typeface="Arial"/>
                <a:cs typeface="Arial"/>
              </a:rPr>
              <a:t> </a:t>
            </a:r>
            <a:r>
              <a:rPr sz="3250" spc="-85" dirty="0">
                <a:latin typeface="Arial"/>
                <a:cs typeface="Arial"/>
              </a:rPr>
              <a:t>titles,</a:t>
            </a:r>
            <a:endParaRPr sz="3250">
              <a:latin typeface="Arial"/>
              <a:cs typeface="Arial"/>
            </a:endParaRPr>
          </a:p>
          <a:p>
            <a:pPr algn="ctr">
              <a:lnSpc>
                <a:spcPts val="3460"/>
              </a:lnSpc>
            </a:pPr>
            <a:r>
              <a:rPr sz="3050" spc="-65" dirty="0">
                <a:latin typeface="Arial"/>
                <a:cs typeface="Arial"/>
              </a:rPr>
              <a:t>summaries</a:t>
            </a:r>
            <a:endParaRPr sz="3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65450" y="5894609"/>
            <a:ext cx="2721610" cy="219392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335"/>
              </a:spcBef>
            </a:pPr>
            <a:r>
              <a:rPr sz="3600" spc="70" dirty="0">
                <a:solidFill>
                  <a:srgbClr val="2374CA"/>
                </a:solidFill>
                <a:latin typeface="Arial"/>
                <a:cs typeface="Arial"/>
              </a:rPr>
              <a:t>Enrich</a:t>
            </a:r>
            <a:endParaRPr sz="3600" dirty="0">
              <a:latin typeface="Arial"/>
              <a:cs typeface="Arial"/>
            </a:endParaRPr>
          </a:p>
          <a:p>
            <a:pPr marL="12700" marR="5080" algn="ctr">
              <a:lnSpc>
                <a:spcPts val="3300"/>
              </a:lnSpc>
              <a:spcBef>
                <a:spcPts val="1639"/>
              </a:spcBef>
            </a:pPr>
            <a:r>
              <a:rPr sz="3200" spc="-185" dirty="0">
                <a:latin typeface="Arial"/>
                <a:cs typeface="Arial"/>
              </a:rPr>
              <a:t>Extract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15" dirty="0">
                <a:latin typeface="Arial"/>
                <a:cs typeface="Arial"/>
              </a:rPr>
              <a:t>metadata </a:t>
            </a:r>
            <a:r>
              <a:rPr sz="3200" spc="-275" dirty="0">
                <a:latin typeface="Arial"/>
                <a:cs typeface="Arial"/>
              </a:rPr>
              <a:t>(Tags,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265" dirty="0">
                <a:latin typeface="Arial"/>
                <a:cs typeface="Arial"/>
              </a:rPr>
              <a:t>Dates, </a:t>
            </a:r>
            <a:r>
              <a:rPr sz="3200" spc="-300" dirty="0">
                <a:latin typeface="Arial"/>
                <a:cs typeface="Arial"/>
              </a:rPr>
              <a:t>Sources)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15724" y="5917855"/>
            <a:ext cx="2164080" cy="1751964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44450" indent="187325">
              <a:lnSpc>
                <a:spcPct val="100000"/>
              </a:lnSpc>
              <a:spcBef>
                <a:spcPts val="1250"/>
              </a:spcBef>
            </a:pPr>
            <a:r>
              <a:rPr sz="3550" spc="220" dirty="0">
                <a:solidFill>
                  <a:srgbClr val="2672C6"/>
                </a:solidFill>
                <a:latin typeface="Trebuchet MS"/>
                <a:cs typeface="Trebuchet MS"/>
              </a:rPr>
              <a:t>Process</a:t>
            </a:r>
            <a:endParaRPr sz="3550">
              <a:latin typeface="Trebuchet MS"/>
              <a:cs typeface="Trebuchet MS"/>
            </a:endParaRPr>
          </a:p>
          <a:p>
            <a:pPr marL="12700" marR="5080" indent="31750">
              <a:lnSpc>
                <a:spcPts val="3300"/>
              </a:lnSpc>
              <a:spcBef>
                <a:spcPts val="1600"/>
              </a:spcBef>
            </a:pPr>
            <a:r>
              <a:rPr sz="3200" spc="-530" dirty="0">
                <a:latin typeface="Consolas"/>
                <a:cs typeface="Consolas"/>
              </a:rPr>
              <a:t>Tokenizaflon, </a:t>
            </a:r>
            <a:r>
              <a:rPr sz="3200" spc="-390" dirty="0">
                <a:latin typeface="Consolas"/>
                <a:cs typeface="Consolas"/>
              </a:rPr>
              <a:t>Normalizaton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96785" y="5839774"/>
            <a:ext cx="2727325" cy="2240280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764"/>
              </a:spcBef>
            </a:pPr>
            <a:r>
              <a:rPr sz="3650" spc="-10" dirty="0">
                <a:solidFill>
                  <a:srgbClr val="1D6EC3"/>
                </a:solidFill>
                <a:latin typeface="Arial"/>
                <a:cs typeface="Arial"/>
              </a:rPr>
              <a:t>Retrieve</a:t>
            </a:r>
            <a:endParaRPr sz="3650">
              <a:latin typeface="Arial"/>
              <a:cs typeface="Arial"/>
            </a:endParaRPr>
          </a:p>
          <a:p>
            <a:pPr marL="12700" marR="5080" indent="149225">
              <a:lnSpc>
                <a:spcPts val="3300"/>
              </a:lnSpc>
              <a:spcBef>
                <a:spcPts val="1580"/>
              </a:spcBef>
            </a:pPr>
            <a:r>
              <a:rPr sz="2900" dirty="0">
                <a:latin typeface="Arial"/>
                <a:cs typeface="Arial"/>
              </a:rPr>
              <a:t>Hybrid</a:t>
            </a:r>
            <a:r>
              <a:rPr sz="2900" spc="-114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scoring: </a:t>
            </a:r>
            <a:r>
              <a:rPr sz="2950" spc="-80" dirty="0">
                <a:latin typeface="Arial"/>
                <a:cs typeface="Arial"/>
              </a:rPr>
              <a:t>Text</a:t>
            </a:r>
            <a:r>
              <a:rPr sz="2950" spc="-12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Similarity </a:t>
            </a:r>
            <a:r>
              <a:rPr sz="2850" dirty="0">
                <a:latin typeface="Arial"/>
                <a:cs typeface="Arial"/>
              </a:rPr>
              <a:t>Metadata</a:t>
            </a:r>
            <a:r>
              <a:rPr sz="2850" spc="-40" dirty="0">
                <a:latin typeface="Arial"/>
                <a:cs typeface="Arial"/>
              </a:rPr>
              <a:t> </a:t>
            </a:r>
            <a:r>
              <a:rPr sz="2850" spc="-55" dirty="0">
                <a:latin typeface="Arial"/>
                <a:cs typeface="Arial"/>
              </a:rPr>
              <a:t>Weight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9700" y="2806700"/>
            <a:ext cx="4508500" cy="629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9300" y="1968500"/>
            <a:ext cx="736600" cy="762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6300" y="673100"/>
            <a:ext cx="25400" cy="12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200" y="500238"/>
            <a:ext cx="787336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105" dirty="0">
                <a:solidFill>
                  <a:srgbClr val="2677C1"/>
                </a:solidFill>
              </a:rPr>
              <a:t>The</a:t>
            </a:r>
            <a:r>
              <a:rPr sz="4850" spc="-85" dirty="0">
                <a:solidFill>
                  <a:srgbClr val="2677C1"/>
                </a:solidFill>
              </a:rPr>
              <a:t> </a:t>
            </a:r>
            <a:r>
              <a:rPr sz="4850" spc="100" dirty="0">
                <a:solidFill>
                  <a:srgbClr val="2B7BC6"/>
                </a:solidFill>
              </a:rPr>
              <a:t>Core</a:t>
            </a:r>
            <a:r>
              <a:rPr sz="4850" spc="-40" dirty="0">
                <a:solidFill>
                  <a:srgbClr val="2B7BC6"/>
                </a:solidFill>
              </a:rPr>
              <a:t> </a:t>
            </a:r>
            <a:r>
              <a:rPr sz="4850" spc="80" dirty="0">
                <a:solidFill>
                  <a:srgbClr val="2374C3"/>
                </a:solidFill>
              </a:rPr>
              <a:t>Retrieval</a:t>
            </a:r>
            <a:r>
              <a:rPr sz="4850" spc="130" dirty="0">
                <a:solidFill>
                  <a:srgbClr val="2374C3"/>
                </a:solidFill>
              </a:rPr>
              <a:t> </a:t>
            </a:r>
            <a:r>
              <a:rPr sz="4850" spc="90" dirty="0">
                <a:solidFill>
                  <a:srgbClr val="2879C8"/>
                </a:solidFill>
              </a:rPr>
              <a:t>Pipeline</a:t>
            </a:r>
            <a:endParaRPr sz="4850"/>
          </a:p>
        </p:txBody>
      </p:sp>
      <p:sp>
        <p:nvSpPr>
          <p:cNvPr id="6" name="object 6"/>
          <p:cNvSpPr txBox="1"/>
          <p:nvPr/>
        </p:nvSpPr>
        <p:spPr>
          <a:xfrm>
            <a:off x="7867887" y="1609725"/>
            <a:ext cx="17145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60" dirty="0">
                <a:latin typeface="Arial"/>
                <a:cs typeface="Arial"/>
              </a:rPr>
              <a:t>Raw</a:t>
            </a:r>
            <a:r>
              <a:rPr sz="1850" spc="-55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Documents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1830" y="3441347"/>
            <a:ext cx="4232910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latin typeface="Arial"/>
                <a:cs typeface="Arial"/>
              </a:rPr>
              <a:t>Preprocessing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650" spc="-35" dirty="0">
                <a:latin typeface="Arial"/>
                <a:cs typeface="Arial"/>
              </a:rPr>
              <a:t>Tokenization,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normalization,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metadata</a:t>
            </a:r>
            <a:r>
              <a:rPr sz="165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filtering.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4094" y="4783666"/>
            <a:ext cx="2308860" cy="2765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30"/>
              </a:spcBef>
            </a:pPr>
            <a:r>
              <a:rPr sz="2050" dirty="0">
                <a:latin typeface="Arial"/>
                <a:cs typeface="Arial"/>
              </a:rPr>
              <a:t>Base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Scoring</a:t>
            </a:r>
            <a:endParaRPr sz="205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1650" spc="-90" dirty="0">
                <a:latin typeface="Arial"/>
                <a:cs typeface="Arial"/>
              </a:rPr>
              <a:t>TF-</a:t>
            </a:r>
            <a:r>
              <a:rPr sz="1650" spc="-75" dirty="0">
                <a:latin typeface="Arial"/>
                <a:cs typeface="Arial"/>
              </a:rPr>
              <a:t>IDF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Cosine</a:t>
            </a:r>
            <a:r>
              <a:rPr sz="1650" spc="1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Similarity.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50" dirty="0">
                <a:latin typeface="Arial"/>
                <a:cs typeface="Arial"/>
              </a:rPr>
              <a:t>Metadata</a:t>
            </a:r>
            <a:r>
              <a:rPr sz="2150" spc="-9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Boosting</a:t>
            </a:r>
            <a:endParaRPr sz="2150">
              <a:latin typeface="Arial"/>
              <a:cs typeface="Arial"/>
            </a:endParaRPr>
          </a:p>
          <a:p>
            <a:pPr marR="275590" algn="r">
              <a:lnSpc>
                <a:spcPct val="100000"/>
              </a:lnSpc>
              <a:spcBef>
                <a:spcPts val="869"/>
              </a:spcBef>
            </a:pPr>
            <a:r>
              <a:rPr sz="1450" dirty="0">
                <a:solidFill>
                  <a:srgbClr val="1D1D1D"/>
                </a:solidFill>
                <a:latin typeface="Arial"/>
                <a:cs typeface="Arial"/>
              </a:rPr>
              <a:t>@</a:t>
            </a:r>
            <a:r>
              <a:rPr sz="1450" spc="7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111111"/>
                </a:solidFill>
                <a:latin typeface="Arial"/>
                <a:cs typeface="Arial"/>
              </a:rPr>
              <a:t>Recenc</a:t>
            </a:r>
            <a:r>
              <a:rPr sz="1450" spc="-1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50" spc="-114" dirty="0">
                <a:solidFill>
                  <a:srgbClr val="59626D"/>
                </a:solidFill>
                <a:latin typeface="Arial"/>
                <a:cs typeface="Arial"/>
              </a:rPr>
              <a:t>y</a:t>
            </a:r>
            <a:r>
              <a:rPr sz="1450" spc="15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Multiplier</a:t>
            </a:r>
            <a:endParaRPr sz="1450">
              <a:latin typeface="Arial"/>
              <a:cs typeface="Arial"/>
            </a:endParaRPr>
          </a:p>
          <a:p>
            <a:pPr marL="353060" marR="320675" indent="208915" algn="r">
              <a:lnSpc>
                <a:spcPct val="169500"/>
              </a:lnSpc>
            </a:pPr>
            <a:r>
              <a:rPr sz="1450" dirty="0">
                <a:latin typeface="Arial"/>
                <a:cs typeface="Arial"/>
              </a:rPr>
              <a:t>Title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Match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Boost </a:t>
            </a:r>
            <a:r>
              <a:rPr sz="1450" dirty="0">
                <a:solidFill>
                  <a:srgbClr val="1A1A1A"/>
                </a:solidFill>
                <a:latin typeface="Arial"/>
                <a:cs typeface="Arial"/>
              </a:rPr>
              <a:t>@</a:t>
            </a:r>
            <a:r>
              <a:rPr sz="1450" spc="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Source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Authority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3030" y="8366551"/>
            <a:ext cx="2823845" cy="6229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2000" dirty="0">
                <a:latin typeface="Arial"/>
                <a:cs typeface="Arial"/>
              </a:rPr>
              <a:t>Retrieval</a:t>
            </a:r>
            <a:r>
              <a:rPr sz="2000" spc="3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Set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1650" spc="-60" dirty="0">
                <a:latin typeface="Arial"/>
                <a:cs typeface="Arial"/>
              </a:rPr>
              <a:t>Top</a:t>
            </a:r>
            <a:r>
              <a:rPr sz="1650" spc="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20</a:t>
            </a:r>
            <a:r>
              <a:rPr sz="1650" spc="-9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vs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Bottom</a:t>
            </a:r>
            <a:r>
              <a:rPr sz="1650" spc="-1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20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selection.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33900" y="1397000"/>
            <a:ext cx="12026900" cy="7764145"/>
            <a:chOff x="4533900" y="1397000"/>
            <a:chExt cx="12026900" cy="776414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900" y="1397000"/>
              <a:ext cx="12026900" cy="7670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52950" y="6896100"/>
              <a:ext cx="0" cy="2265045"/>
            </a:xfrm>
            <a:custGeom>
              <a:avLst/>
              <a:gdLst/>
              <a:ahLst/>
              <a:cxnLst/>
              <a:rect l="l" t="t" r="r" b="b"/>
              <a:pathLst>
                <a:path h="2265045">
                  <a:moveTo>
                    <a:pt x="0" y="2264833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86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32216" y="6896100"/>
              <a:ext cx="0" cy="2265045"/>
            </a:xfrm>
            <a:custGeom>
              <a:avLst/>
              <a:gdLst/>
              <a:ahLst/>
              <a:cxnLst/>
              <a:rect l="l" t="t" r="r" b="b"/>
              <a:pathLst>
                <a:path h="2265045">
                  <a:moveTo>
                    <a:pt x="0" y="2264833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486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42367" y="6906683"/>
              <a:ext cx="7700645" cy="0"/>
            </a:xfrm>
            <a:custGeom>
              <a:avLst/>
              <a:gdLst/>
              <a:ahLst/>
              <a:cxnLst/>
              <a:rect l="l" t="t" r="r" b="b"/>
              <a:pathLst>
                <a:path w="7700645">
                  <a:moveTo>
                    <a:pt x="0" y="0"/>
                  </a:moveTo>
                  <a:lnTo>
                    <a:pt x="7700433" y="0"/>
                  </a:lnTo>
                </a:path>
              </a:pathLst>
            </a:custGeom>
            <a:ln w="21166">
              <a:solidFill>
                <a:srgbClr val="486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42367" y="9150350"/>
              <a:ext cx="7700645" cy="0"/>
            </a:xfrm>
            <a:custGeom>
              <a:avLst/>
              <a:gdLst/>
              <a:ahLst/>
              <a:cxnLst/>
              <a:rect l="l" t="t" r="r" b="b"/>
              <a:pathLst>
                <a:path w="7700645">
                  <a:moveTo>
                    <a:pt x="0" y="0"/>
                  </a:moveTo>
                  <a:lnTo>
                    <a:pt x="7700433" y="0"/>
                  </a:lnTo>
                </a:path>
              </a:pathLst>
            </a:custGeom>
            <a:ln w="21166">
              <a:solidFill>
                <a:srgbClr val="486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61453" y="396169"/>
            <a:ext cx="8641080" cy="777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00" dirty="0"/>
              <a:t>Full-Stack</a:t>
            </a:r>
            <a:r>
              <a:rPr sz="4900" spc="10" dirty="0"/>
              <a:t> </a:t>
            </a:r>
            <a:r>
              <a:rPr sz="4900" dirty="0"/>
              <a:t>System</a:t>
            </a:r>
            <a:r>
              <a:rPr sz="4900" spc="-85" dirty="0"/>
              <a:t> </a:t>
            </a:r>
            <a:r>
              <a:rPr sz="4900" spc="-10" dirty="0"/>
              <a:t>Architecture</a:t>
            </a:r>
            <a:endParaRPr sz="4900"/>
          </a:p>
        </p:txBody>
      </p:sp>
      <p:sp>
        <p:nvSpPr>
          <p:cNvPr id="9" name="object 9"/>
          <p:cNvSpPr txBox="1"/>
          <p:nvPr/>
        </p:nvSpPr>
        <p:spPr>
          <a:xfrm>
            <a:off x="1930179" y="2099380"/>
            <a:ext cx="2209800" cy="110934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indent="417195">
              <a:lnSpc>
                <a:spcPts val="3950"/>
              </a:lnSpc>
              <a:spcBef>
                <a:spcPts val="760"/>
              </a:spcBef>
            </a:pPr>
            <a:r>
              <a:rPr sz="3800" spc="-175" dirty="0">
                <a:latin typeface="Arial"/>
                <a:cs typeface="Arial"/>
              </a:rPr>
              <a:t>Frontend </a:t>
            </a:r>
            <a:r>
              <a:rPr sz="3800" spc="-195" dirty="0">
                <a:latin typeface="Arial"/>
                <a:cs typeface="Arial"/>
              </a:rPr>
              <a:t>Experience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6553" y="4933597"/>
            <a:ext cx="286194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Arial"/>
                <a:cs typeface="Arial"/>
              </a:rPr>
              <a:t>Backend</a:t>
            </a:r>
            <a:r>
              <a:rPr sz="3400" spc="-20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Logic</a:t>
            </a:r>
            <a:endParaRPr sz="3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1124" y="7676797"/>
            <a:ext cx="325056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45" dirty="0">
                <a:latin typeface="Arial"/>
                <a:cs typeface="Arial"/>
              </a:rPr>
              <a:t>Data</a:t>
            </a:r>
            <a:r>
              <a:rPr sz="3400" spc="-175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Persistence</a:t>
            </a:r>
            <a:endParaRPr sz="3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2950" y="1813983"/>
            <a:ext cx="7679690" cy="1884045"/>
          </a:xfrm>
          <a:prstGeom prst="rect">
            <a:avLst/>
          </a:prstGeom>
          <a:ln w="21166">
            <a:solidFill>
              <a:srgbClr val="486780"/>
            </a:solidFill>
          </a:ln>
        </p:spPr>
        <p:txBody>
          <a:bodyPr vert="horz" wrap="square" lIns="0" tIns="203200" rIns="0" bIns="0" rtlCol="0">
            <a:spAutoFit/>
          </a:bodyPr>
          <a:lstStyle/>
          <a:p>
            <a:pPr marL="3269615" marR="773430" indent="-135255">
              <a:lnSpc>
                <a:spcPct val="96500"/>
              </a:lnSpc>
              <a:spcBef>
                <a:spcPts val="1600"/>
              </a:spcBef>
            </a:pPr>
            <a:r>
              <a:rPr sz="3200" dirty="0">
                <a:latin typeface="Arial"/>
                <a:cs typeface="Arial"/>
              </a:rPr>
              <a:t>Frontend</a:t>
            </a:r>
            <a:r>
              <a:rPr sz="3200" spc="10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Experience </a:t>
            </a:r>
            <a:r>
              <a:rPr sz="3050" spc="-105" dirty="0">
                <a:latin typeface="Arial"/>
                <a:cs typeface="Arial"/>
              </a:rPr>
              <a:t>ir-</a:t>
            </a:r>
            <a:r>
              <a:rPr sz="3050" spc="-35" dirty="0">
                <a:latin typeface="Arial"/>
                <a:cs typeface="Arial"/>
              </a:rPr>
              <a:t>mode.js</a:t>
            </a:r>
            <a:r>
              <a:rPr sz="3050" spc="760" dirty="0">
                <a:latin typeface="Arial"/>
                <a:cs typeface="Arial"/>
              </a:rPr>
              <a:t>   </a:t>
            </a:r>
            <a:r>
              <a:rPr sz="2750" spc="-114" dirty="0">
                <a:latin typeface="Arial"/>
                <a:cs typeface="Arial"/>
              </a:rPr>
              <a:t>analytics—</a:t>
            </a:r>
            <a:r>
              <a:rPr sz="2750" spc="-10" dirty="0">
                <a:latin typeface="Arial"/>
                <a:cs typeface="Arial"/>
              </a:rPr>
              <a:t>mode.js</a:t>
            </a:r>
            <a:endParaRPr sz="2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0423" y="4340639"/>
            <a:ext cx="3446145" cy="17183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3250" dirty="0">
                <a:latin typeface="Arial"/>
                <a:cs typeface="Arial"/>
              </a:rPr>
              <a:t>JetBrains</a:t>
            </a:r>
            <a:r>
              <a:rPr sz="3250" spc="-170" dirty="0">
                <a:latin typeface="Arial"/>
                <a:cs typeface="Arial"/>
              </a:rPr>
              <a:t> </a:t>
            </a:r>
            <a:r>
              <a:rPr sz="3250" spc="-20" dirty="0">
                <a:latin typeface="Arial"/>
                <a:cs typeface="Arial"/>
              </a:rPr>
              <a:t>Mono</a:t>
            </a:r>
            <a:endParaRPr sz="3250">
              <a:latin typeface="Arial"/>
              <a:cs typeface="Arial"/>
            </a:endParaRPr>
          </a:p>
          <a:p>
            <a:pPr marL="278130">
              <a:lnSpc>
                <a:spcPts val="2900"/>
              </a:lnSpc>
              <a:spcBef>
                <a:spcPts val="250"/>
              </a:spcBef>
            </a:pPr>
            <a:r>
              <a:rPr sz="2750" spc="-215" dirty="0">
                <a:latin typeface="Arial"/>
                <a:cs typeface="Arial"/>
              </a:rPr>
              <a:t>aPP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spc="-420" dirty="0">
                <a:latin typeface="Arial"/>
                <a:cs typeface="Arial"/>
              </a:rPr>
              <a:t>PY</a:t>
            </a:r>
            <a:endParaRPr sz="2750">
              <a:latin typeface="Arial"/>
              <a:cs typeface="Arial"/>
            </a:endParaRPr>
          </a:p>
          <a:p>
            <a:pPr marL="280035">
              <a:lnSpc>
                <a:spcPts val="2800"/>
              </a:lnSpc>
              <a:tabLst>
                <a:tab pos="645795" algn="l"/>
              </a:tabLst>
            </a:pPr>
            <a:r>
              <a:rPr sz="2750" spc="-25" dirty="0">
                <a:latin typeface="Arial"/>
                <a:cs typeface="Arial"/>
              </a:rPr>
              <a:t>ir</a:t>
            </a:r>
            <a:r>
              <a:rPr sz="2750" dirty="0">
                <a:latin typeface="Arial"/>
                <a:cs typeface="Arial"/>
              </a:rPr>
              <a:t>	</a:t>
            </a:r>
            <a:r>
              <a:rPr sz="2750" spc="-10" dirty="0">
                <a:latin typeface="Arial"/>
                <a:cs typeface="Arial"/>
              </a:rPr>
              <a:t>engine.py</a:t>
            </a:r>
            <a:endParaRPr sz="2750">
              <a:latin typeface="Arial"/>
              <a:cs typeface="Arial"/>
            </a:endParaRPr>
          </a:p>
          <a:p>
            <a:pPr marL="279400">
              <a:lnSpc>
                <a:spcPts val="3200"/>
              </a:lnSpc>
              <a:tabLst>
                <a:tab pos="1828800" algn="l"/>
              </a:tabLst>
            </a:pPr>
            <a:r>
              <a:rPr sz="2750" spc="-10" dirty="0">
                <a:latin typeface="Arial"/>
                <a:cs typeface="Arial"/>
              </a:rPr>
              <a:t>guardian</a:t>
            </a:r>
            <a:r>
              <a:rPr sz="2750" dirty="0">
                <a:latin typeface="Arial"/>
                <a:cs typeface="Arial"/>
              </a:rPr>
              <a:t>	</a:t>
            </a:r>
            <a:r>
              <a:rPr sz="2750" spc="-10" dirty="0">
                <a:latin typeface="Arial"/>
                <a:cs typeface="Arial"/>
              </a:rPr>
              <a:t>service.py</a:t>
            </a:r>
            <a:endParaRPr sz="2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45146" y="7878233"/>
            <a:ext cx="1534160" cy="790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ts val="3365"/>
              </a:lnSpc>
              <a:spcBef>
                <a:spcPts val="114"/>
              </a:spcBef>
            </a:pPr>
            <a:r>
              <a:rPr sz="2900" spc="-10" dirty="0">
                <a:latin typeface="Arial"/>
                <a:cs typeface="Arial"/>
              </a:rPr>
              <a:t>DuckDB</a:t>
            </a:r>
            <a:endParaRPr sz="2900">
              <a:latin typeface="Arial"/>
              <a:cs typeface="Arial"/>
            </a:endParaRPr>
          </a:p>
          <a:p>
            <a:pPr>
              <a:lnSpc>
                <a:spcPts val="2645"/>
              </a:lnSpc>
            </a:pPr>
            <a:r>
              <a:rPr sz="2300" spc="-65" dirty="0">
                <a:latin typeface="Arial"/>
                <a:cs typeface="Arial"/>
              </a:rPr>
              <a:t>(Embedded)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05518" y="7347302"/>
            <a:ext cx="1520825" cy="12439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" marR="5080" indent="-1905">
              <a:lnSpc>
                <a:spcPct val="90200"/>
              </a:lnSpc>
              <a:spcBef>
                <a:spcPts val="430"/>
              </a:spcBef>
            </a:pPr>
            <a:r>
              <a:rPr sz="2850" spc="-120" dirty="0">
                <a:latin typeface="Arial"/>
                <a:cs typeface="Arial"/>
              </a:rPr>
              <a:t>No-</a:t>
            </a:r>
            <a:r>
              <a:rPr sz="2850" spc="-70" dirty="0">
                <a:latin typeface="Arial"/>
                <a:cs typeface="Arial"/>
              </a:rPr>
              <a:t>install, </a:t>
            </a:r>
            <a:r>
              <a:rPr sz="2750" spc="-10" dirty="0">
                <a:latin typeface="Arial"/>
                <a:cs typeface="Arial"/>
              </a:rPr>
              <a:t>analytical </a:t>
            </a:r>
            <a:r>
              <a:rPr sz="2950" spc="-20" dirty="0">
                <a:latin typeface="Arial"/>
                <a:cs typeface="Arial"/>
              </a:rPr>
              <a:t>queries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79284" y="2193572"/>
            <a:ext cx="2108200" cy="84264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808355" marR="5080" indent="-796290">
              <a:lnSpc>
                <a:spcPts val="3100"/>
              </a:lnSpc>
              <a:spcBef>
                <a:spcPts val="395"/>
              </a:spcBef>
            </a:pPr>
            <a:r>
              <a:rPr sz="2750" spc="-10" dirty="0">
                <a:latin typeface="Arial"/>
                <a:cs typeface="Arial"/>
              </a:rPr>
              <a:t>The</a:t>
            </a:r>
            <a:r>
              <a:rPr sz="2750" spc="-170" dirty="0">
                <a:latin typeface="Arial"/>
                <a:cs typeface="Arial"/>
              </a:rPr>
              <a:t> </a:t>
            </a:r>
            <a:r>
              <a:rPr sz="2750" spc="-35" dirty="0">
                <a:latin typeface="Arial"/>
                <a:cs typeface="Arial"/>
              </a:rPr>
              <a:t>Guardian </a:t>
            </a:r>
            <a:r>
              <a:rPr sz="2750" spc="-25" dirty="0">
                <a:latin typeface="Arial"/>
                <a:cs typeface="Arial"/>
              </a:rPr>
              <a:t>API</a:t>
            </a:r>
            <a:endParaRPr sz="2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3931" y="4335859"/>
            <a:ext cx="3317240" cy="15944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9230" marR="5080" indent="-177165">
              <a:lnSpc>
                <a:spcPct val="118100"/>
              </a:lnSpc>
              <a:spcBef>
                <a:spcPts val="235"/>
              </a:spcBef>
              <a:tabLst>
                <a:tab pos="822960" algn="l"/>
              </a:tabLst>
            </a:pPr>
            <a:r>
              <a:rPr sz="3100" dirty="0">
                <a:latin typeface="Arial"/>
                <a:cs typeface="Arial"/>
              </a:rPr>
              <a:t>Local</a:t>
            </a:r>
            <a:r>
              <a:rPr sz="3100" spc="-1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LLM</a:t>
            </a:r>
            <a:r>
              <a:rPr sz="3100" spc="-204" dirty="0">
                <a:latin typeface="Arial"/>
                <a:cs typeface="Arial"/>
              </a:rPr>
              <a:t> </a:t>
            </a:r>
            <a:r>
              <a:rPr sz="3100" spc="40" dirty="0">
                <a:latin typeface="Arial"/>
                <a:cs typeface="Arial"/>
              </a:rPr>
              <a:t>Service </a:t>
            </a:r>
            <a:r>
              <a:rPr sz="2750" spc="-100" dirty="0">
                <a:latin typeface="Arial"/>
                <a:cs typeface="Arial"/>
              </a:rPr>
              <a:t>Ollama</a:t>
            </a:r>
            <a:r>
              <a:rPr sz="2750" spc="7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/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120" dirty="0">
                <a:latin typeface="Arial"/>
                <a:cs typeface="Arial"/>
              </a:rPr>
              <a:t>LM</a:t>
            </a:r>
            <a:r>
              <a:rPr sz="2750" spc="-7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Studio </a:t>
            </a:r>
            <a:r>
              <a:rPr sz="2700" spc="55" dirty="0">
                <a:latin typeface="Arial"/>
                <a:cs typeface="Arial"/>
              </a:rPr>
              <a:t>llm</a:t>
            </a:r>
            <a:r>
              <a:rPr sz="2700" dirty="0">
                <a:latin typeface="Arial"/>
                <a:cs typeface="Arial"/>
              </a:rPr>
              <a:t>	</a:t>
            </a:r>
            <a:r>
              <a:rPr sz="2700" spc="-10" dirty="0">
                <a:latin typeface="Arial"/>
                <a:cs typeface="Arial"/>
              </a:rPr>
              <a:t>service.py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93200" y="8786283"/>
            <a:ext cx="7370445" cy="0"/>
          </a:xfrm>
          <a:custGeom>
            <a:avLst/>
            <a:gdLst/>
            <a:ahLst/>
            <a:cxnLst/>
            <a:rect l="l" t="t" r="r" b="b"/>
            <a:pathLst>
              <a:path w="7370444">
                <a:moveTo>
                  <a:pt x="0" y="0"/>
                </a:moveTo>
                <a:lnTo>
                  <a:pt x="7370233" y="0"/>
                </a:lnTo>
              </a:path>
            </a:pathLst>
          </a:custGeom>
          <a:ln w="4233">
            <a:solidFill>
              <a:srgbClr val="4F4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086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135"/>
              </a:spcBef>
            </a:pPr>
            <a:r>
              <a:rPr sz="6350" spc="-120" dirty="0">
                <a:solidFill>
                  <a:srgbClr val="08163B"/>
                </a:solidFill>
              </a:rPr>
              <a:t>The</a:t>
            </a:r>
            <a:r>
              <a:rPr sz="6350" spc="-400" dirty="0">
                <a:solidFill>
                  <a:srgbClr val="08163B"/>
                </a:solidFill>
              </a:rPr>
              <a:t> </a:t>
            </a:r>
            <a:r>
              <a:rPr sz="6350" spc="-95" dirty="0">
                <a:solidFill>
                  <a:srgbClr val="031334"/>
                </a:solidFill>
              </a:rPr>
              <a:t>Role</a:t>
            </a:r>
            <a:r>
              <a:rPr sz="6350" spc="-305" dirty="0">
                <a:solidFill>
                  <a:srgbClr val="031334"/>
                </a:solidFill>
              </a:rPr>
              <a:t> </a:t>
            </a:r>
            <a:r>
              <a:rPr sz="6350" dirty="0">
                <a:solidFill>
                  <a:srgbClr val="03133D"/>
                </a:solidFill>
              </a:rPr>
              <a:t>of</a:t>
            </a:r>
            <a:r>
              <a:rPr sz="6350" spc="-160" dirty="0">
                <a:solidFill>
                  <a:srgbClr val="03133D"/>
                </a:solidFill>
              </a:rPr>
              <a:t> </a:t>
            </a:r>
            <a:r>
              <a:rPr sz="6350" spc="-375" dirty="0">
                <a:solidFill>
                  <a:srgbClr val="051333"/>
                </a:solidFill>
              </a:rPr>
              <a:t>RAG</a:t>
            </a:r>
            <a:r>
              <a:rPr sz="6350" spc="-265" dirty="0">
                <a:solidFill>
                  <a:srgbClr val="051333"/>
                </a:solidFill>
              </a:rPr>
              <a:t> </a:t>
            </a:r>
            <a:r>
              <a:rPr sz="6350" spc="210" dirty="0">
                <a:solidFill>
                  <a:srgbClr val="051131"/>
                </a:solidFill>
              </a:rPr>
              <a:t>&amp;</a:t>
            </a:r>
            <a:r>
              <a:rPr sz="6350" spc="-660" dirty="0">
                <a:solidFill>
                  <a:srgbClr val="051131"/>
                </a:solidFill>
              </a:rPr>
              <a:t> </a:t>
            </a:r>
            <a:r>
              <a:rPr sz="6350" spc="-75" dirty="0">
                <a:solidFill>
                  <a:srgbClr val="05153B"/>
                </a:solidFill>
              </a:rPr>
              <a:t>Small</a:t>
            </a:r>
            <a:r>
              <a:rPr sz="6350" spc="-390" dirty="0">
                <a:solidFill>
                  <a:srgbClr val="05153B"/>
                </a:solidFill>
              </a:rPr>
              <a:t> </a:t>
            </a:r>
            <a:r>
              <a:rPr sz="6350" spc="-20" dirty="0">
                <a:solidFill>
                  <a:srgbClr val="051134"/>
                </a:solidFill>
              </a:rPr>
              <a:t>LLMs</a:t>
            </a:r>
            <a:endParaRPr sz="6350"/>
          </a:p>
        </p:txBody>
      </p:sp>
      <p:sp>
        <p:nvSpPr>
          <p:cNvPr id="4" name="object 4"/>
          <p:cNvSpPr txBox="1"/>
          <p:nvPr/>
        </p:nvSpPr>
        <p:spPr>
          <a:xfrm>
            <a:off x="953567" y="3065638"/>
            <a:ext cx="6925945" cy="4652645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12700" marR="5080" indent="10795">
              <a:lnSpc>
                <a:spcPct val="78700"/>
              </a:lnSpc>
              <a:spcBef>
                <a:spcPts val="1670"/>
              </a:spcBef>
            </a:pPr>
            <a:r>
              <a:rPr sz="6100" spc="-220" dirty="0">
                <a:latin typeface="Times New Roman"/>
                <a:cs typeface="Times New Roman"/>
              </a:rPr>
              <a:t>“Retrieval</a:t>
            </a:r>
            <a:r>
              <a:rPr sz="6100" spc="-140" dirty="0">
                <a:latin typeface="Times New Roman"/>
                <a:cs typeface="Times New Roman"/>
              </a:rPr>
              <a:t> </a:t>
            </a:r>
            <a:r>
              <a:rPr sz="6100" spc="-20" dirty="0">
                <a:latin typeface="Times New Roman"/>
                <a:cs typeface="Times New Roman"/>
              </a:rPr>
              <a:t>is</a:t>
            </a:r>
            <a:r>
              <a:rPr sz="6100" spc="-340" dirty="0">
                <a:latin typeface="Times New Roman"/>
                <a:cs typeface="Times New Roman"/>
              </a:rPr>
              <a:t> </a:t>
            </a:r>
            <a:r>
              <a:rPr sz="6100" spc="-90" dirty="0">
                <a:latin typeface="Times New Roman"/>
                <a:cs typeface="Times New Roman"/>
              </a:rPr>
              <a:t>performed </a:t>
            </a:r>
            <a:r>
              <a:rPr sz="6150" spc="-165" dirty="0">
                <a:latin typeface="Times New Roman"/>
                <a:cs typeface="Times New Roman"/>
              </a:rPr>
              <a:t>using</a:t>
            </a:r>
            <a:r>
              <a:rPr sz="6150" spc="-240" dirty="0">
                <a:latin typeface="Times New Roman"/>
                <a:cs typeface="Times New Roman"/>
              </a:rPr>
              <a:t> </a:t>
            </a:r>
            <a:r>
              <a:rPr sz="6150" spc="-145" dirty="0">
                <a:latin typeface="Times New Roman"/>
                <a:cs typeface="Times New Roman"/>
              </a:rPr>
              <a:t>classical</a:t>
            </a:r>
            <a:r>
              <a:rPr sz="6150" spc="-175" dirty="0">
                <a:latin typeface="Times New Roman"/>
                <a:cs typeface="Times New Roman"/>
              </a:rPr>
              <a:t> </a:t>
            </a:r>
            <a:r>
              <a:rPr sz="6150" spc="-560" dirty="0">
                <a:latin typeface="Times New Roman"/>
                <a:cs typeface="Times New Roman"/>
              </a:rPr>
              <a:t>IR </a:t>
            </a:r>
            <a:r>
              <a:rPr sz="6300" spc="-180" dirty="0">
                <a:latin typeface="Times New Roman"/>
                <a:cs typeface="Times New Roman"/>
              </a:rPr>
              <a:t>techniques;</a:t>
            </a:r>
            <a:r>
              <a:rPr sz="6300" spc="-175" dirty="0">
                <a:latin typeface="Times New Roman"/>
                <a:cs typeface="Times New Roman"/>
              </a:rPr>
              <a:t> </a:t>
            </a:r>
            <a:r>
              <a:rPr sz="6300" spc="-25" dirty="0">
                <a:latin typeface="Times New Roman"/>
                <a:cs typeface="Times New Roman"/>
              </a:rPr>
              <a:t>the </a:t>
            </a:r>
            <a:r>
              <a:rPr sz="6150" spc="-125" dirty="0">
                <a:latin typeface="Times New Roman"/>
                <a:cs typeface="Times New Roman"/>
              </a:rPr>
              <a:t>language</a:t>
            </a:r>
            <a:r>
              <a:rPr sz="6150" spc="-200" dirty="0">
                <a:latin typeface="Times New Roman"/>
                <a:cs typeface="Times New Roman"/>
              </a:rPr>
              <a:t> </a:t>
            </a:r>
            <a:r>
              <a:rPr sz="6150" spc="-185" dirty="0">
                <a:latin typeface="Times New Roman"/>
                <a:cs typeface="Times New Roman"/>
              </a:rPr>
              <a:t>model</a:t>
            </a:r>
            <a:r>
              <a:rPr sz="6150" spc="-200" dirty="0">
                <a:latin typeface="Times New Roman"/>
                <a:cs typeface="Times New Roman"/>
              </a:rPr>
              <a:t> </a:t>
            </a:r>
            <a:r>
              <a:rPr sz="6150" spc="-100" dirty="0">
                <a:latin typeface="Times New Roman"/>
                <a:cs typeface="Times New Roman"/>
              </a:rPr>
              <a:t>is</a:t>
            </a:r>
            <a:r>
              <a:rPr sz="6150" spc="-285" dirty="0">
                <a:latin typeface="Times New Roman"/>
                <a:cs typeface="Times New Roman"/>
              </a:rPr>
              <a:t> </a:t>
            </a:r>
            <a:r>
              <a:rPr sz="6150" spc="-114" dirty="0">
                <a:latin typeface="Times New Roman"/>
                <a:cs typeface="Times New Roman"/>
              </a:rPr>
              <a:t>used </a:t>
            </a:r>
            <a:r>
              <a:rPr sz="6100" spc="-165" dirty="0">
                <a:latin typeface="Times New Roman"/>
                <a:cs typeface="Times New Roman"/>
              </a:rPr>
              <a:t>only</a:t>
            </a:r>
            <a:r>
              <a:rPr sz="6100" spc="-360" dirty="0">
                <a:latin typeface="Times New Roman"/>
                <a:cs typeface="Times New Roman"/>
              </a:rPr>
              <a:t> </a:t>
            </a:r>
            <a:r>
              <a:rPr sz="6100" spc="-110" dirty="0">
                <a:latin typeface="Times New Roman"/>
                <a:cs typeface="Times New Roman"/>
              </a:rPr>
              <a:t>for</a:t>
            </a:r>
            <a:r>
              <a:rPr sz="6100" spc="-229" dirty="0">
                <a:latin typeface="Times New Roman"/>
                <a:cs typeface="Times New Roman"/>
              </a:rPr>
              <a:t> </a:t>
            </a:r>
            <a:r>
              <a:rPr sz="6100" spc="-60" dirty="0">
                <a:latin typeface="Times New Roman"/>
                <a:cs typeface="Times New Roman"/>
              </a:rPr>
              <a:t>post-</a:t>
            </a:r>
            <a:r>
              <a:rPr sz="6100" spc="-10" dirty="0">
                <a:latin typeface="Times New Roman"/>
                <a:cs typeface="Times New Roman"/>
              </a:rPr>
              <a:t>retrieval </a:t>
            </a:r>
            <a:r>
              <a:rPr sz="6100" spc="-65" dirty="0">
                <a:latin typeface="Times New Roman"/>
                <a:cs typeface="Times New Roman"/>
              </a:rPr>
              <a:t>organization.”</a:t>
            </a:r>
            <a:endParaRPr sz="6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35"/>
              </a:spcBef>
            </a:pPr>
            <a:r>
              <a:rPr spc="105" dirty="0">
                <a:solidFill>
                  <a:srgbClr val="030E2B"/>
                </a:solidFill>
              </a:rPr>
              <a:t>System</a:t>
            </a:r>
            <a:r>
              <a:rPr spc="-85" dirty="0">
                <a:solidFill>
                  <a:srgbClr val="030E2B"/>
                </a:solidFill>
              </a:rPr>
              <a:t> </a:t>
            </a:r>
            <a:r>
              <a:rPr spc="95" dirty="0"/>
              <a:t>Function</a:t>
            </a:r>
          </a:p>
          <a:p>
            <a:pPr marL="339090" indent="-326390">
              <a:lnSpc>
                <a:spcPct val="100000"/>
              </a:lnSpc>
              <a:spcBef>
                <a:spcPts val="2330"/>
              </a:spcBef>
              <a:buAutoNum type="arabicPeriod"/>
              <a:tabLst>
                <a:tab pos="339090" algn="l"/>
              </a:tabLst>
            </a:pPr>
            <a:r>
              <a:rPr sz="2900" spc="-40" dirty="0">
                <a:solidFill>
                  <a:srgbClr val="000000"/>
                </a:solidFill>
              </a:rPr>
              <a:t>Exclusive</a:t>
            </a:r>
            <a:r>
              <a:rPr sz="2900" spc="-120" dirty="0">
                <a:solidFill>
                  <a:srgbClr val="000000"/>
                </a:solidFill>
              </a:rPr>
              <a:t> </a:t>
            </a:r>
            <a:r>
              <a:rPr sz="2900" spc="-10" dirty="0">
                <a:solidFill>
                  <a:srgbClr val="000000"/>
                </a:solidFill>
              </a:rPr>
              <a:t>Context</a:t>
            </a:r>
            <a:endParaRPr sz="2900"/>
          </a:p>
          <a:p>
            <a:pPr marL="36830">
              <a:lnSpc>
                <a:spcPct val="100000"/>
              </a:lnSpc>
              <a:spcBef>
                <a:spcPts val="420"/>
              </a:spcBef>
            </a:pPr>
            <a:r>
              <a:rPr sz="2850" spc="-70" dirty="0">
                <a:solidFill>
                  <a:srgbClr val="000000"/>
                </a:solidFill>
              </a:rPr>
              <a:t>Retrieved</a:t>
            </a:r>
            <a:r>
              <a:rPr sz="2850" spc="-65" dirty="0">
                <a:solidFill>
                  <a:srgbClr val="000000"/>
                </a:solidFill>
              </a:rPr>
              <a:t> </a:t>
            </a:r>
            <a:r>
              <a:rPr sz="2850" spc="-45" dirty="0">
                <a:solidFill>
                  <a:srgbClr val="000000"/>
                </a:solidFill>
              </a:rPr>
              <a:t>documents</a:t>
            </a:r>
            <a:r>
              <a:rPr sz="2850" spc="75" dirty="0">
                <a:solidFill>
                  <a:srgbClr val="000000"/>
                </a:solidFill>
              </a:rPr>
              <a:t> </a:t>
            </a:r>
            <a:r>
              <a:rPr sz="2850" dirty="0">
                <a:solidFill>
                  <a:srgbClr val="000000"/>
                </a:solidFill>
              </a:rPr>
              <a:t>act</a:t>
            </a:r>
            <a:r>
              <a:rPr sz="2850" spc="-75" dirty="0">
                <a:solidFill>
                  <a:srgbClr val="000000"/>
                </a:solidFill>
              </a:rPr>
              <a:t> </a:t>
            </a:r>
            <a:r>
              <a:rPr sz="2850" spc="-160" dirty="0">
                <a:solidFill>
                  <a:srgbClr val="000000"/>
                </a:solidFill>
              </a:rPr>
              <a:t>as</a:t>
            </a:r>
            <a:r>
              <a:rPr sz="2850" spc="-75" dirty="0">
                <a:solidFill>
                  <a:srgbClr val="000000"/>
                </a:solidFill>
              </a:rPr>
              <a:t> </a:t>
            </a:r>
            <a:r>
              <a:rPr sz="2850" dirty="0">
                <a:solidFill>
                  <a:srgbClr val="000000"/>
                </a:solidFill>
              </a:rPr>
              <a:t>the</a:t>
            </a:r>
            <a:r>
              <a:rPr sz="2850" spc="-150" dirty="0">
                <a:solidFill>
                  <a:srgbClr val="000000"/>
                </a:solidFill>
              </a:rPr>
              <a:t> </a:t>
            </a:r>
            <a:r>
              <a:rPr sz="2850" spc="-20" dirty="0">
                <a:solidFill>
                  <a:srgbClr val="000000"/>
                </a:solidFill>
              </a:rPr>
              <a:t>only</a:t>
            </a:r>
            <a:endParaRPr sz="2850"/>
          </a:p>
          <a:p>
            <a:pPr marL="40640">
              <a:lnSpc>
                <a:spcPct val="100000"/>
              </a:lnSpc>
              <a:spcBef>
                <a:spcPts val="30"/>
              </a:spcBef>
            </a:pPr>
            <a:r>
              <a:rPr sz="2950" spc="-105" dirty="0">
                <a:solidFill>
                  <a:srgbClr val="000000"/>
                </a:solidFill>
              </a:rPr>
              <a:t>source</a:t>
            </a:r>
            <a:r>
              <a:rPr sz="2950" spc="-10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of</a:t>
            </a:r>
            <a:r>
              <a:rPr sz="2950" spc="-125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truth.</a:t>
            </a:r>
            <a:endParaRPr sz="2950"/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950"/>
          </a:p>
          <a:p>
            <a:pPr marL="400050" indent="-358140">
              <a:lnSpc>
                <a:spcPct val="100000"/>
              </a:lnSpc>
              <a:buAutoNum type="arabicPeriod" startAt="2"/>
              <a:tabLst>
                <a:tab pos="400050" algn="l"/>
              </a:tabLst>
            </a:pPr>
            <a:r>
              <a:rPr sz="2850" spc="-10" dirty="0">
                <a:solidFill>
                  <a:srgbClr val="000000"/>
                </a:solidFill>
              </a:rPr>
              <a:t>Groundedness</a:t>
            </a:r>
            <a:endParaRPr sz="2850"/>
          </a:p>
          <a:p>
            <a:pPr marL="28575" marR="720725" indent="6985">
              <a:lnSpc>
                <a:spcPct val="102000"/>
              </a:lnSpc>
              <a:spcBef>
                <a:spcPts val="310"/>
              </a:spcBef>
            </a:pPr>
            <a:r>
              <a:rPr sz="2900" spc="-120" dirty="0">
                <a:solidFill>
                  <a:srgbClr val="000000"/>
                </a:solidFill>
              </a:rPr>
              <a:t>Ensures</a:t>
            </a:r>
            <a:r>
              <a:rPr sz="2900" spc="-50" dirty="0">
                <a:solidFill>
                  <a:srgbClr val="000000"/>
                </a:solidFill>
              </a:rPr>
              <a:t> </a:t>
            </a:r>
            <a:r>
              <a:rPr sz="2900" spc="-25" dirty="0">
                <a:solidFill>
                  <a:srgbClr val="000000"/>
                </a:solidFill>
              </a:rPr>
              <a:t>factual</a:t>
            </a:r>
            <a:r>
              <a:rPr sz="2900" spc="-110" dirty="0">
                <a:solidFill>
                  <a:srgbClr val="000000"/>
                </a:solidFill>
              </a:rPr>
              <a:t> </a:t>
            </a:r>
            <a:r>
              <a:rPr sz="2900" spc="-85" dirty="0">
                <a:solidFill>
                  <a:srgbClr val="000000"/>
                </a:solidFill>
              </a:rPr>
              <a:t>answers</a:t>
            </a:r>
            <a:r>
              <a:rPr sz="2900" spc="-90" dirty="0">
                <a:solidFill>
                  <a:srgbClr val="000000"/>
                </a:solidFill>
              </a:rPr>
              <a:t> </a:t>
            </a:r>
            <a:r>
              <a:rPr sz="2900" spc="-40" dirty="0">
                <a:solidFill>
                  <a:srgbClr val="000000"/>
                </a:solidFill>
              </a:rPr>
              <a:t>and</a:t>
            </a:r>
            <a:r>
              <a:rPr sz="2900" spc="-160" dirty="0">
                <a:solidFill>
                  <a:srgbClr val="000000"/>
                </a:solidFill>
              </a:rPr>
              <a:t> </a:t>
            </a:r>
            <a:r>
              <a:rPr sz="2900" spc="-75" dirty="0">
                <a:solidFill>
                  <a:srgbClr val="000000"/>
                </a:solidFill>
              </a:rPr>
              <a:t>removes </a:t>
            </a:r>
            <a:r>
              <a:rPr sz="2900" spc="-10" dirty="0">
                <a:solidFill>
                  <a:srgbClr val="000000"/>
                </a:solidFill>
              </a:rPr>
              <a:t>redundancy.</a:t>
            </a:r>
            <a:endParaRPr sz="2900"/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900"/>
          </a:p>
          <a:p>
            <a:pPr marL="403860" indent="-366395">
              <a:lnSpc>
                <a:spcPct val="100000"/>
              </a:lnSpc>
              <a:buAutoNum type="arabicPeriod" startAt="3"/>
              <a:tabLst>
                <a:tab pos="403860" algn="l"/>
              </a:tabLst>
            </a:pPr>
            <a:r>
              <a:rPr sz="2850" spc="-10" dirty="0">
                <a:solidFill>
                  <a:srgbClr val="000000"/>
                </a:solidFill>
              </a:rPr>
              <a:t>Efficiency</a:t>
            </a:r>
            <a:endParaRPr sz="2850"/>
          </a:p>
          <a:p>
            <a:pPr marL="35560" marR="5080">
              <a:lnSpc>
                <a:spcPct val="103400"/>
              </a:lnSpc>
              <a:spcBef>
                <a:spcPts val="315"/>
              </a:spcBef>
            </a:pPr>
            <a:r>
              <a:rPr sz="2900" spc="-105" dirty="0">
                <a:solidFill>
                  <a:srgbClr val="000000"/>
                </a:solidFill>
              </a:rPr>
              <a:t>Uses</a:t>
            </a:r>
            <a:r>
              <a:rPr sz="2900" spc="-95" dirty="0">
                <a:solidFill>
                  <a:srgbClr val="000000"/>
                </a:solidFill>
              </a:rPr>
              <a:t> </a:t>
            </a:r>
            <a:r>
              <a:rPr sz="2900" spc="-90" dirty="0">
                <a:solidFill>
                  <a:srgbClr val="000000"/>
                </a:solidFill>
              </a:rPr>
              <a:t>small-</a:t>
            </a:r>
            <a:r>
              <a:rPr sz="2900" spc="-25" dirty="0">
                <a:solidFill>
                  <a:srgbClr val="000000"/>
                </a:solidFill>
              </a:rPr>
              <a:t>scale</a:t>
            </a:r>
            <a:r>
              <a:rPr sz="2900" spc="-105" dirty="0">
                <a:solidFill>
                  <a:srgbClr val="000000"/>
                </a:solidFill>
              </a:rPr>
              <a:t> </a:t>
            </a:r>
            <a:r>
              <a:rPr sz="2900" spc="-35" dirty="0">
                <a:solidFill>
                  <a:srgbClr val="000000"/>
                </a:solidFill>
              </a:rPr>
              <a:t>local</a:t>
            </a:r>
            <a:r>
              <a:rPr sz="2900" spc="-140" dirty="0">
                <a:solidFill>
                  <a:srgbClr val="000000"/>
                </a:solidFill>
              </a:rPr>
              <a:t> </a:t>
            </a:r>
            <a:r>
              <a:rPr sz="2900" spc="-40" dirty="0">
                <a:solidFill>
                  <a:srgbClr val="000000"/>
                </a:solidFill>
              </a:rPr>
              <a:t>models</a:t>
            </a:r>
            <a:r>
              <a:rPr sz="2900" spc="-125" dirty="0">
                <a:solidFill>
                  <a:srgbClr val="000000"/>
                </a:solidFill>
              </a:rPr>
              <a:t> </a:t>
            </a:r>
            <a:r>
              <a:rPr sz="2900" spc="-60" dirty="0">
                <a:solidFill>
                  <a:srgbClr val="000000"/>
                </a:solidFill>
              </a:rPr>
              <a:t>(Ollama/LM Studio)</a:t>
            </a:r>
            <a:r>
              <a:rPr sz="2900" spc="-75" dirty="0">
                <a:solidFill>
                  <a:srgbClr val="000000"/>
                </a:solidFill>
              </a:rPr>
              <a:t> </a:t>
            </a:r>
            <a:r>
              <a:rPr sz="2900" spc="-60" dirty="0">
                <a:solidFill>
                  <a:srgbClr val="000000"/>
                </a:solidFill>
              </a:rPr>
              <a:t>avoiding</a:t>
            </a:r>
            <a:r>
              <a:rPr sz="2900" spc="-140" dirty="0">
                <a:solidFill>
                  <a:srgbClr val="000000"/>
                </a:solidFill>
              </a:rPr>
              <a:t> </a:t>
            </a:r>
            <a:r>
              <a:rPr sz="2900" spc="-35" dirty="0">
                <a:solidFill>
                  <a:srgbClr val="000000"/>
                </a:solidFill>
              </a:rPr>
              <a:t>external </a:t>
            </a:r>
            <a:r>
              <a:rPr sz="2900" spc="-229" dirty="0">
                <a:solidFill>
                  <a:srgbClr val="000000"/>
                </a:solidFill>
              </a:rPr>
              <a:t>API</a:t>
            </a:r>
            <a:r>
              <a:rPr sz="2900" spc="-50" dirty="0">
                <a:solidFill>
                  <a:srgbClr val="000000"/>
                </a:solidFill>
              </a:rPr>
              <a:t> dependency.</a:t>
            </a:r>
            <a:endParaRPr sz="2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2500" y="3606800"/>
            <a:ext cx="1612900" cy="1371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4000" y="3403600"/>
            <a:ext cx="1727200" cy="173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01700" y="3644900"/>
            <a:ext cx="1739900" cy="1295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753600" y="77702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98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95"/>
              </a:spcBef>
            </a:pPr>
            <a:r>
              <a:rPr sz="5350" dirty="0"/>
              <a:t>Distinct</a:t>
            </a:r>
            <a:r>
              <a:rPr sz="5350" spc="350" dirty="0"/>
              <a:t> </a:t>
            </a:r>
            <a:r>
              <a:rPr sz="5350" dirty="0"/>
              <a:t>Design</a:t>
            </a:r>
            <a:r>
              <a:rPr sz="5350" spc="120" dirty="0"/>
              <a:t> </a:t>
            </a:r>
            <a:r>
              <a:rPr sz="5350" spc="-10" dirty="0"/>
              <a:t>Philosophy</a:t>
            </a:r>
            <a:endParaRPr sz="5350"/>
          </a:p>
        </p:txBody>
      </p:sp>
      <p:sp>
        <p:nvSpPr>
          <p:cNvPr id="7" name="object 7"/>
          <p:cNvSpPr txBox="1"/>
          <p:nvPr/>
        </p:nvSpPr>
        <p:spPr>
          <a:xfrm>
            <a:off x="850264" y="5742319"/>
            <a:ext cx="4322445" cy="270573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185"/>
              </a:spcBef>
            </a:pPr>
            <a:r>
              <a:rPr sz="3750" dirty="0">
                <a:latin typeface="Arial"/>
                <a:cs typeface="Arial"/>
              </a:rPr>
              <a:t>Metadata</a:t>
            </a:r>
            <a:r>
              <a:rPr sz="3750" spc="-85" dirty="0">
                <a:latin typeface="Arial"/>
                <a:cs typeface="Arial"/>
              </a:rPr>
              <a:t> </a:t>
            </a:r>
            <a:r>
              <a:rPr sz="3750" spc="-10" dirty="0">
                <a:latin typeface="Arial"/>
                <a:cs typeface="Arial"/>
              </a:rPr>
              <a:t>Aware</a:t>
            </a:r>
            <a:endParaRPr sz="3750">
              <a:latin typeface="Arial"/>
              <a:cs typeface="Arial"/>
            </a:endParaRPr>
          </a:p>
          <a:p>
            <a:pPr marL="12065" marR="5080" indent="-22860" algn="ctr">
              <a:lnSpc>
                <a:spcPct val="106100"/>
              </a:lnSpc>
              <a:spcBef>
                <a:spcPts val="680"/>
              </a:spcBef>
            </a:pPr>
            <a:r>
              <a:rPr sz="2950" spc="-95" dirty="0">
                <a:latin typeface="Arial"/>
                <a:cs typeface="Arial"/>
              </a:rPr>
              <a:t>Ranking</a:t>
            </a:r>
            <a:r>
              <a:rPr sz="2950" spc="-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is</a:t>
            </a:r>
            <a:r>
              <a:rPr sz="2950" spc="-3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significantly </a:t>
            </a:r>
            <a:r>
              <a:rPr sz="2950" spc="-25" dirty="0">
                <a:latin typeface="Arial"/>
                <a:cs typeface="Arial"/>
              </a:rPr>
              <a:t>improved</a:t>
            </a:r>
            <a:r>
              <a:rPr sz="2950" spc="20" dirty="0">
                <a:latin typeface="Arial"/>
                <a:cs typeface="Arial"/>
              </a:rPr>
              <a:t> </a:t>
            </a:r>
            <a:r>
              <a:rPr sz="2950" spc="-40" dirty="0">
                <a:latin typeface="Arial"/>
                <a:cs typeface="Arial"/>
              </a:rPr>
              <a:t>via</a:t>
            </a:r>
            <a:r>
              <a:rPr sz="2950" spc="-16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date,</a:t>
            </a:r>
            <a:r>
              <a:rPr sz="2950" spc="-155" dirty="0">
                <a:latin typeface="Arial"/>
                <a:cs typeface="Arial"/>
              </a:rPr>
              <a:t> </a:t>
            </a:r>
            <a:r>
              <a:rPr sz="2950" spc="-35" dirty="0">
                <a:latin typeface="Arial"/>
                <a:cs typeface="Arial"/>
              </a:rPr>
              <a:t>source, </a:t>
            </a:r>
            <a:r>
              <a:rPr sz="2900" dirty="0">
                <a:latin typeface="Arial"/>
                <a:cs typeface="Arial"/>
              </a:rPr>
              <a:t>and</a:t>
            </a:r>
            <a:r>
              <a:rPr sz="2900" spc="-5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tag</a:t>
            </a:r>
            <a:r>
              <a:rPr sz="2900" spc="-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weighting,</a:t>
            </a:r>
            <a:r>
              <a:rPr sz="2900" spc="3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not</a:t>
            </a:r>
            <a:r>
              <a:rPr sz="2900" spc="75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just </a:t>
            </a:r>
            <a:r>
              <a:rPr sz="2850" dirty="0">
                <a:latin typeface="Arial"/>
                <a:cs typeface="Arial"/>
              </a:rPr>
              <a:t>text</a:t>
            </a:r>
            <a:r>
              <a:rPr sz="2850" spc="260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matching.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7125" y="5727700"/>
            <a:ext cx="4166870" cy="27266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3750" dirty="0">
                <a:latin typeface="Arial"/>
                <a:cs typeface="Arial"/>
              </a:rPr>
              <a:t>Offline</a:t>
            </a:r>
            <a:r>
              <a:rPr sz="3750" spc="165" dirty="0">
                <a:latin typeface="Arial"/>
                <a:cs typeface="Arial"/>
              </a:rPr>
              <a:t> </a:t>
            </a:r>
            <a:r>
              <a:rPr sz="3750" spc="-10" dirty="0">
                <a:latin typeface="Arial"/>
                <a:cs typeface="Arial"/>
              </a:rPr>
              <a:t>First</a:t>
            </a:r>
            <a:endParaRPr sz="3750">
              <a:latin typeface="Arial"/>
              <a:cs typeface="Arial"/>
            </a:endParaRPr>
          </a:p>
          <a:p>
            <a:pPr marL="12700" marR="5080" algn="ctr">
              <a:lnSpc>
                <a:spcPct val="107300"/>
              </a:lnSpc>
              <a:spcBef>
                <a:spcPts val="695"/>
              </a:spcBef>
              <a:tabLst>
                <a:tab pos="3122930" algn="l"/>
              </a:tabLst>
            </a:pPr>
            <a:r>
              <a:rPr sz="2900" spc="-30" dirty="0">
                <a:latin typeface="Arial"/>
                <a:cs typeface="Arial"/>
              </a:rPr>
              <a:t>Fully</a:t>
            </a:r>
            <a:r>
              <a:rPr sz="2900" spc="-11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reproducible</a:t>
            </a:r>
            <a:r>
              <a:rPr sz="2900" spc="35" dirty="0">
                <a:latin typeface="Arial"/>
                <a:cs typeface="Arial"/>
              </a:rPr>
              <a:t> </a:t>
            </a:r>
            <a:r>
              <a:rPr sz="2900" spc="-20" dirty="0">
                <a:latin typeface="Arial"/>
                <a:cs typeface="Arial"/>
              </a:rPr>
              <a:t>system </a:t>
            </a:r>
            <a:r>
              <a:rPr sz="2900" dirty="0">
                <a:latin typeface="Arial"/>
                <a:cs typeface="Arial"/>
              </a:rPr>
              <a:t>using</a:t>
            </a:r>
            <a:r>
              <a:rPr sz="2900" spc="-165" dirty="0">
                <a:latin typeface="Arial"/>
                <a:cs typeface="Arial"/>
              </a:rPr>
              <a:t> </a:t>
            </a:r>
            <a:r>
              <a:rPr sz="2900" spc="-60" dirty="0">
                <a:latin typeface="Arial"/>
                <a:cs typeface="Arial"/>
              </a:rPr>
              <a:t>DuckDB</a:t>
            </a:r>
            <a:r>
              <a:rPr sz="2900" spc="-11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and</a:t>
            </a:r>
            <a:r>
              <a:rPr sz="2900" spc="-16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local </a:t>
            </a:r>
            <a:r>
              <a:rPr sz="2900" spc="-25" dirty="0">
                <a:latin typeface="Arial"/>
                <a:cs typeface="Arial"/>
              </a:rPr>
              <a:t>language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models</a:t>
            </a:r>
            <a:r>
              <a:rPr sz="2900" dirty="0">
                <a:latin typeface="Arial"/>
                <a:cs typeface="Arial"/>
              </a:rPr>
              <a:t>	</a:t>
            </a:r>
            <a:r>
              <a:rPr sz="2900" spc="-25" dirty="0">
                <a:latin typeface="Arial"/>
                <a:cs typeface="Arial"/>
              </a:rPr>
              <a:t>no </a:t>
            </a:r>
            <a:r>
              <a:rPr sz="2850" dirty="0">
                <a:latin typeface="Arial"/>
                <a:cs typeface="Arial"/>
              </a:rPr>
              <a:t>internet</a:t>
            </a:r>
            <a:r>
              <a:rPr sz="2850" spc="400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required.</a:t>
            </a:r>
            <a:endParaRPr sz="2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95385" y="5751516"/>
            <a:ext cx="4140835" cy="270002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1210"/>
              </a:spcBef>
            </a:pPr>
            <a:r>
              <a:rPr sz="3650" dirty="0">
                <a:latin typeface="Arial"/>
                <a:cs typeface="Arial"/>
              </a:rPr>
              <a:t>Explainable</a:t>
            </a:r>
            <a:r>
              <a:rPr sz="3650" spc="75" dirty="0">
                <a:latin typeface="Arial"/>
                <a:cs typeface="Arial"/>
              </a:rPr>
              <a:t> </a:t>
            </a:r>
            <a:r>
              <a:rPr sz="3650" spc="-10" dirty="0">
                <a:latin typeface="Arial"/>
                <a:cs typeface="Arial"/>
              </a:rPr>
              <a:t>(XAI)</a:t>
            </a:r>
            <a:endParaRPr sz="3650">
              <a:latin typeface="Arial"/>
              <a:cs typeface="Arial"/>
            </a:endParaRPr>
          </a:p>
          <a:p>
            <a:pPr marL="12700" marR="5080" indent="-12700" algn="ctr">
              <a:lnSpc>
                <a:spcPct val="104500"/>
              </a:lnSpc>
              <a:spcBef>
                <a:spcPts val="760"/>
              </a:spcBef>
              <a:tabLst>
                <a:tab pos="3477260" algn="l"/>
              </a:tabLst>
            </a:pPr>
            <a:r>
              <a:rPr sz="2950" spc="-65" dirty="0">
                <a:latin typeface="Arial"/>
                <a:cs typeface="Arial"/>
              </a:rPr>
              <a:t>Transparent</a:t>
            </a:r>
            <a:r>
              <a:rPr sz="2950" spc="1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pipeline demonstration;</a:t>
            </a:r>
            <a:r>
              <a:rPr sz="2950" spc="-235" dirty="0">
                <a:latin typeface="Arial"/>
                <a:cs typeface="Arial"/>
              </a:rPr>
              <a:t> </a:t>
            </a:r>
            <a:r>
              <a:rPr sz="2950" spc="-20" dirty="0">
                <a:latin typeface="Arial"/>
                <a:cs typeface="Arial"/>
              </a:rPr>
              <a:t>users</a:t>
            </a:r>
            <a:r>
              <a:rPr sz="2950" spc="-105" dirty="0">
                <a:latin typeface="Arial"/>
                <a:cs typeface="Arial"/>
              </a:rPr>
              <a:t> </a:t>
            </a:r>
            <a:r>
              <a:rPr sz="2950" spc="-70" dirty="0">
                <a:latin typeface="Arial"/>
                <a:cs typeface="Arial"/>
              </a:rPr>
              <a:t>can </a:t>
            </a:r>
            <a:r>
              <a:rPr sz="2950" spc="-10" dirty="0">
                <a:latin typeface="Arial"/>
                <a:cs typeface="Arial"/>
              </a:rPr>
              <a:t>see</a:t>
            </a:r>
            <a:r>
              <a:rPr sz="2950" spc="-18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why</a:t>
            </a:r>
            <a:r>
              <a:rPr sz="2950" spc="-125" dirty="0">
                <a:latin typeface="Arial"/>
                <a:cs typeface="Arial"/>
              </a:rPr>
              <a:t> </a:t>
            </a:r>
            <a:r>
              <a:rPr sz="2950" spc="-280" dirty="0">
                <a:latin typeface="Arial"/>
                <a:cs typeface="Arial"/>
              </a:rPr>
              <a:t>a</a:t>
            </a:r>
            <a:r>
              <a:rPr sz="2950" spc="7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document</a:t>
            </a:r>
            <a:r>
              <a:rPr sz="2950" dirty="0">
                <a:latin typeface="Arial"/>
                <a:cs typeface="Arial"/>
              </a:rPr>
              <a:t>	</a:t>
            </a:r>
            <a:r>
              <a:rPr sz="2950" spc="-60" dirty="0">
                <a:latin typeface="Arial"/>
                <a:cs typeface="Arial"/>
              </a:rPr>
              <a:t>was </a:t>
            </a:r>
            <a:r>
              <a:rPr sz="2950" spc="-35" dirty="0">
                <a:latin typeface="Arial"/>
                <a:cs typeface="Arial"/>
              </a:rPr>
              <a:t>ranked</a:t>
            </a:r>
            <a:r>
              <a:rPr sz="2950" spc="-17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highly.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1073</Words>
  <Application>Microsoft Office PowerPoint</Application>
  <PresentationFormat>Custom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Trebuchet MS</vt:lpstr>
      <vt:lpstr>Office Theme</vt:lpstr>
      <vt:lpstr>PowerPoint Presentation</vt:lpstr>
      <vt:lpstr>The Challenge of Digital News Overload</vt:lpstr>
      <vt:lpstr>Core Project Objectives &amp; Vision</vt:lpstr>
      <vt:lpstr>Methodology: A Hybrid Retrievial Approach</vt:lpstr>
      <vt:lpstr>The Core Retrieval Pipeline</vt:lpstr>
      <vt:lpstr>Full-Stack System Architecture</vt:lpstr>
      <vt:lpstr>The Role of RAG &amp; Small LLMs</vt:lpstr>
      <vt:lpstr>Distinct Design Philosophy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surya</dc:creator>
  <cp:lastModifiedBy>krishna surya</cp:lastModifiedBy>
  <cp:revision>2</cp:revision>
  <dcterms:created xsi:type="dcterms:W3CDTF">2026-02-04T05:31:30Z</dcterms:created>
  <dcterms:modified xsi:type="dcterms:W3CDTF">2026-02-04T05:49:15Z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LastSaved">
    <vt:filetime>2026-02-04T00:00:00Z</vt:filetime>
  </property>
</Properties>
</file>