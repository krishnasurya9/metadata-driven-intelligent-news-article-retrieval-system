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Liter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pinimg.com/580c29ac87089a04c7e7b5fe7500acc2a735709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31250" b="312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5000"/>
                </a:srgbClr>
              </a:gs>
              <a:gs pos="50000">
                <a:srgbClr val="FAF9F6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041053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288703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360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CONCEPTS OF DATA MINING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2103"/>
            <a:ext cx="88773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Data Mining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Pattern Discovery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92823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Unstructured News Corpora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450086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6"/>
          <p:cNvSpPr/>
          <p:nvPr/>
        </p:nvSpPr>
        <p:spPr>
          <a:xfrm>
            <a:off x="1219200" y="5321498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34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Architecture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4840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30" kern="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Hybrid Intelligence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354098" y="6248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spc="30" kern="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8105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466850"/>
            <a:ext cx="36290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structured exploration of our system's architecture, from data foundation to deployment.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58674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Pages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61722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Core Sections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6263" y="381000"/>
            <a:ext cx="9525" cy="6096000"/>
          </a:xfrm>
          <a:custGeom>
            <a:avLst/>
            <a:gdLst/>
            <a:ahLst/>
            <a:cxnLst/>
            <a:rect l="l" t="t" r="r" b="b"/>
            <a:pathLst>
              <a:path w="9525" h="6096000">
                <a:moveTo>
                  <a:pt x="0" y="0"/>
                </a:moveTo>
                <a:lnTo>
                  <a:pt x="9525" y="0"/>
                </a:lnTo>
                <a:lnTo>
                  <a:pt x="9525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48225" y="642938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34025" y="709613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4025" y="1014413"/>
            <a:ext cx="635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Hybrid AI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8225" y="1471613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4025" y="1538288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Foundation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4025" y="1843088"/>
            <a:ext cx="635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 News Corpus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8225" y="2300288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4025" y="2366963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4025" y="2671763"/>
            <a:ext cx="635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Mathematical Weighting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8225" y="3128963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4025" y="3195638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4025" y="3500438"/>
            <a:ext cx="635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Noise to Normalized Tokens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8225" y="3957638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4025" y="4024313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4025" y="4329113"/>
            <a:ext cx="635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Multi-Algorithm Pattern Discovery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8225" y="4786313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4025" y="4852988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&amp; Visualization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4025" y="5157788"/>
            <a:ext cx="635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Democratizing Data Insights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8225" y="5614988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4025" y="5681663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4025" y="5986463"/>
            <a:ext cx="635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Roadmap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fe1ce56df81265c025ecb5afc61c67cdb67f7d9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8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81138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  <a:lnTo>
                  <a:pt x="762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2"/>
          <p:cNvSpPr/>
          <p:nvPr/>
        </p:nvSpPr>
        <p:spPr>
          <a:xfrm>
            <a:off x="1295400" y="135255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338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47850"/>
            <a:ext cx="3714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2956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953000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200650"/>
            <a:ext cx="3257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Hybrid AI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System Philosophy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96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88156" y="2066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4050"/>
            <a:ext cx="584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 Offline-First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66950"/>
            <a:ext cx="5829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Unlike conventional cloud-dependent engines, this system operates as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standalone, offline-first hybrid AI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eliminating cloud latency and ensuring data sovereignty.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295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8872" y="34004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57550"/>
            <a:ext cx="584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 DuckDB Serverless Instance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600450"/>
            <a:ext cx="5829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engineering baseline is built on an embedded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highlight>
                  <a:srgbClr val="C4B7A6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news_corpus.duckdb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instance, enabling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high-speed local processing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heterogeneous text without network dependencies.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4876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88156" y="4981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38700"/>
            <a:ext cx="584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via Small Language Models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181600"/>
            <a:ext cx="5829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of SLMs via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Ollama and LM Studio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acts strictly as analytical interpreters to explain native corpus patterns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highlight>
                  <a:srgbClr val="C4B7A6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without hallucination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24700" y="1238250"/>
            <a:ext cx="4686300" cy="5238750"/>
          </a:xfrm>
          <a:custGeom>
            <a:avLst/>
            <a:gdLst/>
            <a:ahLst/>
            <a:cxnLst/>
            <a:rect l="l" t="t" r="r" b="b"/>
            <a:pathLst>
              <a:path w="4686300" h="5238750">
                <a:moveTo>
                  <a:pt x="0" y="0"/>
                </a:moveTo>
                <a:lnTo>
                  <a:pt x="4686300" y="0"/>
                </a:lnTo>
                <a:lnTo>
                  <a:pt x="4686300" y="5238750"/>
                </a:lnTo>
                <a:lnTo>
                  <a:pt x="0" y="52387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81875" y="2066925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29500" y="2581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Text 17"/>
          <p:cNvSpPr/>
          <p:nvPr/>
        </p:nvSpPr>
        <p:spPr>
          <a:xfrm>
            <a:off x="7381875" y="25812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39100" y="2562225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Ingestion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39100" y="28289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Unstructured news articles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29500" y="3228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1"/>
          <p:cNvSpPr/>
          <p:nvPr/>
        </p:nvSpPr>
        <p:spPr>
          <a:xfrm>
            <a:off x="7381875" y="32289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39100" y="3209925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39100" y="34766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elimination &amp; normalization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29500" y="3876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7" name="Text 25"/>
          <p:cNvSpPr/>
          <p:nvPr/>
        </p:nvSpPr>
        <p:spPr>
          <a:xfrm>
            <a:off x="7381875" y="38766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39100" y="3857625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39100" y="41243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&amp; dense embeddings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29500" y="4524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1" name="Text 29"/>
          <p:cNvSpPr/>
          <p:nvPr/>
        </p:nvSpPr>
        <p:spPr>
          <a:xfrm>
            <a:off x="7381875" y="45243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39100" y="4505325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Discovery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39100" y="47720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algorithms &amp; clustering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29500" y="5172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5" name="Text 33"/>
          <p:cNvSpPr/>
          <p:nvPr/>
        </p:nvSpPr>
        <p:spPr>
          <a:xfrm>
            <a:off x="7381875" y="51720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39100" y="5153025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39100" y="54197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dashboard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1.ftcdn.net/4c82a9e66158f99d87d3afd89152073d87301715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34" b="78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8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9736485" y="135255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spc="338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049000" y="1481138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  <a:lnTo>
                  <a:pt x="762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3"/>
          <p:cNvSpPr/>
          <p:nvPr/>
        </p:nvSpPr>
        <p:spPr>
          <a:xfrm>
            <a:off x="8388846" y="1847850"/>
            <a:ext cx="34194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9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74596" y="3295650"/>
            <a:ext cx="31337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91800" y="4953000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6"/>
          <p:cNvSpPr/>
          <p:nvPr/>
        </p:nvSpPr>
        <p:spPr>
          <a:xfrm>
            <a:off x="8846046" y="5200650"/>
            <a:ext cx="2962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 News Corpus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Structure &amp; Statistics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652588"/>
            <a:ext cx="2495550" cy="1143000"/>
          </a:xfrm>
          <a:custGeom>
            <a:avLst/>
            <a:gdLst/>
            <a:ahLst/>
            <a:cxnLst/>
            <a:rect l="l" t="t" r="r" b="b"/>
            <a:pathLst>
              <a:path w="2495550" h="1143000">
                <a:moveTo>
                  <a:pt x="0" y="0"/>
                </a:moveTo>
                <a:lnTo>
                  <a:pt x="2495550" y="0"/>
                </a:lnTo>
                <a:lnTo>
                  <a:pt x="24955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43088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3400" y="2376488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Articles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28950" y="1652588"/>
            <a:ext cx="2495550" cy="1143000"/>
          </a:xfrm>
          <a:custGeom>
            <a:avLst/>
            <a:gdLst/>
            <a:ahLst/>
            <a:cxnLst/>
            <a:rect l="l" t="t" r="r" b="b"/>
            <a:pathLst>
              <a:path w="2495550" h="1143000">
                <a:moveTo>
                  <a:pt x="0" y="0"/>
                </a:moveTo>
                <a:lnTo>
                  <a:pt x="2495550" y="0"/>
                </a:lnTo>
                <a:lnTo>
                  <a:pt x="24955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1843088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81350" y="2376488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947988"/>
            <a:ext cx="2495550" cy="1143000"/>
          </a:xfrm>
          <a:custGeom>
            <a:avLst/>
            <a:gdLst/>
            <a:ahLst/>
            <a:cxnLst/>
            <a:rect l="l" t="t" r="r" b="b"/>
            <a:pathLst>
              <a:path w="2495550" h="1143000">
                <a:moveTo>
                  <a:pt x="0" y="0"/>
                </a:moveTo>
                <a:lnTo>
                  <a:pt x="2495550" y="0"/>
                </a:lnTo>
                <a:lnTo>
                  <a:pt x="24955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38488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3671888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Span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28950" y="2947988"/>
            <a:ext cx="2495550" cy="1143000"/>
          </a:xfrm>
          <a:custGeom>
            <a:avLst/>
            <a:gdLst/>
            <a:ahLst/>
            <a:cxnLst/>
            <a:rect l="l" t="t" r="r" b="b"/>
            <a:pathLst>
              <a:path w="2495550" h="1143000">
                <a:moveTo>
                  <a:pt x="0" y="0"/>
                </a:moveTo>
                <a:lnTo>
                  <a:pt x="2495550" y="0"/>
                </a:lnTo>
                <a:lnTo>
                  <a:pt x="24955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3138488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81350" y="3671888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319588"/>
            <a:ext cx="5143500" cy="1123950"/>
          </a:xfrm>
          <a:custGeom>
            <a:avLst/>
            <a:gdLst/>
            <a:ahLst/>
            <a:cxnLst/>
            <a:rect l="l" t="t" r="r" b="b"/>
            <a:pathLst>
              <a:path w="5143500" h="1123950">
                <a:moveTo>
                  <a:pt x="0" y="0"/>
                </a:moveTo>
                <a:lnTo>
                  <a:pt x="5143500" y="0"/>
                </a:lnTo>
                <a:lnTo>
                  <a:pt x="51435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" y="4510088"/>
            <a:ext cx="483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Source: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Hugging Face AG News subset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State: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Completely Static (Frozen) for deterministic, repeatable, and academically verifiable results without structural drift.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29300" y="1624013"/>
            <a:ext cx="607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Structure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29300" y="2657475"/>
            <a:ext cx="5981700" cy="9525"/>
          </a:xfrm>
          <a:custGeom>
            <a:avLst/>
            <a:gdLst/>
            <a:ahLst/>
            <a:cxnLst/>
            <a:rect l="l" t="t" r="r" b="b"/>
            <a:pathLst>
              <a:path w="5981700" h="9525">
                <a:moveTo>
                  <a:pt x="0" y="0"/>
                </a:moveTo>
                <a:lnTo>
                  <a:pt x="5981700" y="0"/>
                </a:lnTo>
                <a:lnTo>
                  <a:pt x="5981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29300" y="21002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53125" y="22145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19050"/>
                </a:moveTo>
                <a:cubicBezTo>
                  <a:pt x="0" y="13781"/>
                  <a:pt x="4256" y="9525"/>
                  <a:pt x="9525" y="9525"/>
                </a:cubicBezTo>
                <a:lnTo>
                  <a:pt x="38100" y="9525"/>
                </a:lnTo>
                <a:cubicBezTo>
                  <a:pt x="43369" y="9525"/>
                  <a:pt x="47625" y="13781"/>
                  <a:pt x="47625" y="19050"/>
                </a:cubicBezTo>
                <a:cubicBezTo>
                  <a:pt x="47625" y="24319"/>
                  <a:pt x="43369" y="28575"/>
                  <a:pt x="38100" y="28575"/>
                </a:cubicBezTo>
                <a:lnTo>
                  <a:pt x="33338" y="28575"/>
                </a:lnTo>
                <a:lnTo>
                  <a:pt x="33338" y="61912"/>
                </a:lnTo>
                <a:lnTo>
                  <a:pt x="100013" y="61912"/>
                </a:lnTo>
                <a:lnTo>
                  <a:pt x="100013" y="28575"/>
                </a:lnTo>
                <a:lnTo>
                  <a:pt x="95250" y="28575"/>
                </a:lnTo>
                <a:cubicBezTo>
                  <a:pt x="89981" y="28575"/>
                  <a:pt x="85725" y="24319"/>
                  <a:pt x="85725" y="19050"/>
                </a:cubicBezTo>
                <a:cubicBezTo>
                  <a:pt x="85725" y="13781"/>
                  <a:pt x="89981" y="9525"/>
                  <a:pt x="95250" y="9525"/>
                </a:cubicBezTo>
                <a:lnTo>
                  <a:pt x="123825" y="9525"/>
                </a:lnTo>
                <a:cubicBezTo>
                  <a:pt x="129094" y="9525"/>
                  <a:pt x="133350" y="13781"/>
                  <a:pt x="133350" y="19050"/>
                </a:cubicBezTo>
                <a:cubicBezTo>
                  <a:pt x="133350" y="24319"/>
                  <a:pt x="129094" y="28575"/>
                  <a:pt x="123825" y="28575"/>
                </a:cubicBezTo>
                <a:lnTo>
                  <a:pt x="119062" y="28575"/>
                </a:lnTo>
                <a:lnTo>
                  <a:pt x="119062" y="123825"/>
                </a:lnTo>
                <a:lnTo>
                  <a:pt x="123825" y="123825"/>
                </a:lnTo>
                <a:cubicBezTo>
                  <a:pt x="129094" y="123825"/>
                  <a:pt x="133350" y="128081"/>
                  <a:pt x="133350" y="133350"/>
                </a:cubicBezTo>
                <a:cubicBezTo>
                  <a:pt x="133350" y="138619"/>
                  <a:pt x="129094" y="142875"/>
                  <a:pt x="123825" y="142875"/>
                </a:cubicBezTo>
                <a:lnTo>
                  <a:pt x="95250" y="142875"/>
                </a:lnTo>
                <a:cubicBezTo>
                  <a:pt x="89981" y="142875"/>
                  <a:pt x="85725" y="138619"/>
                  <a:pt x="85725" y="133350"/>
                </a:cubicBezTo>
                <a:cubicBezTo>
                  <a:pt x="85725" y="128081"/>
                  <a:pt x="89981" y="123825"/>
                  <a:pt x="95250" y="123825"/>
                </a:cubicBezTo>
                <a:lnTo>
                  <a:pt x="100013" y="123825"/>
                </a:lnTo>
                <a:lnTo>
                  <a:pt x="100013" y="80962"/>
                </a:lnTo>
                <a:lnTo>
                  <a:pt x="33338" y="80962"/>
                </a:lnTo>
                <a:lnTo>
                  <a:pt x="33338" y="123825"/>
                </a:lnTo>
                <a:lnTo>
                  <a:pt x="38100" y="123825"/>
                </a:lnTo>
                <a:cubicBezTo>
                  <a:pt x="43369" y="123825"/>
                  <a:pt x="47625" y="128081"/>
                  <a:pt x="47625" y="133350"/>
                </a:cubicBezTo>
                <a:cubicBezTo>
                  <a:pt x="47625" y="138619"/>
                  <a:pt x="43369" y="142875"/>
                  <a:pt x="3810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cubicBezTo>
                  <a:pt x="0" y="128081"/>
                  <a:pt x="4256" y="123825"/>
                  <a:pt x="9525" y="123825"/>
                </a:cubicBezTo>
                <a:lnTo>
                  <a:pt x="14288" y="123825"/>
                </a:lnTo>
                <a:lnTo>
                  <a:pt x="14288" y="28575"/>
                </a:ln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Text 20"/>
          <p:cNvSpPr/>
          <p:nvPr/>
        </p:nvSpPr>
        <p:spPr>
          <a:xfrm>
            <a:off x="6362700" y="2043113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62700" y="2309813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Headline serving as concentrated summary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29300" y="3390900"/>
            <a:ext cx="5981700" cy="9525"/>
          </a:xfrm>
          <a:custGeom>
            <a:avLst/>
            <a:gdLst/>
            <a:ahLst/>
            <a:cxnLst/>
            <a:rect l="l" t="t" r="r" b="b"/>
            <a:pathLst>
              <a:path w="5981700" h="9525">
                <a:moveTo>
                  <a:pt x="0" y="0"/>
                </a:moveTo>
                <a:lnTo>
                  <a:pt x="5981700" y="0"/>
                </a:lnTo>
                <a:lnTo>
                  <a:pt x="5981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829300" y="28336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953125" y="29479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19050"/>
                </a:moveTo>
                <a:cubicBezTo>
                  <a:pt x="85725" y="24319"/>
                  <a:pt x="81469" y="28575"/>
                  <a:pt x="76200" y="28575"/>
                </a:cubicBez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ubicBezTo>
                  <a:pt x="0" y="13781"/>
                  <a:pt x="4256" y="9525"/>
                  <a:pt x="9525" y="9525"/>
                </a:cubicBezTo>
                <a:lnTo>
                  <a:pt x="76200" y="9525"/>
                </a:lnTo>
                <a:cubicBezTo>
                  <a:pt x="81469" y="9525"/>
                  <a:pt x="85725" y="13781"/>
                  <a:pt x="85725" y="19050"/>
                </a:cubicBezTo>
                <a:close/>
                <a:moveTo>
                  <a:pt x="85725" y="95250"/>
                </a:moveTo>
                <a:cubicBezTo>
                  <a:pt x="85725" y="100519"/>
                  <a:pt x="81469" y="104775"/>
                  <a:pt x="76200" y="104775"/>
                </a:cubicBezTo>
                <a:lnTo>
                  <a:pt x="9525" y="104775"/>
                </a:lnTo>
                <a:cubicBezTo>
                  <a:pt x="4256" y="104775"/>
                  <a:pt x="0" y="100519"/>
                  <a:pt x="0" y="95250"/>
                </a:cubicBezTo>
                <a:cubicBezTo>
                  <a:pt x="0" y="89981"/>
                  <a:pt x="4256" y="85725"/>
                  <a:pt x="9525" y="85725"/>
                </a:cubicBezTo>
                <a:lnTo>
                  <a:pt x="76200" y="85725"/>
                </a:lnTo>
                <a:cubicBezTo>
                  <a:pt x="81469" y="85725"/>
                  <a:pt x="85725" y="89981"/>
                  <a:pt x="85725" y="95250"/>
                </a:cubicBezTo>
                <a:close/>
                <a:moveTo>
                  <a:pt x="0" y="57150"/>
                </a:moveTo>
                <a:cubicBezTo>
                  <a:pt x="0" y="51881"/>
                  <a:pt x="4256" y="47625"/>
                  <a:pt x="9525" y="47625"/>
                </a:cubicBezTo>
                <a:lnTo>
                  <a:pt x="123825" y="47625"/>
                </a:lnTo>
                <a:cubicBezTo>
                  <a:pt x="129094" y="47625"/>
                  <a:pt x="133350" y="51881"/>
                  <a:pt x="133350" y="57150"/>
                </a:cubicBezTo>
                <a:cubicBezTo>
                  <a:pt x="133350" y="62419"/>
                  <a:pt x="129094" y="66675"/>
                  <a:pt x="123825" y="66675"/>
                </a:cubicBezTo>
                <a:lnTo>
                  <a:pt x="9525" y="66675"/>
                </a:lnTo>
                <a:cubicBezTo>
                  <a:pt x="4256" y="66675"/>
                  <a:pt x="0" y="62419"/>
                  <a:pt x="0" y="57150"/>
                </a:cubicBezTo>
                <a:close/>
                <a:moveTo>
                  <a:pt x="133350" y="133350"/>
                </a:moveTo>
                <a:cubicBezTo>
                  <a:pt x="133350" y="138619"/>
                  <a:pt x="129094" y="142875"/>
                  <a:pt x="12382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cubicBezTo>
                  <a:pt x="0" y="128081"/>
                  <a:pt x="4256" y="123825"/>
                  <a:pt x="9525" y="123825"/>
                </a:cubicBezTo>
                <a:lnTo>
                  <a:pt x="123825" y="123825"/>
                </a:lnTo>
                <a:cubicBezTo>
                  <a:pt x="129094" y="123825"/>
                  <a:pt x="133350" y="128081"/>
                  <a:pt x="133350" y="13335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7" name="Text 25"/>
          <p:cNvSpPr/>
          <p:nvPr/>
        </p:nvSpPr>
        <p:spPr>
          <a:xfrm>
            <a:off x="6362700" y="2776538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700" y="3043238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unstructured body with detailed narrative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29300" y="4124325"/>
            <a:ext cx="5981700" cy="9525"/>
          </a:xfrm>
          <a:custGeom>
            <a:avLst/>
            <a:gdLst/>
            <a:ahLst/>
            <a:cxnLst/>
            <a:rect l="l" t="t" r="r" b="b"/>
            <a:pathLst>
              <a:path w="5981700" h="9525">
                <a:moveTo>
                  <a:pt x="0" y="0"/>
                </a:moveTo>
                <a:lnTo>
                  <a:pt x="5981700" y="0"/>
                </a:lnTo>
                <a:lnTo>
                  <a:pt x="5981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29300" y="35671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53125" y="36814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2" name="Text 30"/>
          <p:cNvSpPr/>
          <p:nvPr/>
        </p:nvSpPr>
        <p:spPr>
          <a:xfrm>
            <a:off x="6362700" y="3509963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Published Date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62700" y="3776662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timestamp enabling time-series mining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29300" y="4857750"/>
            <a:ext cx="5981700" cy="9525"/>
          </a:xfrm>
          <a:custGeom>
            <a:avLst/>
            <a:gdLst/>
            <a:ahLst/>
            <a:cxnLst/>
            <a:rect l="l" t="t" r="r" b="b"/>
            <a:pathLst>
              <a:path w="5981700" h="9525">
                <a:moveTo>
                  <a:pt x="0" y="0"/>
                </a:moveTo>
                <a:lnTo>
                  <a:pt x="5981700" y="0"/>
                </a:lnTo>
                <a:lnTo>
                  <a:pt x="5981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29300" y="43005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0" y="44148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23825"/>
                </a:moveTo>
                <a:lnTo>
                  <a:pt x="0" y="35719"/>
                </a:lnTo>
                <a:cubicBezTo>
                  <a:pt x="0" y="31760"/>
                  <a:pt x="3185" y="28575"/>
                  <a:pt x="7144" y="28575"/>
                </a:cubicBezTo>
                <a:cubicBezTo>
                  <a:pt x="11103" y="28575"/>
                  <a:pt x="14288" y="31760"/>
                  <a:pt x="14288" y="35719"/>
                </a:cubicBezTo>
                <a:lnTo>
                  <a:pt x="14288" y="121444"/>
                </a:lnTo>
                <a:cubicBezTo>
                  <a:pt x="14288" y="125403"/>
                  <a:pt x="17472" y="128588"/>
                  <a:pt x="21431" y="128588"/>
                </a:cubicBezTo>
                <a:cubicBezTo>
                  <a:pt x="25390" y="128588"/>
                  <a:pt x="28575" y="125403"/>
                  <a:pt x="28575" y="121444"/>
                </a:cubicBezTo>
                <a:lnTo>
                  <a:pt x="28575" y="28575"/>
                </a:lnTo>
                <a:cubicBezTo>
                  <a:pt x="28575" y="18068"/>
                  <a:pt x="37118" y="9525"/>
                  <a:pt x="47625" y="9525"/>
                </a:cubicBezTo>
                <a:lnTo>
                  <a:pt x="133350" y="9525"/>
                </a:lnTo>
                <a:cubicBezTo>
                  <a:pt x="143857" y="9525"/>
                  <a:pt x="152400" y="18068"/>
                  <a:pt x="152400" y="28575"/>
                </a:cubicBezTo>
                <a:lnTo>
                  <a:pt x="152400" y="123825"/>
                </a:lnTo>
                <a:cubicBezTo>
                  <a:pt x="152400" y="134332"/>
                  <a:pt x="143857" y="142875"/>
                  <a:pt x="13335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close/>
                <a:moveTo>
                  <a:pt x="47625" y="38100"/>
                </a:moveTo>
                <a:lnTo>
                  <a:pt x="47625" y="57150"/>
                </a:lnTo>
                <a:cubicBezTo>
                  <a:pt x="47625" y="62419"/>
                  <a:pt x="51881" y="66675"/>
                  <a:pt x="57150" y="66675"/>
                </a:cubicBezTo>
                <a:lnTo>
                  <a:pt x="76200" y="66675"/>
                </a:lnTo>
                <a:cubicBezTo>
                  <a:pt x="81469" y="66675"/>
                  <a:pt x="85725" y="62419"/>
                  <a:pt x="85725" y="57150"/>
                </a:cubicBezTo>
                <a:lnTo>
                  <a:pt x="85725" y="38100"/>
                </a:lnTo>
                <a:cubicBezTo>
                  <a:pt x="85725" y="32831"/>
                  <a:pt x="81469" y="28575"/>
                  <a:pt x="76200" y="28575"/>
                </a:cubicBezTo>
                <a:lnTo>
                  <a:pt x="57150" y="28575"/>
                </a:lnTo>
                <a:cubicBezTo>
                  <a:pt x="51881" y="28575"/>
                  <a:pt x="47625" y="32831"/>
                  <a:pt x="47625" y="38100"/>
                </a:cubicBezTo>
                <a:close/>
                <a:moveTo>
                  <a:pt x="54769" y="109537"/>
                </a:moveTo>
                <a:cubicBezTo>
                  <a:pt x="50810" y="109537"/>
                  <a:pt x="47625" y="112722"/>
                  <a:pt x="47625" y="116681"/>
                </a:cubicBezTo>
                <a:cubicBezTo>
                  <a:pt x="47625" y="120640"/>
                  <a:pt x="50810" y="123825"/>
                  <a:pt x="54769" y="123825"/>
                </a:cubicBezTo>
                <a:lnTo>
                  <a:pt x="126206" y="123825"/>
                </a:lnTo>
                <a:cubicBezTo>
                  <a:pt x="130165" y="123825"/>
                  <a:pt x="133350" y="120640"/>
                  <a:pt x="133350" y="116681"/>
                </a:cubicBezTo>
                <a:cubicBezTo>
                  <a:pt x="133350" y="112722"/>
                  <a:pt x="130165" y="109537"/>
                  <a:pt x="126206" y="109537"/>
                </a:cubicBezTo>
                <a:lnTo>
                  <a:pt x="54769" y="109537"/>
                </a:lnTo>
                <a:close/>
                <a:moveTo>
                  <a:pt x="47625" y="88106"/>
                </a:moveTo>
                <a:cubicBezTo>
                  <a:pt x="47625" y="92065"/>
                  <a:pt x="50810" y="95250"/>
                  <a:pt x="54769" y="95250"/>
                </a:cubicBezTo>
                <a:lnTo>
                  <a:pt x="126206" y="95250"/>
                </a:lnTo>
                <a:cubicBezTo>
                  <a:pt x="130165" y="95250"/>
                  <a:pt x="133350" y="92065"/>
                  <a:pt x="133350" y="88106"/>
                </a:cubicBezTo>
                <a:cubicBezTo>
                  <a:pt x="133350" y="84147"/>
                  <a:pt x="130165" y="80962"/>
                  <a:pt x="126206" y="80962"/>
                </a:cubicBezTo>
                <a:lnTo>
                  <a:pt x="54769" y="80962"/>
                </a:lnTo>
                <a:cubicBezTo>
                  <a:pt x="50810" y="80962"/>
                  <a:pt x="47625" y="84147"/>
                  <a:pt x="47625" y="88106"/>
                </a:cubicBezTo>
                <a:close/>
                <a:moveTo>
                  <a:pt x="107156" y="52388"/>
                </a:moveTo>
                <a:cubicBezTo>
                  <a:pt x="103197" y="52388"/>
                  <a:pt x="100013" y="55572"/>
                  <a:pt x="100013" y="59531"/>
                </a:cubicBezTo>
                <a:cubicBezTo>
                  <a:pt x="100013" y="63490"/>
                  <a:pt x="103197" y="66675"/>
                  <a:pt x="107156" y="66675"/>
                </a:cubicBezTo>
                <a:lnTo>
                  <a:pt x="126206" y="66675"/>
                </a:lnTo>
                <a:cubicBezTo>
                  <a:pt x="130165" y="66675"/>
                  <a:pt x="133350" y="63490"/>
                  <a:pt x="133350" y="59531"/>
                </a:cubicBezTo>
                <a:cubicBezTo>
                  <a:pt x="133350" y="55572"/>
                  <a:pt x="130165" y="52388"/>
                  <a:pt x="126206" y="52388"/>
                </a:cubicBezTo>
                <a:lnTo>
                  <a:pt x="107156" y="52388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Text 35"/>
          <p:cNvSpPr/>
          <p:nvPr/>
        </p:nvSpPr>
        <p:spPr>
          <a:xfrm>
            <a:off x="6362700" y="4243388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62700" y="4510088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Journalistic entity (Reuters, AP, etc.)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29300" y="50339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34075" y="514826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1" name="Text 39"/>
          <p:cNvSpPr/>
          <p:nvPr/>
        </p:nvSpPr>
        <p:spPr>
          <a:xfrm>
            <a:off x="6362700" y="4976813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62700" y="5243513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Thematic classification (World, Sports, Business, Tech)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81000" y="62484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Range: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2018–2024 |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World, Sports, Business, Technology (30,000 articles each)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Data Characteristics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8625" y="11239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3"/>
          <p:cNvSpPr/>
          <p:nvPr/>
        </p:nvSpPr>
        <p:spPr>
          <a:xfrm>
            <a:off x="619125" y="108585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Preprocessing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428750"/>
            <a:ext cx="567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with inherent noise and anomalies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80975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196215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0 — Sports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222885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"Phelps, Thorpe Advance in 200 Freestyle (AP) AP - Michael Phelps took care of qualifying for the Olympic 200-meter freestyle..."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99085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314325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1 — Business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340995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"Wall St. Bears Claw Back Into the Black (Reuters) Reuters - Short-sellers, Wall Street's dwindling band of ultra-cynics, are seeing green again..."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5057775"/>
            <a:ext cx="2743200" cy="685800"/>
          </a:xfrm>
          <a:custGeom>
            <a:avLst/>
            <a:gdLst/>
            <a:ahLst/>
            <a:cxnLst/>
            <a:rect l="l" t="t" r="r" b="b"/>
            <a:pathLst>
              <a:path w="2743200" h="685800">
                <a:moveTo>
                  <a:pt x="0" y="0"/>
                </a:moveTo>
                <a:lnTo>
                  <a:pt x="2743200" y="0"/>
                </a:lnTo>
                <a:lnTo>
                  <a:pt x="27432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3850" y="513397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" y="5438775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Level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8500" y="5057775"/>
            <a:ext cx="2743200" cy="685800"/>
          </a:xfrm>
          <a:custGeom>
            <a:avLst/>
            <a:gdLst/>
            <a:ahLst/>
            <a:cxnLst/>
            <a:rect l="l" t="t" r="r" b="b"/>
            <a:pathLst>
              <a:path w="2743200" h="685800">
                <a:moveTo>
                  <a:pt x="0" y="0"/>
                </a:moveTo>
                <a:lnTo>
                  <a:pt x="2743200" y="0"/>
                </a:lnTo>
                <a:lnTo>
                  <a:pt x="27432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181350" y="513397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5438775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Space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34113" y="1123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0" name="Text 18"/>
          <p:cNvSpPr/>
          <p:nvPr/>
        </p:nvSpPr>
        <p:spPr>
          <a:xfrm>
            <a:off x="6448425" y="108585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Preprocessing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0300" y="1428750"/>
            <a:ext cx="567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sequence of semantically potent tokens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80975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62700" y="196215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0 Cleaned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2700" y="222885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phelps thorpe advance freestyle olympic qualifying meter swimming competition athletic performance...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299085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62700" y="314325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1 Cleaned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2700" y="340995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 street bears claw back black short sellers dwindling ultra cynics seeing green again financial market trading...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5057775"/>
            <a:ext cx="2743200" cy="685800"/>
          </a:xfrm>
          <a:custGeom>
            <a:avLst/>
            <a:gdLst/>
            <a:ahLst/>
            <a:cxnLst/>
            <a:rect l="l" t="t" r="r" b="b"/>
            <a:pathLst>
              <a:path w="2743200" h="685800">
                <a:moveTo>
                  <a:pt x="0" y="0"/>
                </a:moveTo>
                <a:lnTo>
                  <a:pt x="2743200" y="0"/>
                </a:lnTo>
                <a:lnTo>
                  <a:pt x="27432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53150" y="513397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72200" y="5438775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Level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67800" y="5057775"/>
            <a:ext cx="2743200" cy="685800"/>
          </a:xfrm>
          <a:custGeom>
            <a:avLst/>
            <a:gdLst/>
            <a:ahLst/>
            <a:cxnLst/>
            <a:rect l="l" t="t" r="r" b="b"/>
            <a:pathLst>
              <a:path w="2743200" h="685800">
                <a:moveTo>
                  <a:pt x="0" y="0"/>
                </a:moveTo>
                <a:lnTo>
                  <a:pt x="2743200" y="0"/>
                </a:lnTo>
                <a:lnTo>
                  <a:pt x="27432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010650" y="513397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29700" y="5438775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Space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58626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1950" y="601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6" name="Text 34"/>
          <p:cNvSpPr/>
          <p:nvPr/>
        </p:nvSpPr>
        <p:spPr>
          <a:xfrm>
            <a:off x="613916" y="5981700"/>
            <a:ext cx="1127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Raw data contains syntactical anomalies, punctuation, mixed capitalization, structural stopwords, and special characters. Without preprocessing, these artifacts create highly sparse, noisy, and inefficient feature spaces that significantly deteriorate mathematical models.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ebf47f4b8b23af75fa32e9035761df23c67af30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8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81138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  <a:lnTo>
                  <a:pt x="762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2"/>
          <p:cNvSpPr/>
          <p:nvPr/>
        </p:nvSpPr>
        <p:spPr>
          <a:xfrm>
            <a:off x="1295400" y="135255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338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47850"/>
            <a:ext cx="46958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295650"/>
            <a:ext cx="44100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953000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200650"/>
            <a:ext cx="423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Mathematical Weighting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14450"/>
            <a:ext cx="4572000" cy="1485900"/>
          </a:xfrm>
          <a:custGeom>
            <a:avLst/>
            <a:gdLst/>
            <a:ahLst/>
            <a:cxnLst/>
            <a:rect l="l" t="t" r="r" b="b"/>
            <a:pathLst>
              <a:path w="4572000" h="1485900">
                <a:moveTo>
                  <a:pt x="0" y="0"/>
                </a:moveTo>
                <a:lnTo>
                  <a:pt x="4572000" y="0"/>
                </a:lnTo>
                <a:lnTo>
                  <a:pt x="45720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523875" y="1524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5049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Multiplier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7165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Decay Function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14550"/>
            <a:ext cx="426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Amplifies the mathematical importance of newer articles to ensure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trends are prioritized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 historical noise.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952750"/>
            <a:ext cx="4572000" cy="1485900"/>
          </a:xfrm>
          <a:custGeom>
            <a:avLst/>
            <a:gdLst/>
            <a:ahLst/>
            <a:cxnLst/>
            <a:rect l="l" t="t" r="r" b="b"/>
            <a:pathLst>
              <a:path w="4572000" h="1485900">
                <a:moveTo>
                  <a:pt x="0" y="0"/>
                </a:moveTo>
                <a:lnTo>
                  <a:pt x="4572000" y="0"/>
                </a:lnTo>
                <a:lnTo>
                  <a:pt x="45720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3162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2" name="Text 10"/>
          <p:cNvSpPr/>
          <p:nvPr/>
        </p:nvSpPr>
        <p:spPr>
          <a:xfrm>
            <a:off x="523875" y="3162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14325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Authority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099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Publisher Reliability Weight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752850"/>
            <a:ext cx="426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Categorical weight assigned to journalistic entities (Reuters, AP)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adjust feature importance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source credibility.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591050"/>
            <a:ext cx="4572000" cy="1733550"/>
          </a:xfrm>
          <a:custGeom>
            <a:avLst/>
            <a:gdLst/>
            <a:ahLst/>
            <a:cxnLst/>
            <a:rect l="l" t="t" r="r" b="b"/>
            <a:pathLst>
              <a:path w="4572000" h="1733550">
                <a:moveTo>
                  <a:pt x="0" y="0"/>
                </a:moveTo>
                <a:lnTo>
                  <a:pt x="4572000" y="0"/>
                </a:lnTo>
                <a:lnTo>
                  <a:pt x="45720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" y="4800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850" y="4933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781550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High-Dimensional Vectorization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504825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&amp; Transformers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391150"/>
            <a:ext cx="4267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Translates cleansed data into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matrices and Dense Sentence-Transformers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capture both topical keywords and deep semantic context.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1943100"/>
            <a:ext cx="664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Description Matrix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57800" y="2714625"/>
            <a:ext cx="6553200" cy="19050"/>
          </a:xfrm>
          <a:custGeom>
            <a:avLst/>
            <a:gdLst/>
            <a:ahLst/>
            <a:cxnLst/>
            <a:rect l="l" t="t" r="r" b="b"/>
            <a:pathLst>
              <a:path w="6553200" h="19050">
                <a:moveTo>
                  <a:pt x="0" y="0"/>
                </a:moveTo>
                <a:lnTo>
                  <a:pt x="6553200" y="0"/>
                </a:lnTo>
                <a:lnTo>
                  <a:pt x="6553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3622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80250" y="23622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02701" y="23622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57800" y="3224213"/>
            <a:ext cx="6553200" cy="9525"/>
          </a:xfrm>
          <a:custGeom>
            <a:avLst/>
            <a:gdLst/>
            <a:ahLst/>
            <a:cxnLst/>
            <a:rect l="l" t="t" r="r" b="b"/>
            <a:pathLst>
              <a:path w="6553200" h="9525">
                <a:moveTo>
                  <a:pt x="0" y="0"/>
                </a:moveTo>
                <a:lnTo>
                  <a:pt x="6553200" y="0"/>
                </a:lnTo>
                <a:lnTo>
                  <a:pt x="6553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91465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80250" y="291465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02701" y="291465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keyword extraction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57800" y="3957638"/>
            <a:ext cx="6553200" cy="9525"/>
          </a:xfrm>
          <a:custGeom>
            <a:avLst/>
            <a:gdLst/>
            <a:ahLst/>
            <a:cxnLst/>
            <a:rect l="l" t="t" r="r" b="b"/>
            <a:pathLst>
              <a:path w="6553200" h="9525">
                <a:moveTo>
                  <a:pt x="0" y="0"/>
                </a:moveTo>
                <a:lnTo>
                  <a:pt x="6553200" y="0"/>
                </a:lnTo>
                <a:lnTo>
                  <a:pt x="6553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419475"/>
            <a:ext cx="218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80250" y="3419475"/>
            <a:ext cx="218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02701" y="3419475"/>
            <a:ext cx="218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High-dimensional TF-IDF vectorization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57800" y="4462463"/>
            <a:ext cx="6553200" cy="9525"/>
          </a:xfrm>
          <a:custGeom>
            <a:avLst/>
            <a:gdLst/>
            <a:ahLst/>
            <a:cxnLst/>
            <a:rect l="l" t="t" r="r" b="b"/>
            <a:pathLst>
              <a:path w="6553200" h="9525">
                <a:moveTo>
                  <a:pt x="0" y="0"/>
                </a:moveTo>
                <a:lnTo>
                  <a:pt x="6553200" y="0"/>
                </a:lnTo>
                <a:lnTo>
                  <a:pt x="6553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41529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published_at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80250" y="41529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DateTime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702701" y="41529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trend analysis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57800" y="4967288"/>
            <a:ext cx="6553200" cy="9525"/>
          </a:xfrm>
          <a:custGeom>
            <a:avLst/>
            <a:gdLst/>
            <a:ahLst/>
            <a:cxnLst/>
            <a:rect l="l" t="t" r="r" b="b"/>
            <a:pathLst>
              <a:path w="6553200" h="9525">
                <a:moveTo>
                  <a:pt x="0" y="0"/>
                </a:moveTo>
                <a:lnTo>
                  <a:pt x="6553200" y="0"/>
                </a:lnTo>
                <a:lnTo>
                  <a:pt x="6553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257800" y="465772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80250" y="465772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02701" y="465772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bias / Association rules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57800" y="5162550"/>
            <a:ext cx="218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80250" y="5162550"/>
            <a:ext cx="218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702701" y="5162550"/>
            <a:ext cx="218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Classification (Naive Bayes)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datocms-assets.com/c06ed3f6088e869aafb7d1cb14bb9e25a7ba32d8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8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9736485" y="995363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spc="338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049000" y="11239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  <a:lnTo>
                  <a:pt x="762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3"/>
          <p:cNvSpPr/>
          <p:nvPr/>
        </p:nvSpPr>
        <p:spPr>
          <a:xfrm>
            <a:off x="7598420" y="1490663"/>
            <a:ext cx="42100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9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84170" y="2938463"/>
            <a:ext cx="392430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91800" y="5310188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6"/>
          <p:cNvSpPr/>
          <p:nvPr/>
        </p:nvSpPr>
        <p:spPr>
          <a:xfrm>
            <a:off x="8055620" y="5557838"/>
            <a:ext cx="3752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Noise to Normalized Tokens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07294" y="16811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Shape 3"/>
          <p:cNvSpPr/>
          <p:nvPr/>
        </p:nvSpPr>
        <p:spPr>
          <a:xfrm>
            <a:off x="1483519" y="191928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169664"/>
                </a:lnTo>
                <a:lnTo>
                  <a:pt x="101631" y="169664"/>
                </a:lnTo>
                <a:lnTo>
                  <a:pt x="84330" y="152363"/>
                </a:lnTo>
                <a:cubicBezTo>
                  <a:pt x="79084" y="147117"/>
                  <a:pt x="79084" y="138633"/>
                  <a:pt x="84330" y="133443"/>
                </a:cubicBezTo>
                <a:cubicBezTo>
                  <a:pt x="89576" y="128253"/>
                  <a:pt x="98059" y="128197"/>
                  <a:pt x="103250" y="133443"/>
                </a:cubicBezTo>
                <a:lnTo>
                  <a:pt x="143433" y="173627"/>
                </a:lnTo>
                <a:cubicBezTo>
                  <a:pt x="148679" y="178873"/>
                  <a:pt x="148679" y="187356"/>
                  <a:pt x="143433" y="192546"/>
                </a:cubicBezTo>
                <a:lnTo>
                  <a:pt x="103250" y="232730"/>
                </a:lnTo>
                <a:cubicBezTo>
                  <a:pt x="98003" y="237976"/>
                  <a:pt x="89520" y="237976"/>
                  <a:pt x="84330" y="232730"/>
                </a:cubicBezTo>
                <a:cubicBezTo>
                  <a:pt x="79139" y="227484"/>
                  <a:pt x="79084" y="219001"/>
                  <a:pt x="84330" y="213810"/>
                </a:cubicBezTo>
                <a:lnTo>
                  <a:pt x="101631" y="196509"/>
                </a:lnTo>
                <a:lnTo>
                  <a:pt x="0" y="196509"/>
                </a:lnTo>
                <a:lnTo>
                  <a:pt x="0" y="250087"/>
                </a:lnTo>
                <a:cubicBezTo>
                  <a:pt x="0" y="269788"/>
                  <a:pt x="16018" y="285806"/>
                  <a:pt x="35719" y="285806"/>
                </a:cubicBezTo>
                <a:lnTo>
                  <a:pt x="178594" y="285806"/>
                </a:lnTo>
                <a:cubicBezTo>
                  <a:pt x="198295" y="285806"/>
                  <a:pt x="214313" y="269788"/>
                  <a:pt x="214313" y="250087"/>
                </a:cubicBezTo>
                <a:lnTo>
                  <a:pt x="214313" y="95213"/>
                </a:lnTo>
                <a:cubicBezTo>
                  <a:pt x="214313" y="85725"/>
                  <a:pt x="210573" y="76628"/>
                  <a:pt x="203876" y="69931"/>
                </a:cubicBezTo>
                <a:lnTo>
                  <a:pt x="144382" y="10437"/>
                </a:lnTo>
                <a:cubicBezTo>
                  <a:pt x="137685" y="3739"/>
                  <a:pt x="128643" y="0"/>
                  <a:pt x="119156" y="0"/>
                </a:cubicBezTo>
                <a:lnTo>
                  <a:pt x="35719" y="0"/>
                </a:lnTo>
                <a:close/>
                <a:moveTo>
                  <a:pt x="181663" y="98227"/>
                </a:moveTo>
                <a:lnTo>
                  <a:pt x="129480" y="98227"/>
                </a:lnTo>
                <a:cubicBezTo>
                  <a:pt x="122058" y="98227"/>
                  <a:pt x="116086" y="92255"/>
                  <a:pt x="116086" y="84832"/>
                </a:cubicBezTo>
                <a:lnTo>
                  <a:pt x="116086" y="32649"/>
                </a:lnTo>
                <a:lnTo>
                  <a:pt x="181663" y="98227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6" name="Text 4"/>
          <p:cNvSpPr/>
          <p:nvPr/>
        </p:nvSpPr>
        <p:spPr>
          <a:xfrm>
            <a:off x="338138" y="2557463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2900" y="286226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6563" y="2257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Shape 7"/>
          <p:cNvSpPr/>
          <p:nvPr/>
        </p:nvSpPr>
        <p:spPr>
          <a:xfrm>
            <a:off x="4212431" y="16811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Shape 8"/>
          <p:cNvSpPr/>
          <p:nvPr/>
        </p:nvSpPr>
        <p:spPr>
          <a:xfrm>
            <a:off x="4435078" y="191928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16223" y="30473"/>
                </a:moveTo>
                <a:cubicBezTo>
                  <a:pt x="323199" y="23496"/>
                  <a:pt x="323199" y="12167"/>
                  <a:pt x="316223" y="5190"/>
                </a:cubicBezTo>
                <a:cubicBezTo>
                  <a:pt x="309246" y="-1786"/>
                  <a:pt x="297917" y="-1786"/>
                  <a:pt x="290940" y="5190"/>
                </a:cubicBezTo>
                <a:lnTo>
                  <a:pt x="183784" y="112347"/>
                </a:lnTo>
                <a:lnTo>
                  <a:pt x="164418" y="92980"/>
                </a:lnTo>
                <a:cubicBezTo>
                  <a:pt x="162074" y="90636"/>
                  <a:pt x="158837" y="89297"/>
                  <a:pt x="155488" y="89297"/>
                </a:cubicBezTo>
                <a:cubicBezTo>
                  <a:pt x="148512" y="89297"/>
                  <a:pt x="142875" y="94934"/>
                  <a:pt x="142875" y="101910"/>
                </a:cubicBezTo>
                <a:lnTo>
                  <a:pt x="142875" y="118151"/>
                </a:lnTo>
                <a:lnTo>
                  <a:pt x="203318" y="178594"/>
                </a:lnTo>
                <a:lnTo>
                  <a:pt x="219559" y="178594"/>
                </a:lnTo>
                <a:cubicBezTo>
                  <a:pt x="226535" y="178594"/>
                  <a:pt x="232172" y="172957"/>
                  <a:pt x="232172" y="165981"/>
                </a:cubicBezTo>
                <a:cubicBezTo>
                  <a:pt x="232172" y="162632"/>
                  <a:pt x="230832" y="159395"/>
                  <a:pt x="228488" y="157051"/>
                </a:cubicBezTo>
                <a:lnTo>
                  <a:pt x="209122" y="137685"/>
                </a:lnTo>
                <a:lnTo>
                  <a:pt x="316278" y="30528"/>
                </a:lnTo>
                <a:close/>
                <a:moveTo>
                  <a:pt x="190370" y="197234"/>
                </a:moveTo>
                <a:lnTo>
                  <a:pt x="124234" y="131099"/>
                </a:lnTo>
                <a:cubicBezTo>
                  <a:pt x="100403" y="129034"/>
                  <a:pt x="76684" y="137629"/>
                  <a:pt x="59606" y="154707"/>
                </a:cubicBezTo>
                <a:lnTo>
                  <a:pt x="55141" y="159172"/>
                </a:lnTo>
                <a:cubicBezTo>
                  <a:pt x="42695" y="171617"/>
                  <a:pt x="35719" y="188472"/>
                  <a:pt x="35719" y="206053"/>
                </a:cubicBezTo>
                <a:cubicBezTo>
                  <a:pt x="35719" y="209848"/>
                  <a:pt x="39681" y="212303"/>
                  <a:pt x="43086" y="210629"/>
                </a:cubicBezTo>
                <a:lnTo>
                  <a:pt x="71605" y="196397"/>
                </a:lnTo>
                <a:cubicBezTo>
                  <a:pt x="74395" y="195002"/>
                  <a:pt x="76907" y="198686"/>
                  <a:pt x="74619" y="200806"/>
                </a:cubicBezTo>
                <a:lnTo>
                  <a:pt x="4074" y="264207"/>
                </a:lnTo>
                <a:cubicBezTo>
                  <a:pt x="1507" y="266551"/>
                  <a:pt x="0" y="269900"/>
                  <a:pt x="0" y="273416"/>
                </a:cubicBezTo>
                <a:cubicBezTo>
                  <a:pt x="0" y="280225"/>
                  <a:pt x="5525" y="285750"/>
                  <a:pt x="12334" y="285750"/>
                </a:cubicBezTo>
                <a:lnTo>
                  <a:pt x="109054" y="285750"/>
                </a:lnTo>
                <a:cubicBezTo>
                  <a:pt x="130708" y="285750"/>
                  <a:pt x="151414" y="277155"/>
                  <a:pt x="166762" y="261863"/>
                </a:cubicBezTo>
                <a:cubicBezTo>
                  <a:pt x="183840" y="244785"/>
                  <a:pt x="192379" y="221066"/>
                  <a:pt x="190370" y="197234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1" name="Text 9"/>
          <p:cNvSpPr/>
          <p:nvPr/>
        </p:nvSpPr>
        <p:spPr>
          <a:xfrm>
            <a:off x="3343275" y="2557463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48038" y="286226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1700" y="2257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Shape 12"/>
          <p:cNvSpPr/>
          <p:nvPr/>
        </p:nvSpPr>
        <p:spPr>
          <a:xfrm>
            <a:off x="7217569" y="16811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8075" y="19192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45287" y="3907"/>
                </a:moveTo>
                <a:cubicBezTo>
                  <a:pt x="250534" y="-1339"/>
                  <a:pt x="259017" y="-1339"/>
                  <a:pt x="264207" y="3907"/>
                </a:cubicBezTo>
                <a:lnTo>
                  <a:pt x="282067" y="21766"/>
                </a:lnTo>
                <a:cubicBezTo>
                  <a:pt x="287313" y="27012"/>
                  <a:pt x="287313" y="35496"/>
                  <a:pt x="282067" y="40686"/>
                </a:cubicBezTo>
                <a:lnTo>
                  <a:pt x="233511" y="89241"/>
                </a:lnTo>
                <a:lnTo>
                  <a:pt x="255277" y="111007"/>
                </a:lnTo>
                <a:cubicBezTo>
                  <a:pt x="259128" y="114858"/>
                  <a:pt x="260245" y="120607"/>
                  <a:pt x="258180" y="125630"/>
                </a:cubicBezTo>
                <a:cubicBezTo>
                  <a:pt x="256115" y="130652"/>
                  <a:pt x="251259" y="133945"/>
                  <a:pt x="245845" y="133945"/>
                </a:cubicBezTo>
                <a:lnTo>
                  <a:pt x="165478" y="133945"/>
                </a:lnTo>
                <a:cubicBezTo>
                  <a:pt x="158055" y="133945"/>
                  <a:pt x="152084" y="127974"/>
                  <a:pt x="152084" y="120551"/>
                </a:cubicBezTo>
                <a:lnTo>
                  <a:pt x="152084" y="40184"/>
                </a:lnTo>
                <a:cubicBezTo>
                  <a:pt x="152084" y="34770"/>
                  <a:pt x="155321" y="29859"/>
                  <a:pt x="160344" y="27794"/>
                </a:cubicBezTo>
                <a:cubicBezTo>
                  <a:pt x="165367" y="25729"/>
                  <a:pt x="171115" y="26845"/>
                  <a:pt x="174966" y="30696"/>
                </a:cubicBezTo>
                <a:lnTo>
                  <a:pt x="196732" y="52462"/>
                </a:lnTo>
                <a:lnTo>
                  <a:pt x="245287" y="3907"/>
                </a:lnTo>
                <a:close/>
                <a:moveTo>
                  <a:pt x="40463" y="151805"/>
                </a:moveTo>
                <a:lnTo>
                  <a:pt x="120830" y="151805"/>
                </a:lnTo>
                <a:cubicBezTo>
                  <a:pt x="128253" y="151805"/>
                  <a:pt x="134224" y="157776"/>
                  <a:pt x="134224" y="165199"/>
                </a:cubicBezTo>
                <a:lnTo>
                  <a:pt x="134224" y="245566"/>
                </a:lnTo>
                <a:cubicBezTo>
                  <a:pt x="134224" y="250980"/>
                  <a:pt x="130987" y="255891"/>
                  <a:pt x="125964" y="257956"/>
                </a:cubicBezTo>
                <a:cubicBezTo>
                  <a:pt x="120941" y="260021"/>
                  <a:pt x="115193" y="258905"/>
                  <a:pt x="111342" y="255054"/>
                </a:cubicBezTo>
                <a:lnTo>
                  <a:pt x="89576" y="233288"/>
                </a:lnTo>
                <a:lnTo>
                  <a:pt x="41021" y="281843"/>
                </a:lnTo>
                <a:cubicBezTo>
                  <a:pt x="35775" y="287089"/>
                  <a:pt x="27291" y="287089"/>
                  <a:pt x="22101" y="281843"/>
                </a:cubicBezTo>
                <a:lnTo>
                  <a:pt x="4242" y="263984"/>
                </a:lnTo>
                <a:cubicBezTo>
                  <a:pt x="-1005" y="258738"/>
                  <a:pt x="-1005" y="250254"/>
                  <a:pt x="4242" y="245064"/>
                </a:cubicBezTo>
                <a:lnTo>
                  <a:pt x="52797" y="196509"/>
                </a:lnTo>
                <a:lnTo>
                  <a:pt x="31031" y="174743"/>
                </a:lnTo>
                <a:cubicBezTo>
                  <a:pt x="27180" y="170892"/>
                  <a:pt x="26064" y="165143"/>
                  <a:pt x="28129" y="160120"/>
                </a:cubicBezTo>
                <a:cubicBezTo>
                  <a:pt x="30194" y="155098"/>
                  <a:pt x="35049" y="151805"/>
                  <a:pt x="40463" y="151805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48413" y="2557463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3175" y="286226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86838" y="2257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22706" y="16811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98931" y="191928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1" name="Text 19"/>
          <p:cNvSpPr/>
          <p:nvPr/>
        </p:nvSpPr>
        <p:spPr>
          <a:xfrm>
            <a:off x="9353550" y="2557463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58313" y="286226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34337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7121" y="3490913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395663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Text Ingestion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700463"/>
            <a:ext cx="514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 are loaded from the frozen DuckDB warehouse, preserving original structure and metadata for traceability.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43862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1643" y="4443413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4348163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Elimination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652963"/>
            <a:ext cx="514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Removes punctuation, special characters, mixed capitalization, and structural stopwords that don't contribute to semantic meaning.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34337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50198" y="349091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3700" y="3395663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Normalization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43700" y="3700463"/>
            <a:ext cx="514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Converts text to lowercase, applies lemmatization, and standardizes tokens to create a dense, semantically potent vocabulary.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43862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50198" y="444341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43700" y="4348163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Output Generation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43700" y="4652963"/>
            <a:ext cx="514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Produces normalized token sequences ready for mathematical feature extraction (TF-IDF) and unsupervised KMeans algorithms.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1000" y="58245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81000" y="5981700"/>
            <a:ext cx="11506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rigorous custom preprocessing pipeline reduces text dimensionality while isolating core semantic value, ensuring pattern recognition focuses strictly on topical vocabulary and thematic terminologies rather than linguistic noise.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8a703fc43d382b11063b7ac6164930adfc6d6b0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8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239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  <a:lnTo>
                  <a:pt x="762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2"/>
          <p:cNvSpPr/>
          <p:nvPr/>
        </p:nvSpPr>
        <p:spPr>
          <a:xfrm>
            <a:off x="1295400" y="995363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338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490663"/>
            <a:ext cx="40100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938463"/>
            <a:ext cx="372427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310188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557838"/>
            <a:ext cx="3552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Multi-Algorithm Pattern Discovery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Algorithmic Toolkit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62050"/>
            <a:ext cx="5619750" cy="2047875"/>
          </a:xfrm>
          <a:custGeom>
            <a:avLst/>
            <a:gdLst/>
            <a:ahLst/>
            <a:cxnLst/>
            <a:rect l="l" t="t" r="r" b="b"/>
            <a:pathLst>
              <a:path w="5619750" h="2047875">
                <a:moveTo>
                  <a:pt x="0" y="0"/>
                </a:moveTo>
                <a:lnTo>
                  <a:pt x="5619750" y="0"/>
                </a:lnTo>
                <a:lnTo>
                  <a:pt x="5619750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Shape 4"/>
          <p:cNvSpPr/>
          <p:nvPr/>
        </p:nvSpPr>
        <p:spPr>
          <a:xfrm>
            <a:off x="704850" y="150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35255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&amp; Transformers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1925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62150"/>
            <a:ext cx="5314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approach using weighted keyword frequencies and dense embeddings to translate raw text into high-dimensional numerical feature space.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667000"/>
            <a:ext cx="5238750" cy="9525"/>
          </a:xfrm>
          <a:custGeom>
            <a:avLst/>
            <a:gdLst/>
            <a:ahLst/>
            <a:cxnLst/>
            <a:rect l="l" t="t" r="r" b="b"/>
            <a:pathLst>
              <a:path w="5238750" h="9525">
                <a:moveTo>
                  <a:pt x="0" y="0"/>
                </a:moveTo>
                <a:lnTo>
                  <a:pt x="5238750" y="0"/>
                </a:lnTo>
                <a:lnTo>
                  <a:pt x="52387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2786063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Capture both topical keywords and deep semantic context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0" y="1162050"/>
            <a:ext cx="5619750" cy="2047875"/>
          </a:xfrm>
          <a:custGeom>
            <a:avLst/>
            <a:gdLst/>
            <a:ahLst/>
            <a:cxnLst/>
            <a:rect l="l" t="t" r="r" b="b"/>
            <a:pathLst>
              <a:path w="5619750" h="2047875">
                <a:moveTo>
                  <a:pt x="0" y="0"/>
                </a:moveTo>
                <a:lnTo>
                  <a:pt x="5619750" y="0"/>
                </a:lnTo>
                <a:lnTo>
                  <a:pt x="5619750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8175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3194" y="1504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5" name="Text 13"/>
          <p:cNvSpPr/>
          <p:nvPr/>
        </p:nvSpPr>
        <p:spPr>
          <a:xfrm>
            <a:off x="6953250" y="13525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Algorithm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3250" y="161925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Mining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1750" y="1962150"/>
            <a:ext cx="5314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Uncovers latent relationships between entities (e.g., "Economic Reform" and "Policy Shifts") through frequent itemset mining.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1750" y="2667000"/>
            <a:ext cx="5238750" cy="9525"/>
          </a:xfrm>
          <a:custGeom>
            <a:avLst/>
            <a:gdLst/>
            <a:ahLst/>
            <a:cxnLst/>
            <a:rect l="l" t="t" r="r" b="b"/>
            <a:pathLst>
              <a:path w="5238750" h="9525">
                <a:moveTo>
                  <a:pt x="0" y="0"/>
                </a:moveTo>
                <a:lnTo>
                  <a:pt x="5238750" y="0"/>
                </a:lnTo>
                <a:lnTo>
                  <a:pt x="52387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81750" y="2786063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 hidden thematic correlations and entity-level trajectories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3395663"/>
            <a:ext cx="5619750" cy="2276475"/>
          </a:xfrm>
          <a:custGeom>
            <a:avLst/>
            <a:gdLst/>
            <a:ahLst/>
            <a:cxnLst/>
            <a:rect l="l" t="t" r="r" b="b"/>
            <a:pathLst>
              <a:path w="5619750" h="2276475">
                <a:moveTo>
                  <a:pt x="0" y="0"/>
                </a:moveTo>
                <a:lnTo>
                  <a:pt x="5619750" y="0"/>
                </a:lnTo>
                <a:lnTo>
                  <a:pt x="5619750" y="2276475"/>
                </a:lnTo>
                <a:lnTo>
                  <a:pt x="0" y="22764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36052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Shape 20"/>
          <p:cNvSpPr/>
          <p:nvPr/>
        </p:nvSpPr>
        <p:spPr>
          <a:xfrm>
            <a:off x="716756" y="37385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-11906"/>
                </a:moveTo>
                <a:cubicBezTo>
                  <a:pt x="85948" y="-11906"/>
                  <a:pt x="88441" y="-10753"/>
                  <a:pt x="90153" y="-8744"/>
                </a:cubicBezTo>
                <a:lnTo>
                  <a:pt x="140754" y="50788"/>
                </a:lnTo>
                <a:cubicBezTo>
                  <a:pt x="143024" y="53429"/>
                  <a:pt x="143508" y="57150"/>
                  <a:pt x="142056" y="60313"/>
                </a:cubicBezTo>
                <a:cubicBezTo>
                  <a:pt x="140605" y="63475"/>
                  <a:pt x="137443" y="65484"/>
                  <a:pt x="133945" y="65484"/>
                </a:cubicBezTo>
                <a:lnTo>
                  <a:pt x="124681" y="65484"/>
                </a:lnTo>
                <a:lnTo>
                  <a:pt x="152660" y="98413"/>
                </a:lnTo>
                <a:cubicBezTo>
                  <a:pt x="154930" y="101054"/>
                  <a:pt x="155414" y="104775"/>
                  <a:pt x="153963" y="107938"/>
                </a:cubicBezTo>
                <a:cubicBezTo>
                  <a:pt x="152512" y="111100"/>
                  <a:pt x="149349" y="113109"/>
                  <a:pt x="145852" y="113109"/>
                </a:cubicBezTo>
                <a:lnTo>
                  <a:pt x="131527" y="113109"/>
                </a:lnTo>
                <a:lnTo>
                  <a:pt x="164567" y="151991"/>
                </a:lnTo>
                <a:cubicBezTo>
                  <a:pt x="166836" y="154632"/>
                  <a:pt x="167320" y="158353"/>
                  <a:pt x="165869" y="161516"/>
                </a:cubicBezTo>
                <a:cubicBezTo>
                  <a:pt x="164418" y="164678"/>
                  <a:pt x="161255" y="166688"/>
                  <a:pt x="157758" y="166688"/>
                </a:cubicBezTo>
                <a:lnTo>
                  <a:pt x="95250" y="166688"/>
                </a:lnTo>
                <a:lnTo>
                  <a:pt x="95250" y="190500"/>
                </a:lnTo>
                <a:cubicBezTo>
                  <a:pt x="95250" y="197086"/>
                  <a:pt x="89929" y="202406"/>
                  <a:pt x="83344" y="202406"/>
                </a:cubicBezTo>
                <a:cubicBezTo>
                  <a:pt x="76758" y="202406"/>
                  <a:pt x="71438" y="197086"/>
                  <a:pt x="71438" y="190500"/>
                </a:cubicBezTo>
                <a:lnTo>
                  <a:pt x="71438" y="166688"/>
                </a:lnTo>
                <a:lnTo>
                  <a:pt x="8930" y="166688"/>
                </a:lnTo>
                <a:cubicBezTo>
                  <a:pt x="5432" y="166688"/>
                  <a:pt x="2270" y="164678"/>
                  <a:pt x="819" y="161516"/>
                </a:cubicBezTo>
                <a:cubicBezTo>
                  <a:pt x="-633" y="158353"/>
                  <a:pt x="-149" y="154632"/>
                  <a:pt x="2121" y="151991"/>
                </a:cubicBezTo>
                <a:lnTo>
                  <a:pt x="35161" y="113109"/>
                </a:lnTo>
                <a:lnTo>
                  <a:pt x="20836" y="113109"/>
                </a:lnTo>
                <a:cubicBezTo>
                  <a:pt x="17338" y="113109"/>
                  <a:pt x="14176" y="111100"/>
                  <a:pt x="12725" y="107938"/>
                </a:cubicBezTo>
                <a:cubicBezTo>
                  <a:pt x="11274" y="104775"/>
                  <a:pt x="11757" y="101054"/>
                  <a:pt x="14027" y="98413"/>
                </a:cubicBezTo>
                <a:lnTo>
                  <a:pt x="42007" y="65484"/>
                </a:lnTo>
                <a:lnTo>
                  <a:pt x="32742" y="65484"/>
                </a:lnTo>
                <a:cubicBezTo>
                  <a:pt x="29245" y="65484"/>
                  <a:pt x="26082" y="63475"/>
                  <a:pt x="24631" y="60313"/>
                </a:cubicBezTo>
                <a:cubicBezTo>
                  <a:pt x="23180" y="57150"/>
                  <a:pt x="23664" y="53429"/>
                  <a:pt x="25933" y="50788"/>
                </a:cubicBezTo>
                <a:lnTo>
                  <a:pt x="76535" y="-8744"/>
                </a:lnTo>
                <a:cubicBezTo>
                  <a:pt x="78246" y="-10753"/>
                  <a:pt x="80739" y="-11906"/>
                  <a:pt x="83344" y="-1190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358616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3852863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Classification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4195763"/>
            <a:ext cx="5314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Multi-class ensemble learning method used to categorize articles into Politics, Business, and Tech domains with high accuracy.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" y="4900613"/>
            <a:ext cx="5238750" cy="9525"/>
          </a:xfrm>
          <a:custGeom>
            <a:avLst/>
            <a:gdLst/>
            <a:ahLst/>
            <a:cxnLst/>
            <a:rect l="l" t="t" r="r" b="b"/>
            <a:pathLst>
              <a:path w="5238750" h="9525">
                <a:moveTo>
                  <a:pt x="0" y="0"/>
                </a:moveTo>
                <a:lnTo>
                  <a:pt x="5238750" y="0"/>
                </a:lnTo>
                <a:lnTo>
                  <a:pt x="52387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" y="5019675"/>
            <a:ext cx="531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 instant "temperature check" by classifying news by sentiment and domain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0" y="3395663"/>
            <a:ext cx="5619750" cy="2276475"/>
          </a:xfrm>
          <a:custGeom>
            <a:avLst/>
            <a:gdLst/>
            <a:ahLst/>
            <a:cxnLst/>
            <a:rect l="l" t="t" r="r" b="b"/>
            <a:pathLst>
              <a:path w="5619750" h="2276475">
                <a:moveTo>
                  <a:pt x="0" y="0"/>
                </a:moveTo>
                <a:lnTo>
                  <a:pt x="5619750" y="0"/>
                </a:lnTo>
                <a:lnTo>
                  <a:pt x="5619750" y="2276475"/>
                </a:lnTo>
                <a:lnTo>
                  <a:pt x="0" y="22764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81750" y="36052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0" name="Shape 28"/>
          <p:cNvSpPr/>
          <p:nvPr/>
        </p:nvSpPr>
        <p:spPr>
          <a:xfrm>
            <a:off x="6503194" y="37385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44425"/>
                </a:moveTo>
                <a:cubicBezTo>
                  <a:pt x="4800" y="40332"/>
                  <a:pt x="0" y="32631"/>
                  <a:pt x="0" y="23812"/>
                </a:cubicBezTo>
                <a:cubicBezTo>
                  <a:pt x="0" y="10678"/>
                  <a:pt x="10678" y="0"/>
                  <a:pt x="23812" y="0"/>
                </a:cubicBezTo>
                <a:cubicBezTo>
                  <a:pt x="32631" y="0"/>
                  <a:pt x="40332" y="4800"/>
                  <a:pt x="44425" y="11906"/>
                </a:cubicBezTo>
                <a:lnTo>
                  <a:pt x="169850" y="11906"/>
                </a:lnTo>
                <a:cubicBezTo>
                  <a:pt x="173980" y="4800"/>
                  <a:pt x="181645" y="0"/>
                  <a:pt x="190463" y="0"/>
                </a:cubicBezTo>
                <a:cubicBezTo>
                  <a:pt x="203597" y="0"/>
                  <a:pt x="214275" y="10678"/>
                  <a:pt x="214275" y="23812"/>
                </a:cubicBezTo>
                <a:cubicBezTo>
                  <a:pt x="214275" y="32631"/>
                  <a:pt x="209476" y="40332"/>
                  <a:pt x="202369" y="44425"/>
                </a:cubicBezTo>
                <a:lnTo>
                  <a:pt x="202369" y="146038"/>
                </a:lnTo>
                <a:cubicBezTo>
                  <a:pt x="209476" y="150168"/>
                  <a:pt x="214275" y="157832"/>
                  <a:pt x="214275" y="166650"/>
                </a:cubicBezTo>
                <a:cubicBezTo>
                  <a:pt x="214275" y="179784"/>
                  <a:pt x="203597" y="190463"/>
                  <a:pt x="190463" y="190463"/>
                </a:cubicBezTo>
                <a:cubicBezTo>
                  <a:pt x="181645" y="190463"/>
                  <a:pt x="173943" y="185663"/>
                  <a:pt x="169850" y="178557"/>
                </a:cubicBezTo>
                <a:lnTo>
                  <a:pt x="44425" y="178557"/>
                </a:lnTo>
                <a:cubicBezTo>
                  <a:pt x="40295" y="185663"/>
                  <a:pt x="32631" y="190463"/>
                  <a:pt x="23812" y="190463"/>
                </a:cubicBezTo>
                <a:cubicBezTo>
                  <a:pt x="10678" y="190463"/>
                  <a:pt x="0" y="179784"/>
                  <a:pt x="0" y="166650"/>
                </a:cubicBezTo>
                <a:cubicBezTo>
                  <a:pt x="0" y="157832"/>
                  <a:pt x="4800" y="150130"/>
                  <a:pt x="11906" y="146038"/>
                </a:cubicBezTo>
                <a:lnTo>
                  <a:pt x="11906" y="44425"/>
                </a:lnTo>
                <a:close/>
                <a:moveTo>
                  <a:pt x="178594" y="44425"/>
                </a:moveTo>
                <a:cubicBezTo>
                  <a:pt x="174985" y="42342"/>
                  <a:pt x="171971" y="39328"/>
                  <a:pt x="169887" y="35719"/>
                </a:cubicBezTo>
                <a:lnTo>
                  <a:pt x="44425" y="35719"/>
                </a:lnTo>
                <a:cubicBezTo>
                  <a:pt x="42342" y="39328"/>
                  <a:pt x="39328" y="42342"/>
                  <a:pt x="35719" y="44425"/>
                </a:cubicBezTo>
                <a:lnTo>
                  <a:pt x="35719" y="146038"/>
                </a:lnTo>
                <a:cubicBezTo>
                  <a:pt x="39328" y="148121"/>
                  <a:pt x="42342" y="151135"/>
                  <a:pt x="44425" y="154744"/>
                </a:cubicBezTo>
                <a:lnTo>
                  <a:pt x="169850" y="154744"/>
                </a:lnTo>
                <a:cubicBezTo>
                  <a:pt x="171934" y="151135"/>
                  <a:pt x="174947" y="148121"/>
                  <a:pt x="178557" y="146038"/>
                </a:cubicBezTo>
                <a:lnTo>
                  <a:pt x="178557" y="44425"/>
                </a:lnTo>
                <a:close/>
                <a:moveTo>
                  <a:pt x="53578" y="65484"/>
                </a:moveTo>
                <a:cubicBezTo>
                  <a:pt x="53578" y="58899"/>
                  <a:pt x="58899" y="53578"/>
                  <a:pt x="65484" y="53578"/>
                </a:cubicBezTo>
                <a:lnTo>
                  <a:pt x="107156" y="53578"/>
                </a:lnTo>
                <a:cubicBezTo>
                  <a:pt x="113742" y="53578"/>
                  <a:pt x="119063" y="58899"/>
                  <a:pt x="119063" y="65484"/>
                </a:cubicBezTo>
                <a:lnTo>
                  <a:pt x="119063" y="89297"/>
                </a:lnTo>
                <a:cubicBezTo>
                  <a:pt x="119063" y="95883"/>
                  <a:pt x="113742" y="101203"/>
                  <a:pt x="107156" y="101203"/>
                </a:cubicBezTo>
                <a:lnTo>
                  <a:pt x="65484" y="101203"/>
                </a:lnTo>
                <a:cubicBezTo>
                  <a:pt x="58899" y="101203"/>
                  <a:pt x="53578" y="95883"/>
                  <a:pt x="53578" y="89297"/>
                </a:cubicBezTo>
                <a:lnTo>
                  <a:pt x="53578" y="65484"/>
                </a:lnTo>
                <a:close/>
                <a:moveTo>
                  <a:pt x="95250" y="119063"/>
                </a:moveTo>
                <a:lnTo>
                  <a:pt x="107156" y="119063"/>
                </a:lnTo>
                <a:cubicBezTo>
                  <a:pt x="123602" y="119063"/>
                  <a:pt x="136922" y="105742"/>
                  <a:pt x="136922" y="89297"/>
                </a:cubicBezTo>
                <a:lnTo>
                  <a:pt x="148828" y="89297"/>
                </a:lnTo>
                <a:cubicBezTo>
                  <a:pt x="155414" y="89297"/>
                  <a:pt x="160734" y="94617"/>
                  <a:pt x="160734" y="101203"/>
                </a:cubicBezTo>
                <a:lnTo>
                  <a:pt x="160734" y="125016"/>
                </a:lnTo>
                <a:cubicBezTo>
                  <a:pt x="160734" y="131601"/>
                  <a:pt x="155414" y="136922"/>
                  <a:pt x="148828" y="136922"/>
                </a:cubicBezTo>
                <a:lnTo>
                  <a:pt x="107156" y="136922"/>
                </a:lnTo>
                <a:cubicBezTo>
                  <a:pt x="100571" y="136922"/>
                  <a:pt x="95250" y="131601"/>
                  <a:pt x="95250" y="125016"/>
                </a:cubicBezTo>
                <a:lnTo>
                  <a:pt x="95250" y="119063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31" name="Text 29"/>
          <p:cNvSpPr/>
          <p:nvPr/>
        </p:nvSpPr>
        <p:spPr>
          <a:xfrm>
            <a:off x="6953250" y="3586163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DBSCAN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53250" y="3852863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Density-Based Clustering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1750" y="4195763"/>
            <a:ext cx="53149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 algorithm executed on text vectors to spatially separate rapidly developing stories from ephemeral background noise.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1750" y="5129213"/>
            <a:ext cx="5238750" cy="9525"/>
          </a:xfrm>
          <a:custGeom>
            <a:avLst/>
            <a:gdLst/>
            <a:ahLst/>
            <a:cxnLst/>
            <a:rect l="l" t="t" r="r" b="b"/>
            <a:pathLst>
              <a:path w="5238750" h="9525">
                <a:moveTo>
                  <a:pt x="0" y="0"/>
                </a:moveTo>
                <a:lnTo>
                  <a:pt x="5238750" y="0"/>
                </a:lnTo>
                <a:lnTo>
                  <a:pt x="52387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81750" y="5248275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Spatially separate developing stories from background noise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" y="58245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81000" y="5981700"/>
            <a:ext cx="11506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Approach: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four techniques work synergistically to capture different facets of news text—from surface-level keywords to deep semantic relationships, from supervised classification to unsupervised pattern discovery.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807cd4b970fe1681c07c46509043e5a8cb88afd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8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9736485" y="135255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spc="338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049000" y="1481138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  <a:lnTo>
                  <a:pt x="762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3"/>
          <p:cNvSpPr/>
          <p:nvPr/>
        </p:nvSpPr>
        <p:spPr>
          <a:xfrm>
            <a:off x="7952780" y="1847850"/>
            <a:ext cx="3857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9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38530" y="3295650"/>
            <a:ext cx="35718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&amp;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91800" y="4953000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6"/>
          <p:cNvSpPr/>
          <p:nvPr/>
        </p:nvSpPr>
        <p:spPr>
          <a:xfrm>
            <a:off x="8409980" y="5200650"/>
            <a:ext cx="3400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Democratizing Data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Analytics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895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14350" y="2028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895475"/>
            <a:ext cx="577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Keyword Frequency Charts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2238375"/>
            <a:ext cx="5753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 charts and word clouds displaying the most prevalent topics across the corpus, enabling quick identification of trending themes.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" y="2809875"/>
            <a:ext cx="838200" cy="266700"/>
          </a:xfrm>
          <a:custGeom>
            <a:avLst/>
            <a:gdLst/>
            <a:ahLst/>
            <a:cxnLst/>
            <a:rect l="l" t="t" r="r" b="b"/>
            <a:pathLst>
              <a:path w="838200" h="266700">
                <a:moveTo>
                  <a:pt x="0" y="0"/>
                </a:moveTo>
                <a:lnTo>
                  <a:pt x="838200" y="0"/>
                </a:lnTo>
                <a:lnTo>
                  <a:pt x="8382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2809875"/>
            <a:ext cx="904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 Charts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09465" y="2809875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0" y="0"/>
                </a:moveTo>
                <a:lnTo>
                  <a:pt x="1000125" y="0"/>
                </a:lnTo>
                <a:lnTo>
                  <a:pt x="10001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909465" y="2809875"/>
            <a:ext cx="1066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 Clouds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228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2444" y="33623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3228975"/>
            <a:ext cx="577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Distribution Charts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3571875"/>
            <a:ext cx="5753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Pie charts depicting the proportional spread of articles across various news categories (World, Sports, Business, Technology).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600" y="4143375"/>
            <a:ext cx="828675" cy="266700"/>
          </a:xfrm>
          <a:custGeom>
            <a:avLst/>
            <a:gdLst/>
            <a:ahLst/>
            <a:cxnLst/>
            <a:rect l="l" t="t" r="r" b="b"/>
            <a:pathLst>
              <a:path w="828675" h="266700">
                <a:moveTo>
                  <a:pt x="0" y="0"/>
                </a:moveTo>
                <a:lnTo>
                  <a:pt x="828675" y="0"/>
                </a:lnTo>
                <a:lnTo>
                  <a:pt x="8286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4143375"/>
            <a:ext cx="895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Pie Charts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96814" y="4143375"/>
            <a:ext cx="1466850" cy="266700"/>
          </a:xfrm>
          <a:custGeom>
            <a:avLst/>
            <a:gdLst/>
            <a:ahLst/>
            <a:cxnLst/>
            <a:rect l="l" t="t" r="r" b="b"/>
            <a:pathLst>
              <a:path w="1466850" h="266700">
                <a:moveTo>
                  <a:pt x="0" y="0"/>
                </a:moveTo>
                <a:lnTo>
                  <a:pt x="1466850" y="0"/>
                </a:lnTo>
                <a:lnTo>
                  <a:pt x="14668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896814" y="4143375"/>
            <a:ext cx="1533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Proportional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4562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" y="4695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4562475"/>
            <a:ext cx="577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Trend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4905375"/>
            <a:ext cx="5753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line graphs tracking the volume of articles over time, revealing publication patterns and trend evolution.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90600" y="5476875"/>
            <a:ext cx="923925" cy="266700"/>
          </a:xfrm>
          <a:custGeom>
            <a:avLst/>
            <a:gdLst/>
            <a:ahLst/>
            <a:cxnLst/>
            <a:rect l="l" t="t" r="r" b="b"/>
            <a:pathLst>
              <a:path w="923925" h="266700">
                <a:moveTo>
                  <a:pt x="0" y="0"/>
                </a:moveTo>
                <a:lnTo>
                  <a:pt x="923925" y="0"/>
                </a:lnTo>
                <a:lnTo>
                  <a:pt x="9239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5476875"/>
            <a:ext cx="990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 Graphs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994446" y="5476875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0" y="0"/>
                </a:moveTo>
                <a:lnTo>
                  <a:pt x="942975" y="0"/>
                </a:lnTo>
                <a:lnTo>
                  <a:pt x="9429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994446" y="5476875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7230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10565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44648"/>
                </a:lnTo>
                <a:cubicBezTo>
                  <a:pt x="0" y="39700"/>
                  <a:pt x="3981" y="35719"/>
                  <a:pt x="8930" y="35719"/>
                </a:cubicBezTo>
                <a:cubicBezTo>
                  <a:pt x="13878" y="35719"/>
                  <a:pt x="17859" y="39700"/>
                  <a:pt x="17859" y="44648"/>
                </a:cubicBezTo>
                <a:lnTo>
                  <a:pt x="17859" y="151805"/>
                </a:lnTo>
                <a:cubicBezTo>
                  <a:pt x="17859" y="156753"/>
                  <a:pt x="21841" y="160734"/>
                  <a:pt x="26789" y="160734"/>
                </a:cubicBezTo>
                <a:cubicBezTo>
                  <a:pt x="31738" y="160734"/>
                  <a:pt x="35719" y="156753"/>
                  <a:pt x="35719" y="151805"/>
                </a:cubicBezTo>
                <a:lnTo>
                  <a:pt x="35719" y="35719"/>
                </a:lnTo>
                <a:cubicBezTo>
                  <a:pt x="35719" y="22585"/>
                  <a:pt x="46397" y="11906"/>
                  <a:pt x="59531" y="11906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59531" y="47625"/>
                </a:moveTo>
                <a:lnTo>
                  <a:pt x="59531" y="71438"/>
                </a:lnTo>
                <a:cubicBezTo>
                  <a:pt x="59531" y="78023"/>
                  <a:pt x="64852" y="83344"/>
                  <a:pt x="71438" y="83344"/>
                </a:cubicBezTo>
                <a:lnTo>
                  <a:pt x="95250" y="83344"/>
                </a:lnTo>
                <a:cubicBezTo>
                  <a:pt x="101836" y="83344"/>
                  <a:pt x="107156" y="78023"/>
                  <a:pt x="107156" y="71438"/>
                </a:cubicBezTo>
                <a:lnTo>
                  <a:pt x="107156" y="47625"/>
                </a:lnTo>
                <a:cubicBezTo>
                  <a:pt x="107156" y="41039"/>
                  <a:pt x="101836" y="35719"/>
                  <a:pt x="95250" y="35719"/>
                </a:cubicBezTo>
                <a:lnTo>
                  <a:pt x="71438" y="35719"/>
                </a:lnTo>
                <a:cubicBezTo>
                  <a:pt x="64852" y="35719"/>
                  <a:pt x="59531" y="41039"/>
                  <a:pt x="59531" y="47625"/>
                </a:cubicBezTo>
                <a:close/>
                <a:moveTo>
                  <a:pt x="68461" y="136922"/>
                </a:moveTo>
                <a:cubicBezTo>
                  <a:pt x="63512" y="136922"/>
                  <a:pt x="59531" y="140903"/>
                  <a:pt x="59531" y="145852"/>
                </a:cubicBezTo>
                <a:cubicBezTo>
                  <a:pt x="59531" y="150800"/>
                  <a:pt x="63512" y="154781"/>
                  <a:pt x="68461" y="154781"/>
                </a:cubicBezTo>
                <a:lnTo>
                  <a:pt x="157758" y="154781"/>
                </a:lnTo>
                <a:cubicBezTo>
                  <a:pt x="162706" y="154781"/>
                  <a:pt x="166688" y="150800"/>
                  <a:pt x="166688" y="145852"/>
                </a:cubicBezTo>
                <a:cubicBezTo>
                  <a:pt x="166688" y="140903"/>
                  <a:pt x="162706" y="136922"/>
                  <a:pt x="157758" y="136922"/>
                </a:cubicBezTo>
                <a:lnTo>
                  <a:pt x="68461" y="136922"/>
                </a:lnTo>
                <a:close/>
                <a:moveTo>
                  <a:pt x="59531" y="110133"/>
                </a:moveTo>
                <a:cubicBezTo>
                  <a:pt x="59531" y="115081"/>
                  <a:pt x="63512" y="119063"/>
                  <a:pt x="68461" y="119063"/>
                </a:cubicBezTo>
                <a:lnTo>
                  <a:pt x="157758" y="119063"/>
                </a:lnTo>
                <a:cubicBezTo>
                  <a:pt x="162706" y="119063"/>
                  <a:pt x="166688" y="115081"/>
                  <a:pt x="166688" y="110133"/>
                </a:cubicBezTo>
                <a:cubicBezTo>
                  <a:pt x="166688" y="105184"/>
                  <a:pt x="162706" y="101203"/>
                  <a:pt x="157758" y="101203"/>
                </a:cubicBezTo>
                <a:lnTo>
                  <a:pt x="68461" y="101203"/>
                </a:lnTo>
                <a:cubicBezTo>
                  <a:pt x="63512" y="101203"/>
                  <a:pt x="59531" y="105184"/>
                  <a:pt x="59531" y="110133"/>
                </a:cubicBezTo>
                <a:close/>
                <a:moveTo>
                  <a:pt x="133945" y="65484"/>
                </a:moveTo>
                <a:cubicBezTo>
                  <a:pt x="128997" y="65484"/>
                  <a:pt x="125016" y="69466"/>
                  <a:pt x="125016" y="74414"/>
                </a:cubicBezTo>
                <a:cubicBezTo>
                  <a:pt x="125016" y="79363"/>
                  <a:pt x="128997" y="83344"/>
                  <a:pt x="133945" y="83344"/>
                </a:cubicBezTo>
                <a:lnTo>
                  <a:pt x="157758" y="83344"/>
                </a:lnTo>
                <a:cubicBezTo>
                  <a:pt x="162706" y="83344"/>
                  <a:pt x="166688" y="79363"/>
                  <a:pt x="166688" y="74414"/>
                </a:cubicBezTo>
                <a:cubicBezTo>
                  <a:pt x="166688" y="69466"/>
                  <a:pt x="162706" y="65484"/>
                  <a:pt x="157758" y="65484"/>
                </a:cubicBezTo>
                <a:lnTo>
                  <a:pt x="133945" y="65484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0" name="Text 28"/>
          <p:cNvSpPr/>
          <p:nvPr/>
        </p:nvSpPr>
        <p:spPr>
          <a:xfrm>
            <a:off x="7581900" y="165735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Source-wise Distribution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81900" y="2000250"/>
            <a:ext cx="430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analytics illustrating the volume of different publishers within the corpus (Reuters vs AP vs Unknown).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81900" y="2571750"/>
            <a:ext cx="981075" cy="266700"/>
          </a:xfrm>
          <a:custGeom>
            <a:avLst/>
            <a:gdLst/>
            <a:ahLst/>
            <a:cxnLst/>
            <a:rect l="l" t="t" r="r" b="b"/>
            <a:pathLst>
              <a:path w="981075" h="266700">
                <a:moveTo>
                  <a:pt x="0" y="0"/>
                </a:moveTo>
                <a:lnTo>
                  <a:pt x="981075" y="0"/>
                </a:lnTo>
                <a:lnTo>
                  <a:pt x="9810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581900" y="2571750"/>
            <a:ext cx="1047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41854" y="2571750"/>
            <a:ext cx="1295400" cy="266700"/>
          </a:xfrm>
          <a:custGeom>
            <a:avLst/>
            <a:gdLst/>
            <a:ahLst/>
            <a:cxnLst/>
            <a:rect l="l" t="t" r="r" b="b"/>
            <a:pathLst>
              <a:path w="1295400" h="266700">
                <a:moveTo>
                  <a:pt x="0" y="0"/>
                </a:moveTo>
                <a:lnTo>
                  <a:pt x="1295400" y="0"/>
                </a:lnTo>
                <a:lnTo>
                  <a:pt x="12954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641854" y="2571750"/>
            <a:ext cx="1362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Publisher Analysis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72300" y="2990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868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081838" y="3124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8" name="Text 36"/>
          <p:cNvSpPr/>
          <p:nvPr/>
        </p:nvSpPr>
        <p:spPr>
          <a:xfrm>
            <a:off x="7581900" y="2990850"/>
            <a:ext cx="432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Algorithmic Demonstrations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81900" y="3333750"/>
            <a:ext cx="430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UI triggers to run KMeans and Naive Bayes on the frozen dataset, providing hands-on exploration of ML capabilities.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81900" y="3905250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0" y="0"/>
                </a:moveTo>
                <a:lnTo>
                  <a:pt x="857250" y="0"/>
                </a:lnTo>
                <a:lnTo>
                  <a:pt x="8572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581900" y="3905250"/>
            <a:ext cx="923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11480" y="3905250"/>
            <a:ext cx="1085850" cy="266700"/>
          </a:xfrm>
          <a:custGeom>
            <a:avLst/>
            <a:gdLst/>
            <a:ahLst/>
            <a:cxnLst/>
            <a:rect l="l" t="t" r="r" b="b"/>
            <a:pathLst>
              <a:path w="1085850" h="266700">
                <a:moveTo>
                  <a:pt x="0" y="0"/>
                </a:moveTo>
                <a:lnTo>
                  <a:pt x="1085850" y="0"/>
                </a:lnTo>
                <a:lnTo>
                  <a:pt x="10858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511480" y="3905250"/>
            <a:ext cx="1152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Execution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72300" y="4476750"/>
            <a:ext cx="4838700" cy="1504950"/>
          </a:xfrm>
          <a:custGeom>
            <a:avLst/>
            <a:gdLst/>
            <a:ahLst/>
            <a:cxnLst/>
            <a:rect l="l" t="t" r="r" b="b"/>
            <a:pathLst>
              <a:path w="4838700" h="1504950">
                <a:moveTo>
                  <a:pt x="0" y="0"/>
                </a:moveTo>
                <a:lnTo>
                  <a:pt x="4838700" y="0"/>
                </a:lnTo>
                <a:lnTo>
                  <a:pt x="48387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162800" y="4667250"/>
            <a:ext cx="454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Philosophy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62800" y="5048250"/>
            <a:ext cx="4533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democratize access to insights generated by the underlying data mining engine, making complex patterns accessible to non-technical stakeholders through intuitive visualizations.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433513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Distribution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852612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dataset demonstrates perfect balance with exactly 30,000 articles in each of the four primary news categories, ensuring unbiased training and evaluation.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2747963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0" y="0"/>
                </a:moveTo>
                <a:lnTo>
                  <a:pt x="2514600" y="0"/>
                </a:lnTo>
                <a:lnTo>
                  <a:pt x="2514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09563" y="2900363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" y="3281363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09900" y="2747963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0" y="0"/>
                </a:moveTo>
                <a:lnTo>
                  <a:pt x="2514600" y="0"/>
                </a:lnTo>
                <a:lnTo>
                  <a:pt x="2514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938463" y="2900363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281363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776662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0" y="0"/>
                </a:moveTo>
                <a:lnTo>
                  <a:pt x="2514600" y="0"/>
                </a:lnTo>
                <a:lnTo>
                  <a:pt x="2514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09563" y="3929063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" y="4310063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09900" y="3776662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0" y="0"/>
                </a:moveTo>
                <a:lnTo>
                  <a:pt x="2514600" y="0"/>
                </a:lnTo>
                <a:lnTo>
                  <a:pt x="2514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938463" y="3929063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71800" y="4310063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843463"/>
            <a:ext cx="5143500" cy="552450"/>
          </a:xfrm>
          <a:custGeom>
            <a:avLst/>
            <a:gdLst/>
            <a:ahLst/>
            <a:cxnLst/>
            <a:rect l="l" t="t" r="r" b="b"/>
            <a:pathLst>
              <a:path w="5143500" h="552450">
                <a:moveTo>
                  <a:pt x="0" y="0"/>
                </a:moveTo>
                <a:lnTo>
                  <a:pt x="5143500" y="0"/>
                </a:lnTo>
                <a:lnTo>
                  <a:pt x="514350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3400" y="4995863"/>
            <a:ext cx="491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Type: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Packed bubble chart illustrating balanced distribution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29300" y="1809750"/>
            <a:ext cx="607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&amp; Source Analysis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65019" y="2266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Text 20"/>
          <p:cNvSpPr/>
          <p:nvPr/>
        </p:nvSpPr>
        <p:spPr>
          <a:xfrm>
            <a:off x="6181725" y="222885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 Published Over Time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29300" y="2571750"/>
            <a:ext cx="6057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patterns reveal publication frequency trends across the dataset's chronological range (2018-2024), showing seasonal variations and event-driven spikes.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29300" y="3143250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0" y="0"/>
                </a:moveTo>
                <a:lnTo>
                  <a:pt x="895350" y="0"/>
                </a:lnTo>
                <a:lnTo>
                  <a:pt x="8953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29300" y="3143250"/>
            <a:ext cx="9620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2018-2024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03678" y="3143250"/>
            <a:ext cx="1095375" cy="266700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0" y="0"/>
                </a:moveTo>
                <a:lnTo>
                  <a:pt x="1095375" y="0"/>
                </a:lnTo>
                <a:lnTo>
                  <a:pt x="10953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03678" y="3143250"/>
            <a:ext cx="1162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29300" y="3567113"/>
            <a:ext cx="5981700" cy="9525"/>
          </a:xfrm>
          <a:custGeom>
            <a:avLst/>
            <a:gdLst/>
            <a:ahLst/>
            <a:cxnLst/>
            <a:rect l="l" t="t" r="r" b="b"/>
            <a:pathLst>
              <a:path w="5981700" h="9525">
                <a:moveTo>
                  <a:pt x="0" y="0"/>
                </a:moveTo>
                <a:lnTo>
                  <a:pt x="5981700" y="0"/>
                </a:lnTo>
                <a:lnTo>
                  <a:pt x="5981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76925" y="37623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0" name="Text 28"/>
          <p:cNvSpPr/>
          <p:nvPr/>
        </p:nvSpPr>
        <p:spPr>
          <a:xfrm>
            <a:off x="6181725" y="372427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Activity Metrics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29300" y="4067175"/>
            <a:ext cx="6057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analysis of publisher volume showing distribution between major news agencies (Reuters, AP) and unknown sources.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29300" y="4676775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Reuters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22803" y="4676775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29300" y="4943475"/>
            <a:ext cx="1895475" cy="76200"/>
          </a:xfrm>
          <a:custGeom>
            <a:avLst/>
            <a:gdLst/>
            <a:ahLst/>
            <a:cxnLst/>
            <a:rect l="l" t="t" r="r" b="b"/>
            <a:pathLst>
              <a:path w="1895475" h="76200">
                <a:moveTo>
                  <a:pt x="38100" y="0"/>
                </a:moveTo>
                <a:lnTo>
                  <a:pt x="1857375" y="0"/>
                </a:lnTo>
                <a:cubicBezTo>
                  <a:pt x="1878403" y="0"/>
                  <a:pt x="1895475" y="17072"/>
                  <a:pt x="1895475" y="38100"/>
                </a:cubicBezTo>
                <a:lnTo>
                  <a:pt x="1895475" y="38100"/>
                </a:lnTo>
                <a:cubicBezTo>
                  <a:pt x="1895475" y="59128"/>
                  <a:pt x="1878403" y="76200"/>
                  <a:pt x="1857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29300" y="4943475"/>
            <a:ext cx="666750" cy="76200"/>
          </a:xfrm>
          <a:custGeom>
            <a:avLst/>
            <a:gdLst/>
            <a:ahLst/>
            <a:cxnLst/>
            <a:rect l="l" t="t" r="r" b="b"/>
            <a:pathLst>
              <a:path w="666750" h="76200">
                <a:moveTo>
                  <a:pt x="38100" y="0"/>
                </a:moveTo>
                <a:lnTo>
                  <a:pt x="628650" y="0"/>
                </a:lnTo>
                <a:cubicBezTo>
                  <a:pt x="649678" y="0"/>
                  <a:pt x="666750" y="17072"/>
                  <a:pt x="666750" y="38100"/>
                </a:cubicBezTo>
                <a:lnTo>
                  <a:pt x="666750" y="38100"/>
                </a:lnTo>
                <a:cubicBezTo>
                  <a:pt x="666750" y="59128"/>
                  <a:pt x="649678" y="76200"/>
                  <a:pt x="6286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6" name="Text 34"/>
          <p:cNvSpPr/>
          <p:nvPr/>
        </p:nvSpPr>
        <p:spPr>
          <a:xfrm>
            <a:off x="7873901" y="4676775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63236" y="467677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873901" y="4943475"/>
            <a:ext cx="1895475" cy="76200"/>
          </a:xfrm>
          <a:custGeom>
            <a:avLst/>
            <a:gdLst/>
            <a:ahLst/>
            <a:cxnLst/>
            <a:rect l="l" t="t" r="r" b="b"/>
            <a:pathLst>
              <a:path w="1895475" h="76200">
                <a:moveTo>
                  <a:pt x="38100" y="0"/>
                </a:moveTo>
                <a:lnTo>
                  <a:pt x="1857375" y="0"/>
                </a:lnTo>
                <a:cubicBezTo>
                  <a:pt x="1878403" y="0"/>
                  <a:pt x="1895475" y="17072"/>
                  <a:pt x="1895475" y="38100"/>
                </a:cubicBezTo>
                <a:lnTo>
                  <a:pt x="1895475" y="38100"/>
                </a:lnTo>
                <a:cubicBezTo>
                  <a:pt x="1895475" y="59128"/>
                  <a:pt x="1878403" y="76200"/>
                  <a:pt x="1857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73901" y="4943475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38100" y="0"/>
                </a:moveTo>
                <a:lnTo>
                  <a:pt x="495300" y="0"/>
                </a:lnTo>
                <a:cubicBezTo>
                  <a:pt x="516328" y="0"/>
                  <a:pt x="533400" y="17072"/>
                  <a:pt x="533400" y="38100"/>
                </a:cubicBezTo>
                <a:lnTo>
                  <a:pt x="533400" y="38100"/>
                </a:lnTo>
                <a:cubicBezTo>
                  <a:pt x="533400" y="59128"/>
                  <a:pt x="516328" y="76200"/>
                  <a:pt x="495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0" name="Text 38"/>
          <p:cNvSpPr/>
          <p:nvPr/>
        </p:nvSpPr>
        <p:spPr>
          <a:xfrm>
            <a:off x="9918650" y="4676775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Unknown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522125" y="4676775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918650" y="4943475"/>
            <a:ext cx="1895475" cy="76200"/>
          </a:xfrm>
          <a:custGeom>
            <a:avLst/>
            <a:gdLst/>
            <a:ahLst/>
            <a:cxnLst/>
            <a:rect l="l" t="t" r="r" b="b"/>
            <a:pathLst>
              <a:path w="1895475" h="76200">
                <a:moveTo>
                  <a:pt x="38100" y="0"/>
                </a:moveTo>
                <a:lnTo>
                  <a:pt x="1857375" y="0"/>
                </a:lnTo>
                <a:cubicBezTo>
                  <a:pt x="1878403" y="0"/>
                  <a:pt x="1895475" y="17072"/>
                  <a:pt x="1895475" y="38100"/>
                </a:cubicBezTo>
                <a:lnTo>
                  <a:pt x="1895475" y="38100"/>
                </a:lnTo>
                <a:cubicBezTo>
                  <a:pt x="1895475" y="59128"/>
                  <a:pt x="1878403" y="76200"/>
                  <a:pt x="1857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918650" y="4943475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38100" y="0"/>
                </a:moveTo>
                <a:lnTo>
                  <a:pt x="666750" y="0"/>
                </a:lnTo>
                <a:cubicBezTo>
                  <a:pt x="687778" y="0"/>
                  <a:pt x="704850" y="17072"/>
                  <a:pt x="704850" y="38100"/>
                </a:cubicBezTo>
                <a:lnTo>
                  <a:pt x="704850" y="38100"/>
                </a:lnTo>
                <a:cubicBezTo>
                  <a:pt x="704850" y="59128"/>
                  <a:pt x="687778" y="76200"/>
                  <a:pt x="6667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4" name="Shape 42"/>
          <p:cNvSpPr/>
          <p:nvPr/>
        </p:nvSpPr>
        <p:spPr>
          <a:xfrm>
            <a:off x="381000" y="58245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81000" y="5981700"/>
            <a:ext cx="11506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 Value: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Tableau visualizations provide critical understanding of dataset structure, guiding dashboard design and supporting identification of meaningful patterns within the news corpus.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hotowall.com/8aa056d62548a04ec24960ae1cd2832b3f6b34ed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31250" b="312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8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81138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  <a:lnTo>
                  <a:pt x="762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2"/>
          <p:cNvSpPr/>
          <p:nvPr/>
        </p:nvSpPr>
        <p:spPr>
          <a:xfrm>
            <a:off x="1295400" y="135255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338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47850"/>
            <a:ext cx="27336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295650"/>
            <a:ext cx="24479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953000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20065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Roadmap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304" y="331304"/>
            <a:ext cx="530087" cy="16565"/>
          </a:xfrm>
          <a:custGeom>
            <a:avLst/>
            <a:gdLst/>
            <a:ahLst/>
            <a:cxnLst/>
            <a:rect l="l" t="t" r="r" b="b"/>
            <a:pathLst>
              <a:path w="530087" h="16565">
                <a:moveTo>
                  <a:pt x="0" y="0"/>
                </a:moveTo>
                <a:lnTo>
                  <a:pt x="530087" y="0"/>
                </a:lnTo>
                <a:lnTo>
                  <a:pt x="530087" y="16565"/>
                </a:lnTo>
                <a:lnTo>
                  <a:pt x="0" y="1656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31304" y="480391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Five-Phase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304" y="1060174"/>
            <a:ext cx="463826" cy="463826"/>
          </a:xfrm>
          <a:custGeom>
            <a:avLst/>
            <a:gdLst/>
            <a:ahLst/>
            <a:cxnLst/>
            <a:rect l="l" t="t" r="r" b="b"/>
            <a:pathLst>
              <a:path w="463826" h="463826">
                <a:moveTo>
                  <a:pt x="231913" y="0"/>
                </a:moveTo>
                <a:lnTo>
                  <a:pt x="231913" y="0"/>
                </a:lnTo>
                <a:cubicBezTo>
                  <a:pt x="359909" y="0"/>
                  <a:pt x="463826" y="103917"/>
                  <a:pt x="463826" y="231913"/>
                </a:cubicBezTo>
                <a:lnTo>
                  <a:pt x="463826" y="231913"/>
                </a:lnTo>
                <a:cubicBezTo>
                  <a:pt x="463826" y="359909"/>
                  <a:pt x="359909" y="463826"/>
                  <a:pt x="231913" y="463826"/>
                </a:cubicBezTo>
                <a:lnTo>
                  <a:pt x="231913" y="463826"/>
                </a:lnTo>
                <a:cubicBezTo>
                  <a:pt x="103917" y="463826"/>
                  <a:pt x="0" y="359909"/>
                  <a:pt x="0" y="231913"/>
                </a:cubicBezTo>
                <a:lnTo>
                  <a:pt x="0" y="231913"/>
                </a:lnTo>
                <a:cubicBezTo>
                  <a:pt x="0" y="103917"/>
                  <a:pt x="103917" y="0"/>
                  <a:pt x="231913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3"/>
          <p:cNvSpPr/>
          <p:nvPr/>
        </p:nvSpPr>
        <p:spPr>
          <a:xfrm>
            <a:off x="289891" y="1060174"/>
            <a:ext cx="546652" cy="46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4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27652" y="2190750"/>
            <a:ext cx="5748130" cy="8283"/>
          </a:xfrm>
          <a:custGeom>
            <a:avLst/>
            <a:gdLst/>
            <a:ahLst/>
            <a:cxnLst/>
            <a:rect l="l" t="t" r="r" b="b"/>
            <a:pathLst>
              <a:path w="5748130" h="8283">
                <a:moveTo>
                  <a:pt x="0" y="0"/>
                </a:moveTo>
                <a:lnTo>
                  <a:pt x="5748130" y="0"/>
                </a:lnTo>
                <a:lnTo>
                  <a:pt x="5748130" y="8283"/>
                </a:lnTo>
                <a:lnTo>
                  <a:pt x="0" y="8283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27652" y="1060174"/>
            <a:ext cx="211206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Approval &amp; Planning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7424" y="1076739"/>
            <a:ext cx="63776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 15-29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7652" y="1358348"/>
            <a:ext cx="5814391" cy="430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approval and comprehensive requirement gathering to establish scope, objectives, and success criteria.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7652" y="1855304"/>
            <a:ext cx="581439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Deliverable:</a:t>
            </a:r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Approved formal project proposal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1304" y="2327413"/>
            <a:ext cx="463826" cy="463826"/>
          </a:xfrm>
          <a:custGeom>
            <a:avLst/>
            <a:gdLst/>
            <a:ahLst/>
            <a:cxnLst/>
            <a:rect l="l" t="t" r="r" b="b"/>
            <a:pathLst>
              <a:path w="463826" h="463826">
                <a:moveTo>
                  <a:pt x="231913" y="0"/>
                </a:moveTo>
                <a:lnTo>
                  <a:pt x="231913" y="0"/>
                </a:lnTo>
                <a:cubicBezTo>
                  <a:pt x="359909" y="0"/>
                  <a:pt x="463826" y="103917"/>
                  <a:pt x="463826" y="231913"/>
                </a:cubicBezTo>
                <a:lnTo>
                  <a:pt x="463826" y="231913"/>
                </a:lnTo>
                <a:cubicBezTo>
                  <a:pt x="463826" y="359909"/>
                  <a:pt x="359909" y="463826"/>
                  <a:pt x="231913" y="463826"/>
                </a:cubicBezTo>
                <a:lnTo>
                  <a:pt x="231913" y="463826"/>
                </a:lnTo>
                <a:cubicBezTo>
                  <a:pt x="103917" y="463826"/>
                  <a:pt x="0" y="359909"/>
                  <a:pt x="0" y="231913"/>
                </a:cubicBezTo>
                <a:lnTo>
                  <a:pt x="0" y="231913"/>
                </a:lnTo>
                <a:cubicBezTo>
                  <a:pt x="0" y="103917"/>
                  <a:pt x="103917" y="0"/>
                  <a:pt x="231913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91" y="2327413"/>
            <a:ext cx="546652" cy="46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4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7652" y="3242641"/>
            <a:ext cx="5748130" cy="8283"/>
          </a:xfrm>
          <a:custGeom>
            <a:avLst/>
            <a:gdLst/>
            <a:ahLst/>
            <a:cxnLst/>
            <a:rect l="l" t="t" r="r" b="b"/>
            <a:pathLst>
              <a:path w="5748130" h="8283">
                <a:moveTo>
                  <a:pt x="0" y="0"/>
                </a:moveTo>
                <a:lnTo>
                  <a:pt x="5748130" y="0"/>
                </a:lnTo>
                <a:lnTo>
                  <a:pt x="5748130" y="8283"/>
                </a:lnTo>
                <a:lnTo>
                  <a:pt x="0" y="8283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27652" y="2327413"/>
            <a:ext cx="133350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2908" y="2343978"/>
            <a:ext cx="94421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 29 - Feb 19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652" y="2625587"/>
            <a:ext cx="5814391" cy="215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acquisition from Hugging Face, schema design, and comprehensive exploratory analysis.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7652" y="2907196"/>
            <a:ext cx="581439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Deliverable:</a:t>
            </a:r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Processed Dataset + Validated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1304" y="3379304"/>
            <a:ext cx="463826" cy="463826"/>
          </a:xfrm>
          <a:custGeom>
            <a:avLst/>
            <a:gdLst/>
            <a:ahLst/>
            <a:cxnLst/>
            <a:rect l="l" t="t" r="r" b="b"/>
            <a:pathLst>
              <a:path w="463826" h="463826">
                <a:moveTo>
                  <a:pt x="231913" y="0"/>
                </a:moveTo>
                <a:lnTo>
                  <a:pt x="231913" y="0"/>
                </a:lnTo>
                <a:cubicBezTo>
                  <a:pt x="359909" y="0"/>
                  <a:pt x="463826" y="103917"/>
                  <a:pt x="463826" y="231913"/>
                </a:cubicBezTo>
                <a:lnTo>
                  <a:pt x="463826" y="231913"/>
                </a:lnTo>
                <a:cubicBezTo>
                  <a:pt x="463826" y="359909"/>
                  <a:pt x="359909" y="463826"/>
                  <a:pt x="231913" y="463826"/>
                </a:cubicBezTo>
                <a:lnTo>
                  <a:pt x="231913" y="463826"/>
                </a:lnTo>
                <a:cubicBezTo>
                  <a:pt x="103917" y="463826"/>
                  <a:pt x="0" y="359909"/>
                  <a:pt x="0" y="231913"/>
                </a:cubicBezTo>
                <a:lnTo>
                  <a:pt x="0" y="231913"/>
                </a:lnTo>
                <a:cubicBezTo>
                  <a:pt x="0" y="103917"/>
                  <a:pt x="103917" y="0"/>
                  <a:pt x="231913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Text 17"/>
          <p:cNvSpPr/>
          <p:nvPr/>
        </p:nvSpPr>
        <p:spPr>
          <a:xfrm>
            <a:off x="289891" y="3379304"/>
            <a:ext cx="546652" cy="46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4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7652" y="4294533"/>
            <a:ext cx="5748130" cy="8283"/>
          </a:xfrm>
          <a:custGeom>
            <a:avLst/>
            <a:gdLst/>
            <a:ahLst/>
            <a:cxnLst/>
            <a:rect l="l" t="t" r="r" b="b"/>
            <a:pathLst>
              <a:path w="5748130" h="8283">
                <a:moveTo>
                  <a:pt x="0" y="0"/>
                </a:moveTo>
                <a:lnTo>
                  <a:pt x="5748130" y="0"/>
                </a:lnTo>
                <a:lnTo>
                  <a:pt x="5748130" y="8283"/>
                </a:lnTo>
                <a:lnTo>
                  <a:pt x="0" y="8283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27652" y="3379304"/>
            <a:ext cx="1581978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1275" y="3395870"/>
            <a:ext cx="8862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Feb 19 - Mar 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652" y="3677478"/>
            <a:ext cx="5814391" cy="215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 charting, pipeline architecture, and technology stack finalization.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7652" y="3959087"/>
            <a:ext cx="581439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Deliverable:</a:t>
            </a:r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 Architecture Documentation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1304" y="4431196"/>
            <a:ext cx="463826" cy="463826"/>
          </a:xfrm>
          <a:custGeom>
            <a:avLst/>
            <a:gdLst/>
            <a:ahLst/>
            <a:cxnLst/>
            <a:rect l="l" t="t" r="r" b="b"/>
            <a:pathLst>
              <a:path w="463826" h="463826">
                <a:moveTo>
                  <a:pt x="231913" y="0"/>
                </a:moveTo>
                <a:lnTo>
                  <a:pt x="231913" y="0"/>
                </a:lnTo>
                <a:cubicBezTo>
                  <a:pt x="359909" y="0"/>
                  <a:pt x="463826" y="103917"/>
                  <a:pt x="463826" y="231913"/>
                </a:cubicBezTo>
                <a:lnTo>
                  <a:pt x="463826" y="231913"/>
                </a:lnTo>
                <a:cubicBezTo>
                  <a:pt x="463826" y="359909"/>
                  <a:pt x="359909" y="463826"/>
                  <a:pt x="231913" y="463826"/>
                </a:cubicBezTo>
                <a:lnTo>
                  <a:pt x="231913" y="463826"/>
                </a:lnTo>
                <a:cubicBezTo>
                  <a:pt x="103917" y="463826"/>
                  <a:pt x="0" y="359909"/>
                  <a:pt x="0" y="231913"/>
                </a:cubicBezTo>
                <a:lnTo>
                  <a:pt x="0" y="231913"/>
                </a:lnTo>
                <a:cubicBezTo>
                  <a:pt x="0" y="103917"/>
                  <a:pt x="103917" y="0"/>
                  <a:pt x="231913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6" name="Text 24"/>
          <p:cNvSpPr/>
          <p:nvPr/>
        </p:nvSpPr>
        <p:spPr>
          <a:xfrm>
            <a:off x="289891" y="4431196"/>
            <a:ext cx="546652" cy="46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4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27652" y="5561772"/>
            <a:ext cx="5748130" cy="8283"/>
          </a:xfrm>
          <a:custGeom>
            <a:avLst/>
            <a:gdLst/>
            <a:ahLst/>
            <a:cxnLst/>
            <a:rect l="l" t="t" r="r" b="b"/>
            <a:pathLst>
              <a:path w="5748130" h="8283">
                <a:moveTo>
                  <a:pt x="0" y="0"/>
                </a:moveTo>
                <a:lnTo>
                  <a:pt x="5748130" y="0"/>
                </a:lnTo>
                <a:lnTo>
                  <a:pt x="5748130" y="8283"/>
                </a:lnTo>
                <a:lnTo>
                  <a:pt x="0" y="8283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27652" y="4431196"/>
            <a:ext cx="1499152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Implementation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17147" y="4447761"/>
            <a:ext cx="819978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 5 - Apr 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7652" y="4729370"/>
            <a:ext cx="5814391" cy="430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of data mining algorithms: KMeans, Naive Bayes, Random Forest, DBSCAN, and Apriori.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7652" y="5226326"/>
            <a:ext cx="581439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Deliverable:</a:t>
            </a:r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Trained and functional ML Models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1304" y="5698435"/>
            <a:ext cx="463826" cy="463826"/>
          </a:xfrm>
          <a:custGeom>
            <a:avLst/>
            <a:gdLst/>
            <a:ahLst/>
            <a:cxnLst/>
            <a:rect l="l" t="t" r="r" b="b"/>
            <a:pathLst>
              <a:path w="463826" h="463826">
                <a:moveTo>
                  <a:pt x="231913" y="0"/>
                </a:moveTo>
                <a:lnTo>
                  <a:pt x="231913" y="0"/>
                </a:lnTo>
                <a:cubicBezTo>
                  <a:pt x="359909" y="0"/>
                  <a:pt x="463826" y="103917"/>
                  <a:pt x="463826" y="231913"/>
                </a:cubicBezTo>
                <a:lnTo>
                  <a:pt x="463826" y="231913"/>
                </a:lnTo>
                <a:cubicBezTo>
                  <a:pt x="463826" y="359909"/>
                  <a:pt x="359909" y="463826"/>
                  <a:pt x="231913" y="463826"/>
                </a:cubicBezTo>
                <a:lnTo>
                  <a:pt x="231913" y="463826"/>
                </a:lnTo>
                <a:cubicBezTo>
                  <a:pt x="103917" y="463826"/>
                  <a:pt x="0" y="359909"/>
                  <a:pt x="0" y="231913"/>
                </a:cubicBezTo>
                <a:lnTo>
                  <a:pt x="0" y="231913"/>
                </a:lnTo>
                <a:cubicBezTo>
                  <a:pt x="0" y="103917"/>
                  <a:pt x="103917" y="0"/>
                  <a:pt x="231913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Text 31"/>
          <p:cNvSpPr/>
          <p:nvPr/>
        </p:nvSpPr>
        <p:spPr>
          <a:xfrm>
            <a:off x="289891" y="5698435"/>
            <a:ext cx="546652" cy="46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4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7652" y="5698435"/>
            <a:ext cx="171450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&amp; Deployment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49449" y="5715000"/>
            <a:ext cx="588065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4-24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7652" y="5996609"/>
            <a:ext cx="5814391" cy="215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system testing, performance evaluation, and GUI deployment for end-user access.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7652" y="6278217"/>
            <a:ext cx="581439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Deliverable:</a:t>
            </a:r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Fully functional, tuned system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37461" y="1722783"/>
            <a:ext cx="5002696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 Overview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37461" y="2087217"/>
            <a:ext cx="4919870" cy="2683565"/>
          </a:xfrm>
          <a:custGeom>
            <a:avLst/>
            <a:gdLst/>
            <a:ahLst/>
            <a:cxnLst/>
            <a:rect l="l" t="t" r="r" b="b"/>
            <a:pathLst>
              <a:path w="4919870" h="2683565">
                <a:moveTo>
                  <a:pt x="0" y="0"/>
                </a:moveTo>
                <a:lnTo>
                  <a:pt x="4919870" y="0"/>
                </a:lnTo>
                <a:lnTo>
                  <a:pt x="4919870" y="2683565"/>
                </a:lnTo>
                <a:lnTo>
                  <a:pt x="0" y="268356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103113" y="2252870"/>
            <a:ext cx="5052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59559" y="2252870"/>
            <a:ext cx="5052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days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03113" y="2517913"/>
            <a:ext cx="4588565" cy="99391"/>
          </a:xfrm>
          <a:custGeom>
            <a:avLst/>
            <a:gdLst/>
            <a:ahLst/>
            <a:cxnLst/>
            <a:rect l="l" t="t" r="r" b="b"/>
            <a:pathLst>
              <a:path w="4588565" h="99391">
                <a:moveTo>
                  <a:pt x="49696" y="0"/>
                </a:moveTo>
                <a:lnTo>
                  <a:pt x="4538870" y="0"/>
                </a:lnTo>
                <a:cubicBezTo>
                  <a:pt x="4566316" y="0"/>
                  <a:pt x="4588565" y="22250"/>
                  <a:pt x="4588565" y="49696"/>
                </a:cubicBezTo>
                <a:lnTo>
                  <a:pt x="4588565" y="49696"/>
                </a:lnTo>
                <a:cubicBezTo>
                  <a:pt x="4588565" y="77142"/>
                  <a:pt x="4566316" y="99391"/>
                  <a:pt x="4538870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03113" y="2517913"/>
            <a:ext cx="646043" cy="99391"/>
          </a:xfrm>
          <a:custGeom>
            <a:avLst/>
            <a:gdLst/>
            <a:ahLst/>
            <a:cxnLst/>
            <a:rect l="l" t="t" r="r" b="b"/>
            <a:pathLst>
              <a:path w="646043" h="99391">
                <a:moveTo>
                  <a:pt x="49696" y="0"/>
                </a:moveTo>
                <a:lnTo>
                  <a:pt x="596348" y="0"/>
                </a:lnTo>
                <a:cubicBezTo>
                  <a:pt x="623794" y="0"/>
                  <a:pt x="646043" y="22250"/>
                  <a:pt x="646043" y="49696"/>
                </a:cubicBezTo>
                <a:lnTo>
                  <a:pt x="646043" y="49696"/>
                </a:lnTo>
                <a:cubicBezTo>
                  <a:pt x="646043" y="77142"/>
                  <a:pt x="623794" y="99391"/>
                  <a:pt x="596348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4" name="Text 42"/>
          <p:cNvSpPr/>
          <p:nvPr/>
        </p:nvSpPr>
        <p:spPr>
          <a:xfrm>
            <a:off x="7103113" y="2749826"/>
            <a:ext cx="530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260595" y="2749826"/>
            <a:ext cx="49695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 days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03113" y="3014870"/>
            <a:ext cx="4588565" cy="99391"/>
          </a:xfrm>
          <a:custGeom>
            <a:avLst/>
            <a:gdLst/>
            <a:ahLst/>
            <a:cxnLst/>
            <a:rect l="l" t="t" r="r" b="b"/>
            <a:pathLst>
              <a:path w="4588565" h="99391">
                <a:moveTo>
                  <a:pt x="49696" y="0"/>
                </a:moveTo>
                <a:lnTo>
                  <a:pt x="4538870" y="0"/>
                </a:lnTo>
                <a:cubicBezTo>
                  <a:pt x="4566316" y="0"/>
                  <a:pt x="4588565" y="22250"/>
                  <a:pt x="4588565" y="49696"/>
                </a:cubicBezTo>
                <a:lnTo>
                  <a:pt x="4588565" y="49696"/>
                </a:lnTo>
                <a:cubicBezTo>
                  <a:pt x="4588565" y="77142"/>
                  <a:pt x="4566316" y="99391"/>
                  <a:pt x="4538870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03113" y="3014870"/>
            <a:ext cx="960783" cy="99391"/>
          </a:xfrm>
          <a:custGeom>
            <a:avLst/>
            <a:gdLst/>
            <a:ahLst/>
            <a:cxnLst/>
            <a:rect l="l" t="t" r="r" b="b"/>
            <a:pathLst>
              <a:path w="960783" h="99391">
                <a:moveTo>
                  <a:pt x="49696" y="0"/>
                </a:moveTo>
                <a:lnTo>
                  <a:pt x="911087" y="0"/>
                </a:lnTo>
                <a:cubicBezTo>
                  <a:pt x="938533" y="0"/>
                  <a:pt x="960783" y="22250"/>
                  <a:pt x="960783" y="49696"/>
                </a:cubicBezTo>
                <a:lnTo>
                  <a:pt x="960783" y="49696"/>
                </a:lnTo>
                <a:cubicBezTo>
                  <a:pt x="960783" y="77142"/>
                  <a:pt x="938533" y="99391"/>
                  <a:pt x="911087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8" name="Text 46"/>
          <p:cNvSpPr/>
          <p:nvPr/>
        </p:nvSpPr>
        <p:spPr>
          <a:xfrm>
            <a:off x="7103113" y="3246783"/>
            <a:ext cx="530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59559" y="3246783"/>
            <a:ext cx="5052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days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103113" y="3511826"/>
            <a:ext cx="4588565" cy="99391"/>
          </a:xfrm>
          <a:custGeom>
            <a:avLst/>
            <a:gdLst/>
            <a:ahLst/>
            <a:cxnLst/>
            <a:rect l="l" t="t" r="r" b="b"/>
            <a:pathLst>
              <a:path w="4588565" h="99391">
                <a:moveTo>
                  <a:pt x="49696" y="0"/>
                </a:moveTo>
                <a:lnTo>
                  <a:pt x="4538870" y="0"/>
                </a:lnTo>
                <a:cubicBezTo>
                  <a:pt x="4566316" y="0"/>
                  <a:pt x="4588565" y="22250"/>
                  <a:pt x="4588565" y="49696"/>
                </a:cubicBezTo>
                <a:lnTo>
                  <a:pt x="4588565" y="49696"/>
                </a:lnTo>
                <a:cubicBezTo>
                  <a:pt x="4588565" y="77142"/>
                  <a:pt x="4566316" y="99391"/>
                  <a:pt x="4538870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03113" y="3511826"/>
            <a:ext cx="646043" cy="99391"/>
          </a:xfrm>
          <a:custGeom>
            <a:avLst/>
            <a:gdLst/>
            <a:ahLst/>
            <a:cxnLst/>
            <a:rect l="l" t="t" r="r" b="b"/>
            <a:pathLst>
              <a:path w="646043" h="99391">
                <a:moveTo>
                  <a:pt x="49696" y="0"/>
                </a:moveTo>
                <a:lnTo>
                  <a:pt x="596348" y="0"/>
                </a:lnTo>
                <a:cubicBezTo>
                  <a:pt x="623794" y="0"/>
                  <a:pt x="646043" y="22250"/>
                  <a:pt x="646043" y="49696"/>
                </a:cubicBezTo>
                <a:lnTo>
                  <a:pt x="646043" y="49696"/>
                </a:lnTo>
                <a:cubicBezTo>
                  <a:pt x="646043" y="77142"/>
                  <a:pt x="623794" y="99391"/>
                  <a:pt x="596348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2" name="Text 50"/>
          <p:cNvSpPr/>
          <p:nvPr/>
        </p:nvSpPr>
        <p:spPr>
          <a:xfrm>
            <a:off x="7103113" y="3743739"/>
            <a:ext cx="530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27853" y="3743739"/>
            <a:ext cx="530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days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103113" y="4008783"/>
            <a:ext cx="4588565" cy="99391"/>
          </a:xfrm>
          <a:custGeom>
            <a:avLst/>
            <a:gdLst/>
            <a:ahLst/>
            <a:cxnLst/>
            <a:rect l="l" t="t" r="r" b="b"/>
            <a:pathLst>
              <a:path w="4588565" h="99391">
                <a:moveTo>
                  <a:pt x="49696" y="0"/>
                </a:moveTo>
                <a:lnTo>
                  <a:pt x="4538870" y="0"/>
                </a:lnTo>
                <a:cubicBezTo>
                  <a:pt x="4566316" y="0"/>
                  <a:pt x="4588565" y="22250"/>
                  <a:pt x="4588565" y="49696"/>
                </a:cubicBezTo>
                <a:lnTo>
                  <a:pt x="4588565" y="49696"/>
                </a:lnTo>
                <a:cubicBezTo>
                  <a:pt x="4588565" y="77142"/>
                  <a:pt x="4566316" y="99391"/>
                  <a:pt x="4538870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03113" y="4008783"/>
            <a:ext cx="1374913" cy="99391"/>
          </a:xfrm>
          <a:custGeom>
            <a:avLst/>
            <a:gdLst/>
            <a:ahLst/>
            <a:cxnLst/>
            <a:rect l="l" t="t" r="r" b="b"/>
            <a:pathLst>
              <a:path w="1374913" h="99391">
                <a:moveTo>
                  <a:pt x="49696" y="0"/>
                </a:moveTo>
                <a:lnTo>
                  <a:pt x="1325217" y="0"/>
                </a:lnTo>
                <a:cubicBezTo>
                  <a:pt x="1352664" y="0"/>
                  <a:pt x="1374913" y="22250"/>
                  <a:pt x="1374913" y="49696"/>
                </a:cubicBezTo>
                <a:lnTo>
                  <a:pt x="1374913" y="49696"/>
                </a:lnTo>
                <a:cubicBezTo>
                  <a:pt x="1374913" y="77142"/>
                  <a:pt x="1352664" y="99391"/>
                  <a:pt x="1325217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6" name="Text 54"/>
          <p:cNvSpPr/>
          <p:nvPr/>
        </p:nvSpPr>
        <p:spPr>
          <a:xfrm>
            <a:off x="7103113" y="4240696"/>
            <a:ext cx="530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29017" y="4240696"/>
            <a:ext cx="5300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days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103113" y="4505739"/>
            <a:ext cx="4588565" cy="99391"/>
          </a:xfrm>
          <a:custGeom>
            <a:avLst/>
            <a:gdLst/>
            <a:ahLst/>
            <a:cxnLst/>
            <a:rect l="l" t="t" r="r" b="b"/>
            <a:pathLst>
              <a:path w="4588565" h="99391">
                <a:moveTo>
                  <a:pt x="49696" y="0"/>
                </a:moveTo>
                <a:lnTo>
                  <a:pt x="4538870" y="0"/>
                </a:lnTo>
                <a:cubicBezTo>
                  <a:pt x="4566316" y="0"/>
                  <a:pt x="4588565" y="22250"/>
                  <a:pt x="4588565" y="49696"/>
                </a:cubicBezTo>
                <a:lnTo>
                  <a:pt x="4588565" y="49696"/>
                </a:lnTo>
                <a:cubicBezTo>
                  <a:pt x="4588565" y="77142"/>
                  <a:pt x="4566316" y="99391"/>
                  <a:pt x="4538870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103113" y="4505739"/>
            <a:ext cx="919370" cy="99391"/>
          </a:xfrm>
          <a:custGeom>
            <a:avLst/>
            <a:gdLst/>
            <a:ahLst/>
            <a:cxnLst/>
            <a:rect l="l" t="t" r="r" b="b"/>
            <a:pathLst>
              <a:path w="919370" h="99391">
                <a:moveTo>
                  <a:pt x="49696" y="0"/>
                </a:moveTo>
                <a:lnTo>
                  <a:pt x="869674" y="0"/>
                </a:lnTo>
                <a:cubicBezTo>
                  <a:pt x="897120" y="0"/>
                  <a:pt x="919370" y="22250"/>
                  <a:pt x="919370" y="49696"/>
                </a:cubicBezTo>
                <a:lnTo>
                  <a:pt x="919370" y="49696"/>
                </a:lnTo>
                <a:cubicBezTo>
                  <a:pt x="919370" y="77142"/>
                  <a:pt x="897120" y="99391"/>
                  <a:pt x="869674" y="99391"/>
                </a:cubicBezTo>
                <a:lnTo>
                  <a:pt x="49696" y="99391"/>
                </a:lnTo>
                <a:cubicBezTo>
                  <a:pt x="22268" y="99391"/>
                  <a:pt x="0" y="77123"/>
                  <a:pt x="0" y="49696"/>
                </a:cubicBezTo>
                <a:lnTo>
                  <a:pt x="0" y="49696"/>
                </a:lnTo>
                <a:cubicBezTo>
                  <a:pt x="0" y="22268"/>
                  <a:pt x="22268" y="0"/>
                  <a:pt x="49696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0" name="Shape 58"/>
          <p:cNvSpPr/>
          <p:nvPr/>
        </p:nvSpPr>
        <p:spPr>
          <a:xfrm>
            <a:off x="6937461" y="4903304"/>
            <a:ext cx="4919870" cy="911087"/>
          </a:xfrm>
          <a:custGeom>
            <a:avLst/>
            <a:gdLst/>
            <a:ahLst/>
            <a:cxnLst/>
            <a:rect l="l" t="t" r="r" b="b"/>
            <a:pathLst>
              <a:path w="4919870" h="911087">
                <a:moveTo>
                  <a:pt x="0" y="0"/>
                </a:moveTo>
                <a:lnTo>
                  <a:pt x="4919870" y="0"/>
                </a:lnTo>
                <a:lnTo>
                  <a:pt x="4919870" y="911087"/>
                </a:lnTo>
                <a:lnTo>
                  <a:pt x="0" y="911087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069983" y="5035826"/>
            <a:ext cx="4721087" cy="6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Duration: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99 days (Jan 15 - Apr 24, 2026)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43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Path: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ML Implementation (Phase 4) represents the longest phase with 30 days dedicated to algorithm development and training.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524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Impact &amp; Innovation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8430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Shape 3"/>
          <p:cNvSpPr/>
          <p:nvPr/>
        </p:nvSpPr>
        <p:spPr>
          <a:xfrm>
            <a:off x="514350" y="1976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804988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 Offline-First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2147888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cloud dependency and latency, ensuring data sovereignty and high-speed local processing through embedded DuckDB.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8336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Shape 7"/>
          <p:cNvSpPr/>
          <p:nvPr/>
        </p:nvSpPr>
        <p:spPr>
          <a:xfrm>
            <a:off x="514350" y="29670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795588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Integration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138488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 Language Models via Ollama and LM Studio act as analytical interpreters, preventing hallucination while providing transparent intelligence.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40719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Shape 11"/>
          <p:cNvSpPr/>
          <p:nvPr/>
        </p:nvSpPr>
        <p:spPr>
          <a:xfrm>
            <a:off x="538163" y="42052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4033837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Frozen Dataset for Reproducibility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4376738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Completely static environment ensures deterministic, repeatable, and academically verifiable results without structural drift.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4335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57963" y="15668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8" name="Text 16"/>
          <p:cNvSpPr/>
          <p:nvPr/>
        </p:nvSpPr>
        <p:spPr>
          <a:xfrm>
            <a:off x="7010400" y="1395413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Mathematical Weighting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10400" y="1738313"/>
            <a:ext cx="487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Multiplier (1.2×) and Source Authority (0.91) bias news relevance based on temporal importance and publisher credibility.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4241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4150" y="25574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2" name="Text 20"/>
          <p:cNvSpPr/>
          <p:nvPr/>
        </p:nvSpPr>
        <p:spPr>
          <a:xfrm>
            <a:off x="7010400" y="2386013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Multi-Algorithm Approach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0400" y="2728913"/>
            <a:ext cx="4876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deployment of TF-IDF, Apriori, Random Forest, and DBSCAN captures diverse facets of news text from keywords to semantic relationships.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3776662"/>
            <a:ext cx="5410200" cy="1504950"/>
          </a:xfrm>
          <a:custGeom>
            <a:avLst/>
            <a:gdLst/>
            <a:ahLst/>
            <a:cxnLst/>
            <a:rect l="l" t="t" r="r" b="b"/>
            <a:pathLst>
              <a:path w="5410200" h="1504950">
                <a:moveTo>
                  <a:pt x="0" y="0"/>
                </a:moveTo>
                <a:lnTo>
                  <a:pt x="5410200" y="0"/>
                </a:lnTo>
                <a:lnTo>
                  <a:pt x="54102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91300" y="3967163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Outcome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91300" y="4348163"/>
            <a:ext cx="5105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unstructured news corpora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mathematically-backed transparent intelligence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—this system bridges the gap between raw data and actionable insights through explainable AI architecture.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56721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95275" y="582930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2900" y="62484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 Processed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865709" y="59245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1" name="Text 29"/>
          <p:cNvSpPr/>
          <p:nvPr/>
        </p:nvSpPr>
        <p:spPr>
          <a:xfrm>
            <a:off x="2018109" y="5829300"/>
            <a:ext cx="1162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065734" y="6248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Algorithms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21993" y="59245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393" y="58293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0ms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22018" y="624840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Latency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66387" y="59055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Concepts of Data Mining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56862" y="6134100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Research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ylecurator.com.au/7fa8e1ea0e6bcce855f42c4f7b1b5ab7d62457a9.jpe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7500" b="27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9F6">
                  <a:alpha val="95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657225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2"/>
          <p:cNvSpPr/>
          <p:nvPr/>
        </p:nvSpPr>
        <p:spPr>
          <a:xfrm>
            <a:off x="4434334" y="904875"/>
            <a:ext cx="33242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Chaos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Clarity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38800" y="2562225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4"/>
          <p:cNvSpPr/>
          <p:nvPr/>
        </p:nvSpPr>
        <p:spPr>
          <a:xfrm>
            <a:off x="3641824" y="2886075"/>
            <a:ext cx="49053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unstructured news corpora into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mathematically-backed transparent intelligence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through explainable AI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17963" y="43815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Text 6"/>
          <p:cNvSpPr/>
          <p:nvPr/>
        </p:nvSpPr>
        <p:spPr>
          <a:xfrm>
            <a:off x="4111228" y="474345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72534" y="44862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1" name="Shape 8"/>
          <p:cNvSpPr/>
          <p:nvPr/>
        </p:nvSpPr>
        <p:spPr>
          <a:xfrm>
            <a:off x="5917704" y="43815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2" name="Text 9"/>
          <p:cNvSpPr/>
          <p:nvPr/>
        </p:nvSpPr>
        <p:spPr>
          <a:xfrm>
            <a:off x="5548759" y="474345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34336" y="44862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0817" y="43815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71438" y="53578"/>
                </a:moveTo>
                <a:lnTo>
                  <a:pt x="71438" y="89297"/>
                </a:lnTo>
                <a:lnTo>
                  <a:pt x="142875" y="89297"/>
                </a:lnTo>
                <a:lnTo>
                  <a:pt x="142875" y="53578"/>
                </a:lnTo>
                <a:cubicBezTo>
                  <a:pt x="142875" y="33877"/>
                  <a:pt x="126857" y="17859"/>
                  <a:pt x="107156" y="17859"/>
                </a:cubicBezTo>
                <a:cubicBezTo>
                  <a:pt x="87455" y="17859"/>
                  <a:pt x="71438" y="33877"/>
                  <a:pt x="71438" y="53578"/>
                </a:cubicBezTo>
                <a:close/>
                <a:moveTo>
                  <a:pt x="35719" y="89297"/>
                </a:moveTo>
                <a:lnTo>
                  <a:pt x="35719" y="53578"/>
                </a:lnTo>
                <a:cubicBezTo>
                  <a:pt x="35719" y="14120"/>
                  <a:pt x="67698" y="-17859"/>
                  <a:pt x="107156" y="-17859"/>
                </a:cubicBezTo>
                <a:cubicBezTo>
                  <a:pt x="146614" y="-17859"/>
                  <a:pt x="178594" y="14120"/>
                  <a:pt x="178594" y="53578"/>
                </a:cubicBezTo>
                <a:lnTo>
                  <a:pt x="178594" y="89297"/>
                </a:lnTo>
                <a:cubicBezTo>
                  <a:pt x="198295" y="89297"/>
                  <a:pt x="214313" y="105315"/>
                  <a:pt x="214313" y="125016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25016"/>
                </a:lnTo>
                <a:cubicBezTo>
                  <a:pt x="0" y="105315"/>
                  <a:pt x="16018" y="89297"/>
                  <a:pt x="35719" y="89297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5" name="Text 12"/>
          <p:cNvSpPr/>
          <p:nvPr/>
        </p:nvSpPr>
        <p:spPr>
          <a:xfrm>
            <a:off x="7110561" y="474345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83410" y="5434013"/>
            <a:ext cx="3829050" cy="9525"/>
          </a:xfrm>
          <a:custGeom>
            <a:avLst/>
            <a:gdLst/>
            <a:ahLst/>
            <a:cxnLst/>
            <a:rect l="l" t="t" r="r" b="b"/>
            <a:pathLst>
              <a:path w="3829050" h="9525">
                <a:moveTo>
                  <a:pt x="0" y="0"/>
                </a:moveTo>
                <a:lnTo>
                  <a:pt x="3829050" y="0"/>
                </a:lnTo>
                <a:lnTo>
                  <a:pt x="3829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45310" y="5743575"/>
            <a:ext cx="3905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30" kern="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Data Mining and Pattern Discovery System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spc="30" kern="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Unstructured News Corpora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Data Mining and Pattern Discovery System</dc:title>
  <dc:subject>Automated Data Mining and Pattern Discovery System</dc:subject>
  <dc:creator>Kimi</dc:creator>
  <cp:lastModifiedBy>Kimi</cp:lastModifiedBy>
  <cp:revision>1</cp:revision>
  <dcterms:created xsi:type="dcterms:W3CDTF">2026-03-14T07:25:18Z</dcterms:created>
  <dcterms:modified xsi:type="dcterms:W3CDTF">2026-03-14T07:25:18Z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{"Label":"Automated Data Mining and Pattern Discovery System","ContentProducer":"001191110108MACG2KBH8F10000","ProduceID":"19ceb397-7782-8cf9-8000-00008846049c","ReservedCode1":"","ContentPropagator":"001191110108MACG2KBH8F20000","PropagateID":"19ceb397-7782-8cf9-8000-00008846049c","ReservedCode2":""}</vt:lpwstr>
  </property>
</Properties>
</file>