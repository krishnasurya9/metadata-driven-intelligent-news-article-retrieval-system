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embeddedFontLst>
    <p:embeddedFont>
      <p:font typeface="Liter" panose="020B0604020202020204" charset="0"/>
      <p:regular r:id="rId17"/>
    </p:embeddedFont>
    <p:embeddedFont>
      <p:font typeface="Quattrocento Sans" panose="020B0502050000020003" pitchFamily="34" charset="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43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029200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5beqdm23l5qus/images/6_119_842_Analytics_Abstract_Stock.png"/>
          <p:cNvPicPr>
            <a:picLocks noChangeAspect="1"/>
          </p:cNvPicPr>
          <p:nvPr/>
        </p:nvPicPr>
        <p:blipFill>
          <a:blip r:embed="rId3">
            <a:alphaModFix amt="40000"/>
          </a:blip>
          <a:srcRect l="1111" r="1111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rgbClr val="1A1D21">
                  <a:alpha val="95000"/>
                </a:srgbClr>
              </a:gs>
              <a:gs pos="50000">
                <a:srgbClr val="1A1D21">
                  <a:alpha val="85000"/>
                </a:srgbClr>
              </a:gs>
              <a:gs pos="100000">
                <a:srgbClr val="6B7A8F">
                  <a:alpha val="30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400050" y="381000"/>
            <a:ext cx="2200275" cy="381000"/>
          </a:xfrm>
          <a:prstGeom prst="roundRect">
            <a:avLst>
              <a:gd name="adj" fmla="val 0"/>
            </a:avLst>
          </a:prstGeom>
          <a:solidFill>
            <a:srgbClr val="D4A26A">
              <a:alpha val="20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400050" y="381000"/>
            <a:ext cx="38100" cy="381000"/>
          </a:xfrm>
          <a:prstGeom prst="roundRect">
            <a:avLst>
              <a:gd name="adj" fmla="val 0"/>
            </a:avLst>
          </a:prstGeom>
          <a:solidFill>
            <a:srgbClr val="D4A26A"/>
          </a:solidFill>
          <a:ln/>
        </p:spPr>
      </p:sp>
      <p:sp>
        <p:nvSpPr>
          <p:cNvPr id="6" name="Text 3"/>
          <p:cNvSpPr/>
          <p:nvPr/>
        </p:nvSpPr>
        <p:spPr>
          <a:xfrm>
            <a:off x="571500" y="457200"/>
            <a:ext cx="1952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D4A2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FINAL PROJECT REPORT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0864215" y="381000"/>
            <a:ext cx="942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200" dirty="0">
                <a:solidFill>
                  <a:srgbClr val="E2E8F0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Module CDM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81000" y="1766888"/>
            <a:ext cx="76581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Concepts of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Mining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381000" y="3709988"/>
            <a:ext cx="1219200" cy="38100"/>
          </a:xfrm>
          <a:prstGeom prst="roundRect">
            <a:avLst>
              <a:gd name="adj" fmla="val 0"/>
            </a:avLst>
          </a:prstGeom>
          <a:solidFill>
            <a:srgbClr val="D4A26A"/>
          </a:solidFill>
          <a:ln/>
        </p:spPr>
      </p:sp>
      <p:sp>
        <p:nvSpPr>
          <p:cNvPr id="10" name="Text 7"/>
          <p:cNvSpPr/>
          <p:nvPr/>
        </p:nvSpPr>
        <p:spPr>
          <a:xfrm>
            <a:off x="381000" y="3976687"/>
            <a:ext cx="74580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dirty="0">
                <a:solidFill>
                  <a:srgbClr val="6B7A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Automated Data Mining and Pattern Discovery System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381000" y="4624388"/>
            <a:ext cx="741045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secondary internal analysis lab operating over a frozen news corpus to auto-categorize, cluster, and discover underlying event correlations analytically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409575" y="628650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38100" y="0"/>
                </a:moveTo>
                <a:cubicBezTo>
                  <a:pt x="32831" y="0"/>
                  <a:pt x="28575" y="4256"/>
                  <a:pt x="28575" y="9525"/>
                </a:cubicBezTo>
                <a:lnTo>
                  <a:pt x="28575" y="19050"/>
                </a:lnTo>
                <a:lnTo>
                  <a:pt x="19050" y="19050"/>
                </a:lnTo>
                <a:cubicBezTo>
                  <a:pt x="8543" y="19050"/>
                  <a:pt x="0" y="27593"/>
                  <a:pt x="0" y="38100"/>
                </a:cubicBezTo>
                <a:lnTo>
                  <a:pt x="0" y="52388"/>
                </a:lnTo>
                <a:lnTo>
                  <a:pt x="133350" y="52388"/>
                </a:lnTo>
                <a:lnTo>
                  <a:pt x="133350" y="38100"/>
                </a:lnTo>
                <a:cubicBezTo>
                  <a:pt x="133350" y="27593"/>
                  <a:pt x="124807" y="19050"/>
                  <a:pt x="114300" y="19050"/>
                </a:cubicBezTo>
                <a:lnTo>
                  <a:pt x="104775" y="19050"/>
                </a:lnTo>
                <a:lnTo>
                  <a:pt x="104775" y="9525"/>
                </a:lnTo>
                <a:cubicBezTo>
                  <a:pt x="104775" y="4256"/>
                  <a:pt x="100519" y="0"/>
                  <a:pt x="95250" y="0"/>
                </a:cubicBezTo>
                <a:cubicBezTo>
                  <a:pt x="89981" y="0"/>
                  <a:pt x="85725" y="4256"/>
                  <a:pt x="85725" y="9525"/>
                </a:cubicBezTo>
                <a:lnTo>
                  <a:pt x="85725" y="19050"/>
                </a:lnTo>
                <a:lnTo>
                  <a:pt x="47625" y="19050"/>
                </a:lnTo>
                <a:lnTo>
                  <a:pt x="47625" y="9525"/>
                </a:lnTo>
                <a:cubicBezTo>
                  <a:pt x="47625" y="4256"/>
                  <a:pt x="43369" y="0"/>
                  <a:pt x="38100" y="0"/>
                </a:cubicBezTo>
                <a:close/>
                <a:moveTo>
                  <a:pt x="0" y="66675"/>
                </a:moveTo>
                <a:lnTo>
                  <a:pt x="0" y="123825"/>
                </a:lnTo>
                <a:cubicBezTo>
                  <a:pt x="0" y="134332"/>
                  <a:pt x="8543" y="142875"/>
                  <a:pt x="19050" y="142875"/>
                </a:cubicBezTo>
                <a:lnTo>
                  <a:pt x="114300" y="142875"/>
                </a:lnTo>
                <a:cubicBezTo>
                  <a:pt x="124807" y="142875"/>
                  <a:pt x="133350" y="134332"/>
                  <a:pt x="133350" y="123825"/>
                </a:cubicBezTo>
                <a:lnTo>
                  <a:pt x="133350" y="66675"/>
                </a:lnTo>
                <a:lnTo>
                  <a:pt x="0" y="66675"/>
                </a:lnTo>
                <a:close/>
              </a:path>
            </a:pathLst>
          </a:custGeom>
          <a:solidFill>
            <a:srgbClr val="D4A26A"/>
          </a:solidFill>
          <a:ln/>
        </p:spPr>
      </p:sp>
      <p:sp>
        <p:nvSpPr>
          <p:cNvPr id="13" name="Text 10"/>
          <p:cNvSpPr/>
          <p:nvPr/>
        </p:nvSpPr>
        <p:spPr>
          <a:xfrm>
            <a:off x="647700" y="6248400"/>
            <a:ext cx="419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2E8F0">
                    <a:alpha val="5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2026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1319213" y="628650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33350" y="61258"/>
                </a:moveTo>
                <a:cubicBezTo>
                  <a:pt x="128945" y="64175"/>
                  <a:pt x="123885" y="66526"/>
                  <a:pt x="118616" y="68401"/>
                </a:cubicBezTo>
                <a:cubicBezTo>
                  <a:pt x="104626" y="73402"/>
                  <a:pt x="86261" y="76200"/>
                  <a:pt x="66675" y="76200"/>
                </a:cubicBezTo>
                <a:cubicBezTo>
                  <a:pt x="47089" y="76200"/>
                  <a:pt x="28694" y="73372"/>
                  <a:pt x="14734" y="68401"/>
                </a:cubicBezTo>
                <a:cubicBezTo>
                  <a:pt x="9495" y="66526"/>
                  <a:pt x="4405" y="64175"/>
                  <a:pt x="0" y="61258"/>
                </a:cubicBezTo>
                <a:lnTo>
                  <a:pt x="0" y="85725"/>
                </a:lnTo>
                <a:cubicBezTo>
                  <a:pt x="0" y="98881"/>
                  <a:pt x="29855" y="109537"/>
                  <a:pt x="66675" y="109537"/>
                </a:cubicBezTo>
                <a:cubicBezTo>
                  <a:pt x="103495" y="109537"/>
                  <a:pt x="133350" y="98881"/>
                  <a:pt x="133350" y="85725"/>
                </a:cubicBezTo>
                <a:lnTo>
                  <a:pt x="133350" y="61258"/>
                </a:lnTo>
                <a:close/>
                <a:moveTo>
                  <a:pt x="133350" y="38100"/>
                </a:moveTo>
                <a:lnTo>
                  <a:pt x="133350" y="23813"/>
                </a:lnTo>
                <a:cubicBezTo>
                  <a:pt x="133350" y="10656"/>
                  <a:pt x="103495" y="0"/>
                  <a:pt x="66675" y="0"/>
                </a:cubicBezTo>
                <a:cubicBezTo>
                  <a:pt x="29855" y="0"/>
                  <a:pt x="0" y="10656"/>
                  <a:pt x="0" y="23813"/>
                </a:cubicBezTo>
                <a:lnTo>
                  <a:pt x="0" y="38100"/>
                </a:lnTo>
                <a:cubicBezTo>
                  <a:pt x="0" y="51256"/>
                  <a:pt x="29855" y="61912"/>
                  <a:pt x="66675" y="61912"/>
                </a:cubicBezTo>
                <a:cubicBezTo>
                  <a:pt x="103495" y="61912"/>
                  <a:pt x="133350" y="51256"/>
                  <a:pt x="133350" y="38100"/>
                </a:cubicBezTo>
                <a:close/>
                <a:moveTo>
                  <a:pt x="118616" y="116026"/>
                </a:moveTo>
                <a:cubicBezTo>
                  <a:pt x="104656" y="120997"/>
                  <a:pt x="86291" y="123825"/>
                  <a:pt x="66675" y="123825"/>
                </a:cubicBezTo>
                <a:cubicBezTo>
                  <a:pt x="47059" y="123825"/>
                  <a:pt x="28694" y="120997"/>
                  <a:pt x="14734" y="116026"/>
                </a:cubicBezTo>
                <a:cubicBezTo>
                  <a:pt x="9495" y="114151"/>
                  <a:pt x="4405" y="111800"/>
                  <a:pt x="0" y="108883"/>
                </a:cubicBezTo>
                <a:lnTo>
                  <a:pt x="0" y="128588"/>
                </a:lnTo>
                <a:cubicBezTo>
                  <a:pt x="0" y="141744"/>
                  <a:pt x="29855" y="152400"/>
                  <a:pt x="66675" y="152400"/>
                </a:cubicBezTo>
                <a:cubicBezTo>
                  <a:pt x="103495" y="152400"/>
                  <a:pt x="133350" y="141744"/>
                  <a:pt x="133350" y="128588"/>
                </a:cubicBezTo>
                <a:lnTo>
                  <a:pt x="133350" y="108883"/>
                </a:lnTo>
                <a:cubicBezTo>
                  <a:pt x="128945" y="111800"/>
                  <a:pt x="123885" y="114151"/>
                  <a:pt x="118616" y="116026"/>
                </a:cubicBezTo>
                <a:close/>
              </a:path>
            </a:pathLst>
          </a:custGeom>
          <a:solidFill>
            <a:srgbClr val="D4A26A"/>
          </a:solidFill>
          <a:ln/>
        </p:spPr>
      </p:sp>
      <p:sp>
        <p:nvSpPr>
          <p:cNvPr id="15" name="Text 12"/>
          <p:cNvSpPr/>
          <p:nvPr/>
        </p:nvSpPr>
        <p:spPr>
          <a:xfrm>
            <a:off x="1557338" y="6248400"/>
            <a:ext cx="1238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2E8F0">
                    <a:alpha val="5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120,000+ Articles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3045738" y="62865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23813"/>
                </a:moveTo>
                <a:cubicBezTo>
                  <a:pt x="0" y="15925"/>
                  <a:pt x="6400" y="9525"/>
                  <a:pt x="14288" y="9525"/>
                </a:cubicBezTo>
                <a:lnTo>
                  <a:pt x="42863" y="9525"/>
                </a:lnTo>
                <a:cubicBezTo>
                  <a:pt x="50750" y="9525"/>
                  <a:pt x="57150" y="15925"/>
                  <a:pt x="57150" y="23813"/>
                </a:cubicBezTo>
                <a:lnTo>
                  <a:pt x="57150" y="28575"/>
                </a:lnTo>
                <a:lnTo>
                  <a:pt x="95250" y="28575"/>
                </a:lnTo>
                <a:lnTo>
                  <a:pt x="95250" y="23813"/>
                </a:lnTo>
                <a:cubicBezTo>
                  <a:pt x="95250" y="15925"/>
                  <a:pt x="101650" y="9525"/>
                  <a:pt x="109537" y="9525"/>
                </a:cubicBezTo>
                <a:lnTo>
                  <a:pt x="138113" y="9525"/>
                </a:lnTo>
                <a:cubicBezTo>
                  <a:pt x="146000" y="9525"/>
                  <a:pt x="152400" y="15925"/>
                  <a:pt x="152400" y="23813"/>
                </a:cubicBezTo>
                <a:lnTo>
                  <a:pt x="152400" y="52388"/>
                </a:lnTo>
                <a:cubicBezTo>
                  <a:pt x="152400" y="60275"/>
                  <a:pt x="146000" y="66675"/>
                  <a:pt x="138113" y="66675"/>
                </a:cubicBezTo>
                <a:lnTo>
                  <a:pt x="109537" y="66675"/>
                </a:lnTo>
                <a:cubicBezTo>
                  <a:pt x="101650" y="66675"/>
                  <a:pt x="95250" y="60275"/>
                  <a:pt x="95250" y="52388"/>
                </a:cubicBezTo>
                <a:lnTo>
                  <a:pt x="95250" y="47625"/>
                </a:lnTo>
                <a:lnTo>
                  <a:pt x="57150" y="47625"/>
                </a:lnTo>
                <a:lnTo>
                  <a:pt x="57150" y="52388"/>
                </a:lnTo>
                <a:cubicBezTo>
                  <a:pt x="57150" y="54560"/>
                  <a:pt x="56644" y="56644"/>
                  <a:pt x="55781" y="58489"/>
                </a:cubicBezTo>
                <a:lnTo>
                  <a:pt x="76200" y="85725"/>
                </a:lnTo>
                <a:lnTo>
                  <a:pt x="100013" y="85725"/>
                </a:lnTo>
                <a:cubicBezTo>
                  <a:pt x="107900" y="85725"/>
                  <a:pt x="114300" y="92125"/>
                  <a:pt x="114300" y="100013"/>
                </a:cubicBezTo>
                <a:lnTo>
                  <a:pt x="114300" y="128588"/>
                </a:lnTo>
                <a:cubicBezTo>
                  <a:pt x="114300" y="136475"/>
                  <a:pt x="107900" y="142875"/>
                  <a:pt x="100013" y="142875"/>
                </a:cubicBezTo>
                <a:lnTo>
                  <a:pt x="71438" y="142875"/>
                </a:lnTo>
                <a:cubicBezTo>
                  <a:pt x="63550" y="142875"/>
                  <a:pt x="57150" y="136475"/>
                  <a:pt x="57150" y="128588"/>
                </a:cubicBezTo>
                <a:lnTo>
                  <a:pt x="57150" y="100013"/>
                </a:lnTo>
                <a:cubicBezTo>
                  <a:pt x="57150" y="97840"/>
                  <a:pt x="57656" y="95756"/>
                  <a:pt x="58519" y="93911"/>
                </a:cubicBezTo>
                <a:lnTo>
                  <a:pt x="38100" y="66675"/>
                </a:lnTo>
                <a:lnTo>
                  <a:pt x="14288" y="66675"/>
                </a:lnTo>
                <a:cubicBezTo>
                  <a:pt x="6400" y="66675"/>
                  <a:pt x="0" y="60275"/>
                  <a:pt x="0" y="52388"/>
                </a:cubicBezTo>
                <a:lnTo>
                  <a:pt x="0" y="23813"/>
                </a:lnTo>
                <a:close/>
              </a:path>
            </a:pathLst>
          </a:custGeom>
          <a:solidFill>
            <a:srgbClr val="D4A26A"/>
          </a:solidFill>
          <a:ln/>
        </p:spPr>
      </p:sp>
      <p:sp>
        <p:nvSpPr>
          <p:cNvPr id="17" name="Text 14"/>
          <p:cNvSpPr/>
          <p:nvPr/>
        </p:nvSpPr>
        <p:spPr>
          <a:xfrm>
            <a:off x="3293388" y="6248400"/>
            <a:ext cx="1247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2E8F0">
                    <a:alpha val="5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Pattern Discovery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D4A2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AGENDA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Table of Contents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295400"/>
            <a:ext cx="914400" cy="38100"/>
          </a:xfrm>
          <a:prstGeom prst="roundRect">
            <a:avLst>
              <a:gd name="adj" fmla="val 0"/>
            </a:avLst>
          </a:prstGeom>
          <a:solidFill>
            <a:srgbClr val="D4A26A"/>
          </a:solidFill>
          <a:ln/>
        </p:spPr>
      </p:sp>
      <p:sp>
        <p:nvSpPr>
          <p:cNvPr id="5" name="Shape 3"/>
          <p:cNvSpPr/>
          <p:nvPr/>
        </p:nvSpPr>
        <p:spPr>
          <a:xfrm>
            <a:off x="400050" y="1638300"/>
            <a:ext cx="5581650" cy="1543050"/>
          </a:xfrm>
          <a:custGeom>
            <a:avLst/>
            <a:gdLst/>
            <a:ahLst/>
            <a:cxnLst/>
            <a:rect l="l" t="t" r="r" b="b"/>
            <a:pathLst>
              <a:path w="5581650" h="1543050">
                <a:moveTo>
                  <a:pt x="0" y="0"/>
                </a:moveTo>
                <a:lnTo>
                  <a:pt x="5505450" y="0"/>
                </a:lnTo>
                <a:cubicBezTo>
                  <a:pt x="5547506" y="0"/>
                  <a:pt x="5581650" y="34144"/>
                  <a:pt x="5581650" y="76200"/>
                </a:cubicBezTo>
                <a:lnTo>
                  <a:pt x="5581650" y="1466850"/>
                </a:lnTo>
                <a:cubicBezTo>
                  <a:pt x="5581650" y="1508906"/>
                  <a:pt x="5547506" y="1543050"/>
                  <a:pt x="5505450" y="1543050"/>
                </a:cubicBezTo>
                <a:lnTo>
                  <a:pt x="0" y="1543050"/>
                </a:lnTo>
                <a:lnTo>
                  <a:pt x="0" y="0"/>
                </a:lnTo>
                <a:close/>
              </a:path>
            </a:pathLst>
          </a:custGeom>
          <a:solidFill>
            <a:srgbClr val="4A5568">
              <a:alpha val="2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00050" y="1638300"/>
            <a:ext cx="38100" cy="1543050"/>
          </a:xfrm>
          <a:prstGeom prst="roundRect">
            <a:avLst>
              <a:gd name="adj" fmla="val 0"/>
            </a:avLst>
          </a:prstGeom>
          <a:solidFill>
            <a:srgbClr val="D4A26A"/>
          </a:solidFill>
          <a:ln/>
        </p:spPr>
      </p:sp>
      <p:sp>
        <p:nvSpPr>
          <p:cNvPr id="7" name="Shape 5"/>
          <p:cNvSpPr/>
          <p:nvPr/>
        </p:nvSpPr>
        <p:spPr>
          <a:xfrm>
            <a:off x="647700" y="1952625"/>
            <a:ext cx="533400" cy="533400"/>
          </a:xfrm>
          <a:prstGeom prst="roundRect">
            <a:avLst>
              <a:gd name="adj" fmla="val 14286"/>
            </a:avLst>
          </a:prstGeom>
          <a:solidFill>
            <a:srgbClr val="D4A26A">
              <a:alpha val="2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766048" y="2047875"/>
            <a:ext cx="4381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D4A2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33500" y="1952625"/>
            <a:ext cx="4533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Project Overview &amp; Objectives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33500" y="2371606"/>
            <a:ext cx="44958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Core goal, 9-week development timeline, and key milestones from preprocessing to empirical testing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229350" y="1638300"/>
            <a:ext cx="5581650" cy="1543050"/>
          </a:xfrm>
          <a:custGeom>
            <a:avLst/>
            <a:gdLst/>
            <a:ahLst/>
            <a:cxnLst/>
            <a:rect l="l" t="t" r="r" b="b"/>
            <a:pathLst>
              <a:path w="5581650" h="1543050">
                <a:moveTo>
                  <a:pt x="0" y="0"/>
                </a:moveTo>
                <a:lnTo>
                  <a:pt x="5505450" y="0"/>
                </a:lnTo>
                <a:cubicBezTo>
                  <a:pt x="5547506" y="0"/>
                  <a:pt x="5581650" y="34144"/>
                  <a:pt x="5581650" y="76200"/>
                </a:cubicBezTo>
                <a:lnTo>
                  <a:pt x="5581650" y="1466850"/>
                </a:lnTo>
                <a:cubicBezTo>
                  <a:pt x="5581650" y="1508906"/>
                  <a:pt x="5547506" y="1543050"/>
                  <a:pt x="5505450" y="1543050"/>
                </a:cubicBezTo>
                <a:lnTo>
                  <a:pt x="0" y="1543050"/>
                </a:lnTo>
                <a:lnTo>
                  <a:pt x="0" y="0"/>
                </a:lnTo>
                <a:close/>
              </a:path>
            </a:pathLst>
          </a:custGeom>
          <a:solidFill>
            <a:srgbClr val="4A5568">
              <a:alpha val="2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6229350" y="1638300"/>
            <a:ext cx="38100" cy="1543050"/>
          </a:xfrm>
          <a:prstGeom prst="roundRect">
            <a:avLst>
              <a:gd name="adj" fmla="val 0"/>
            </a:avLst>
          </a:prstGeom>
          <a:solidFill>
            <a:srgbClr val="6B7A8F"/>
          </a:solidFill>
          <a:ln/>
        </p:spPr>
      </p:sp>
      <p:sp>
        <p:nvSpPr>
          <p:cNvPr id="13" name="Shape 11"/>
          <p:cNvSpPr/>
          <p:nvPr/>
        </p:nvSpPr>
        <p:spPr>
          <a:xfrm>
            <a:off x="6477000" y="1952625"/>
            <a:ext cx="533400" cy="533400"/>
          </a:xfrm>
          <a:prstGeom prst="roundRect">
            <a:avLst>
              <a:gd name="adj" fmla="val 14286"/>
            </a:avLst>
          </a:prstGeom>
          <a:solidFill>
            <a:srgbClr val="6B7A8F">
              <a:alpha val="2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6569512" y="2047875"/>
            <a:ext cx="4953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6B7A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162800" y="1952625"/>
            <a:ext cx="4533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System Architecture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162800" y="2371606"/>
            <a:ext cx="44958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Unsupervised and supervised data mining pipelines, interactive visual discovery lab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00050" y="3409950"/>
            <a:ext cx="5581650" cy="1543050"/>
          </a:xfrm>
          <a:custGeom>
            <a:avLst/>
            <a:gdLst/>
            <a:ahLst/>
            <a:cxnLst/>
            <a:rect l="l" t="t" r="r" b="b"/>
            <a:pathLst>
              <a:path w="5581650" h="1543050">
                <a:moveTo>
                  <a:pt x="0" y="0"/>
                </a:moveTo>
                <a:lnTo>
                  <a:pt x="5505450" y="0"/>
                </a:lnTo>
                <a:cubicBezTo>
                  <a:pt x="5547506" y="0"/>
                  <a:pt x="5581650" y="34144"/>
                  <a:pt x="5581650" y="76200"/>
                </a:cubicBezTo>
                <a:lnTo>
                  <a:pt x="5581650" y="1466850"/>
                </a:lnTo>
                <a:cubicBezTo>
                  <a:pt x="5581650" y="1508906"/>
                  <a:pt x="5547506" y="1543050"/>
                  <a:pt x="5505450" y="1543050"/>
                </a:cubicBezTo>
                <a:lnTo>
                  <a:pt x="0" y="1543050"/>
                </a:lnTo>
                <a:lnTo>
                  <a:pt x="0" y="0"/>
                </a:lnTo>
                <a:close/>
              </a:path>
            </a:pathLst>
          </a:custGeom>
          <a:solidFill>
            <a:srgbClr val="4A5568">
              <a:alpha val="2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400050" y="3409950"/>
            <a:ext cx="38100" cy="1543050"/>
          </a:xfrm>
          <a:prstGeom prst="roundRect">
            <a:avLst>
              <a:gd name="adj" fmla="val 0"/>
            </a:avLst>
          </a:prstGeom>
          <a:solidFill>
            <a:srgbClr val="D4A26A"/>
          </a:solidFill>
          <a:ln/>
        </p:spPr>
      </p:sp>
      <p:sp>
        <p:nvSpPr>
          <p:cNvPr id="19" name="Shape 17"/>
          <p:cNvSpPr/>
          <p:nvPr/>
        </p:nvSpPr>
        <p:spPr>
          <a:xfrm>
            <a:off x="647700" y="3724275"/>
            <a:ext cx="533400" cy="533400"/>
          </a:xfrm>
          <a:prstGeom prst="roundRect">
            <a:avLst>
              <a:gd name="adj" fmla="val 14286"/>
            </a:avLst>
          </a:prstGeom>
          <a:solidFill>
            <a:srgbClr val="D4A26A">
              <a:alpha val="2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738902" y="3819525"/>
            <a:ext cx="4953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D4A2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333500" y="3724275"/>
            <a:ext cx="4533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Challenges &amp; Resolutions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333500" y="4143256"/>
            <a:ext cx="44958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Three critical technical obstacles and engineering solutions implemented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229350" y="3409950"/>
            <a:ext cx="5581650" cy="1543050"/>
          </a:xfrm>
          <a:custGeom>
            <a:avLst/>
            <a:gdLst/>
            <a:ahLst/>
            <a:cxnLst/>
            <a:rect l="l" t="t" r="r" b="b"/>
            <a:pathLst>
              <a:path w="5581650" h="1543050">
                <a:moveTo>
                  <a:pt x="0" y="0"/>
                </a:moveTo>
                <a:lnTo>
                  <a:pt x="5505450" y="0"/>
                </a:lnTo>
                <a:cubicBezTo>
                  <a:pt x="5547506" y="0"/>
                  <a:pt x="5581650" y="34144"/>
                  <a:pt x="5581650" y="76200"/>
                </a:cubicBezTo>
                <a:lnTo>
                  <a:pt x="5581650" y="1466850"/>
                </a:lnTo>
                <a:cubicBezTo>
                  <a:pt x="5581650" y="1508906"/>
                  <a:pt x="5547506" y="1543050"/>
                  <a:pt x="5505450" y="1543050"/>
                </a:cubicBezTo>
                <a:lnTo>
                  <a:pt x="0" y="1543050"/>
                </a:lnTo>
                <a:lnTo>
                  <a:pt x="0" y="0"/>
                </a:lnTo>
                <a:close/>
              </a:path>
            </a:pathLst>
          </a:custGeom>
          <a:solidFill>
            <a:srgbClr val="4A5568">
              <a:alpha val="2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6229350" y="3409950"/>
            <a:ext cx="38100" cy="1543050"/>
          </a:xfrm>
          <a:prstGeom prst="roundRect">
            <a:avLst>
              <a:gd name="adj" fmla="val 0"/>
            </a:avLst>
          </a:prstGeom>
          <a:solidFill>
            <a:srgbClr val="6B7A8F"/>
          </a:solidFill>
          <a:ln/>
        </p:spPr>
      </p:sp>
      <p:sp>
        <p:nvSpPr>
          <p:cNvPr id="25" name="Shape 23"/>
          <p:cNvSpPr/>
          <p:nvPr/>
        </p:nvSpPr>
        <p:spPr>
          <a:xfrm>
            <a:off x="6477000" y="3724275"/>
            <a:ext cx="533400" cy="533400"/>
          </a:xfrm>
          <a:prstGeom prst="roundRect">
            <a:avLst>
              <a:gd name="adj" fmla="val 14286"/>
            </a:avLst>
          </a:prstGeom>
          <a:solidFill>
            <a:srgbClr val="6B7A8F">
              <a:alpha val="2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6568321" y="3819525"/>
            <a:ext cx="4953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6B7A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162800" y="3724275"/>
            <a:ext cx="4533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Evaluation &amp; Results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162800" y="4143256"/>
            <a:ext cx="44958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Empirical metrics, SVM vs Naive Bayes benchmarks, and FP-Growth findings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00050" y="5181600"/>
            <a:ext cx="11410950" cy="1295400"/>
          </a:xfrm>
          <a:custGeom>
            <a:avLst/>
            <a:gdLst/>
            <a:ahLst/>
            <a:cxnLst/>
            <a:rect l="l" t="t" r="r" b="b"/>
            <a:pathLst>
              <a:path w="11410950" h="1295400">
                <a:moveTo>
                  <a:pt x="0" y="0"/>
                </a:moveTo>
                <a:lnTo>
                  <a:pt x="11334750" y="0"/>
                </a:lnTo>
                <a:cubicBezTo>
                  <a:pt x="11376806" y="0"/>
                  <a:pt x="11410950" y="34144"/>
                  <a:pt x="11410950" y="76200"/>
                </a:cubicBezTo>
                <a:lnTo>
                  <a:pt x="11410950" y="1219200"/>
                </a:lnTo>
                <a:cubicBezTo>
                  <a:pt x="11410950" y="1261256"/>
                  <a:pt x="11376806" y="1295400"/>
                  <a:pt x="11334750" y="1295400"/>
                </a:cubicBez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solidFill>
            <a:srgbClr val="4A5568">
              <a:alpha val="20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400050" y="5181600"/>
            <a:ext cx="38100" cy="1295400"/>
          </a:xfrm>
          <a:prstGeom prst="roundRect">
            <a:avLst>
              <a:gd name="adj" fmla="val 0"/>
            </a:avLst>
          </a:prstGeom>
          <a:solidFill>
            <a:srgbClr val="D4A26A"/>
          </a:solidFill>
          <a:ln/>
        </p:spPr>
      </p:sp>
      <p:sp>
        <p:nvSpPr>
          <p:cNvPr id="31" name="Shape 29"/>
          <p:cNvSpPr/>
          <p:nvPr/>
        </p:nvSpPr>
        <p:spPr>
          <a:xfrm>
            <a:off x="647700" y="5495925"/>
            <a:ext cx="533400" cy="533400"/>
          </a:xfrm>
          <a:prstGeom prst="roundRect">
            <a:avLst>
              <a:gd name="adj" fmla="val 14286"/>
            </a:avLst>
          </a:prstGeom>
          <a:solidFill>
            <a:srgbClr val="D4A26A">
              <a:alpha val="20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740926" y="5591175"/>
            <a:ext cx="4857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D4A2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333500" y="5495925"/>
            <a:ext cx="10363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Conclusion &amp; Future Scope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333500" y="5914906"/>
            <a:ext cx="103251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Summary of achievements and roadmap for time-series anomaly forecasting and live backend integration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5beqdm23l5qus/images/1_Neural_Network_Model_On_Dark_Background.png"/>
          <p:cNvPicPr>
            <a:picLocks noChangeAspect="1"/>
          </p:cNvPicPr>
          <p:nvPr/>
        </p:nvPicPr>
        <p:blipFill>
          <a:blip r:embed="rId3">
            <a:alphaModFix amt="30000"/>
          </a:blip>
          <a:srcRect l="3652" r="3652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rgbClr val="1A1D21">
                  <a:alpha val="98000"/>
                </a:srgbClr>
              </a:gs>
              <a:gs pos="50000">
                <a:srgbClr val="1A1D21">
                  <a:alpha val="9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400050" y="1976438"/>
            <a:ext cx="1276350" cy="381000"/>
          </a:xfrm>
          <a:prstGeom prst="roundRect">
            <a:avLst>
              <a:gd name="adj" fmla="val 0"/>
            </a:avLst>
          </a:prstGeom>
          <a:solidFill>
            <a:srgbClr val="D4A26A">
              <a:alpha val="20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400050" y="1976438"/>
            <a:ext cx="38100" cy="381000"/>
          </a:xfrm>
          <a:prstGeom prst="roundRect">
            <a:avLst>
              <a:gd name="adj" fmla="val 0"/>
            </a:avLst>
          </a:prstGeom>
          <a:solidFill>
            <a:srgbClr val="D4A26A"/>
          </a:solidFill>
          <a:ln/>
        </p:spPr>
      </p:sp>
      <p:sp>
        <p:nvSpPr>
          <p:cNvPr id="6" name="Text 3"/>
          <p:cNvSpPr/>
          <p:nvPr/>
        </p:nvSpPr>
        <p:spPr>
          <a:xfrm>
            <a:off x="571500" y="2052637"/>
            <a:ext cx="1028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D4A2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CHAPTER 01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1000" y="2586038"/>
            <a:ext cx="117157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5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Project Overview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45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&amp; Objectives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81000" y="4243388"/>
            <a:ext cx="1219200" cy="38100"/>
          </a:xfrm>
          <a:prstGeom prst="roundRect">
            <a:avLst>
              <a:gd name="adj" fmla="val 0"/>
            </a:avLst>
          </a:prstGeom>
          <a:solidFill>
            <a:srgbClr val="D4A26A"/>
          </a:solidFill>
          <a:ln/>
        </p:spPr>
      </p:sp>
      <p:sp>
        <p:nvSpPr>
          <p:cNvPr id="9" name="Text 6"/>
          <p:cNvSpPr/>
          <p:nvPr/>
        </p:nvSpPr>
        <p:spPr>
          <a:xfrm>
            <a:off x="381000" y="4510088"/>
            <a:ext cx="65151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Goal, timeline, and key objectives of the CDM module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D4A2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PROJECT OVERVIEW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Objectives &amp; Timeline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181100"/>
            <a:ext cx="914400" cy="38100"/>
          </a:xfrm>
          <a:prstGeom prst="roundRect">
            <a:avLst>
              <a:gd name="adj" fmla="val 0"/>
            </a:avLst>
          </a:prstGeom>
          <a:solidFill>
            <a:srgbClr val="D4A26A"/>
          </a:solidFill>
          <a:ln/>
        </p:spPr>
      </p:sp>
      <p:sp>
        <p:nvSpPr>
          <p:cNvPr id="5" name="Shape 3"/>
          <p:cNvSpPr/>
          <p:nvPr/>
        </p:nvSpPr>
        <p:spPr>
          <a:xfrm>
            <a:off x="384810" y="1375410"/>
            <a:ext cx="11418570" cy="1150620"/>
          </a:xfrm>
          <a:prstGeom prst="roundRect">
            <a:avLst>
              <a:gd name="adj" fmla="val 6623"/>
            </a:avLst>
          </a:prstGeom>
          <a:solidFill>
            <a:srgbClr val="4A5568">
              <a:alpha val="14902"/>
            </a:srgbClr>
          </a:solidFill>
          <a:ln w="10160">
            <a:solidFill>
              <a:srgbClr val="6B7A8F">
                <a:alpha val="30196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1020" y="1531620"/>
            <a:ext cx="457200" cy="457200"/>
          </a:xfrm>
          <a:prstGeom prst="roundRect">
            <a:avLst>
              <a:gd name="adj" fmla="val 16667"/>
            </a:avLst>
          </a:prstGeom>
          <a:solidFill>
            <a:srgbClr val="D4A26A">
              <a:alpha val="2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55320" y="164592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00025" y="114300"/>
                </a:moveTo>
                <a:cubicBezTo>
                  <a:pt x="200025" y="66987"/>
                  <a:pt x="161613" y="28575"/>
                  <a:pt x="114300" y="28575"/>
                </a:cubicBezTo>
                <a:cubicBezTo>
                  <a:pt x="66987" y="28575"/>
                  <a:pt x="28575" y="66987"/>
                  <a:pt x="28575" y="114300"/>
                </a:cubicBezTo>
                <a:cubicBezTo>
                  <a:pt x="28575" y="161613"/>
                  <a:pt x="66987" y="200025"/>
                  <a:pt x="114300" y="200025"/>
                </a:cubicBezTo>
                <a:cubicBezTo>
                  <a:pt x="161613" y="200025"/>
                  <a:pt x="200025" y="161613"/>
                  <a:pt x="200025" y="114300"/>
                </a:cubicBezTo>
                <a:close/>
                <a:moveTo>
                  <a:pt x="0" y="114300"/>
                </a:moveTo>
                <a:cubicBezTo>
                  <a:pt x="0" y="51216"/>
                  <a:pt x="51216" y="0"/>
                  <a:pt x="114300" y="0"/>
                </a:cubicBezTo>
                <a:cubicBezTo>
                  <a:pt x="177384" y="0"/>
                  <a:pt x="228600" y="51216"/>
                  <a:pt x="228600" y="114300"/>
                </a:cubicBezTo>
                <a:cubicBezTo>
                  <a:pt x="228600" y="177384"/>
                  <a:pt x="177384" y="228600"/>
                  <a:pt x="114300" y="228600"/>
                </a:cubicBezTo>
                <a:cubicBezTo>
                  <a:pt x="51216" y="228600"/>
                  <a:pt x="0" y="177384"/>
                  <a:pt x="0" y="114300"/>
                </a:cubicBezTo>
                <a:close/>
                <a:moveTo>
                  <a:pt x="114300" y="150019"/>
                </a:moveTo>
                <a:cubicBezTo>
                  <a:pt x="134014" y="150019"/>
                  <a:pt x="150019" y="134014"/>
                  <a:pt x="150019" y="114300"/>
                </a:cubicBezTo>
                <a:cubicBezTo>
                  <a:pt x="150019" y="94586"/>
                  <a:pt x="134014" y="78581"/>
                  <a:pt x="114300" y="78581"/>
                </a:cubicBezTo>
                <a:cubicBezTo>
                  <a:pt x="94586" y="78581"/>
                  <a:pt x="78581" y="94586"/>
                  <a:pt x="78581" y="114300"/>
                </a:cubicBezTo>
                <a:cubicBezTo>
                  <a:pt x="78581" y="134014"/>
                  <a:pt x="94586" y="150019"/>
                  <a:pt x="114300" y="150019"/>
                </a:cubicBezTo>
                <a:close/>
                <a:moveTo>
                  <a:pt x="114300" y="50006"/>
                </a:moveTo>
                <a:cubicBezTo>
                  <a:pt x="149785" y="50006"/>
                  <a:pt x="178594" y="78815"/>
                  <a:pt x="178594" y="114300"/>
                </a:cubicBezTo>
                <a:cubicBezTo>
                  <a:pt x="178594" y="149785"/>
                  <a:pt x="149785" y="178594"/>
                  <a:pt x="114300" y="178594"/>
                </a:cubicBezTo>
                <a:cubicBezTo>
                  <a:pt x="78815" y="178594"/>
                  <a:pt x="50006" y="149785"/>
                  <a:pt x="50006" y="114300"/>
                </a:cubicBezTo>
                <a:cubicBezTo>
                  <a:pt x="50006" y="78815"/>
                  <a:pt x="78815" y="50006"/>
                  <a:pt x="114300" y="50006"/>
                </a:cubicBezTo>
                <a:close/>
                <a:moveTo>
                  <a:pt x="100013" y="114300"/>
                </a:moveTo>
                <a:cubicBezTo>
                  <a:pt x="100013" y="106415"/>
                  <a:pt x="106415" y="100013"/>
                  <a:pt x="114300" y="100013"/>
                </a:cubicBezTo>
                <a:cubicBezTo>
                  <a:pt x="122185" y="100013"/>
                  <a:pt x="128588" y="106415"/>
                  <a:pt x="128588" y="114300"/>
                </a:cubicBezTo>
                <a:cubicBezTo>
                  <a:pt x="128588" y="122185"/>
                  <a:pt x="122185" y="128588"/>
                  <a:pt x="114300" y="128588"/>
                </a:cubicBezTo>
                <a:cubicBezTo>
                  <a:pt x="106415" y="128588"/>
                  <a:pt x="100013" y="122185"/>
                  <a:pt x="100013" y="114300"/>
                </a:cubicBezTo>
                <a:close/>
              </a:path>
            </a:pathLst>
          </a:custGeom>
          <a:solidFill>
            <a:srgbClr val="D4A26A"/>
          </a:solidFill>
          <a:ln/>
        </p:spPr>
      </p:sp>
      <p:sp>
        <p:nvSpPr>
          <p:cNvPr id="8" name="Text 6"/>
          <p:cNvSpPr/>
          <p:nvPr/>
        </p:nvSpPr>
        <p:spPr>
          <a:xfrm>
            <a:off x="1150620" y="1531620"/>
            <a:ext cx="10591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Core Objective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50620" y="1874520"/>
            <a:ext cx="105727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Engineer a </a:t>
            </a:r>
            <a:r>
              <a:rPr lang="en-US" sz="1200" b="1" dirty="0">
                <a:solidFill>
                  <a:srgbClr val="D4A2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secondary internal analysis lab</a:t>
            </a:r>
            <a:r>
              <a:rPr lang="en-US" sz="120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operating over a frozen news corpus to auto-categorize, cluster, and discover underlying event correlations analytically. While the IR system fulfills user queries, the CDM engine uncovers </a:t>
            </a:r>
            <a:r>
              <a:rPr lang="en-US" sz="1200" b="1" dirty="0">
                <a:solidFill>
                  <a:srgbClr val="D4A2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mathematically correlated subtext without external prompting</a:t>
            </a:r>
            <a:r>
              <a:rPr lang="en-US" sz="120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84810" y="2686051"/>
            <a:ext cx="11418570" cy="3789045"/>
          </a:xfrm>
          <a:prstGeom prst="roundRect">
            <a:avLst>
              <a:gd name="adj" fmla="val 2011"/>
            </a:avLst>
          </a:prstGeom>
          <a:solidFill>
            <a:srgbClr val="4A5568">
              <a:alpha val="14902"/>
            </a:srgbClr>
          </a:solidFill>
          <a:ln w="10160">
            <a:solidFill>
              <a:srgbClr val="6B7A8F">
                <a:alpha val="30196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76739" y="2880361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47625" y="0"/>
                </a:moveTo>
                <a:cubicBezTo>
                  <a:pt x="54211" y="0"/>
                  <a:pt x="59531" y="5321"/>
                  <a:pt x="59531" y="11906"/>
                </a:cubicBezTo>
                <a:lnTo>
                  <a:pt x="59531" y="23812"/>
                </a:lnTo>
                <a:lnTo>
                  <a:pt x="107156" y="23812"/>
                </a:lnTo>
                <a:lnTo>
                  <a:pt x="107156" y="11906"/>
                </a:lnTo>
                <a:cubicBezTo>
                  <a:pt x="107156" y="5321"/>
                  <a:pt x="112477" y="0"/>
                  <a:pt x="119063" y="0"/>
                </a:cubicBezTo>
                <a:cubicBezTo>
                  <a:pt x="125648" y="0"/>
                  <a:pt x="130969" y="5321"/>
                  <a:pt x="130969" y="11906"/>
                </a:cubicBezTo>
                <a:lnTo>
                  <a:pt x="130969" y="23812"/>
                </a:lnTo>
                <a:lnTo>
                  <a:pt x="142875" y="23812"/>
                </a:lnTo>
                <a:cubicBezTo>
                  <a:pt x="156009" y="23812"/>
                  <a:pt x="166688" y="34491"/>
                  <a:pt x="166688" y="47625"/>
                </a:cubicBezTo>
                <a:lnTo>
                  <a:pt x="166688" y="154781"/>
                </a:lnTo>
                <a:cubicBezTo>
                  <a:pt x="166688" y="167915"/>
                  <a:pt x="156009" y="178594"/>
                  <a:pt x="142875" y="178594"/>
                </a:cubicBezTo>
                <a:lnTo>
                  <a:pt x="23812" y="178594"/>
                </a:lnTo>
                <a:cubicBezTo>
                  <a:pt x="10678" y="178594"/>
                  <a:pt x="0" y="167915"/>
                  <a:pt x="0" y="154781"/>
                </a:cubicBezTo>
                <a:lnTo>
                  <a:pt x="0" y="47625"/>
                </a:lnTo>
                <a:cubicBezTo>
                  <a:pt x="0" y="34491"/>
                  <a:pt x="10678" y="23812"/>
                  <a:pt x="23812" y="23812"/>
                </a:cubicBezTo>
                <a:lnTo>
                  <a:pt x="35719" y="23812"/>
                </a:lnTo>
                <a:lnTo>
                  <a:pt x="35719" y="11906"/>
                </a:lnTo>
                <a:cubicBezTo>
                  <a:pt x="35719" y="5321"/>
                  <a:pt x="41039" y="0"/>
                  <a:pt x="47625" y="0"/>
                </a:cubicBezTo>
                <a:close/>
                <a:moveTo>
                  <a:pt x="23812" y="89297"/>
                </a:moveTo>
                <a:lnTo>
                  <a:pt x="23812" y="101203"/>
                </a:lnTo>
                <a:cubicBezTo>
                  <a:pt x="23812" y="104477"/>
                  <a:pt x="26491" y="107156"/>
                  <a:pt x="29766" y="107156"/>
                </a:cubicBezTo>
                <a:lnTo>
                  <a:pt x="41672" y="107156"/>
                </a:lnTo>
                <a:cubicBezTo>
                  <a:pt x="44946" y="107156"/>
                  <a:pt x="47625" y="104477"/>
                  <a:pt x="47625" y="101203"/>
                </a:cubicBezTo>
                <a:lnTo>
                  <a:pt x="47625" y="89297"/>
                </a:lnTo>
                <a:cubicBezTo>
                  <a:pt x="47625" y="86023"/>
                  <a:pt x="44946" y="83344"/>
                  <a:pt x="41672" y="83344"/>
                </a:cubicBezTo>
                <a:lnTo>
                  <a:pt x="29766" y="83344"/>
                </a:lnTo>
                <a:cubicBezTo>
                  <a:pt x="26491" y="83344"/>
                  <a:pt x="23812" y="86023"/>
                  <a:pt x="23812" y="89297"/>
                </a:cubicBezTo>
                <a:close/>
                <a:moveTo>
                  <a:pt x="71438" y="89297"/>
                </a:moveTo>
                <a:lnTo>
                  <a:pt x="71438" y="101203"/>
                </a:lnTo>
                <a:cubicBezTo>
                  <a:pt x="71438" y="104477"/>
                  <a:pt x="74116" y="107156"/>
                  <a:pt x="77391" y="107156"/>
                </a:cubicBezTo>
                <a:lnTo>
                  <a:pt x="89297" y="107156"/>
                </a:lnTo>
                <a:cubicBezTo>
                  <a:pt x="92571" y="107156"/>
                  <a:pt x="95250" y="104477"/>
                  <a:pt x="95250" y="101203"/>
                </a:cubicBezTo>
                <a:lnTo>
                  <a:pt x="95250" y="89297"/>
                </a:lnTo>
                <a:cubicBezTo>
                  <a:pt x="95250" y="86023"/>
                  <a:pt x="92571" y="83344"/>
                  <a:pt x="89297" y="83344"/>
                </a:cubicBezTo>
                <a:lnTo>
                  <a:pt x="77391" y="83344"/>
                </a:lnTo>
                <a:cubicBezTo>
                  <a:pt x="74116" y="83344"/>
                  <a:pt x="71438" y="86023"/>
                  <a:pt x="71438" y="89297"/>
                </a:cubicBezTo>
                <a:close/>
                <a:moveTo>
                  <a:pt x="125016" y="83344"/>
                </a:moveTo>
                <a:cubicBezTo>
                  <a:pt x="121741" y="83344"/>
                  <a:pt x="119063" y="86023"/>
                  <a:pt x="119063" y="89297"/>
                </a:cubicBezTo>
                <a:lnTo>
                  <a:pt x="119063" y="101203"/>
                </a:lnTo>
                <a:cubicBezTo>
                  <a:pt x="119063" y="104477"/>
                  <a:pt x="121741" y="107156"/>
                  <a:pt x="125016" y="107156"/>
                </a:cubicBezTo>
                <a:lnTo>
                  <a:pt x="136922" y="107156"/>
                </a:lnTo>
                <a:cubicBezTo>
                  <a:pt x="140196" y="107156"/>
                  <a:pt x="142875" y="104477"/>
                  <a:pt x="142875" y="101203"/>
                </a:cubicBezTo>
                <a:lnTo>
                  <a:pt x="142875" y="89297"/>
                </a:lnTo>
                <a:cubicBezTo>
                  <a:pt x="142875" y="86023"/>
                  <a:pt x="140196" y="83344"/>
                  <a:pt x="136922" y="83344"/>
                </a:cubicBezTo>
                <a:lnTo>
                  <a:pt x="125016" y="83344"/>
                </a:lnTo>
                <a:close/>
                <a:moveTo>
                  <a:pt x="23812" y="136922"/>
                </a:moveTo>
                <a:lnTo>
                  <a:pt x="23812" y="148828"/>
                </a:lnTo>
                <a:cubicBezTo>
                  <a:pt x="23812" y="152102"/>
                  <a:pt x="26491" y="154781"/>
                  <a:pt x="29766" y="154781"/>
                </a:cubicBezTo>
                <a:lnTo>
                  <a:pt x="41672" y="154781"/>
                </a:lnTo>
                <a:cubicBezTo>
                  <a:pt x="44946" y="154781"/>
                  <a:pt x="47625" y="152102"/>
                  <a:pt x="47625" y="148828"/>
                </a:cubicBezTo>
                <a:lnTo>
                  <a:pt x="47625" y="136922"/>
                </a:lnTo>
                <a:cubicBezTo>
                  <a:pt x="47625" y="133648"/>
                  <a:pt x="44946" y="130969"/>
                  <a:pt x="41672" y="130969"/>
                </a:cubicBezTo>
                <a:lnTo>
                  <a:pt x="29766" y="130969"/>
                </a:lnTo>
                <a:cubicBezTo>
                  <a:pt x="26491" y="130969"/>
                  <a:pt x="23812" y="133648"/>
                  <a:pt x="23812" y="136922"/>
                </a:cubicBezTo>
                <a:close/>
                <a:moveTo>
                  <a:pt x="77391" y="130969"/>
                </a:moveTo>
                <a:cubicBezTo>
                  <a:pt x="74116" y="130969"/>
                  <a:pt x="71438" y="133648"/>
                  <a:pt x="71438" y="136922"/>
                </a:cubicBezTo>
                <a:lnTo>
                  <a:pt x="71438" y="148828"/>
                </a:lnTo>
                <a:cubicBezTo>
                  <a:pt x="71438" y="152102"/>
                  <a:pt x="74116" y="154781"/>
                  <a:pt x="77391" y="154781"/>
                </a:cubicBezTo>
                <a:lnTo>
                  <a:pt x="89297" y="154781"/>
                </a:lnTo>
                <a:cubicBezTo>
                  <a:pt x="92571" y="154781"/>
                  <a:pt x="95250" y="152102"/>
                  <a:pt x="95250" y="148828"/>
                </a:cubicBezTo>
                <a:lnTo>
                  <a:pt x="95250" y="136922"/>
                </a:lnTo>
                <a:cubicBezTo>
                  <a:pt x="95250" y="133648"/>
                  <a:pt x="92571" y="130969"/>
                  <a:pt x="89297" y="130969"/>
                </a:cubicBezTo>
                <a:lnTo>
                  <a:pt x="77391" y="130969"/>
                </a:lnTo>
                <a:close/>
                <a:moveTo>
                  <a:pt x="119063" y="136922"/>
                </a:moveTo>
                <a:lnTo>
                  <a:pt x="119063" y="148828"/>
                </a:lnTo>
                <a:cubicBezTo>
                  <a:pt x="119063" y="152102"/>
                  <a:pt x="121741" y="154781"/>
                  <a:pt x="125016" y="154781"/>
                </a:cubicBezTo>
                <a:lnTo>
                  <a:pt x="136922" y="154781"/>
                </a:lnTo>
                <a:cubicBezTo>
                  <a:pt x="140196" y="154781"/>
                  <a:pt x="142875" y="152102"/>
                  <a:pt x="142875" y="148828"/>
                </a:cubicBezTo>
                <a:lnTo>
                  <a:pt x="142875" y="136922"/>
                </a:lnTo>
                <a:cubicBezTo>
                  <a:pt x="142875" y="133648"/>
                  <a:pt x="140196" y="130969"/>
                  <a:pt x="136922" y="130969"/>
                </a:cubicBezTo>
                <a:lnTo>
                  <a:pt x="125016" y="130969"/>
                </a:lnTo>
                <a:cubicBezTo>
                  <a:pt x="121741" y="130969"/>
                  <a:pt x="119063" y="133648"/>
                  <a:pt x="119063" y="136922"/>
                </a:cubicBezTo>
                <a:close/>
              </a:path>
            </a:pathLst>
          </a:custGeom>
          <a:solidFill>
            <a:srgbClr val="D4A26A"/>
          </a:solidFill>
          <a:ln/>
        </p:spPr>
      </p:sp>
      <p:sp>
        <p:nvSpPr>
          <p:cNvPr id="12" name="Text 10"/>
          <p:cNvSpPr/>
          <p:nvPr/>
        </p:nvSpPr>
        <p:spPr>
          <a:xfrm>
            <a:off x="779145" y="2842261"/>
            <a:ext cx="109632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9-Week Development Timeline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3223261"/>
            <a:ext cx="3617595" cy="914400"/>
          </a:xfrm>
          <a:custGeom>
            <a:avLst/>
            <a:gdLst/>
            <a:ahLst/>
            <a:cxnLst/>
            <a:rect l="l" t="t" r="r" b="b"/>
            <a:pathLst>
              <a:path w="3617595" h="914400">
                <a:moveTo>
                  <a:pt x="15240" y="0"/>
                </a:moveTo>
                <a:lnTo>
                  <a:pt x="3541395" y="0"/>
                </a:lnTo>
                <a:cubicBezTo>
                  <a:pt x="3583451" y="0"/>
                  <a:pt x="3617595" y="34144"/>
                  <a:pt x="3617595" y="76200"/>
                </a:cubicBezTo>
                <a:lnTo>
                  <a:pt x="3617595" y="838200"/>
                </a:lnTo>
                <a:cubicBezTo>
                  <a:pt x="3617595" y="880256"/>
                  <a:pt x="3583451" y="914400"/>
                  <a:pt x="3541395" y="914400"/>
                </a:cubicBezTo>
                <a:lnTo>
                  <a:pt x="15240" y="914400"/>
                </a:lnTo>
                <a:cubicBezTo>
                  <a:pt x="6823" y="914400"/>
                  <a:pt x="0" y="907577"/>
                  <a:pt x="0" y="899160"/>
                </a:cubicBezTo>
                <a:lnTo>
                  <a:pt x="0" y="15240"/>
                </a:lnTo>
                <a:cubicBezTo>
                  <a:pt x="0" y="6829"/>
                  <a:pt x="6829" y="0"/>
                  <a:pt x="1524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548640" y="3223261"/>
            <a:ext cx="15240" cy="914400"/>
          </a:xfrm>
          <a:custGeom>
            <a:avLst/>
            <a:gdLst/>
            <a:ahLst/>
            <a:cxnLst/>
            <a:rect l="l" t="t" r="r" b="b"/>
            <a:pathLst>
              <a:path w="15240" h="914400">
                <a:moveTo>
                  <a:pt x="15240" y="0"/>
                </a:moveTo>
                <a:lnTo>
                  <a:pt x="15240" y="0"/>
                </a:lnTo>
                <a:lnTo>
                  <a:pt x="15240" y="914400"/>
                </a:lnTo>
                <a:lnTo>
                  <a:pt x="15240" y="914400"/>
                </a:lnTo>
                <a:cubicBezTo>
                  <a:pt x="6823" y="914400"/>
                  <a:pt x="0" y="907577"/>
                  <a:pt x="0" y="899160"/>
                </a:cubicBezTo>
                <a:lnTo>
                  <a:pt x="0" y="15240"/>
                </a:lnTo>
                <a:cubicBezTo>
                  <a:pt x="0" y="6829"/>
                  <a:pt x="6829" y="0"/>
                  <a:pt x="15240" y="0"/>
                </a:cubicBezTo>
                <a:close/>
              </a:path>
            </a:pathLst>
          </a:custGeom>
          <a:solidFill>
            <a:srgbClr val="D4A26A"/>
          </a:solidFill>
          <a:ln/>
        </p:spPr>
      </p:sp>
      <p:sp>
        <p:nvSpPr>
          <p:cNvPr id="15" name="Shape 13"/>
          <p:cNvSpPr/>
          <p:nvPr/>
        </p:nvSpPr>
        <p:spPr>
          <a:xfrm>
            <a:off x="670560" y="3337561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D4A26A">
              <a:alpha val="2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711875" y="3375661"/>
            <a:ext cx="247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D4A2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1-2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13460" y="3375661"/>
            <a:ext cx="1219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Preprocessing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70560" y="3642361"/>
            <a:ext cx="34480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Cleaned 120k row frozen_corpus.csv, generated unified Pandas structures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290060" y="3223261"/>
            <a:ext cx="3617595" cy="914400"/>
          </a:xfrm>
          <a:custGeom>
            <a:avLst/>
            <a:gdLst/>
            <a:ahLst/>
            <a:cxnLst/>
            <a:rect l="l" t="t" r="r" b="b"/>
            <a:pathLst>
              <a:path w="3617595" h="914400">
                <a:moveTo>
                  <a:pt x="15240" y="0"/>
                </a:moveTo>
                <a:lnTo>
                  <a:pt x="3541395" y="0"/>
                </a:lnTo>
                <a:cubicBezTo>
                  <a:pt x="3583451" y="0"/>
                  <a:pt x="3617595" y="34144"/>
                  <a:pt x="3617595" y="76200"/>
                </a:cubicBezTo>
                <a:lnTo>
                  <a:pt x="3617595" y="838200"/>
                </a:lnTo>
                <a:cubicBezTo>
                  <a:pt x="3617595" y="880256"/>
                  <a:pt x="3583451" y="914400"/>
                  <a:pt x="3541395" y="914400"/>
                </a:cubicBezTo>
                <a:lnTo>
                  <a:pt x="15240" y="914400"/>
                </a:lnTo>
                <a:cubicBezTo>
                  <a:pt x="6823" y="914400"/>
                  <a:pt x="0" y="907577"/>
                  <a:pt x="0" y="899160"/>
                </a:cubicBezTo>
                <a:lnTo>
                  <a:pt x="0" y="15240"/>
                </a:lnTo>
                <a:cubicBezTo>
                  <a:pt x="0" y="6829"/>
                  <a:pt x="6829" y="0"/>
                  <a:pt x="1524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4290060" y="3223261"/>
            <a:ext cx="15240" cy="914400"/>
          </a:xfrm>
          <a:custGeom>
            <a:avLst/>
            <a:gdLst/>
            <a:ahLst/>
            <a:cxnLst/>
            <a:rect l="l" t="t" r="r" b="b"/>
            <a:pathLst>
              <a:path w="15240" h="914400">
                <a:moveTo>
                  <a:pt x="15240" y="0"/>
                </a:moveTo>
                <a:lnTo>
                  <a:pt x="15240" y="0"/>
                </a:lnTo>
                <a:lnTo>
                  <a:pt x="15240" y="914400"/>
                </a:lnTo>
                <a:lnTo>
                  <a:pt x="15240" y="914400"/>
                </a:lnTo>
                <a:cubicBezTo>
                  <a:pt x="6823" y="914400"/>
                  <a:pt x="0" y="907577"/>
                  <a:pt x="0" y="899160"/>
                </a:cubicBezTo>
                <a:lnTo>
                  <a:pt x="0" y="15240"/>
                </a:lnTo>
                <a:cubicBezTo>
                  <a:pt x="0" y="6829"/>
                  <a:pt x="6829" y="0"/>
                  <a:pt x="15240" y="0"/>
                </a:cubicBezTo>
                <a:close/>
              </a:path>
            </a:pathLst>
          </a:custGeom>
          <a:solidFill>
            <a:srgbClr val="6B7A8F"/>
          </a:solidFill>
          <a:ln/>
        </p:spPr>
      </p:sp>
      <p:sp>
        <p:nvSpPr>
          <p:cNvPr id="21" name="Shape 19"/>
          <p:cNvSpPr/>
          <p:nvPr/>
        </p:nvSpPr>
        <p:spPr>
          <a:xfrm>
            <a:off x="4411980" y="3337561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6B7A8F">
              <a:alpha val="2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4505920" y="3375661"/>
            <a:ext cx="142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6B7A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754880" y="3375661"/>
            <a:ext cx="1171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Text Normalization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411980" y="3642361"/>
            <a:ext cx="34480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Vectorized content using 5,000-feature TF-IDF maps, tested memory safety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8031480" y="3223261"/>
            <a:ext cx="3617595" cy="914400"/>
          </a:xfrm>
          <a:custGeom>
            <a:avLst/>
            <a:gdLst/>
            <a:ahLst/>
            <a:cxnLst/>
            <a:rect l="l" t="t" r="r" b="b"/>
            <a:pathLst>
              <a:path w="3617595" h="914400">
                <a:moveTo>
                  <a:pt x="15240" y="0"/>
                </a:moveTo>
                <a:lnTo>
                  <a:pt x="3541395" y="0"/>
                </a:lnTo>
                <a:cubicBezTo>
                  <a:pt x="3583451" y="0"/>
                  <a:pt x="3617595" y="34144"/>
                  <a:pt x="3617595" y="76200"/>
                </a:cubicBezTo>
                <a:lnTo>
                  <a:pt x="3617595" y="838200"/>
                </a:lnTo>
                <a:cubicBezTo>
                  <a:pt x="3617595" y="880256"/>
                  <a:pt x="3583451" y="914400"/>
                  <a:pt x="3541395" y="914400"/>
                </a:cubicBezTo>
                <a:lnTo>
                  <a:pt x="15240" y="914400"/>
                </a:lnTo>
                <a:cubicBezTo>
                  <a:pt x="6823" y="914400"/>
                  <a:pt x="0" y="907577"/>
                  <a:pt x="0" y="899160"/>
                </a:cubicBezTo>
                <a:lnTo>
                  <a:pt x="0" y="15240"/>
                </a:lnTo>
                <a:cubicBezTo>
                  <a:pt x="0" y="6829"/>
                  <a:pt x="6829" y="0"/>
                  <a:pt x="1524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8031480" y="3223261"/>
            <a:ext cx="15240" cy="914400"/>
          </a:xfrm>
          <a:custGeom>
            <a:avLst/>
            <a:gdLst/>
            <a:ahLst/>
            <a:cxnLst/>
            <a:rect l="l" t="t" r="r" b="b"/>
            <a:pathLst>
              <a:path w="15240" h="914400">
                <a:moveTo>
                  <a:pt x="15240" y="0"/>
                </a:moveTo>
                <a:lnTo>
                  <a:pt x="15240" y="0"/>
                </a:lnTo>
                <a:lnTo>
                  <a:pt x="15240" y="914400"/>
                </a:lnTo>
                <a:lnTo>
                  <a:pt x="15240" y="914400"/>
                </a:lnTo>
                <a:cubicBezTo>
                  <a:pt x="6823" y="914400"/>
                  <a:pt x="0" y="907577"/>
                  <a:pt x="0" y="899160"/>
                </a:cubicBezTo>
                <a:lnTo>
                  <a:pt x="0" y="15240"/>
                </a:lnTo>
                <a:cubicBezTo>
                  <a:pt x="0" y="6829"/>
                  <a:pt x="6829" y="0"/>
                  <a:pt x="15240" y="0"/>
                </a:cubicBezTo>
                <a:close/>
              </a:path>
            </a:pathLst>
          </a:custGeom>
          <a:solidFill>
            <a:srgbClr val="D4A26A"/>
          </a:solidFill>
          <a:ln/>
        </p:spPr>
      </p:sp>
      <p:sp>
        <p:nvSpPr>
          <p:cNvPr id="27" name="Shape 25"/>
          <p:cNvSpPr/>
          <p:nvPr/>
        </p:nvSpPr>
        <p:spPr>
          <a:xfrm>
            <a:off x="8153400" y="3337561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D4A26A">
              <a:alpha val="20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8247459" y="3375661"/>
            <a:ext cx="142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D4A2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496300" y="3375661"/>
            <a:ext cx="1190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Association Mining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153400" y="3642361"/>
            <a:ext cx="34480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Implemented Apriori rules, experienced memory crashing, bounded parameters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48640" y="4251961"/>
            <a:ext cx="3617595" cy="914400"/>
          </a:xfrm>
          <a:custGeom>
            <a:avLst/>
            <a:gdLst/>
            <a:ahLst/>
            <a:cxnLst/>
            <a:rect l="l" t="t" r="r" b="b"/>
            <a:pathLst>
              <a:path w="3617595" h="914400">
                <a:moveTo>
                  <a:pt x="15240" y="0"/>
                </a:moveTo>
                <a:lnTo>
                  <a:pt x="3541395" y="0"/>
                </a:lnTo>
                <a:cubicBezTo>
                  <a:pt x="3583451" y="0"/>
                  <a:pt x="3617595" y="34144"/>
                  <a:pt x="3617595" y="76200"/>
                </a:cubicBezTo>
                <a:lnTo>
                  <a:pt x="3617595" y="838200"/>
                </a:lnTo>
                <a:cubicBezTo>
                  <a:pt x="3617595" y="880256"/>
                  <a:pt x="3583451" y="914400"/>
                  <a:pt x="3541395" y="914400"/>
                </a:cubicBezTo>
                <a:lnTo>
                  <a:pt x="15240" y="914400"/>
                </a:lnTo>
                <a:cubicBezTo>
                  <a:pt x="6823" y="914400"/>
                  <a:pt x="0" y="907577"/>
                  <a:pt x="0" y="899160"/>
                </a:cubicBezTo>
                <a:lnTo>
                  <a:pt x="0" y="15240"/>
                </a:lnTo>
                <a:cubicBezTo>
                  <a:pt x="0" y="6829"/>
                  <a:pt x="6829" y="0"/>
                  <a:pt x="1524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548640" y="4251961"/>
            <a:ext cx="15240" cy="914400"/>
          </a:xfrm>
          <a:custGeom>
            <a:avLst/>
            <a:gdLst/>
            <a:ahLst/>
            <a:cxnLst/>
            <a:rect l="l" t="t" r="r" b="b"/>
            <a:pathLst>
              <a:path w="15240" h="914400">
                <a:moveTo>
                  <a:pt x="15240" y="0"/>
                </a:moveTo>
                <a:lnTo>
                  <a:pt x="15240" y="0"/>
                </a:lnTo>
                <a:lnTo>
                  <a:pt x="15240" y="914400"/>
                </a:lnTo>
                <a:lnTo>
                  <a:pt x="15240" y="914400"/>
                </a:lnTo>
                <a:cubicBezTo>
                  <a:pt x="6823" y="914400"/>
                  <a:pt x="0" y="907577"/>
                  <a:pt x="0" y="899160"/>
                </a:cubicBezTo>
                <a:lnTo>
                  <a:pt x="0" y="15240"/>
                </a:lnTo>
                <a:cubicBezTo>
                  <a:pt x="0" y="6829"/>
                  <a:pt x="6829" y="0"/>
                  <a:pt x="15240" y="0"/>
                </a:cubicBezTo>
                <a:close/>
              </a:path>
            </a:pathLst>
          </a:custGeom>
          <a:solidFill>
            <a:srgbClr val="6B7A8F"/>
          </a:solidFill>
          <a:ln/>
        </p:spPr>
      </p:sp>
      <p:sp>
        <p:nvSpPr>
          <p:cNvPr id="33" name="Shape 31"/>
          <p:cNvSpPr/>
          <p:nvPr/>
        </p:nvSpPr>
        <p:spPr>
          <a:xfrm>
            <a:off x="670560" y="4366261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6B7A8F">
              <a:alpha val="20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765453" y="4404361"/>
            <a:ext cx="142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6B7A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1013460" y="4404361"/>
            <a:ext cx="1323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Classification Models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70560" y="4671061"/>
            <a:ext cx="34480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Developed multi-category pipeline comparing Multinomial NB vs Linear SVM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4290060" y="4251961"/>
            <a:ext cx="3617595" cy="914400"/>
          </a:xfrm>
          <a:custGeom>
            <a:avLst/>
            <a:gdLst/>
            <a:ahLst/>
            <a:cxnLst/>
            <a:rect l="l" t="t" r="r" b="b"/>
            <a:pathLst>
              <a:path w="3617595" h="914400">
                <a:moveTo>
                  <a:pt x="15240" y="0"/>
                </a:moveTo>
                <a:lnTo>
                  <a:pt x="3541395" y="0"/>
                </a:lnTo>
                <a:cubicBezTo>
                  <a:pt x="3583451" y="0"/>
                  <a:pt x="3617595" y="34144"/>
                  <a:pt x="3617595" y="76200"/>
                </a:cubicBezTo>
                <a:lnTo>
                  <a:pt x="3617595" y="838200"/>
                </a:lnTo>
                <a:cubicBezTo>
                  <a:pt x="3617595" y="880256"/>
                  <a:pt x="3583451" y="914400"/>
                  <a:pt x="3541395" y="914400"/>
                </a:cubicBezTo>
                <a:lnTo>
                  <a:pt x="15240" y="914400"/>
                </a:lnTo>
                <a:cubicBezTo>
                  <a:pt x="6823" y="914400"/>
                  <a:pt x="0" y="907577"/>
                  <a:pt x="0" y="899160"/>
                </a:cubicBezTo>
                <a:lnTo>
                  <a:pt x="0" y="15240"/>
                </a:lnTo>
                <a:cubicBezTo>
                  <a:pt x="0" y="6829"/>
                  <a:pt x="6829" y="0"/>
                  <a:pt x="1524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4290060" y="4251961"/>
            <a:ext cx="15240" cy="914400"/>
          </a:xfrm>
          <a:custGeom>
            <a:avLst/>
            <a:gdLst/>
            <a:ahLst/>
            <a:cxnLst/>
            <a:rect l="l" t="t" r="r" b="b"/>
            <a:pathLst>
              <a:path w="15240" h="914400">
                <a:moveTo>
                  <a:pt x="15240" y="0"/>
                </a:moveTo>
                <a:lnTo>
                  <a:pt x="15240" y="0"/>
                </a:lnTo>
                <a:lnTo>
                  <a:pt x="15240" y="914400"/>
                </a:lnTo>
                <a:lnTo>
                  <a:pt x="15240" y="914400"/>
                </a:lnTo>
                <a:cubicBezTo>
                  <a:pt x="6823" y="914400"/>
                  <a:pt x="0" y="907577"/>
                  <a:pt x="0" y="899160"/>
                </a:cubicBezTo>
                <a:lnTo>
                  <a:pt x="0" y="15240"/>
                </a:lnTo>
                <a:cubicBezTo>
                  <a:pt x="0" y="6829"/>
                  <a:pt x="6829" y="0"/>
                  <a:pt x="15240" y="0"/>
                </a:cubicBezTo>
                <a:close/>
              </a:path>
            </a:pathLst>
          </a:custGeom>
          <a:solidFill>
            <a:srgbClr val="D4A26A"/>
          </a:solidFill>
          <a:ln/>
        </p:spPr>
      </p:sp>
      <p:sp>
        <p:nvSpPr>
          <p:cNvPr id="39" name="Shape 37"/>
          <p:cNvSpPr/>
          <p:nvPr/>
        </p:nvSpPr>
        <p:spPr>
          <a:xfrm>
            <a:off x="4411980" y="4366261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D4A26A">
              <a:alpha val="20000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4505444" y="4404361"/>
            <a:ext cx="142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D4A2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4754880" y="4404361"/>
            <a:ext cx="1285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Clustering &amp; Outliers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4411980" y="4671061"/>
            <a:ext cx="34480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Built Bisecting K-Means on LSA matrices to isolate topic themes and outliers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8031480" y="4251961"/>
            <a:ext cx="3617595" cy="914400"/>
          </a:xfrm>
          <a:custGeom>
            <a:avLst/>
            <a:gdLst/>
            <a:ahLst/>
            <a:cxnLst/>
            <a:rect l="l" t="t" r="r" b="b"/>
            <a:pathLst>
              <a:path w="3617595" h="914400">
                <a:moveTo>
                  <a:pt x="15240" y="0"/>
                </a:moveTo>
                <a:lnTo>
                  <a:pt x="3541395" y="0"/>
                </a:lnTo>
                <a:cubicBezTo>
                  <a:pt x="3583451" y="0"/>
                  <a:pt x="3617595" y="34144"/>
                  <a:pt x="3617595" y="76200"/>
                </a:cubicBezTo>
                <a:lnTo>
                  <a:pt x="3617595" y="838200"/>
                </a:lnTo>
                <a:cubicBezTo>
                  <a:pt x="3617595" y="880256"/>
                  <a:pt x="3583451" y="914400"/>
                  <a:pt x="3541395" y="914400"/>
                </a:cubicBezTo>
                <a:lnTo>
                  <a:pt x="15240" y="914400"/>
                </a:lnTo>
                <a:cubicBezTo>
                  <a:pt x="6823" y="914400"/>
                  <a:pt x="0" y="907577"/>
                  <a:pt x="0" y="899160"/>
                </a:cubicBezTo>
                <a:lnTo>
                  <a:pt x="0" y="15240"/>
                </a:lnTo>
                <a:cubicBezTo>
                  <a:pt x="0" y="6829"/>
                  <a:pt x="6829" y="0"/>
                  <a:pt x="1524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8031480" y="4251961"/>
            <a:ext cx="15240" cy="914400"/>
          </a:xfrm>
          <a:custGeom>
            <a:avLst/>
            <a:gdLst/>
            <a:ahLst/>
            <a:cxnLst/>
            <a:rect l="l" t="t" r="r" b="b"/>
            <a:pathLst>
              <a:path w="15240" h="914400">
                <a:moveTo>
                  <a:pt x="15240" y="0"/>
                </a:moveTo>
                <a:lnTo>
                  <a:pt x="15240" y="0"/>
                </a:lnTo>
                <a:lnTo>
                  <a:pt x="15240" y="914400"/>
                </a:lnTo>
                <a:lnTo>
                  <a:pt x="15240" y="914400"/>
                </a:lnTo>
                <a:cubicBezTo>
                  <a:pt x="6823" y="914400"/>
                  <a:pt x="0" y="907577"/>
                  <a:pt x="0" y="899160"/>
                </a:cubicBezTo>
                <a:lnTo>
                  <a:pt x="0" y="15240"/>
                </a:lnTo>
                <a:cubicBezTo>
                  <a:pt x="0" y="6829"/>
                  <a:pt x="6829" y="0"/>
                  <a:pt x="15240" y="0"/>
                </a:cubicBezTo>
                <a:close/>
              </a:path>
            </a:pathLst>
          </a:custGeom>
          <a:solidFill>
            <a:srgbClr val="6B7A8F"/>
          </a:solidFill>
          <a:ln/>
        </p:spPr>
      </p:sp>
      <p:sp>
        <p:nvSpPr>
          <p:cNvPr id="45" name="Shape 43"/>
          <p:cNvSpPr/>
          <p:nvPr/>
        </p:nvSpPr>
        <p:spPr>
          <a:xfrm>
            <a:off x="8153400" y="4366261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6B7A8F">
              <a:alpha val="20000"/>
            </a:srgbClr>
          </a:solidFill>
          <a:ln/>
        </p:spPr>
      </p:sp>
      <p:sp>
        <p:nvSpPr>
          <p:cNvPr id="46" name="Text 44"/>
          <p:cNvSpPr/>
          <p:nvPr/>
        </p:nvSpPr>
        <p:spPr>
          <a:xfrm>
            <a:off x="8252579" y="4404361"/>
            <a:ext cx="133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6B7A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7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8496300" y="4404361"/>
            <a:ext cx="1171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Refactoring Apriori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8153400" y="4671061"/>
            <a:ext cx="34480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Replaced Apriori with FP-Growth FP-trees logic (mlxtend) for efficiency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548640" y="5280661"/>
            <a:ext cx="3617595" cy="914400"/>
          </a:xfrm>
          <a:custGeom>
            <a:avLst/>
            <a:gdLst/>
            <a:ahLst/>
            <a:cxnLst/>
            <a:rect l="l" t="t" r="r" b="b"/>
            <a:pathLst>
              <a:path w="3617595" h="914400">
                <a:moveTo>
                  <a:pt x="15240" y="0"/>
                </a:moveTo>
                <a:lnTo>
                  <a:pt x="3541395" y="0"/>
                </a:lnTo>
                <a:cubicBezTo>
                  <a:pt x="3583451" y="0"/>
                  <a:pt x="3617595" y="34144"/>
                  <a:pt x="3617595" y="76200"/>
                </a:cubicBezTo>
                <a:lnTo>
                  <a:pt x="3617595" y="838200"/>
                </a:lnTo>
                <a:cubicBezTo>
                  <a:pt x="3617595" y="880256"/>
                  <a:pt x="3583451" y="914400"/>
                  <a:pt x="3541395" y="914400"/>
                </a:cubicBezTo>
                <a:lnTo>
                  <a:pt x="15240" y="914400"/>
                </a:lnTo>
                <a:cubicBezTo>
                  <a:pt x="6823" y="914400"/>
                  <a:pt x="0" y="907577"/>
                  <a:pt x="0" y="899160"/>
                </a:cubicBezTo>
                <a:lnTo>
                  <a:pt x="0" y="15240"/>
                </a:lnTo>
                <a:cubicBezTo>
                  <a:pt x="0" y="6829"/>
                  <a:pt x="6829" y="0"/>
                  <a:pt x="1524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548640" y="5280661"/>
            <a:ext cx="15240" cy="914400"/>
          </a:xfrm>
          <a:custGeom>
            <a:avLst/>
            <a:gdLst/>
            <a:ahLst/>
            <a:cxnLst/>
            <a:rect l="l" t="t" r="r" b="b"/>
            <a:pathLst>
              <a:path w="15240" h="914400">
                <a:moveTo>
                  <a:pt x="15240" y="0"/>
                </a:moveTo>
                <a:lnTo>
                  <a:pt x="15240" y="0"/>
                </a:lnTo>
                <a:lnTo>
                  <a:pt x="15240" y="914400"/>
                </a:lnTo>
                <a:lnTo>
                  <a:pt x="15240" y="914400"/>
                </a:lnTo>
                <a:cubicBezTo>
                  <a:pt x="6823" y="914400"/>
                  <a:pt x="0" y="907577"/>
                  <a:pt x="0" y="899160"/>
                </a:cubicBezTo>
                <a:lnTo>
                  <a:pt x="0" y="15240"/>
                </a:lnTo>
                <a:cubicBezTo>
                  <a:pt x="0" y="6829"/>
                  <a:pt x="6829" y="0"/>
                  <a:pt x="15240" y="0"/>
                </a:cubicBezTo>
                <a:close/>
              </a:path>
            </a:pathLst>
          </a:custGeom>
          <a:solidFill>
            <a:srgbClr val="D4A26A"/>
          </a:solidFill>
          <a:ln/>
        </p:spPr>
      </p:sp>
      <p:sp>
        <p:nvSpPr>
          <p:cNvPr id="51" name="Shape 49"/>
          <p:cNvSpPr/>
          <p:nvPr/>
        </p:nvSpPr>
        <p:spPr>
          <a:xfrm>
            <a:off x="670560" y="5394961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D4A26A">
              <a:alpha val="20000"/>
            </a:srgbClr>
          </a:solidFill>
          <a:ln/>
        </p:spPr>
      </p:sp>
      <p:sp>
        <p:nvSpPr>
          <p:cNvPr id="52" name="Text 50"/>
          <p:cNvSpPr/>
          <p:nvPr/>
        </p:nvSpPr>
        <p:spPr>
          <a:xfrm>
            <a:off x="762952" y="5433061"/>
            <a:ext cx="152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D4A2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8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1013460" y="5433061"/>
            <a:ext cx="1285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Interactive Visual UX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670560" y="5699761"/>
            <a:ext cx="34480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Developed Python-to-JSON bridges for Chart.js 2D PCA Scatter interfaces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4290060" y="5280661"/>
            <a:ext cx="3617595" cy="914400"/>
          </a:xfrm>
          <a:custGeom>
            <a:avLst/>
            <a:gdLst/>
            <a:ahLst/>
            <a:cxnLst/>
            <a:rect l="l" t="t" r="r" b="b"/>
            <a:pathLst>
              <a:path w="3617595" h="914400">
                <a:moveTo>
                  <a:pt x="15240" y="0"/>
                </a:moveTo>
                <a:lnTo>
                  <a:pt x="3541395" y="0"/>
                </a:lnTo>
                <a:cubicBezTo>
                  <a:pt x="3583451" y="0"/>
                  <a:pt x="3617595" y="34144"/>
                  <a:pt x="3617595" y="76200"/>
                </a:cubicBezTo>
                <a:lnTo>
                  <a:pt x="3617595" y="838200"/>
                </a:lnTo>
                <a:cubicBezTo>
                  <a:pt x="3617595" y="880256"/>
                  <a:pt x="3583451" y="914400"/>
                  <a:pt x="3541395" y="914400"/>
                </a:cubicBezTo>
                <a:lnTo>
                  <a:pt x="15240" y="914400"/>
                </a:lnTo>
                <a:cubicBezTo>
                  <a:pt x="6823" y="914400"/>
                  <a:pt x="0" y="907577"/>
                  <a:pt x="0" y="899160"/>
                </a:cubicBezTo>
                <a:lnTo>
                  <a:pt x="0" y="15240"/>
                </a:lnTo>
                <a:cubicBezTo>
                  <a:pt x="0" y="6829"/>
                  <a:pt x="6829" y="0"/>
                  <a:pt x="1524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4290060" y="5280661"/>
            <a:ext cx="15240" cy="914400"/>
          </a:xfrm>
          <a:custGeom>
            <a:avLst/>
            <a:gdLst/>
            <a:ahLst/>
            <a:cxnLst/>
            <a:rect l="l" t="t" r="r" b="b"/>
            <a:pathLst>
              <a:path w="15240" h="914400">
                <a:moveTo>
                  <a:pt x="15240" y="0"/>
                </a:moveTo>
                <a:lnTo>
                  <a:pt x="15240" y="0"/>
                </a:lnTo>
                <a:lnTo>
                  <a:pt x="15240" y="914400"/>
                </a:lnTo>
                <a:lnTo>
                  <a:pt x="15240" y="914400"/>
                </a:lnTo>
                <a:cubicBezTo>
                  <a:pt x="6823" y="914400"/>
                  <a:pt x="0" y="907577"/>
                  <a:pt x="0" y="899160"/>
                </a:cubicBezTo>
                <a:lnTo>
                  <a:pt x="0" y="15240"/>
                </a:lnTo>
                <a:cubicBezTo>
                  <a:pt x="0" y="6829"/>
                  <a:pt x="6829" y="0"/>
                  <a:pt x="15240" y="0"/>
                </a:cubicBezTo>
                <a:close/>
              </a:path>
            </a:pathLst>
          </a:custGeom>
          <a:solidFill>
            <a:srgbClr val="6B7A8F"/>
          </a:solidFill>
          <a:ln/>
        </p:spPr>
      </p:sp>
      <p:sp>
        <p:nvSpPr>
          <p:cNvPr id="57" name="Shape 55"/>
          <p:cNvSpPr/>
          <p:nvPr/>
        </p:nvSpPr>
        <p:spPr>
          <a:xfrm>
            <a:off x="4411980" y="5394961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6B7A8F">
              <a:alpha val="20000"/>
            </a:srgbClr>
          </a:solidFill>
          <a:ln/>
        </p:spPr>
      </p:sp>
      <p:sp>
        <p:nvSpPr>
          <p:cNvPr id="58" name="Text 56"/>
          <p:cNvSpPr/>
          <p:nvPr/>
        </p:nvSpPr>
        <p:spPr>
          <a:xfrm>
            <a:off x="4505444" y="5433061"/>
            <a:ext cx="142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6B7A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9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4754880" y="5433061"/>
            <a:ext cx="1085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Empirical Testing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4411980" y="5699761"/>
            <a:ext cx="34480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Fixed HTTP 500 edge cases, ran silhouette score validations, benchmarks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8027670" y="5284471"/>
            <a:ext cx="3617595" cy="902970"/>
          </a:xfrm>
          <a:prstGeom prst="roundRect">
            <a:avLst>
              <a:gd name="adj" fmla="val 8439"/>
            </a:avLst>
          </a:prstGeom>
          <a:solidFill>
            <a:srgbClr val="D4A26A">
              <a:alpha val="10196"/>
            </a:srgbClr>
          </a:solidFill>
          <a:ln w="10160">
            <a:solidFill>
              <a:srgbClr val="D4A26A">
                <a:alpha val="30196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8174355" y="5594986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42875" y="285750"/>
                </a:moveTo>
                <a:cubicBezTo>
                  <a:pt x="221730" y="285750"/>
                  <a:pt x="285750" y="221730"/>
                  <a:pt x="285750" y="142875"/>
                </a:cubicBezTo>
                <a:cubicBezTo>
                  <a:pt x="285750" y="64020"/>
                  <a:pt x="221730" y="0"/>
                  <a:pt x="142875" y="0"/>
                </a:cubicBezTo>
                <a:cubicBezTo>
                  <a:pt x="64020" y="0"/>
                  <a:pt x="0" y="64020"/>
                  <a:pt x="0" y="142875"/>
                </a:cubicBezTo>
                <a:cubicBezTo>
                  <a:pt x="0" y="221730"/>
                  <a:pt x="64020" y="285750"/>
                  <a:pt x="142875" y="285750"/>
                </a:cubicBezTo>
                <a:close/>
                <a:moveTo>
                  <a:pt x="189979" y="118709"/>
                </a:moveTo>
                <a:lnTo>
                  <a:pt x="145331" y="190147"/>
                </a:lnTo>
                <a:cubicBezTo>
                  <a:pt x="142987" y="193886"/>
                  <a:pt x="138968" y="196230"/>
                  <a:pt x="134559" y="196453"/>
                </a:cubicBezTo>
                <a:cubicBezTo>
                  <a:pt x="130150" y="196676"/>
                  <a:pt x="125909" y="194667"/>
                  <a:pt x="123285" y="191095"/>
                </a:cubicBezTo>
                <a:lnTo>
                  <a:pt x="96496" y="155377"/>
                </a:lnTo>
                <a:cubicBezTo>
                  <a:pt x="92032" y="149461"/>
                  <a:pt x="93259" y="141089"/>
                  <a:pt x="99175" y="136624"/>
                </a:cubicBezTo>
                <a:cubicBezTo>
                  <a:pt x="105091" y="132159"/>
                  <a:pt x="113463" y="133387"/>
                  <a:pt x="117928" y="139303"/>
                </a:cubicBezTo>
                <a:lnTo>
                  <a:pt x="132997" y="159395"/>
                </a:lnTo>
                <a:lnTo>
                  <a:pt x="167264" y="104533"/>
                </a:lnTo>
                <a:cubicBezTo>
                  <a:pt x="171171" y="98282"/>
                  <a:pt x="179431" y="96329"/>
                  <a:pt x="185738" y="100292"/>
                </a:cubicBezTo>
                <a:cubicBezTo>
                  <a:pt x="192044" y="104254"/>
                  <a:pt x="193942" y="112458"/>
                  <a:pt x="189979" y="118765"/>
                </a:cubicBezTo>
                <a:close/>
              </a:path>
            </a:pathLst>
          </a:custGeom>
          <a:solidFill>
            <a:srgbClr val="D4A26A"/>
          </a:solidFill>
          <a:ln/>
        </p:spPr>
      </p:sp>
      <p:sp>
        <p:nvSpPr>
          <p:cNvPr id="63" name="Text 61"/>
          <p:cNvSpPr/>
          <p:nvPr/>
        </p:nvSpPr>
        <p:spPr>
          <a:xfrm>
            <a:off x="8603814" y="5414011"/>
            <a:ext cx="3009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D4A2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System Complete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8603814" y="5680711"/>
            <a:ext cx="29908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Fully integrated data mining lab with visual discovery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5beqdm23l5qus/images/4_The_model_of_deep_learning_neural.png"/>
          <p:cNvPicPr>
            <a:picLocks noChangeAspect="1"/>
          </p:cNvPicPr>
          <p:nvPr/>
        </p:nvPicPr>
        <p:blipFill>
          <a:blip r:embed="rId3">
            <a:alphaModFix amt="30000"/>
          </a:blip>
          <a:srcRect t="7779" b="7779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rgbClr val="1A1D21">
                  <a:alpha val="98000"/>
                </a:srgbClr>
              </a:gs>
              <a:gs pos="50000">
                <a:srgbClr val="1A1D21">
                  <a:alpha val="9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400050" y="1976438"/>
            <a:ext cx="1304925" cy="381000"/>
          </a:xfrm>
          <a:prstGeom prst="roundRect">
            <a:avLst>
              <a:gd name="adj" fmla="val 0"/>
            </a:avLst>
          </a:prstGeom>
          <a:solidFill>
            <a:srgbClr val="6B7A8F">
              <a:alpha val="20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400050" y="1976438"/>
            <a:ext cx="38100" cy="381000"/>
          </a:xfrm>
          <a:prstGeom prst="roundRect">
            <a:avLst>
              <a:gd name="adj" fmla="val 0"/>
            </a:avLst>
          </a:prstGeom>
          <a:solidFill>
            <a:srgbClr val="6B7A8F"/>
          </a:solidFill>
          <a:ln/>
        </p:spPr>
      </p:sp>
      <p:sp>
        <p:nvSpPr>
          <p:cNvPr id="6" name="Text 3"/>
          <p:cNvSpPr/>
          <p:nvPr/>
        </p:nvSpPr>
        <p:spPr>
          <a:xfrm>
            <a:off x="571500" y="2052637"/>
            <a:ext cx="1057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6B7A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CHAPTER 02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1000" y="2586038"/>
            <a:ext cx="117157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5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System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45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Architecture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81000" y="4243388"/>
            <a:ext cx="1219200" cy="38100"/>
          </a:xfrm>
          <a:prstGeom prst="roundRect">
            <a:avLst>
              <a:gd name="adj" fmla="val 0"/>
            </a:avLst>
          </a:prstGeom>
          <a:solidFill>
            <a:srgbClr val="6B7A8F"/>
          </a:solidFill>
          <a:ln/>
        </p:spPr>
      </p:sp>
      <p:sp>
        <p:nvSpPr>
          <p:cNvPr id="9" name="Text 6"/>
          <p:cNvSpPr/>
          <p:nvPr/>
        </p:nvSpPr>
        <p:spPr>
          <a:xfrm>
            <a:off x="381000" y="4510088"/>
            <a:ext cx="6515100" cy="1666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Unsupervised and supervised data mining pipelines</a:t>
            </a:r>
          </a:p>
          <a:p>
            <a:pPr>
              <a:lnSpc>
                <a:spcPct val="140000"/>
              </a:lnSpc>
            </a:pPr>
            <a:endParaRPr lang="en-US" dirty="0">
              <a:solidFill>
                <a:srgbClr val="E2E8F0">
                  <a:alpha val="70000"/>
                </a:srgbClr>
              </a:solidFill>
              <a:latin typeface="Quattrocento Sans" pitchFamily="34" charset="0"/>
            </a:endParaRPr>
          </a:p>
          <a:p>
            <a:pPr>
              <a:lnSpc>
                <a:spcPct val="140000"/>
              </a:lnSpc>
            </a:pPr>
            <a:endParaRPr lang="en-US" sz="1600" dirty="0">
              <a:solidFill>
                <a:srgbClr val="E2E8F0">
                  <a:alpha val="70000"/>
                </a:srgbClr>
              </a:solidFill>
              <a:latin typeface="Quattrocento Sans" pitchFamily="34" charset="0"/>
            </a:endParaRPr>
          </a:p>
          <a:p>
            <a:pPr>
              <a:lnSpc>
                <a:spcPct val="140000"/>
              </a:lnSpc>
            </a:pP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6B7A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SYSTEM ARCHITECTURE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Unsupervised Pipeline: Clustering &amp; Association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181100"/>
            <a:ext cx="914400" cy="38100"/>
          </a:xfrm>
          <a:prstGeom prst="roundRect">
            <a:avLst>
              <a:gd name="adj" fmla="val 0"/>
            </a:avLst>
          </a:prstGeom>
          <a:solidFill>
            <a:srgbClr val="6B7A8F"/>
          </a:solidFill>
          <a:ln/>
        </p:spPr>
      </p:sp>
      <p:sp>
        <p:nvSpPr>
          <p:cNvPr id="5" name="Shape 3"/>
          <p:cNvSpPr/>
          <p:nvPr/>
        </p:nvSpPr>
        <p:spPr>
          <a:xfrm>
            <a:off x="384810" y="1375410"/>
            <a:ext cx="3703320" cy="4389120"/>
          </a:xfrm>
          <a:prstGeom prst="roundRect">
            <a:avLst>
              <a:gd name="adj" fmla="val 2058"/>
            </a:avLst>
          </a:prstGeom>
          <a:gradFill flip="none" rotWithShape="1">
            <a:gsLst>
              <a:gs pos="0">
                <a:srgbClr val="4A5568">
                  <a:alpha val="25000"/>
                </a:srgbClr>
              </a:gs>
              <a:gs pos="100000">
                <a:srgbClr val="4A5568">
                  <a:alpha val="10000"/>
                </a:srgbClr>
              </a:gs>
            </a:gsLst>
            <a:lin ang="2700000" scaled="1"/>
          </a:gradFill>
          <a:ln w="10160">
            <a:solidFill>
              <a:srgbClr val="D4A26A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1020" y="1531620"/>
            <a:ext cx="457200" cy="457200"/>
          </a:xfrm>
          <a:prstGeom prst="roundRect">
            <a:avLst>
              <a:gd name="adj" fmla="val 16667"/>
            </a:avLst>
          </a:prstGeom>
          <a:solidFill>
            <a:srgbClr val="D4A26A">
              <a:alpha val="2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650915" y="1607820"/>
            <a:ext cx="3524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D4A2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12520" y="1626870"/>
            <a:ext cx="2238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Dimensionality Reduction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1020" y="2103120"/>
            <a:ext cx="3390900" cy="1143000"/>
          </a:xfrm>
          <a:prstGeom prst="roundRect">
            <a:avLst>
              <a:gd name="adj" fmla="val 6667"/>
            </a:avLst>
          </a:prstGeom>
          <a:solidFill>
            <a:srgbClr val="1A1D21">
              <a:alpha val="6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655320" y="2217420"/>
            <a:ext cx="3228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D4A2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Challenge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55320" y="2446020"/>
            <a:ext cx="32385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Operating K-Means on 10,000-column TF-IDF matrix is fundamentally flawed (Curse of Dimensionality)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1020" y="3360423"/>
            <a:ext cx="3390900" cy="914400"/>
          </a:xfrm>
          <a:prstGeom prst="roundRect">
            <a:avLst>
              <a:gd name="adj" fmla="val 8333"/>
            </a:avLst>
          </a:prstGeom>
          <a:solidFill>
            <a:srgbClr val="1A1D21">
              <a:alpha val="6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655320" y="3474723"/>
            <a:ext cx="3228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D4A2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Solution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55320" y="3703323"/>
            <a:ext cx="3238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Utilized </a:t>
            </a:r>
            <a:r>
              <a:rPr lang="en-US" sz="1200" b="1" dirty="0">
                <a:solidFill>
                  <a:srgbClr val="D4A2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TruncatedSVD (LSA)</a:t>
            </a:r>
            <a:r>
              <a:rPr lang="en-US" sz="120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to reduce to exactly 100 mathematical vectors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1020" y="4389123"/>
            <a:ext cx="3390900" cy="914400"/>
          </a:xfrm>
          <a:prstGeom prst="roundRect">
            <a:avLst>
              <a:gd name="adj" fmla="val 8333"/>
            </a:avLst>
          </a:prstGeom>
          <a:solidFill>
            <a:srgbClr val="1A1D21">
              <a:alpha val="6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655320" y="4503423"/>
            <a:ext cx="3228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D4A2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Impact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55320" y="4732023"/>
            <a:ext cx="3238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Eliminates low-value vocabulary noise, drastically improves clustering speeds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79120" y="5436873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50423" y="149602"/>
                </a:moveTo>
                <a:cubicBezTo>
                  <a:pt x="54144" y="153323"/>
                  <a:pt x="60186" y="153323"/>
                  <a:pt x="63907" y="149602"/>
                </a:cubicBezTo>
                <a:lnTo>
                  <a:pt x="111532" y="101977"/>
                </a:lnTo>
                <a:cubicBezTo>
                  <a:pt x="115253" y="98256"/>
                  <a:pt x="115253" y="92214"/>
                  <a:pt x="111532" y="88493"/>
                </a:cubicBezTo>
                <a:cubicBezTo>
                  <a:pt x="107811" y="84773"/>
                  <a:pt x="101769" y="84773"/>
                  <a:pt x="98048" y="88493"/>
                </a:cubicBezTo>
                <a:lnTo>
                  <a:pt x="66675" y="119866"/>
                </a:lnTo>
                <a:lnTo>
                  <a:pt x="66675" y="9525"/>
                </a:lnTo>
                <a:cubicBezTo>
                  <a:pt x="66675" y="4256"/>
                  <a:pt x="62419" y="0"/>
                  <a:pt x="57150" y="0"/>
                </a:cubicBezTo>
                <a:cubicBezTo>
                  <a:pt x="51881" y="0"/>
                  <a:pt x="47625" y="4256"/>
                  <a:pt x="47625" y="9525"/>
                </a:cubicBezTo>
                <a:lnTo>
                  <a:pt x="47625" y="119866"/>
                </a:lnTo>
                <a:lnTo>
                  <a:pt x="16252" y="88493"/>
                </a:lnTo>
                <a:cubicBezTo>
                  <a:pt x="12531" y="84772"/>
                  <a:pt x="6489" y="84772"/>
                  <a:pt x="2768" y="88493"/>
                </a:cubicBezTo>
                <a:cubicBezTo>
                  <a:pt x="-953" y="92214"/>
                  <a:pt x="-953" y="98256"/>
                  <a:pt x="2768" y="101977"/>
                </a:cubicBezTo>
                <a:lnTo>
                  <a:pt x="50393" y="149602"/>
                </a:lnTo>
                <a:close/>
              </a:path>
            </a:pathLst>
          </a:custGeom>
          <a:solidFill>
            <a:srgbClr val="D4A26A"/>
          </a:solidFill>
          <a:ln/>
        </p:spPr>
      </p:sp>
      <p:sp>
        <p:nvSpPr>
          <p:cNvPr id="19" name="Text 17"/>
          <p:cNvSpPr/>
          <p:nvPr/>
        </p:nvSpPr>
        <p:spPr>
          <a:xfrm>
            <a:off x="807720" y="5417823"/>
            <a:ext cx="1600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D4A2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10,000 → 100 dimensions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245531" y="1375410"/>
            <a:ext cx="3703320" cy="4389120"/>
          </a:xfrm>
          <a:prstGeom prst="roundRect">
            <a:avLst>
              <a:gd name="adj" fmla="val 2058"/>
            </a:avLst>
          </a:prstGeom>
          <a:gradFill flip="none" rotWithShape="1">
            <a:gsLst>
              <a:gs pos="0">
                <a:srgbClr val="4A5568">
                  <a:alpha val="25000"/>
                </a:srgbClr>
              </a:gs>
              <a:gs pos="100000">
                <a:srgbClr val="4A5568">
                  <a:alpha val="10000"/>
                </a:srgbClr>
              </a:gs>
            </a:gsLst>
            <a:lin ang="2700000" scaled="1"/>
          </a:gradFill>
          <a:ln w="10160">
            <a:solidFill>
              <a:srgbClr val="6B7A8F">
                <a:alpha val="4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401741" y="1531620"/>
            <a:ext cx="457200" cy="457200"/>
          </a:xfrm>
          <a:prstGeom prst="roundRect">
            <a:avLst>
              <a:gd name="adj" fmla="val 16667"/>
            </a:avLst>
          </a:prstGeom>
          <a:solidFill>
            <a:srgbClr val="6B7A8F">
              <a:alpha val="2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4490919" y="1607820"/>
            <a:ext cx="3905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6B7A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973241" y="1626870"/>
            <a:ext cx="1676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Bisecting K-Means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401741" y="2103120"/>
            <a:ext cx="3390900" cy="914400"/>
          </a:xfrm>
          <a:prstGeom prst="roundRect">
            <a:avLst>
              <a:gd name="adj" fmla="val 8333"/>
            </a:avLst>
          </a:prstGeom>
          <a:solidFill>
            <a:srgbClr val="1A1D21">
              <a:alpha val="6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4516041" y="2217420"/>
            <a:ext cx="3228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6B7A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Why Bisecting?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516041" y="2446020"/>
            <a:ext cx="3238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Standard K-Means struggled with high-variance corpus; strict binary division is superior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4401741" y="3131823"/>
            <a:ext cx="3390900" cy="914400"/>
          </a:xfrm>
          <a:prstGeom prst="roundRect">
            <a:avLst>
              <a:gd name="adj" fmla="val 8333"/>
            </a:avLst>
          </a:prstGeom>
          <a:solidFill>
            <a:srgbClr val="1A1D21">
              <a:alpha val="60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4516041" y="3246123"/>
            <a:ext cx="3228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6B7A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Implementation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516041" y="3474723"/>
            <a:ext cx="3238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Groups events together natively via </a:t>
            </a:r>
            <a:r>
              <a:rPr lang="en-US" sz="1200" b="1" dirty="0">
                <a:solidFill>
                  <a:srgbClr val="6B7A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strict binary division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401741" y="4160523"/>
            <a:ext cx="3390900" cy="914400"/>
          </a:xfrm>
          <a:prstGeom prst="roundRect">
            <a:avLst>
              <a:gd name="adj" fmla="val 8333"/>
            </a:avLst>
          </a:prstGeom>
          <a:solidFill>
            <a:srgbClr val="1A1D21">
              <a:alpha val="60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4516041" y="4274823"/>
            <a:ext cx="3228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6B7A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Outlier Detection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4516041" y="4503423"/>
            <a:ext cx="3238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Collections smaller than mean norm flagged as potential reporting "outliers"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4439841" y="5436873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50423" y="149602"/>
                </a:moveTo>
                <a:cubicBezTo>
                  <a:pt x="54144" y="153323"/>
                  <a:pt x="60186" y="153323"/>
                  <a:pt x="63907" y="149602"/>
                </a:cubicBezTo>
                <a:lnTo>
                  <a:pt x="111532" y="101977"/>
                </a:lnTo>
                <a:cubicBezTo>
                  <a:pt x="115253" y="98256"/>
                  <a:pt x="115253" y="92214"/>
                  <a:pt x="111532" y="88493"/>
                </a:cubicBezTo>
                <a:cubicBezTo>
                  <a:pt x="107811" y="84773"/>
                  <a:pt x="101769" y="84773"/>
                  <a:pt x="98048" y="88493"/>
                </a:cubicBezTo>
                <a:lnTo>
                  <a:pt x="66675" y="119866"/>
                </a:lnTo>
                <a:lnTo>
                  <a:pt x="66675" y="9525"/>
                </a:lnTo>
                <a:cubicBezTo>
                  <a:pt x="66675" y="4256"/>
                  <a:pt x="62419" y="0"/>
                  <a:pt x="57150" y="0"/>
                </a:cubicBezTo>
                <a:cubicBezTo>
                  <a:pt x="51881" y="0"/>
                  <a:pt x="47625" y="4256"/>
                  <a:pt x="47625" y="9525"/>
                </a:cubicBezTo>
                <a:lnTo>
                  <a:pt x="47625" y="119866"/>
                </a:lnTo>
                <a:lnTo>
                  <a:pt x="16252" y="88493"/>
                </a:lnTo>
                <a:cubicBezTo>
                  <a:pt x="12531" y="84772"/>
                  <a:pt x="6489" y="84772"/>
                  <a:pt x="2768" y="88493"/>
                </a:cubicBezTo>
                <a:cubicBezTo>
                  <a:pt x="-953" y="92214"/>
                  <a:pt x="-953" y="98256"/>
                  <a:pt x="2768" y="101977"/>
                </a:cubicBezTo>
                <a:lnTo>
                  <a:pt x="50393" y="149602"/>
                </a:lnTo>
                <a:close/>
              </a:path>
            </a:pathLst>
          </a:custGeom>
          <a:solidFill>
            <a:srgbClr val="6B7A8F"/>
          </a:solidFill>
          <a:ln/>
        </p:spPr>
      </p:sp>
      <p:sp>
        <p:nvSpPr>
          <p:cNvPr id="34" name="Text 32"/>
          <p:cNvSpPr/>
          <p:nvPr/>
        </p:nvSpPr>
        <p:spPr>
          <a:xfrm>
            <a:off x="4668441" y="5417823"/>
            <a:ext cx="1371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6B7A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Distinct topic isolation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8106371" y="1375410"/>
            <a:ext cx="3703320" cy="4389120"/>
          </a:xfrm>
          <a:prstGeom prst="roundRect">
            <a:avLst>
              <a:gd name="adj" fmla="val 2058"/>
            </a:avLst>
          </a:prstGeom>
          <a:gradFill flip="none" rotWithShape="1">
            <a:gsLst>
              <a:gs pos="0">
                <a:srgbClr val="4A5568">
                  <a:alpha val="25000"/>
                </a:srgbClr>
              </a:gs>
              <a:gs pos="100000">
                <a:srgbClr val="4A5568">
                  <a:alpha val="10000"/>
                </a:srgbClr>
              </a:gs>
            </a:gsLst>
            <a:lin ang="2700000" scaled="1"/>
          </a:gradFill>
          <a:ln w="10160">
            <a:solidFill>
              <a:srgbClr val="D4A26A">
                <a:alpha val="4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262581" y="1531620"/>
            <a:ext cx="457200" cy="457200"/>
          </a:xfrm>
          <a:prstGeom prst="roundRect">
            <a:avLst>
              <a:gd name="adj" fmla="val 16667"/>
            </a:avLst>
          </a:prstGeom>
          <a:solidFill>
            <a:srgbClr val="D4A26A">
              <a:alpha val="20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8350806" y="1607820"/>
            <a:ext cx="3905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D4A2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8834081" y="1626870"/>
            <a:ext cx="2038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FP-Growth Association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8262581" y="2103120"/>
            <a:ext cx="3390900" cy="914400"/>
          </a:xfrm>
          <a:prstGeom prst="roundRect">
            <a:avLst>
              <a:gd name="adj" fmla="val 8333"/>
            </a:avLst>
          </a:prstGeom>
          <a:solidFill>
            <a:srgbClr val="1A1D21">
              <a:alpha val="60000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8376881" y="2217420"/>
            <a:ext cx="3228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D4A2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Upgrade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8376881" y="2446020"/>
            <a:ext cx="3238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Replaced legacy </a:t>
            </a:r>
            <a:r>
              <a:rPr lang="en-US" sz="1200" b="1" dirty="0">
                <a:solidFill>
                  <a:srgbClr val="D4A2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Apriori entirely</a:t>
            </a:r>
            <a:r>
              <a:rPr lang="en-US" sz="120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with FP-Growth via mlxtend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8262581" y="3131823"/>
            <a:ext cx="3390900" cy="914400"/>
          </a:xfrm>
          <a:prstGeom prst="roundRect">
            <a:avLst>
              <a:gd name="adj" fmla="val 8333"/>
            </a:avLst>
          </a:prstGeom>
          <a:solidFill>
            <a:srgbClr val="1A1D21">
              <a:alpha val="60000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8376881" y="3246123"/>
            <a:ext cx="3228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D4A2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Memory Efficiency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8376881" y="3474723"/>
            <a:ext cx="3238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Constructs conditional pattern trees — no astronomical permutation tracking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8262581" y="4160523"/>
            <a:ext cx="3390900" cy="914400"/>
          </a:xfrm>
          <a:prstGeom prst="roundRect">
            <a:avLst>
              <a:gd name="adj" fmla="val 8333"/>
            </a:avLst>
          </a:prstGeom>
          <a:solidFill>
            <a:srgbClr val="1A1D21">
              <a:alpha val="60000"/>
            </a:srgbClr>
          </a:solidFill>
          <a:ln/>
        </p:spPr>
      </p:sp>
      <p:sp>
        <p:nvSpPr>
          <p:cNvPr id="46" name="Text 44"/>
          <p:cNvSpPr/>
          <p:nvPr/>
        </p:nvSpPr>
        <p:spPr>
          <a:xfrm>
            <a:off x="8376881" y="4274823"/>
            <a:ext cx="3228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D4A2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Lift Correlation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8376881" y="4503423"/>
            <a:ext cx="3238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Calculates raw keyword correlations with algorithmic </a:t>
            </a:r>
            <a:r>
              <a:rPr lang="en-US" sz="1200" b="1" dirty="0">
                <a:solidFill>
                  <a:srgbClr val="D4A2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Lift &gt; 1.25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8281631" y="5436873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D4A26A"/>
          </a:solidFill>
          <a:ln/>
        </p:spPr>
      </p:sp>
      <p:sp>
        <p:nvSpPr>
          <p:cNvPr id="49" name="Text 47"/>
          <p:cNvSpPr/>
          <p:nvPr/>
        </p:nvSpPr>
        <p:spPr>
          <a:xfrm>
            <a:off x="8529281" y="5417823"/>
            <a:ext cx="1638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D4A2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Latent patterns discovered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384810" y="5886451"/>
            <a:ext cx="11418570" cy="693420"/>
          </a:xfrm>
          <a:prstGeom prst="roundRect">
            <a:avLst>
              <a:gd name="adj" fmla="val 10989"/>
            </a:avLst>
          </a:prstGeom>
          <a:solidFill>
            <a:srgbClr val="D4A26A">
              <a:alpha val="10196"/>
            </a:srgbClr>
          </a:solidFill>
          <a:ln w="10160">
            <a:solidFill>
              <a:srgbClr val="D4A26A">
                <a:alpha val="30196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07682" y="6118859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130775" y="171450"/>
                </a:moveTo>
                <a:cubicBezTo>
                  <a:pt x="134035" y="161493"/>
                  <a:pt x="140553" y="152474"/>
                  <a:pt x="147920" y="144706"/>
                </a:cubicBezTo>
                <a:cubicBezTo>
                  <a:pt x="162520" y="129347"/>
                  <a:pt x="171450" y="108585"/>
                  <a:pt x="171450" y="85725"/>
                </a:cubicBezTo>
                <a:cubicBezTo>
                  <a:pt x="171450" y="38398"/>
                  <a:pt x="133052" y="0"/>
                  <a:pt x="85725" y="0"/>
                </a:cubicBezTo>
                <a:cubicBezTo>
                  <a:pt x="38398" y="0"/>
                  <a:pt x="0" y="38398"/>
                  <a:pt x="0" y="85725"/>
                </a:cubicBezTo>
                <a:cubicBezTo>
                  <a:pt x="0" y="108585"/>
                  <a:pt x="8930" y="129347"/>
                  <a:pt x="23530" y="144706"/>
                </a:cubicBezTo>
                <a:cubicBezTo>
                  <a:pt x="30897" y="152474"/>
                  <a:pt x="37460" y="161493"/>
                  <a:pt x="40675" y="171450"/>
                </a:cubicBezTo>
                <a:lnTo>
                  <a:pt x="130731" y="171450"/>
                </a:lnTo>
                <a:close/>
                <a:moveTo>
                  <a:pt x="128588" y="192881"/>
                </a:moveTo>
                <a:lnTo>
                  <a:pt x="42863" y="192881"/>
                </a:lnTo>
                <a:lnTo>
                  <a:pt x="42863" y="200025"/>
                </a:lnTo>
                <a:cubicBezTo>
                  <a:pt x="42863" y="219760"/>
                  <a:pt x="58847" y="235744"/>
                  <a:pt x="78581" y="235744"/>
                </a:cubicBezTo>
                <a:lnTo>
                  <a:pt x="92869" y="235744"/>
                </a:lnTo>
                <a:cubicBezTo>
                  <a:pt x="112603" y="235744"/>
                  <a:pt x="128588" y="219760"/>
                  <a:pt x="128588" y="200025"/>
                </a:cubicBezTo>
                <a:lnTo>
                  <a:pt x="128588" y="192881"/>
                </a:lnTo>
                <a:close/>
                <a:moveTo>
                  <a:pt x="82153" y="50006"/>
                </a:moveTo>
                <a:cubicBezTo>
                  <a:pt x="64383" y="50006"/>
                  <a:pt x="50006" y="64383"/>
                  <a:pt x="50006" y="82153"/>
                </a:cubicBezTo>
                <a:cubicBezTo>
                  <a:pt x="50006" y="88091"/>
                  <a:pt x="45229" y="92869"/>
                  <a:pt x="39291" y="92869"/>
                </a:cubicBezTo>
                <a:cubicBezTo>
                  <a:pt x="33352" y="92869"/>
                  <a:pt x="28575" y="88091"/>
                  <a:pt x="28575" y="82153"/>
                </a:cubicBezTo>
                <a:cubicBezTo>
                  <a:pt x="28575" y="52551"/>
                  <a:pt x="52551" y="28575"/>
                  <a:pt x="82153" y="28575"/>
                </a:cubicBezTo>
                <a:cubicBezTo>
                  <a:pt x="88091" y="28575"/>
                  <a:pt x="92869" y="33352"/>
                  <a:pt x="92869" y="39291"/>
                </a:cubicBezTo>
                <a:cubicBezTo>
                  <a:pt x="92869" y="45229"/>
                  <a:pt x="88091" y="50006"/>
                  <a:pt x="82153" y="50006"/>
                </a:cubicBezTo>
                <a:close/>
              </a:path>
            </a:pathLst>
          </a:custGeom>
          <a:solidFill>
            <a:srgbClr val="D4A26A"/>
          </a:solidFill>
          <a:ln/>
        </p:spPr>
      </p:sp>
      <p:sp>
        <p:nvSpPr>
          <p:cNvPr id="52" name="Text 50"/>
          <p:cNvSpPr/>
          <p:nvPr/>
        </p:nvSpPr>
        <p:spPr>
          <a:xfrm>
            <a:off x="833199" y="6004559"/>
            <a:ext cx="109347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D4A2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Innovation:</a:t>
            </a:r>
            <a:r>
              <a:rPr lang="en-US" sz="120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The unsupervised pipeline converts 10,000-dimensional TF-IDF vectors into 100 LSA components, applies strict binary division for topic isolation, and discovers latent keyword correlations via memory-efficient FP-Growth — all without human supervision.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6677" y="366677"/>
            <a:ext cx="11531982" cy="220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5" b="1" kern="0" spc="58" dirty="0">
                <a:solidFill>
                  <a:srgbClr val="6B7A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SYSTEM ARCHITECTURE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66677" y="660018"/>
            <a:ext cx="11623651" cy="3666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99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Supervised Pipeline: Classification Benchmark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66677" y="1136698"/>
            <a:ext cx="880024" cy="36668"/>
          </a:xfrm>
          <a:prstGeom prst="roundRect">
            <a:avLst>
              <a:gd name="adj" fmla="val 0"/>
            </a:avLst>
          </a:prstGeom>
          <a:solidFill>
            <a:srgbClr val="6B7A8F"/>
          </a:solidFill>
          <a:ln/>
        </p:spPr>
      </p:sp>
      <p:sp>
        <p:nvSpPr>
          <p:cNvPr id="5" name="Shape 3"/>
          <p:cNvSpPr/>
          <p:nvPr/>
        </p:nvSpPr>
        <p:spPr>
          <a:xfrm>
            <a:off x="370343" y="1323703"/>
            <a:ext cx="5644988" cy="1492374"/>
          </a:xfrm>
          <a:prstGeom prst="roundRect">
            <a:avLst>
              <a:gd name="adj" fmla="val 4914"/>
            </a:avLst>
          </a:prstGeom>
          <a:solidFill>
            <a:srgbClr val="4A5568">
              <a:alpha val="14902"/>
            </a:srgbClr>
          </a:solidFill>
          <a:ln w="10160">
            <a:solidFill>
              <a:srgbClr val="D4A26A">
                <a:alpha val="30196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20681" y="1474043"/>
            <a:ext cx="366677" cy="366677"/>
          </a:xfrm>
          <a:prstGeom prst="roundRect">
            <a:avLst>
              <a:gd name="adj" fmla="val 20000"/>
            </a:avLst>
          </a:prstGeom>
          <a:solidFill>
            <a:srgbClr val="D4A26A">
              <a:alpha val="2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589433" y="1565712"/>
            <a:ext cx="229173" cy="183338"/>
          </a:xfrm>
          <a:custGeom>
            <a:avLst/>
            <a:gdLst/>
            <a:ahLst/>
            <a:cxnLst/>
            <a:rect l="l" t="t" r="r" b="b"/>
            <a:pathLst>
              <a:path w="229173" h="183338">
                <a:moveTo>
                  <a:pt x="137504" y="11459"/>
                </a:moveTo>
                <a:lnTo>
                  <a:pt x="183338" y="11459"/>
                </a:lnTo>
                <a:cubicBezTo>
                  <a:pt x="189676" y="11459"/>
                  <a:pt x="194797" y="16579"/>
                  <a:pt x="194797" y="22917"/>
                </a:cubicBezTo>
                <a:cubicBezTo>
                  <a:pt x="194797" y="29255"/>
                  <a:pt x="189676" y="34376"/>
                  <a:pt x="183338" y="34376"/>
                </a:cubicBezTo>
                <a:lnTo>
                  <a:pt x="142660" y="34376"/>
                </a:lnTo>
                <a:cubicBezTo>
                  <a:pt x="140798" y="43614"/>
                  <a:pt x="134460" y="51242"/>
                  <a:pt x="126045" y="54894"/>
                </a:cubicBezTo>
                <a:lnTo>
                  <a:pt x="126045" y="160421"/>
                </a:lnTo>
                <a:lnTo>
                  <a:pt x="183338" y="160421"/>
                </a:lnTo>
                <a:cubicBezTo>
                  <a:pt x="189676" y="160421"/>
                  <a:pt x="194797" y="165542"/>
                  <a:pt x="194797" y="171880"/>
                </a:cubicBezTo>
                <a:cubicBezTo>
                  <a:pt x="194797" y="178218"/>
                  <a:pt x="189676" y="183338"/>
                  <a:pt x="183338" y="183338"/>
                </a:cubicBezTo>
                <a:lnTo>
                  <a:pt x="45835" y="183338"/>
                </a:lnTo>
                <a:cubicBezTo>
                  <a:pt x="39497" y="183338"/>
                  <a:pt x="34376" y="178218"/>
                  <a:pt x="34376" y="171880"/>
                </a:cubicBezTo>
                <a:cubicBezTo>
                  <a:pt x="34376" y="165542"/>
                  <a:pt x="39497" y="160421"/>
                  <a:pt x="45835" y="160421"/>
                </a:cubicBezTo>
                <a:lnTo>
                  <a:pt x="103128" y="160421"/>
                </a:lnTo>
                <a:lnTo>
                  <a:pt x="103128" y="54894"/>
                </a:lnTo>
                <a:cubicBezTo>
                  <a:pt x="94713" y="51206"/>
                  <a:pt x="88375" y="43579"/>
                  <a:pt x="86513" y="34376"/>
                </a:cubicBezTo>
                <a:lnTo>
                  <a:pt x="45835" y="34376"/>
                </a:lnTo>
                <a:cubicBezTo>
                  <a:pt x="39497" y="34376"/>
                  <a:pt x="34376" y="29255"/>
                  <a:pt x="34376" y="22917"/>
                </a:cubicBezTo>
                <a:cubicBezTo>
                  <a:pt x="34376" y="16579"/>
                  <a:pt x="39497" y="11459"/>
                  <a:pt x="45835" y="11459"/>
                </a:cubicBezTo>
                <a:lnTo>
                  <a:pt x="91669" y="11459"/>
                </a:lnTo>
                <a:cubicBezTo>
                  <a:pt x="96897" y="4512"/>
                  <a:pt x="105205" y="0"/>
                  <a:pt x="114586" y="0"/>
                </a:cubicBezTo>
                <a:cubicBezTo>
                  <a:pt x="123968" y="0"/>
                  <a:pt x="132276" y="4512"/>
                  <a:pt x="137504" y="11459"/>
                </a:cubicBezTo>
                <a:close/>
                <a:moveTo>
                  <a:pt x="157413" y="114586"/>
                </a:moveTo>
                <a:lnTo>
                  <a:pt x="209264" y="114586"/>
                </a:lnTo>
                <a:lnTo>
                  <a:pt x="183338" y="70113"/>
                </a:lnTo>
                <a:lnTo>
                  <a:pt x="157413" y="114586"/>
                </a:lnTo>
                <a:close/>
                <a:moveTo>
                  <a:pt x="183338" y="148962"/>
                </a:moveTo>
                <a:cubicBezTo>
                  <a:pt x="160815" y="148962"/>
                  <a:pt x="142087" y="136788"/>
                  <a:pt x="138220" y="120710"/>
                </a:cubicBezTo>
                <a:cubicBezTo>
                  <a:pt x="137289" y="116771"/>
                  <a:pt x="138578" y="112724"/>
                  <a:pt x="140619" y="109215"/>
                </a:cubicBezTo>
                <a:lnTo>
                  <a:pt x="174709" y="50776"/>
                </a:lnTo>
                <a:cubicBezTo>
                  <a:pt x="176499" y="47697"/>
                  <a:pt x="179793" y="45835"/>
                  <a:pt x="183338" y="45835"/>
                </a:cubicBezTo>
                <a:cubicBezTo>
                  <a:pt x="186883" y="45835"/>
                  <a:pt x="190178" y="47732"/>
                  <a:pt x="191968" y="50776"/>
                </a:cubicBezTo>
                <a:lnTo>
                  <a:pt x="226058" y="109215"/>
                </a:lnTo>
                <a:cubicBezTo>
                  <a:pt x="228099" y="112724"/>
                  <a:pt x="229388" y="116771"/>
                  <a:pt x="228457" y="120710"/>
                </a:cubicBezTo>
                <a:cubicBezTo>
                  <a:pt x="224589" y="136752"/>
                  <a:pt x="205862" y="148962"/>
                  <a:pt x="183338" y="148962"/>
                </a:cubicBezTo>
                <a:close/>
                <a:moveTo>
                  <a:pt x="45405" y="70113"/>
                </a:moveTo>
                <a:lnTo>
                  <a:pt x="19480" y="114586"/>
                </a:lnTo>
                <a:lnTo>
                  <a:pt x="71366" y="114586"/>
                </a:lnTo>
                <a:lnTo>
                  <a:pt x="45405" y="70113"/>
                </a:lnTo>
                <a:close/>
                <a:moveTo>
                  <a:pt x="322" y="120710"/>
                </a:moveTo>
                <a:cubicBezTo>
                  <a:pt x="-609" y="116771"/>
                  <a:pt x="680" y="112724"/>
                  <a:pt x="2721" y="109215"/>
                </a:cubicBezTo>
                <a:lnTo>
                  <a:pt x="36811" y="50776"/>
                </a:lnTo>
                <a:cubicBezTo>
                  <a:pt x="38601" y="47697"/>
                  <a:pt x="41896" y="45835"/>
                  <a:pt x="45441" y="45835"/>
                </a:cubicBezTo>
                <a:cubicBezTo>
                  <a:pt x="48986" y="45835"/>
                  <a:pt x="52280" y="47732"/>
                  <a:pt x="54070" y="50776"/>
                </a:cubicBezTo>
                <a:lnTo>
                  <a:pt x="88160" y="109215"/>
                </a:lnTo>
                <a:cubicBezTo>
                  <a:pt x="90201" y="112724"/>
                  <a:pt x="91490" y="116771"/>
                  <a:pt x="90559" y="120710"/>
                </a:cubicBezTo>
                <a:cubicBezTo>
                  <a:pt x="86692" y="136752"/>
                  <a:pt x="67964" y="148962"/>
                  <a:pt x="45441" y="148962"/>
                </a:cubicBezTo>
                <a:cubicBezTo>
                  <a:pt x="22917" y="148962"/>
                  <a:pt x="4190" y="136788"/>
                  <a:pt x="322" y="120710"/>
                </a:cubicBezTo>
                <a:close/>
              </a:path>
            </a:pathLst>
          </a:custGeom>
          <a:solidFill>
            <a:srgbClr val="D4A26A"/>
          </a:solidFill>
          <a:ln/>
        </p:spPr>
      </p:sp>
      <p:sp>
        <p:nvSpPr>
          <p:cNvPr id="8" name="Text 6"/>
          <p:cNvSpPr/>
          <p:nvPr/>
        </p:nvSpPr>
        <p:spPr>
          <a:xfrm>
            <a:off x="997361" y="1529044"/>
            <a:ext cx="2080890" cy="25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44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Dual-Model Competition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20681" y="1950723"/>
            <a:ext cx="5417648" cy="715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55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Instead of forcing a single classification paradigm, the architecture </a:t>
            </a:r>
            <a:r>
              <a:rPr lang="en-US" sz="1155" b="1" dirty="0">
                <a:solidFill>
                  <a:srgbClr val="D4A2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automatically splits testing sets identically</a:t>
            </a:r>
            <a:r>
              <a:rPr lang="en-US" sz="1155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and forces both models to race, actively showcasing which parses journalism context better in real-time.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70343" y="2970082"/>
            <a:ext cx="5644988" cy="3884940"/>
          </a:xfrm>
          <a:prstGeom prst="roundRect">
            <a:avLst>
              <a:gd name="adj" fmla="val 1888"/>
            </a:avLst>
          </a:prstGeom>
          <a:solidFill>
            <a:srgbClr val="4A5568">
              <a:alpha val="14902"/>
            </a:srgbClr>
          </a:solidFill>
          <a:ln w="10160">
            <a:solidFill>
              <a:srgbClr val="D4A26A">
                <a:alpha val="30196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20681" y="3120418"/>
            <a:ext cx="366677" cy="366677"/>
          </a:xfrm>
          <a:prstGeom prst="roundRect">
            <a:avLst>
              <a:gd name="adj" fmla="val 20000"/>
            </a:avLst>
          </a:prstGeom>
          <a:solidFill>
            <a:srgbClr val="D4A26A">
              <a:alpha val="2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612350" y="3212087"/>
            <a:ext cx="183338" cy="183338"/>
          </a:xfrm>
          <a:custGeom>
            <a:avLst/>
            <a:gdLst/>
            <a:ahLst/>
            <a:cxnLst/>
            <a:rect l="l" t="t" r="r" b="b"/>
            <a:pathLst>
              <a:path w="183338" h="183338">
                <a:moveTo>
                  <a:pt x="11459" y="11459"/>
                </a:moveTo>
                <a:cubicBezTo>
                  <a:pt x="17797" y="11459"/>
                  <a:pt x="22917" y="16579"/>
                  <a:pt x="22917" y="22917"/>
                </a:cubicBezTo>
                <a:lnTo>
                  <a:pt x="22917" y="143233"/>
                </a:lnTo>
                <a:cubicBezTo>
                  <a:pt x="22917" y="146384"/>
                  <a:pt x="25495" y="148962"/>
                  <a:pt x="28647" y="148962"/>
                </a:cubicBezTo>
                <a:lnTo>
                  <a:pt x="171880" y="148962"/>
                </a:lnTo>
                <a:cubicBezTo>
                  <a:pt x="178218" y="148962"/>
                  <a:pt x="183338" y="154083"/>
                  <a:pt x="183338" y="160421"/>
                </a:cubicBezTo>
                <a:cubicBezTo>
                  <a:pt x="183338" y="166759"/>
                  <a:pt x="178218" y="171880"/>
                  <a:pt x="171880" y="171880"/>
                </a:cubicBezTo>
                <a:lnTo>
                  <a:pt x="28647" y="171880"/>
                </a:lnTo>
                <a:cubicBezTo>
                  <a:pt x="12819" y="171880"/>
                  <a:pt x="0" y="159060"/>
                  <a:pt x="0" y="143233"/>
                </a:cubicBezTo>
                <a:lnTo>
                  <a:pt x="0" y="22917"/>
                </a:lnTo>
                <a:cubicBezTo>
                  <a:pt x="0" y="16579"/>
                  <a:pt x="5121" y="11459"/>
                  <a:pt x="11459" y="11459"/>
                </a:cubicBezTo>
                <a:close/>
                <a:moveTo>
                  <a:pt x="45835" y="34376"/>
                </a:moveTo>
                <a:cubicBezTo>
                  <a:pt x="45835" y="28038"/>
                  <a:pt x="50955" y="22917"/>
                  <a:pt x="57293" y="22917"/>
                </a:cubicBezTo>
                <a:lnTo>
                  <a:pt x="126045" y="22917"/>
                </a:lnTo>
                <a:cubicBezTo>
                  <a:pt x="132383" y="22917"/>
                  <a:pt x="137504" y="28038"/>
                  <a:pt x="137504" y="34376"/>
                </a:cubicBezTo>
                <a:cubicBezTo>
                  <a:pt x="137504" y="40714"/>
                  <a:pt x="132383" y="45835"/>
                  <a:pt x="126045" y="45835"/>
                </a:cubicBezTo>
                <a:lnTo>
                  <a:pt x="57293" y="45835"/>
                </a:lnTo>
                <a:cubicBezTo>
                  <a:pt x="50955" y="45835"/>
                  <a:pt x="45835" y="40714"/>
                  <a:pt x="45835" y="34376"/>
                </a:cubicBezTo>
                <a:close/>
                <a:moveTo>
                  <a:pt x="57293" y="63023"/>
                </a:moveTo>
                <a:lnTo>
                  <a:pt x="103128" y="63023"/>
                </a:lnTo>
                <a:cubicBezTo>
                  <a:pt x="109466" y="63023"/>
                  <a:pt x="114586" y="68143"/>
                  <a:pt x="114586" y="74481"/>
                </a:cubicBezTo>
                <a:cubicBezTo>
                  <a:pt x="114586" y="80819"/>
                  <a:pt x="109466" y="85940"/>
                  <a:pt x="103128" y="85940"/>
                </a:cubicBezTo>
                <a:lnTo>
                  <a:pt x="57293" y="85940"/>
                </a:lnTo>
                <a:cubicBezTo>
                  <a:pt x="50955" y="85940"/>
                  <a:pt x="45835" y="80819"/>
                  <a:pt x="45835" y="74481"/>
                </a:cubicBezTo>
                <a:cubicBezTo>
                  <a:pt x="45835" y="68143"/>
                  <a:pt x="50955" y="63023"/>
                  <a:pt x="57293" y="63023"/>
                </a:cubicBezTo>
                <a:close/>
                <a:moveTo>
                  <a:pt x="57293" y="103128"/>
                </a:moveTo>
                <a:lnTo>
                  <a:pt x="148962" y="103128"/>
                </a:lnTo>
                <a:cubicBezTo>
                  <a:pt x="155300" y="103128"/>
                  <a:pt x="160421" y="108248"/>
                  <a:pt x="160421" y="114586"/>
                </a:cubicBezTo>
                <a:cubicBezTo>
                  <a:pt x="160421" y="120925"/>
                  <a:pt x="155300" y="126045"/>
                  <a:pt x="148962" y="126045"/>
                </a:cubicBezTo>
                <a:lnTo>
                  <a:pt x="57293" y="126045"/>
                </a:lnTo>
                <a:cubicBezTo>
                  <a:pt x="50955" y="126045"/>
                  <a:pt x="45835" y="120925"/>
                  <a:pt x="45835" y="114586"/>
                </a:cubicBezTo>
                <a:cubicBezTo>
                  <a:pt x="45835" y="108248"/>
                  <a:pt x="50955" y="103128"/>
                  <a:pt x="57293" y="103128"/>
                </a:cubicBezTo>
                <a:close/>
              </a:path>
            </a:pathLst>
          </a:custGeom>
          <a:solidFill>
            <a:srgbClr val="D4A26A"/>
          </a:solidFill>
          <a:ln/>
        </p:spPr>
      </p:sp>
      <p:sp>
        <p:nvSpPr>
          <p:cNvPr id="13" name="Text 11"/>
          <p:cNvSpPr/>
          <p:nvPr/>
        </p:nvSpPr>
        <p:spPr>
          <a:xfrm>
            <a:off x="997361" y="3175419"/>
            <a:ext cx="2071723" cy="25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44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Multinomial Naive Bayes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34431" y="3670433"/>
            <a:ext cx="110003" cy="110003"/>
          </a:xfrm>
          <a:custGeom>
            <a:avLst/>
            <a:gdLst/>
            <a:ahLst/>
            <a:cxnLst/>
            <a:rect l="l" t="t" r="r" b="b"/>
            <a:pathLst>
              <a:path w="110003" h="110003">
                <a:moveTo>
                  <a:pt x="0" y="55002"/>
                </a:moveTo>
                <a:cubicBezTo>
                  <a:pt x="0" y="24645"/>
                  <a:pt x="24645" y="0"/>
                  <a:pt x="55002" y="0"/>
                </a:cubicBezTo>
                <a:cubicBezTo>
                  <a:pt x="85358" y="0"/>
                  <a:pt x="110003" y="24645"/>
                  <a:pt x="110003" y="55002"/>
                </a:cubicBezTo>
                <a:cubicBezTo>
                  <a:pt x="110003" y="85358"/>
                  <a:pt x="85358" y="110003"/>
                  <a:pt x="55002" y="110003"/>
                </a:cubicBezTo>
                <a:cubicBezTo>
                  <a:pt x="24645" y="110003"/>
                  <a:pt x="0" y="85358"/>
                  <a:pt x="0" y="55002"/>
                </a:cubicBezTo>
                <a:close/>
              </a:path>
            </a:pathLst>
          </a:custGeom>
          <a:solidFill>
            <a:srgbClr val="D4A26A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597097"/>
            <a:ext cx="3300090" cy="220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5" b="1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Type:</a:t>
            </a:r>
            <a:r>
              <a:rPr lang="en-US" sz="1155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Probabilistic model based on Bayes' theorem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34431" y="3963774"/>
            <a:ext cx="110003" cy="110003"/>
          </a:xfrm>
          <a:custGeom>
            <a:avLst/>
            <a:gdLst/>
            <a:ahLst/>
            <a:cxnLst/>
            <a:rect l="l" t="t" r="r" b="b"/>
            <a:pathLst>
              <a:path w="110003" h="110003">
                <a:moveTo>
                  <a:pt x="0" y="55002"/>
                </a:moveTo>
                <a:cubicBezTo>
                  <a:pt x="0" y="24645"/>
                  <a:pt x="24645" y="0"/>
                  <a:pt x="55002" y="0"/>
                </a:cubicBezTo>
                <a:cubicBezTo>
                  <a:pt x="85358" y="0"/>
                  <a:pt x="110003" y="24645"/>
                  <a:pt x="110003" y="55002"/>
                </a:cubicBezTo>
                <a:cubicBezTo>
                  <a:pt x="110003" y="85358"/>
                  <a:pt x="85358" y="110003"/>
                  <a:pt x="55002" y="110003"/>
                </a:cubicBezTo>
                <a:cubicBezTo>
                  <a:pt x="24645" y="110003"/>
                  <a:pt x="0" y="85358"/>
                  <a:pt x="0" y="55002"/>
                </a:cubicBezTo>
                <a:close/>
              </a:path>
            </a:pathLst>
          </a:custGeom>
          <a:solidFill>
            <a:srgbClr val="D4A26A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3890439"/>
            <a:ext cx="4042611" cy="220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5" b="1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Strengths:</a:t>
            </a:r>
            <a:r>
              <a:rPr lang="en-US" sz="1155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Fast training, works well with high-dimensional data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34431" y="4257115"/>
            <a:ext cx="110003" cy="110003"/>
          </a:xfrm>
          <a:custGeom>
            <a:avLst/>
            <a:gdLst/>
            <a:ahLst/>
            <a:cxnLst/>
            <a:rect l="l" t="t" r="r" b="b"/>
            <a:pathLst>
              <a:path w="110003" h="110003">
                <a:moveTo>
                  <a:pt x="0" y="55002"/>
                </a:moveTo>
                <a:cubicBezTo>
                  <a:pt x="0" y="24645"/>
                  <a:pt x="24645" y="0"/>
                  <a:pt x="55002" y="0"/>
                </a:cubicBezTo>
                <a:cubicBezTo>
                  <a:pt x="85358" y="0"/>
                  <a:pt x="110003" y="24645"/>
                  <a:pt x="110003" y="55002"/>
                </a:cubicBezTo>
                <a:cubicBezTo>
                  <a:pt x="110003" y="85358"/>
                  <a:pt x="85358" y="110003"/>
                  <a:pt x="55002" y="110003"/>
                </a:cubicBezTo>
                <a:cubicBezTo>
                  <a:pt x="24645" y="110003"/>
                  <a:pt x="0" y="85358"/>
                  <a:pt x="0" y="55002"/>
                </a:cubicBezTo>
                <a:close/>
              </a:path>
            </a:pathLst>
          </a:custGeom>
          <a:solidFill>
            <a:srgbClr val="D4A26A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4183780"/>
            <a:ext cx="4895134" cy="220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5" b="1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Limitation:</a:t>
            </a:r>
            <a:r>
              <a:rPr lang="en-US" sz="1155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Assumes feature independence — struggles with text correlations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20681" y="4513789"/>
            <a:ext cx="5344313" cy="403344"/>
          </a:xfrm>
          <a:prstGeom prst="roundRect">
            <a:avLst>
              <a:gd name="adj" fmla="val 18182"/>
            </a:avLst>
          </a:prstGeom>
          <a:solidFill>
            <a:srgbClr val="1A1D21">
              <a:alpha val="6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630684" y="4623792"/>
            <a:ext cx="5188475" cy="1833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1" dirty="0">
                <a:solidFill>
                  <a:srgbClr val="E2E8F0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Baseline model for comparison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175638" y="1327370"/>
            <a:ext cx="5643154" cy="3232255"/>
          </a:xfrm>
          <a:prstGeom prst="roundRect">
            <a:avLst>
              <a:gd name="adj" fmla="val 2269"/>
            </a:avLst>
          </a:prstGeom>
          <a:gradFill flip="none" rotWithShape="1">
            <a:gsLst>
              <a:gs pos="0">
                <a:srgbClr val="D4A26A">
                  <a:alpha val="20000"/>
                </a:srgbClr>
              </a:gs>
              <a:gs pos="100000">
                <a:srgbClr val="6B7A8F">
                  <a:alpha val="20000"/>
                </a:srgbClr>
              </a:gs>
            </a:gsLst>
            <a:lin ang="2700000" scaled="1"/>
          </a:gradFill>
          <a:ln w="20320">
            <a:solidFill>
              <a:srgbClr val="D4A26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329642" y="1481375"/>
            <a:ext cx="366677" cy="366677"/>
          </a:xfrm>
          <a:prstGeom prst="roundRect">
            <a:avLst>
              <a:gd name="adj" fmla="val 20000"/>
            </a:avLst>
          </a:prstGeom>
          <a:solidFill>
            <a:srgbClr val="D4A26A"/>
          </a:solidFill>
          <a:ln/>
        </p:spPr>
      </p:sp>
      <p:sp>
        <p:nvSpPr>
          <p:cNvPr id="24" name="Shape 22"/>
          <p:cNvSpPr/>
          <p:nvPr/>
        </p:nvSpPr>
        <p:spPr>
          <a:xfrm>
            <a:off x="6421311" y="1573044"/>
            <a:ext cx="183338" cy="183338"/>
          </a:xfrm>
          <a:custGeom>
            <a:avLst/>
            <a:gdLst/>
            <a:ahLst/>
            <a:cxnLst/>
            <a:rect l="l" t="t" r="r" b="b"/>
            <a:pathLst>
              <a:path w="183338" h="183338">
                <a:moveTo>
                  <a:pt x="51671" y="0"/>
                </a:moveTo>
                <a:lnTo>
                  <a:pt x="131882" y="0"/>
                </a:lnTo>
                <a:cubicBezTo>
                  <a:pt x="141371" y="0"/>
                  <a:pt x="149106" y="7806"/>
                  <a:pt x="148748" y="17260"/>
                </a:cubicBezTo>
                <a:cubicBezTo>
                  <a:pt x="148676" y="19157"/>
                  <a:pt x="148604" y="21055"/>
                  <a:pt x="148497" y="22917"/>
                </a:cubicBezTo>
                <a:lnTo>
                  <a:pt x="166258" y="22917"/>
                </a:lnTo>
                <a:cubicBezTo>
                  <a:pt x="175604" y="22917"/>
                  <a:pt x="183840" y="30652"/>
                  <a:pt x="183123" y="40750"/>
                </a:cubicBezTo>
                <a:cubicBezTo>
                  <a:pt x="180438" y="77883"/>
                  <a:pt x="161459" y="98294"/>
                  <a:pt x="140870" y="108965"/>
                </a:cubicBezTo>
                <a:cubicBezTo>
                  <a:pt x="135212" y="111901"/>
                  <a:pt x="129447" y="114085"/>
                  <a:pt x="123968" y="115697"/>
                </a:cubicBezTo>
                <a:cubicBezTo>
                  <a:pt x="116735" y="125938"/>
                  <a:pt x="109215" y="131345"/>
                  <a:pt x="103235" y="134245"/>
                </a:cubicBezTo>
                <a:lnTo>
                  <a:pt x="103235" y="160421"/>
                </a:lnTo>
                <a:lnTo>
                  <a:pt x="126153" y="160421"/>
                </a:lnTo>
                <a:cubicBezTo>
                  <a:pt x="132491" y="160421"/>
                  <a:pt x="137611" y="165542"/>
                  <a:pt x="137611" y="171880"/>
                </a:cubicBezTo>
                <a:cubicBezTo>
                  <a:pt x="137611" y="178218"/>
                  <a:pt x="132491" y="183338"/>
                  <a:pt x="126153" y="183338"/>
                </a:cubicBezTo>
                <a:lnTo>
                  <a:pt x="57401" y="183338"/>
                </a:lnTo>
                <a:cubicBezTo>
                  <a:pt x="51063" y="183338"/>
                  <a:pt x="45942" y="178218"/>
                  <a:pt x="45942" y="171880"/>
                </a:cubicBezTo>
                <a:cubicBezTo>
                  <a:pt x="45942" y="165542"/>
                  <a:pt x="51063" y="160421"/>
                  <a:pt x="57401" y="160421"/>
                </a:cubicBezTo>
                <a:lnTo>
                  <a:pt x="80318" y="160421"/>
                </a:lnTo>
                <a:lnTo>
                  <a:pt x="80318" y="134245"/>
                </a:lnTo>
                <a:cubicBezTo>
                  <a:pt x="74589" y="131488"/>
                  <a:pt x="67463" y="126367"/>
                  <a:pt x="60516" y="116950"/>
                </a:cubicBezTo>
                <a:cubicBezTo>
                  <a:pt x="53927" y="115231"/>
                  <a:pt x="46766" y="112617"/>
                  <a:pt x="39783" y="108678"/>
                </a:cubicBezTo>
                <a:cubicBezTo>
                  <a:pt x="20411" y="97828"/>
                  <a:pt x="2936" y="77382"/>
                  <a:pt x="430" y="40678"/>
                </a:cubicBezTo>
                <a:cubicBezTo>
                  <a:pt x="-251" y="30616"/>
                  <a:pt x="7949" y="22881"/>
                  <a:pt x="17295" y="22881"/>
                </a:cubicBezTo>
                <a:lnTo>
                  <a:pt x="35056" y="22881"/>
                </a:lnTo>
                <a:cubicBezTo>
                  <a:pt x="34949" y="21019"/>
                  <a:pt x="34877" y="19157"/>
                  <a:pt x="34806" y="17224"/>
                </a:cubicBezTo>
                <a:cubicBezTo>
                  <a:pt x="34448" y="7735"/>
                  <a:pt x="42182" y="-36"/>
                  <a:pt x="51671" y="-36"/>
                </a:cubicBezTo>
                <a:close/>
                <a:moveTo>
                  <a:pt x="36345" y="40105"/>
                </a:moveTo>
                <a:lnTo>
                  <a:pt x="17582" y="40105"/>
                </a:lnTo>
                <a:cubicBezTo>
                  <a:pt x="19802" y="70435"/>
                  <a:pt x="33731" y="85618"/>
                  <a:pt x="48091" y="93674"/>
                </a:cubicBezTo>
                <a:cubicBezTo>
                  <a:pt x="42934" y="80318"/>
                  <a:pt x="38673" y="62879"/>
                  <a:pt x="36345" y="40105"/>
                </a:cubicBezTo>
                <a:close/>
                <a:moveTo>
                  <a:pt x="136071" y="91956"/>
                </a:moveTo>
                <a:cubicBezTo>
                  <a:pt x="150574" y="83433"/>
                  <a:pt x="163680" y="68286"/>
                  <a:pt x="165900" y="40105"/>
                </a:cubicBezTo>
                <a:lnTo>
                  <a:pt x="147172" y="40105"/>
                </a:lnTo>
                <a:cubicBezTo>
                  <a:pt x="144952" y="61912"/>
                  <a:pt x="140941" y="78850"/>
                  <a:pt x="136071" y="91956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25" name="Text 23"/>
          <p:cNvSpPr/>
          <p:nvPr/>
        </p:nvSpPr>
        <p:spPr>
          <a:xfrm>
            <a:off x="6806321" y="1536376"/>
            <a:ext cx="1787549" cy="25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44" b="1" dirty="0">
                <a:solidFill>
                  <a:srgbClr val="D4A2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Linear SVM (Winner)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329642" y="1958054"/>
            <a:ext cx="5335146" cy="660018"/>
          </a:xfrm>
          <a:prstGeom prst="roundRect">
            <a:avLst>
              <a:gd name="adj" fmla="val 11111"/>
            </a:avLst>
          </a:prstGeom>
          <a:solidFill>
            <a:srgbClr val="1A1D21">
              <a:alpha val="6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6439645" y="2068057"/>
            <a:ext cx="5179308" cy="1833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1" b="1" dirty="0">
                <a:solidFill>
                  <a:srgbClr val="D4A2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Type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439645" y="2288063"/>
            <a:ext cx="5188475" cy="220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5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Dimensional hyperplane model (Linear SVC)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329642" y="2728075"/>
            <a:ext cx="5335146" cy="660018"/>
          </a:xfrm>
          <a:prstGeom prst="roundRect">
            <a:avLst>
              <a:gd name="adj" fmla="val 11111"/>
            </a:avLst>
          </a:prstGeom>
          <a:solidFill>
            <a:srgbClr val="1A1D21">
              <a:alpha val="60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6439645" y="2838078"/>
            <a:ext cx="5179308" cy="1833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1" b="1" dirty="0">
                <a:solidFill>
                  <a:srgbClr val="D4A2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Strengths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439645" y="3058085"/>
            <a:ext cx="5188475" cy="220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5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Finds optimal separating hyperplane in high-dimensional TF-IDF space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336975" y="3505430"/>
            <a:ext cx="5313145" cy="894691"/>
          </a:xfrm>
          <a:prstGeom prst="roundRect">
            <a:avLst>
              <a:gd name="adj" fmla="val 8197"/>
            </a:avLst>
          </a:prstGeom>
          <a:solidFill>
            <a:srgbClr val="1A1D21">
              <a:alpha val="60000"/>
            </a:srgbClr>
          </a:solidFill>
          <a:ln w="20320">
            <a:solidFill>
              <a:srgbClr val="D4A26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54312" y="3622768"/>
            <a:ext cx="5142641" cy="1833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1" b="1" dirty="0">
                <a:solidFill>
                  <a:srgbClr val="D4A2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Performance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454312" y="3842774"/>
            <a:ext cx="5151808" cy="440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5" b="1" dirty="0">
                <a:solidFill>
                  <a:srgbClr val="D4A2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Universally outperformed</a:t>
            </a:r>
            <a:r>
              <a:rPr lang="en-US" sz="1155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Naive Bayes across all accuracy metrics on journalistic texts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171971" y="4719128"/>
            <a:ext cx="5644988" cy="2134058"/>
          </a:xfrm>
          <a:prstGeom prst="roundRect">
            <a:avLst>
              <a:gd name="adj" fmla="val 3436"/>
            </a:avLst>
          </a:prstGeom>
          <a:solidFill>
            <a:srgbClr val="4A5568">
              <a:alpha val="14902"/>
            </a:srgbClr>
          </a:solidFill>
          <a:ln w="10160">
            <a:solidFill>
              <a:srgbClr val="6B7A8F">
                <a:alpha val="30196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345226" y="4915303"/>
            <a:ext cx="165005" cy="165005"/>
          </a:xfrm>
          <a:custGeom>
            <a:avLst/>
            <a:gdLst/>
            <a:ahLst/>
            <a:cxnLst/>
            <a:rect l="l" t="t" r="r" b="b"/>
            <a:pathLst>
              <a:path w="165005" h="165005">
                <a:moveTo>
                  <a:pt x="110411" y="3029"/>
                </a:moveTo>
                <a:cubicBezTo>
                  <a:pt x="106383" y="-999"/>
                  <a:pt x="99841" y="-999"/>
                  <a:pt x="95812" y="3029"/>
                </a:cubicBezTo>
                <a:cubicBezTo>
                  <a:pt x="91784" y="7058"/>
                  <a:pt x="91784" y="13600"/>
                  <a:pt x="95812" y="17628"/>
                </a:cubicBezTo>
                <a:lnTo>
                  <a:pt x="98842" y="20626"/>
                </a:lnTo>
                <a:lnTo>
                  <a:pt x="9056" y="110411"/>
                </a:lnTo>
                <a:cubicBezTo>
                  <a:pt x="3255" y="116212"/>
                  <a:pt x="0" y="124076"/>
                  <a:pt x="0" y="132294"/>
                </a:cubicBezTo>
                <a:lnTo>
                  <a:pt x="0" y="134066"/>
                </a:lnTo>
                <a:cubicBezTo>
                  <a:pt x="0" y="151147"/>
                  <a:pt x="13858" y="165005"/>
                  <a:pt x="30938" y="165005"/>
                </a:cubicBezTo>
                <a:lnTo>
                  <a:pt x="32711" y="165005"/>
                </a:lnTo>
                <a:cubicBezTo>
                  <a:pt x="40929" y="165005"/>
                  <a:pt x="48792" y="161750"/>
                  <a:pt x="54593" y="155949"/>
                </a:cubicBezTo>
                <a:lnTo>
                  <a:pt x="144379" y="66163"/>
                </a:lnTo>
                <a:lnTo>
                  <a:pt x="147408" y="69192"/>
                </a:lnTo>
                <a:cubicBezTo>
                  <a:pt x="151437" y="73221"/>
                  <a:pt x="157979" y="73221"/>
                  <a:pt x="162007" y="69192"/>
                </a:cubicBezTo>
                <a:cubicBezTo>
                  <a:pt x="166036" y="65164"/>
                  <a:pt x="166036" y="58622"/>
                  <a:pt x="162007" y="54593"/>
                </a:cubicBezTo>
                <a:lnTo>
                  <a:pt x="110443" y="3029"/>
                </a:lnTo>
                <a:close/>
                <a:moveTo>
                  <a:pt x="66163" y="82502"/>
                </a:moveTo>
                <a:lnTo>
                  <a:pt x="113441" y="35225"/>
                </a:lnTo>
                <a:lnTo>
                  <a:pt x="129780" y="51564"/>
                </a:lnTo>
                <a:lnTo>
                  <a:pt x="98842" y="82502"/>
                </a:lnTo>
                <a:lnTo>
                  <a:pt x="66131" y="82502"/>
                </a:lnTo>
                <a:close/>
              </a:path>
            </a:pathLst>
          </a:custGeom>
          <a:solidFill>
            <a:srgbClr val="6B7A8F"/>
          </a:solidFill>
          <a:ln/>
        </p:spPr>
      </p:sp>
      <p:sp>
        <p:nvSpPr>
          <p:cNvPr id="37" name="Text 35"/>
          <p:cNvSpPr/>
          <p:nvPr/>
        </p:nvSpPr>
        <p:spPr>
          <a:xfrm>
            <a:off x="6533147" y="4869468"/>
            <a:ext cx="5215976" cy="25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99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Live Benchmarking UI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322308" y="5236145"/>
            <a:ext cx="5344313" cy="440012"/>
          </a:xfrm>
          <a:prstGeom prst="roundRect">
            <a:avLst>
              <a:gd name="adj" fmla="val 16667"/>
            </a:avLst>
          </a:prstGeom>
          <a:solidFill>
            <a:srgbClr val="1A1D21">
              <a:alpha val="60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6450645" y="5382816"/>
            <a:ext cx="146671" cy="146671"/>
          </a:xfrm>
          <a:custGeom>
            <a:avLst/>
            <a:gdLst/>
            <a:ahLst/>
            <a:cxnLst/>
            <a:rect l="l" t="t" r="r" b="b"/>
            <a:pathLst>
              <a:path w="146671" h="146671">
                <a:moveTo>
                  <a:pt x="18334" y="9167"/>
                </a:moveTo>
                <a:cubicBezTo>
                  <a:pt x="8222" y="9167"/>
                  <a:pt x="0" y="17388"/>
                  <a:pt x="0" y="27501"/>
                </a:cubicBezTo>
                <a:lnTo>
                  <a:pt x="0" y="100836"/>
                </a:lnTo>
                <a:cubicBezTo>
                  <a:pt x="0" y="110948"/>
                  <a:pt x="8222" y="119170"/>
                  <a:pt x="18334" y="119170"/>
                </a:cubicBezTo>
                <a:lnTo>
                  <a:pt x="59585" y="119170"/>
                </a:lnTo>
                <a:lnTo>
                  <a:pt x="55002" y="132920"/>
                </a:lnTo>
                <a:lnTo>
                  <a:pt x="34376" y="132920"/>
                </a:lnTo>
                <a:cubicBezTo>
                  <a:pt x="30566" y="132920"/>
                  <a:pt x="27501" y="135985"/>
                  <a:pt x="27501" y="139795"/>
                </a:cubicBezTo>
                <a:cubicBezTo>
                  <a:pt x="27501" y="143605"/>
                  <a:pt x="30566" y="146671"/>
                  <a:pt x="34376" y="146671"/>
                </a:cubicBezTo>
                <a:lnTo>
                  <a:pt x="112295" y="146671"/>
                </a:lnTo>
                <a:cubicBezTo>
                  <a:pt x="116105" y="146671"/>
                  <a:pt x="119170" y="143605"/>
                  <a:pt x="119170" y="139795"/>
                </a:cubicBezTo>
                <a:cubicBezTo>
                  <a:pt x="119170" y="135985"/>
                  <a:pt x="116105" y="132920"/>
                  <a:pt x="112295" y="132920"/>
                </a:cubicBezTo>
                <a:lnTo>
                  <a:pt x="91669" y="132920"/>
                </a:lnTo>
                <a:lnTo>
                  <a:pt x="87086" y="119170"/>
                </a:lnTo>
                <a:lnTo>
                  <a:pt x="128337" y="119170"/>
                </a:lnTo>
                <a:cubicBezTo>
                  <a:pt x="138449" y="119170"/>
                  <a:pt x="146671" y="110948"/>
                  <a:pt x="146671" y="100836"/>
                </a:cubicBezTo>
                <a:lnTo>
                  <a:pt x="146671" y="27501"/>
                </a:lnTo>
                <a:cubicBezTo>
                  <a:pt x="146671" y="17388"/>
                  <a:pt x="138449" y="9167"/>
                  <a:pt x="128337" y="9167"/>
                </a:cubicBezTo>
                <a:lnTo>
                  <a:pt x="18334" y="9167"/>
                </a:lnTo>
                <a:close/>
                <a:moveTo>
                  <a:pt x="27501" y="27501"/>
                </a:moveTo>
                <a:lnTo>
                  <a:pt x="119170" y="27501"/>
                </a:lnTo>
                <a:cubicBezTo>
                  <a:pt x="124240" y="27501"/>
                  <a:pt x="128337" y="31597"/>
                  <a:pt x="128337" y="36668"/>
                </a:cubicBezTo>
                <a:lnTo>
                  <a:pt x="128337" y="82502"/>
                </a:lnTo>
                <a:cubicBezTo>
                  <a:pt x="128337" y="87573"/>
                  <a:pt x="124240" y="91669"/>
                  <a:pt x="119170" y="91669"/>
                </a:cubicBezTo>
                <a:lnTo>
                  <a:pt x="27501" y="91669"/>
                </a:lnTo>
                <a:cubicBezTo>
                  <a:pt x="22430" y="91669"/>
                  <a:pt x="18334" y="87573"/>
                  <a:pt x="18334" y="82502"/>
                </a:cubicBezTo>
                <a:lnTo>
                  <a:pt x="18334" y="36668"/>
                </a:lnTo>
                <a:cubicBezTo>
                  <a:pt x="18334" y="31597"/>
                  <a:pt x="22430" y="27501"/>
                  <a:pt x="27501" y="27501"/>
                </a:cubicBezTo>
                <a:close/>
              </a:path>
            </a:pathLst>
          </a:custGeom>
          <a:solidFill>
            <a:srgbClr val="6B7A8F"/>
          </a:solidFill>
          <a:ln/>
        </p:spPr>
      </p:sp>
      <p:sp>
        <p:nvSpPr>
          <p:cNvPr id="40" name="Text 38"/>
          <p:cNvSpPr/>
          <p:nvPr/>
        </p:nvSpPr>
        <p:spPr>
          <a:xfrm>
            <a:off x="6725653" y="5346148"/>
            <a:ext cx="4308451" cy="220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5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Dual-training visualization showing real-time accuracy comparison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322308" y="5749492"/>
            <a:ext cx="5344313" cy="440012"/>
          </a:xfrm>
          <a:prstGeom prst="roundRect">
            <a:avLst>
              <a:gd name="adj" fmla="val 16667"/>
            </a:avLst>
          </a:prstGeom>
          <a:solidFill>
            <a:srgbClr val="1A1D21">
              <a:alpha val="60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6450645" y="5896163"/>
            <a:ext cx="146671" cy="146671"/>
          </a:xfrm>
          <a:custGeom>
            <a:avLst/>
            <a:gdLst/>
            <a:ahLst/>
            <a:cxnLst/>
            <a:rect l="l" t="t" r="r" b="b"/>
            <a:pathLst>
              <a:path w="146671" h="146671">
                <a:moveTo>
                  <a:pt x="119170" y="59585"/>
                </a:moveTo>
                <a:cubicBezTo>
                  <a:pt x="119170" y="72734"/>
                  <a:pt x="114902" y="84880"/>
                  <a:pt x="107711" y="94734"/>
                </a:cubicBezTo>
                <a:lnTo>
                  <a:pt x="143978" y="131030"/>
                </a:lnTo>
                <a:cubicBezTo>
                  <a:pt x="147559" y="134610"/>
                  <a:pt x="147559" y="140426"/>
                  <a:pt x="143978" y="144007"/>
                </a:cubicBezTo>
                <a:cubicBezTo>
                  <a:pt x="140397" y="147587"/>
                  <a:pt x="134582" y="147587"/>
                  <a:pt x="131001" y="144007"/>
                </a:cubicBezTo>
                <a:lnTo>
                  <a:pt x="94734" y="107711"/>
                </a:lnTo>
                <a:cubicBezTo>
                  <a:pt x="84880" y="114902"/>
                  <a:pt x="72734" y="119170"/>
                  <a:pt x="59585" y="119170"/>
                </a:cubicBezTo>
                <a:cubicBezTo>
                  <a:pt x="26670" y="119170"/>
                  <a:pt x="0" y="92500"/>
                  <a:pt x="0" y="59585"/>
                </a:cubicBezTo>
                <a:cubicBezTo>
                  <a:pt x="0" y="26670"/>
                  <a:pt x="26670" y="0"/>
                  <a:pt x="59585" y="0"/>
                </a:cubicBezTo>
                <a:cubicBezTo>
                  <a:pt x="92500" y="0"/>
                  <a:pt x="119170" y="26670"/>
                  <a:pt x="119170" y="59585"/>
                </a:cubicBezTo>
                <a:close/>
                <a:moveTo>
                  <a:pt x="59585" y="100836"/>
                </a:moveTo>
                <a:cubicBezTo>
                  <a:pt x="82352" y="100836"/>
                  <a:pt x="100836" y="82352"/>
                  <a:pt x="100836" y="59585"/>
                </a:cubicBezTo>
                <a:cubicBezTo>
                  <a:pt x="100836" y="36818"/>
                  <a:pt x="82352" y="18334"/>
                  <a:pt x="59585" y="18334"/>
                </a:cubicBezTo>
                <a:cubicBezTo>
                  <a:pt x="36818" y="18334"/>
                  <a:pt x="18334" y="36818"/>
                  <a:pt x="18334" y="59585"/>
                </a:cubicBezTo>
                <a:cubicBezTo>
                  <a:pt x="18334" y="82352"/>
                  <a:pt x="36818" y="100836"/>
                  <a:pt x="59585" y="100836"/>
                </a:cubicBezTo>
                <a:close/>
              </a:path>
            </a:pathLst>
          </a:custGeom>
          <a:solidFill>
            <a:srgbClr val="6B7A8F"/>
          </a:solidFill>
          <a:ln/>
        </p:spPr>
      </p:sp>
      <p:sp>
        <p:nvSpPr>
          <p:cNvPr id="43" name="Text 41"/>
          <p:cNvSpPr/>
          <p:nvPr/>
        </p:nvSpPr>
        <p:spPr>
          <a:xfrm>
            <a:off x="6725653" y="5859495"/>
            <a:ext cx="3703435" cy="220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5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Live Inference box with confidence interval progress bars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322308" y="6262840"/>
            <a:ext cx="5344313" cy="440012"/>
          </a:xfrm>
          <a:prstGeom prst="roundRect">
            <a:avLst>
              <a:gd name="adj" fmla="val 16667"/>
            </a:avLst>
          </a:prstGeom>
          <a:solidFill>
            <a:srgbClr val="1A1D21">
              <a:alpha val="60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6441478" y="6409510"/>
            <a:ext cx="165005" cy="146671"/>
          </a:xfrm>
          <a:custGeom>
            <a:avLst/>
            <a:gdLst/>
            <a:ahLst/>
            <a:cxnLst/>
            <a:rect l="l" t="t" r="r" b="b"/>
            <a:pathLst>
              <a:path w="165005" h="146671">
                <a:moveTo>
                  <a:pt x="114930" y="11201"/>
                </a:moveTo>
                <a:lnTo>
                  <a:pt x="157385" y="54257"/>
                </a:lnTo>
                <a:cubicBezTo>
                  <a:pt x="165320" y="62306"/>
                  <a:pt x="165320" y="75197"/>
                  <a:pt x="157385" y="83247"/>
                </a:cubicBezTo>
                <a:lnTo>
                  <a:pt x="112581" y="128595"/>
                </a:lnTo>
                <a:cubicBezTo>
                  <a:pt x="109917" y="131287"/>
                  <a:pt x="105563" y="131316"/>
                  <a:pt x="102870" y="128652"/>
                </a:cubicBezTo>
                <a:cubicBezTo>
                  <a:pt x="100177" y="125988"/>
                  <a:pt x="100149" y="121634"/>
                  <a:pt x="102813" y="118941"/>
                </a:cubicBezTo>
                <a:lnTo>
                  <a:pt x="147616" y="73565"/>
                </a:lnTo>
                <a:cubicBezTo>
                  <a:pt x="150252" y="70900"/>
                  <a:pt x="150252" y="66575"/>
                  <a:pt x="147616" y="63911"/>
                </a:cubicBezTo>
                <a:lnTo>
                  <a:pt x="105133" y="20883"/>
                </a:lnTo>
                <a:cubicBezTo>
                  <a:pt x="102469" y="18191"/>
                  <a:pt x="102498" y="13836"/>
                  <a:pt x="105190" y="11172"/>
                </a:cubicBezTo>
                <a:cubicBezTo>
                  <a:pt x="107883" y="8508"/>
                  <a:pt x="112237" y="8537"/>
                  <a:pt x="114902" y="11229"/>
                </a:cubicBezTo>
                <a:close/>
                <a:moveTo>
                  <a:pt x="9196" y="65744"/>
                </a:moveTo>
                <a:lnTo>
                  <a:pt x="9196" y="27501"/>
                </a:lnTo>
                <a:cubicBezTo>
                  <a:pt x="9196" y="17388"/>
                  <a:pt x="17417" y="9167"/>
                  <a:pt x="27529" y="9167"/>
                </a:cubicBezTo>
                <a:lnTo>
                  <a:pt x="65773" y="9167"/>
                </a:lnTo>
                <a:cubicBezTo>
                  <a:pt x="70643" y="9167"/>
                  <a:pt x="75312" y="11086"/>
                  <a:pt x="78750" y="14524"/>
                </a:cubicBezTo>
                <a:lnTo>
                  <a:pt x="120001" y="55775"/>
                </a:lnTo>
                <a:cubicBezTo>
                  <a:pt x="127162" y="62937"/>
                  <a:pt x="127162" y="74538"/>
                  <a:pt x="120001" y="81700"/>
                </a:cubicBezTo>
                <a:lnTo>
                  <a:pt x="81757" y="119943"/>
                </a:lnTo>
                <a:cubicBezTo>
                  <a:pt x="74596" y="127105"/>
                  <a:pt x="62994" y="127105"/>
                  <a:pt x="55832" y="119943"/>
                </a:cubicBezTo>
                <a:lnTo>
                  <a:pt x="14581" y="78692"/>
                </a:lnTo>
                <a:cubicBezTo>
                  <a:pt x="11144" y="75255"/>
                  <a:pt x="9224" y="70585"/>
                  <a:pt x="9224" y="65715"/>
                </a:cubicBezTo>
                <a:close/>
                <a:moveTo>
                  <a:pt x="50447" y="41251"/>
                </a:moveTo>
                <a:cubicBezTo>
                  <a:pt x="50447" y="36192"/>
                  <a:pt x="46339" y="32084"/>
                  <a:pt x="41280" y="32084"/>
                </a:cubicBezTo>
                <a:cubicBezTo>
                  <a:pt x="36220" y="32084"/>
                  <a:pt x="32113" y="36192"/>
                  <a:pt x="32113" y="41251"/>
                </a:cubicBezTo>
                <a:cubicBezTo>
                  <a:pt x="32113" y="46310"/>
                  <a:pt x="36220" y="50418"/>
                  <a:pt x="41280" y="50418"/>
                </a:cubicBezTo>
                <a:cubicBezTo>
                  <a:pt x="46339" y="50418"/>
                  <a:pt x="50447" y="46310"/>
                  <a:pt x="50447" y="41251"/>
                </a:cubicBezTo>
                <a:close/>
              </a:path>
            </a:pathLst>
          </a:custGeom>
          <a:solidFill>
            <a:srgbClr val="6B7A8F"/>
          </a:solidFill>
          <a:ln/>
        </p:spPr>
      </p:sp>
      <p:sp>
        <p:nvSpPr>
          <p:cNvPr id="46" name="Text 44"/>
          <p:cNvSpPr/>
          <p:nvPr/>
        </p:nvSpPr>
        <p:spPr>
          <a:xfrm>
            <a:off x="6725653" y="6372843"/>
            <a:ext cx="3520096" cy="220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5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Categories: Sports, Business, Tech classification testing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6B7A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SYSTEM ARCHITECTURE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Interactive Visual Discovery Lab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181100"/>
            <a:ext cx="914400" cy="38100"/>
          </a:xfrm>
          <a:prstGeom prst="roundRect">
            <a:avLst>
              <a:gd name="adj" fmla="val 0"/>
            </a:avLst>
          </a:prstGeom>
          <a:solidFill>
            <a:srgbClr val="6B7A8F"/>
          </a:solidFill>
          <a:ln/>
        </p:spPr>
      </p:sp>
      <p:sp>
        <p:nvSpPr>
          <p:cNvPr id="5" name="Shape 3"/>
          <p:cNvSpPr/>
          <p:nvPr/>
        </p:nvSpPr>
        <p:spPr>
          <a:xfrm>
            <a:off x="384810" y="1375410"/>
            <a:ext cx="6789420" cy="1398270"/>
          </a:xfrm>
          <a:prstGeom prst="roundRect">
            <a:avLst>
              <a:gd name="adj" fmla="val 5450"/>
            </a:avLst>
          </a:prstGeom>
          <a:solidFill>
            <a:srgbClr val="4A5568">
              <a:alpha val="14902"/>
            </a:srgbClr>
          </a:solidFill>
          <a:ln w="10160">
            <a:solidFill>
              <a:srgbClr val="D4A26A">
                <a:alpha val="30196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75548" y="1579248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128588" y="32147"/>
                </a:moveTo>
                <a:lnTo>
                  <a:pt x="85725" y="32147"/>
                </a:lnTo>
                <a:lnTo>
                  <a:pt x="85725" y="75009"/>
                </a:lnTo>
                <a:lnTo>
                  <a:pt x="128588" y="75009"/>
                </a:lnTo>
                <a:lnTo>
                  <a:pt x="128588" y="32147"/>
                </a:lnTo>
                <a:close/>
                <a:moveTo>
                  <a:pt x="150019" y="75009"/>
                </a:moveTo>
                <a:lnTo>
                  <a:pt x="150019" y="139303"/>
                </a:lnTo>
                <a:cubicBezTo>
                  <a:pt x="150019" y="151124"/>
                  <a:pt x="140408" y="160734"/>
                  <a:pt x="128588" y="160734"/>
                </a:cubicBezTo>
                <a:lnTo>
                  <a:pt x="21431" y="160734"/>
                </a:lnTo>
                <a:cubicBezTo>
                  <a:pt x="9611" y="160734"/>
                  <a:pt x="0" y="151124"/>
                  <a:pt x="0" y="139303"/>
                </a:cubicBezTo>
                <a:lnTo>
                  <a:pt x="0" y="32147"/>
                </a:lnTo>
                <a:cubicBezTo>
                  <a:pt x="0" y="20326"/>
                  <a:pt x="9611" y="10716"/>
                  <a:pt x="21431" y="10716"/>
                </a:cubicBezTo>
                <a:lnTo>
                  <a:pt x="128588" y="10716"/>
                </a:lnTo>
                <a:cubicBezTo>
                  <a:pt x="140408" y="10716"/>
                  <a:pt x="150019" y="20326"/>
                  <a:pt x="150019" y="32147"/>
                </a:cubicBezTo>
                <a:lnTo>
                  <a:pt x="150019" y="75009"/>
                </a:lnTo>
                <a:close/>
                <a:moveTo>
                  <a:pt x="21431" y="96441"/>
                </a:moveTo>
                <a:lnTo>
                  <a:pt x="21431" y="139303"/>
                </a:lnTo>
                <a:lnTo>
                  <a:pt x="64294" y="139303"/>
                </a:lnTo>
                <a:lnTo>
                  <a:pt x="64294" y="96441"/>
                </a:lnTo>
                <a:lnTo>
                  <a:pt x="21431" y="96441"/>
                </a:lnTo>
                <a:close/>
                <a:moveTo>
                  <a:pt x="64294" y="75009"/>
                </a:moveTo>
                <a:lnTo>
                  <a:pt x="64294" y="32147"/>
                </a:lnTo>
                <a:lnTo>
                  <a:pt x="21431" y="32147"/>
                </a:lnTo>
                <a:lnTo>
                  <a:pt x="21431" y="75009"/>
                </a:lnTo>
                <a:lnTo>
                  <a:pt x="64294" y="75009"/>
                </a:lnTo>
                <a:close/>
                <a:moveTo>
                  <a:pt x="85725" y="96441"/>
                </a:moveTo>
                <a:lnTo>
                  <a:pt x="85725" y="139303"/>
                </a:lnTo>
                <a:lnTo>
                  <a:pt x="128588" y="139303"/>
                </a:lnTo>
                <a:lnTo>
                  <a:pt x="128588" y="96441"/>
                </a:lnTo>
                <a:lnTo>
                  <a:pt x="85725" y="96441"/>
                </a:lnTo>
                <a:close/>
              </a:path>
            </a:pathLst>
          </a:custGeom>
          <a:solidFill>
            <a:srgbClr val="D4A26A"/>
          </a:solidFill>
          <a:ln/>
        </p:spPr>
      </p:sp>
      <p:sp>
        <p:nvSpPr>
          <p:cNvPr id="7" name="Text 5"/>
          <p:cNvSpPr/>
          <p:nvPr/>
        </p:nvSpPr>
        <p:spPr>
          <a:xfrm>
            <a:off x="760095" y="1531623"/>
            <a:ext cx="6343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5-Panel Mining Sub-Navigation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1020" y="1920243"/>
            <a:ext cx="1238250" cy="693420"/>
          </a:xfrm>
          <a:custGeom>
            <a:avLst/>
            <a:gdLst/>
            <a:ahLst/>
            <a:cxnLst/>
            <a:rect l="l" t="t" r="r" b="b"/>
            <a:pathLst>
              <a:path w="1238250" h="693420">
                <a:moveTo>
                  <a:pt x="15240" y="0"/>
                </a:moveTo>
                <a:lnTo>
                  <a:pt x="1223010" y="0"/>
                </a:lnTo>
                <a:cubicBezTo>
                  <a:pt x="1231427" y="0"/>
                  <a:pt x="1238250" y="6823"/>
                  <a:pt x="1238250" y="15240"/>
                </a:cubicBezTo>
                <a:lnTo>
                  <a:pt x="1238250" y="617220"/>
                </a:lnTo>
                <a:cubicBezTo>
                  <a:pt x="1238250" y="659276"/>
                  <a:pt x="1204106" y="693420"/>
                  <a:pt x="1162050" y="693420"/>
                </a:cubicBezTo>
                <a:lnTo>
                  <a:pt x="76200" y="693420"/>
                </a:lnTo>
                <a:cubicBezTo>
                  <a:pt x="34144" y="693420"/>
                  <a:pt x="0" y="659276"/>
                  <a:pt x="0" y="617220"/>
                </a:cubicBezTo>
                <a:lnTo>
                  <a:pt x="0" y="15240"/>
                </a:lnTo>
                <a:cubicBezTo>
                  <a:pt x="0" y="6829"/>
                  <a:pt x="6829" y="0"/>
                  <a:pt x="1524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541020" y="1920243"/>
            <a:ext cx="1238250" cy="15240"/>
          </a:xfrm>
          <a:custGeom>
            <a:avLst/>
            <a:gdLst/>
            <a:ahLst/>
            <a:cxnLst/>
            <a:rect l="l" t="t" r="r" b="b"/>
            <a:pathLst>
              <a:path w="1238250" h="15240">
                <a:moveTo>
                  <a:pt x="15240" y="0"/>
                </a:moveTo>
                <a:lnTo>
                  <a:pt x="1223010" y="0"/>
                </a:lnTo>
                <a:cubicBezTo>
                  <a:pt x="1231427" y="0"/>
                  <a:pt x="1238250" y="6823"/>
                  <a:pt x="1238250" y="15240"/>
                </a:cubicBezTo>
                <a:lnTo>
                  <a:pt x="1238250" y="15240"/>
                </a:lnTo>
                <a:lnTo>
                  <a:pt x="0" y="15240"/>
                </a:lnTo>
                <a:lnTo>
                  <a:pt x="0" y="15240"/>
                </a:lnTo>
                <a:cubicBezTo>
                  <a:pt x="0" y="6829"/>
                  <a:pt x="6829" y="0"/>
                  <a:pt x="15240" y="0"/>
                </a:cubicBezTo>
                <a:close/>
              </a:path>
            </a:pathLst>
          </a:custGeom>
          <a:solidFill>
            <a:srgbClr val="D4A26A"/>
          </a:solidFill>
          <a:ln/>
        </p:spPr>
      </p:sp>
      <p:sp>
        <p:nvSpPr>
          <p:cNvPr id="10" name="Shape 8"/>
          <p:cNvSpPr/>
          <p:nvPr/>
        </p:nvSpPr>
        <p:spPr>
          <a:xfrm>
            <a:off x="1074896" y="2004059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166688" y="76572"/>
                </a:moveTo>
                <a:cubicBezTo>
                  <a:pt x="161181" y="80218"/>
                  <a:pt x="154856" y="83158"/>
                  <a:pt x="148270" y="85502"/>
                </a:cubicBezTo>
                <a:cubicBezTo>
                  <a:pt x="130783" y="91753"/>
                  <a:pt x="107826" y="95250"/>
                  <a:pt x="83344" y="95250"/>
                </a:cubicBezTo>
                <a:cubicBezTo>
                  <a:pt x="58862" y="95250"/>
                  <a:pt x="35868" y="91715"/>
                  <a:pt x="18417" y="85502"/>
                </a:cubicBezTo>
                <a:cubicBezTo>
                  <a:pt x="11869" y="83158"/>
                  <a:pt x="5507" y="80218"/>
                  <a:pt x="0" y="76572"/>
                </a:cubicBezTo>
                <a:lnTo>
                  <a:pt x="0" y="107156"/>
                </a:lnTo>
                <a:cubicBezTo>
                  <a:pt x="0" y="123602"/>
                  <a:pt x="37319" y="136922"/>
                  <a:pt x="83344" y="136922"/>
                </a:cubicBezTo>
                <a:cubicBezTo>
                  <a:pt x="129369" y="136922"/>
                  <a:pt x="166688" y="123602"/>
                  <a:pt x="166688" y="107156"/>
                </a:cubicBezTo>
                <a:lnTo>
                  <a:pt x="166688" y="76572"/>
                </a:lnTo>
                <a:close/>
                <a:moveTo>
                  <a:pt x="166688" y="47625"/>
                </a:moveTo>
                <a:lnTo>
                  <a:pt x="166688" y="29766"/>
                </a:lnTo>
                <a:cubicBezTo>
                  <a:pt x="166688" y="13320"/>
                  <a:pt x="129369" y="0"/>
                  <a:pt x="83344" y="0"/>
                </a:cubicBezTo>
                <a:cubicBezTo>
                  <a:pt x="37319" y="0"/>
                  <a:pt x="0" y="13320"/>
                  <a:pt x="0" y="29766"/>
                </a:cubicBezTo>
                <a:lnTo>
                  <a:pt x="0" y="47625"/>
                </a:lnTo>
                <a:cubicBezTo>
                  <a:pt x="0" y="64071"/>
                  <a:pt x="37319" y="77391"/>
                  <a:pt x="83344" y="77391"/>
                </a:cubicBezTo>
                <a:cubicBezTo>
                  <a:pt x="129369" y="77391"/>
                  <a:pt x="166688" y="64071"/>
                  <a:pt x="166688" y="47625"/>
                </a:cubicBezTo>
                <a:close/>
                <a:moveTo>
                  <a:pt x="148270" y="145033"/>
                </a:moveTo>
                <a:cubicBezTo>
                  <a:pt x="130820" y="151247"/>
                  <a:pt x="107863" y="154781"/>
                  <a:pt x="83344" y="154781"/>
                </a:cubicBezTo>
                <a:cubicBezTo>
                  <a:pt x="58824" y="154781"/>
                  <a:pt x="35868" y="151247"/>
                  <a:pt x="18417" y="145033"/>
                </a:cubicBezTo>
                <a:cubicBezTo>
                  <a:pt x="11869" y="142689"/>
                  <a:pt x="5507" y="139750"/>
                  <a:pt x="0" y="136103"/>
                </a:cubicBezTo>
                <a:lnTo>
                  <a:pt x="0" y="160734"/>
                </a:lnTo>
                <a:cubicBezTo>
                  <a:pt x="0" y="177180"/>
                  <a:pt x="37319" y="190500"/>
                  <a:pt x="83344" y="190500"/>
                </a:cubicBezTo>
                <a:cubicBezTo>
                  <a:pt x="129369" y="190500"/>
                  <a:pt x="166688" y="177180"/>
                  <a:pt x="166688" y="160734"/>
                </a:cubicBezTo>
                <a:lnTo>
                  <a:pt x="166688" y="136103"/>
                </a:lnTo>
                <a:cubicBezTo>
                  <a:pt x="161181" y="139750"/>
                  <a:pt x="154856" y="142689"/>
                  <a:pt x="148270" y="145033"/>
                </a:cubicBezTo>
                <a:close/>
              </a:path>
            </a:pathLst>
          </a:custGeom>
          <a:solidFill>
            <a:srgbClr val="D4A26A"/>
          </a:solidFill>
          <a:ln/>
        </p:spPr>
      </p:sp>
      <p:sp>
        <p:nvSpPr>
          <p:cNvPr id="11" name="Text 9"/>
          <p:cNvSpPr/>
          <p:nvPr/>
        </p:nvSpPr>
        <p:spPr>
          <a:xfrm>
            <a:off x="588645" y="2232659"/>
            <a:ext cx="1143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Warehouse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88645" y="2384943"/>
            <a:ext cx="1143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E2E8F0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Ingestion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851660" y="1920243"/>
            <a:ext cx="1238250" cy="693420"/>
          </a:xfrm>
          <a:custGeom>
            <a:avLst/>
            <a:gdLst/>
            <a:ahLst/>
            <a:cxnLst/>
            <a:rect l="l" t="t" r="r" b="b"/>
            <a:pathLst>
              <a:path w="1238250" h="693420">
                <a:moveTo>
                  <a:pt x="15240" y="0"/>
                </a:moveTo>
                <a:lnTo>
                  <a:pt x="1223010" y="0"/>
                </a:lnTo>
                <a:cubicBezTo>
                  <a:pt x="1231427" y="0"/>
                  <a:pt x="1238250" y="6823"/>
                  <a:pt x="1238250" y="15240"/>
                </a:cubicBezTo>
                <a:lnTo>
                  <a:pt x="1238250" y="617220"/>
                </a:lnTo>
                <a:cubicBezTo>
                  <a:pt x="1238250" y="659276"/>
                  <a:pt x="1204106" y="693420"/>
                  <a:pt x="1162050" y="693420"/>
                </a:cubicBezTo>
                <a:lnTo>
                  <a:pt x="76200" y="693420"/>
                </a:lnTo>
                <a:cubicBezTo>
                  <a:pt x="34144" y="693420"/>
                  <a:pt x="0" y="659276"/>
                  <a:pt x="0" y="617220"/>
                </a:cubicBezTo>
                <a:lnTo>
                  <a:pt x="0" y="15240"/>
                </a:lnTo>
                <a:cubicBezTo>
                  <a:pt x="0" y="6829"/>
                  <a:pt x="6829" y="0"/>
                  <a:pt x="1524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851660" y="1920243"/>
            <a:ext cx="1238250" cy="15240"/>
          </a:xfrm>
          <a:custGeom>
            <a:avLst/>
            <a:gdLst/>
            <a:ahLst/>
            <a:cxnLst/>
            <a:rect l="l" t="t" r="r" b="b"/>
            <a:pathLst>
              <a:path w="1238250" h="15240">
                <a:moveTo>
                  <a:pt x="15240" y="0"/>
                </a:moveTo>
                <a:lnTo>
                  <a:pt x="1223010" y="0"/>
                </a:lnTo>
                <a:cubicBezTo>
                  <a:pt x="1231427" y="0"/>
                  <a:pt x="1238250" y="6823"/>
                  <a:pt x="1238250" y="15240"/>
                </a:cubicBezTo>
                <a:lnTo>
                  <a:pt x="1238250" y="15240"/>
                </a:lnTo>
                <a:lnTo>
                  <a:pt x="0" y="15240"/>
                </a:lnTo>
                <a:lnTo>
                  <a:pt x="0" y="15240"/>
                </a:lnTo>
                <a:cubicBezTo>
                  <a:pt x="0" y="6829"/>
                  <a:pt x="6829" y="0"/>
                  <a:pt x="15240" y="0"/>
                </a:cubicBezTo>
                <a:close/>
              </a:path>
            </a:pathLst>
          </a:custGeom>
          <a:solidFill>
            <a:srgbClr val="6B7A8F"/>
          </a:solidFill>
          <a:ln/>
        </p:spPr>
      </p:sp>
      <p:sp>
        <p:nvSpPr>
          <p:cNvPr id="15" name="Shape 13"/>
          <p:cNvSpPr/>
          <p:nvPr/>
        </p:nvSpPr>
        <p:spPr>
          <a:xfrm>
            <a:off x="2349817" y="2004059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54744" y="78321"/>
                </a:moveTo>
                <a:cubicBezTo>
                  <a:pt x="159283" y="77093"/>
                  <a:pt x="164046" y="79251"/>
                  <a:pt x="166092" y="83455"/>
                </a:cubicBezTo>
                <a:lnTo>
                  <a:pt x="173013" y="97445"/>
                </a:lnTo>
                <a:cubicBezTo>
                  <a:pt x="176845" y="97966"/>
                  <a:pt x="180603" y="99008"/>
                  <a:pt x="184138" y="100459"/>
                </a:cubicBezTo>
                <a:lnTo>
                  <a:pt x="197160" y="91790"/>
                </a:lnTo>
                <a:cubicBezTo>
                  <a:pt x="201067" y="89185"/>
                  <a:pt x="206239" y="89706"/>
                  <a:pt x="209550" y="93018"/>
                </a:cubicBezTo>
                <a:lnTo>
                  <a:pt x="216694" y="100161"/>
                </a:lnTo>
                <a:cubicBezTo>
                  <a:pt x="220005" y="103473"/>
                  <a:pt x="220526" y="108682"/>
                  <a:pt x="217922" y="112551"/>
                </a:cubicBezTo>
                <a:lnTo>
                  <a:pt x="209252" y="125537"/>
                </a:lnTo>
                <a:cubicBezTo>
                  <a:pt x="209959" y="127285"/>
                  <a:pt x="210592" y="129108"/>
                  <a:pt x="211113" y="131006"/>
                </a:cubicBezTo>
                <a:cubicBezTo>
                  <a:pt x="211634" y="132904"/>
                  <a:pt x="211968" y="134764"/>
                  <a:pt x="212229" y="136661"/>
                </a:cubicBezTo>
                <a:lnTo>
                  <a:pt x="226256" y="143582"/>
                </a:lnTo>
                <a:cubicBezTo>
                  <a:pt x="230460" y="145666"/>
                  <a:pt x="232618" y="150428"/>
                  <a:pt x="231391" y="154930"/>
                </a:cubicBezTo>
                <a:lnTo>
                  <a:pt x="228786" y="164678"/>
                </a:lnTo>
                <a:cubicBezTo>
                  <a:pt x="227558" y="169180"/>
                  <a:pt x="223354" y="172231"/>
                  <a:pt x="218666" y="171934"/>
                </a:cubicBezTo>
                <a:lnTo>
                  <a:pt x="203039" y="170929"/>
                </a:lnTo>
                <a:cubicBezTo>
                  <a:pt x="200695" y="173943"/>
                  <a:pt x="197979" y="176733"/>
                  <a:pt x="194890" y="179115"/>
                </a:cubicBezTo>
                <a:lnTo>
                  <a:pt x="195895" y="194704"/>
                </a:lnTo>
                <a:cubicBezTo>
                  <a:pt x="196193" y="199392"/>
                  <a:pt x="193142" y="203634"/>
                  <a:pt x="188640" y="204825"/>
                </a:cubicBezTo>
                <a:lnTo>
                  <a:pt x="178891" y="207429"/>
                </a:lnTo>
                <a:cubicBezTo>
                  <a:pt x="174352" y="208657"/>
                  <a:pt x="169627" y="206499"/>
                  <a:pt x="167543" y="202295"/>
                </a:cubicBezTo>
                <a:lnTo>
                  <a:pt x="160623" y="188305"/>
                </a:lnTo>
                <a:cubicBezTo>
                  <a:pt x="156790" y="187784"/>
                  <a:pt x="153033" y="186742"/>
                  <a:pt x="149498" y="185291"/>
                </a:cubicBezTo>
                <a:lnTo>
                  <a:pt x="136475" y="193960"/>
                </a:lnTo>
                <a:cubicBezTo>
                  <a:pt x="132569" y="196565"/>
                  <a:pt x="127397" y="196044"/>
                  <a:pt x="124085" y="192732"/>
                </a:cubicBezTo>
                <a:lnTo>
                  <a:pt x="116942" y="185589"/>
                </a:lnTo>
                <a:cubicBezTo>
                  <a:pt x="113630" y="182277"/>
                  <a:pt x="113109" y="177105"/>
                  <a:pt x="115714" y="173199"/>
                </a:cubicBezTo>
                <a:lnTo>
                  <a:pt x="124383" y="160176"/>
                </a:lnTo>
                <a:cubicBezTo>
                  <a:pt x="123676" y="158428"/>
                  <a:pt x="123044" y="156604"/>
                  <a:pt x="122523" y="154707"/>
                </a:cubicBezTo>
                <a:cubicBezTo>
                  <a:pt x="122002" y="152809"/>
                  <a:pt x="121667" y="150912"/>
                  <a:pt x="121407" y="149051"/>
                </a:cubicBezTo>
                <a:lnTo>
                  <a:pt x="107379" y="142131"/>
                </a:lnTo>
                <a:cubicBezTo>
                  <a:pt x="103175" y="140047"/>
                  <a:pt x="101054" y="135285"/>
                  <a:pt x="102245" y="130783"/>
                </a:cubicBezTo>
                <a:lnTo>
                  <a:pt x="104849" y="121034"/>
                </a:lnTo>
                <a:cubicBezTo>
                  <a:pt x="106077" y="116532"/>
                  <a:pt x="110282" y="113481"/>
                  <a:pt x="114970" y="113779"/>
                </a:cubicBezTo>
                <a:lnTo>
                  <a:pt x="130559" y="114784"/>
                </a:lnTo>
                <a:cubicBezTo>
                  <a:pt x="132904" y="111770"/>
                  <a:pt x="135620" y="108979"/>
                  <a:pt x="138708" y="106598"/>
                </a:cubicBezTo>
                <a:lnTo>
                  <a:pt x="137703" y="91046"/>
                </a:lnTo>
                <a:cubicBezTo>
                  <a:pt x="137406" y="86358"/>
                  <a:pt x="140457" y="82116"/>
                  <a:pt x="144959" y="80925"/>
                </a:cubicBezTo>
                <a:lnTo>
                  <a:pt x="154707" y="78321"/>
                </a:lnTo>
                <a:close/>
                <a:moveTo>
                  <a:pt x="166836" y="126504"/>
                </a:moveTo>
                <a:cubicBezTo>
                  <a:pt x="157801" y="126514"/>
                  <a:pt x="150474" y="133858"/>
                  <a:pt x="150484" y="142894"/>
                </a:cubicBezTo>
                <a:cubicBezTo>
                  <a:pt x="150494" y="151929"/>
                  <a:pt x="157838" y="159256"/>
                  <a:pt x="166874" y="159246"/>
                </a:cubicBezTo>
                <a:cubicBezTo>
                  <a:pt x="175909" y="159236"/>
                  <a:pt x="183236" y="151892"/>
                  <a:pt x="183226" y="142856"/>
                </a:cubicBezTo>
                <a:cubicBezTo>
                  <a:pt x="183216" y="133821"/>
                  <a:pt x="175872" y="126494"/>
                  <a:pt x="166836" y="126504"/>
                </a:cubicBezTo>
                <a:close/>
                <a:moveTo>
                  <a:pt x="83679" y="-16929"/>
                </a:moveTo>
                <a:lnTo>
                  <a:pt x="93427" y="-14325"/>
                </a:lnTo>
                <a:cubicBezTo>
                  <a:pt x="97929" y="-13097"/>
                  <a:pt x="100980" y="-8855"/>
                  <a:pt x="100682" y="-4204"/>
                </a:cubicBezTo>
                <a:lnTo>
                  <a:pt x="99678" y="11348"/>
                </a:lnTo>
                <a:cubicBezTo>
                  <a:pt x="102766" y="13729"/>
                  <a:pt x="105482" y="16483"/>
                  <a:pt x="107826" y="19534"/>
                </a:cubicBezTo>
                <a:lnTo>
                  <a:pt x="123453" y="18529"/>
                </a:lnTo>
                <a:cubicBezTo>
                  <a:pt x="128104" y="18231"/>
                  <a:pt x="132345" y="21282"/>
                  <a:pt x="133573" y="25784"/>
                </a:cubicBezTo>
                <a:lnTo>
                  <a:pt x="136178" y="35533"/>
                </a:lnTo>
                <a:cubicBezTo>
                  <a:pt x="137368" y="40035"/>
                  <a:pt x="135248" y="44797"/>
                  <a:pt x="131043" y="46881"/>
                </a:cubicBezTo>
                <a:lnTo>
                  <a:pt x="117016" y="53801"/>
                </a:lnTo>
                <a:cubicBezTo>
                  <a:pt x="116756" y="55699"/>
                  <a:pt x="116384" y="57596"/>
                  <a:pt x="115900" y="59457"/>
                </a:cubicBezTo>
                <a:cubicBezTo>
                  <a:pt x="115416" y="61317"/>
                  <a:pt x="114746" y="63178"/>
                  <a:pt x="114040" y="64926"/>
                </a:cubicBezTo>
                <a:lnTo>
                  <a:pt x="122709" y="77949"/>
                </a:lnTo>
                <a:cubicBezTo>
                  <a:pt x="125313" y="81855"/>
                  <a:pt x="124792" y="87027"/>
                  <a:pt x="121481" y="90339"/>
                </a:cubicBezTo>
                <a:lnTo>
                  <a:pt x="114337" y="97482"/>
                </a:lnTo>
                <a:cubicBezTo>
                  <a:pt x="111026" y="100794"/>
                  <a:pt x="105854" y="101315"/>
                  <a:pt x="101947" y="98710"/>
                </a:cubicBezTo>
                <a:lnTo>
                  <a:pt x="88925" y="90041"/>
                </a:lnTo>
                <a:cubicBezTo>
                  <a:pt x="85390" y="91492"/>
                  <a:pt x="81632" y="92534"/>
                  <a:pt x="77800" y="93055"/>
                </a:cubicBezTo>
                <a:lnTo>
                  <a:pt x="70879" y="107045"/>
                </a:lnTo>
                <a:cubicBezTo>
                  <a:pt x="68796" y="111249"/>
                  <a:pt x="64033" y="113370"/>
                  <a:pt x="59531" y="112179"/>
                </a:cubicBezTo>
                <a:lnTo>
                  <a:pt x="49783" y="109575"/>
                </a:lnTo>
                <a:cubicBezTo>
                  <a:pt x="45244" y="108347"/>
                  <a:pt x="42230" y="104105"/>
                  <a:pt x="42528" y="99454"/>
                </a:cubicBezTo>
                <a:lnTo>
                  <a:pt x="43532" y="83865"/>
                </a:lnTo>
                <a:cubicBezTo>
                  <a:pt x="40444" y="81483"/>
                  <a:pt x="37728" y="78730"/>
                  <a:pt x="35384" y="75679"/>
                </a:cubicBezTo>
                <a:lnTo>
                  <a:pt x="19757" y="76684"/>
                </a:lnTo>
                <a:cubicBezTo>
                  <a:pt x="15106" y="76981"/>
                  <a:pt x="10864" y="73930"/>
                  <a:pt x="9637" y="69428"/>
                </a:cubicBezTo>
                <a:lnTo>
                  <a:pt x="7032" y="59680"/>
                </a:lnTo>
                <a:cubicBezTo>
                  <a:pt x="5842" y="55178"/>
                  <a:pt x="7962" y="50416"/>
                  <a:pt x="12167" y="48332"/>
                </a:cubicBezTo>
                <a:lnTo>
                  <a:pt x="26194" y="41411"/>
                </a:lnTo>
                <a:cubicBezTo>
                  <a:pt x="26454" y="39514"/>
                  <a:pt x="26826" y="37654"/>
                  <a:pt x="27310" y="35756"/>
                </a:cubicBezTo>
                <a:cubicBezTo>
                  <a:pt x="27831" y="33858"/>
                  <a:pt x="28426" y="32035"/>
                  <a:pt x="29170" y="30287"/>
                </a:cubicBezTo>
                <a:lnTo>
                  <a:pt x="20501" y="17301"/>
                </a:lnTo>
                <a:cubicBezTo>
                  <a:pt x="17897" y="13395"/>
                  <a:pt x="18417" y="8223"/>
                  <a:pt x="21729" y="4911"/>
                </a:cubicBezTo>
                <a:lnTo>
                  <a:pt x="28873" y="-2232"/>
                </a:lnTo>
                <a:cubicBezTo>
                  <a:pt x="32184" y="-5544"/>
                  <a:pt x="37356" y="-6065"/>
                  <a:pt x="41263" y="-3460"/>
                </a:cubicBezTo>
                <a:lnTo>
                  <a:pt x="54285" y="5209"/>
                </a:lnTo>
                <a:cubicBezTo>
                  <a:pt x="57820" y="3758"/>
                  <a:pt x="61578" y="2716"/>
                  <a:pt x="65410" y="2195"/>
                </a:cubicBezTo>
                <a:lnTo>
                  <a:pt x="72330" y="-11795"/>
                </a:lnTo>
                <a:cubicBezTo>
                  <a:pt x="74414" y="-15999"/>
                  <a:pt x="79139" y="-18120"/>
                  <a:pt x="83679" y="-16929"/>
                </a:cubicBezTo>
                <a:close/>
                <a:moveTo>
                  <a:pt x="71586" y="31254"/>
                </a:moveTo>
                <a:cubicBezTo>
                  <a:pt x="62551" y="31254"/>
                  <a:pt x="55215" y="38590"/>
                  <a:pt x="55215" y="47625"/>
                </a:cubicBezTo>
                <a:cubicBezTo>
                  <a:pt x="55215" y="56660"/>
                  <a:pt x="62551" y="63996"/>
                  <a:pt x="71586" y="63996"/>
                </a:cubicBezTo>
                <a:cubicBezTo>
                  <a:pt x="80622" y="63996"/>
                  <a:pt x="87957" y="56660"/>
                  <a:pt x="87957" y="47625"/>
                </a:cubicBezTo>
                <a:cubicBezTo>
                  <a:pt x="87957" y="38590"/>
                  <a:pt x="80622" y="31254"/>
                  <a:pt x="71586" y="31254"/>
                </a:cubicBezTo>
                <a:close/>
              </a:path>
            </a:pathLst>
          </a:custGeom>
          <a:solidFill>
            <a:srgbClr val="6B7A8F"/>
          </a:solidFill>
          <a:ln/>
        </p:spPr>
      </p:sp>
      <p:sp>
        <p:nvSpPr>
          <p:cNvPr id="16" name="Text 14"/>
          <p:cNvSpPr/>
          <p:nvPr/>
        </p:nvSpPr>
        <p:spPr>
          <a:xfrm>
            <a:off x="1899285" y="2232659"/>
            <a:ext cx="1143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Preprocessing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899285" y="2384943"/>
            <a:ext cx="1143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E2E8F0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TF-IDF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162300" y="1920243"/>
            <a:ext cx="1238250" cy="693420"/>
          </a:xfrm>
          <a:custGeom>
            <a:avLst/>
            <a:gdLst/>
            <a:ahLst/>
            <a:cxnLst/>
            <a:rect l="l" t="t" r="r" b="b"/>
            <a:pathLst>
              <a:path w="1238250" h="693420">
                <a:moveTo>
                  <a:pt x="15240" y="0"/>
                </a:moveTo>
                <a:lnTo>
                  <a:pt x="1223010" y="0"/>
                </a:lnTo>
                <a:cubicBezTo>
                  <a:pt x="1231427" y="0"/>
                  <a:pt x="1238250" y="6823"/>
                  <a:pt x="1238250" y="15240"/>
                </a:cubicBezTo>
                <a:lnTo>
                  <a:pt x="1238250" y="617220"/>
                </a:lnTo>
                <a:cubicBezTo>
                  <a:pt x="1238250" y="659276"/>
                  <a:pt x="1204106" y="693420"/>
                  <a:pt x="1162050" y="693420"/>
                </a:cubicBezTo>
                <a:lnTo>
                  <a:pt x="76200" y="693420"/>
                </a:lnTo>
                <a:cubicBezTo>
                  <a:pt x="34144" y="693420"/>
                  <a:pt x="0" y="659276"/>
                  <a:pt x="0" y="617220"/>
                </a:cubicBezTo>
                <a:lnTo>
                  <a:pt x="0" y="15240"/>
                </a:lnTo>
                <a:cubicBezTo>
                  <a:pt x="0" y="6829"/>
                  <a:pt x="6829" y="0"/>
                  <a:pt x="1524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3162300" y="1920243"/>
            <a:ext cx="1238250" cy="15240"/>
          </a:xfrm>
          <a:custGeom>
            <a:avLst/>
            <a:gdLst/>
            <a:ahLst/>
            <a:cxnLst/>
            <a:rect l="l" t="t" r="r" b="b"/>
            <a:pathLst>
              <a:path w="1238250" h="15240">
                <a:moveTo>
                  <a:pt x="15240" y="0"/>
                </a:moveTo>
                <a:lnTo>
                  <a:pt x="1223010" y="0"/>
                </a:lnTo>
                <a:cubicBezTo>
                  <a:pt x="1231427" y="0"/>
                  <a:pt x="1238250" y="6823"/>
                  <a:pt x="1238250" y="15240"/>
                </a:cubicBezTo>
                <a:lnTo>
                  <a:pt x="1238250" y="15240"/>
                </a:lnTo>
                <a:lnTo>
                  <a:pt x="0" y="15240"/>
                </a:lnTo>
                <a:lnTo>
                  <a:pt x="0" y="15240"/>
                </a:lnTo>
                <a:cubicBezTo>
                  <a:pt x="0" y="6829"/>
                  <a:pt x="6829" y="0"/>
                  <a:pt x="15240" y="0"/>
                </a:cubicBezTo>
                <a:close/>
              </a:path>
            </a:pathLst>
          </a:custGeom>
          <a:solidFill>
            <a:srgbClr val="D4A26A"/>
          </a:solidFill>
          <a:ln/>
        </p:spPr>
      </p:sp>
      <p:sp>
        <p:nvSpPr>
          <p:cNvPr id="20" name="Shape 18"/>
          <p:cNvSpPr/>
          <p:nvPr/>
        </p:nvSpPr>
        <p:spPr>
          <a:xfrm>
            <a:off x="3684270" y="2004059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0" y="29766"/>
                </a:moveTo>
                <a:cubicBezTo>
                  <a:pt x="0" y="19906"/>
                  <a:pt x="8000" y="11906"/>
                  <a:pt x="17859" y="11906"/>
                </a:cubicBezTo>
                <a:lnTo>
                  <a:pt x="53578" y="11906"/>
                </a:lnTo>
                <a:cubicBezTo>
                  <a:pt x="63438" y="11906"/>
                  <a:pt x="71438" y="19906"/>
                  <a:pt x="71438" y="29766"/>
                </a:cubicBezTo>
                <a:lnTo>
                  <a:pt x="71438" y="35719"/>
                </a:lnTo>
                <a:lnTo>
                  <a:pt x="119063" y="35719"/>
                </a:lnTo>
                <a:lnTo>
                  <a:pt x="119063" y="29766"/>
                </a:lnTo>
                <a:cubicBezTo>
                  <a:pt x="119063" y="19906"/>
                  <a:pt x="127062" y="11906"/>
                  <a:pt x="136922" y="11906"/>
                </a:cubicBezTo>
                <a:lnTo>
                  <a:pt x="172641" y="11906"/>
                </a:lnTo>
                <a:cubicBezTo>
                  <a:pt x="182500" y="11906"/>
                  <a:pt x="190500" y="19906"/>
                  <a:pt x="190500" y="29766"/>
                </a:cubicBezTo>
                <a:lnTo>
                  <a:pt x="190500" y="65484"/>
                </a:lnTo>
                <a:cubicBezTo>
                  <a:pt x="190500" y="75344"/>
                  <a:pt x="182500" y="83344"/>
                  <a:pt x="172641" y="83344"/>
                </a:cubicBezTo>
                <a:lnTo>
                  <a:pt x="136922" y="83344"/>
                </a:lnTo>
                <a:cubicBezTo>
                  <a:pt x="127062" y="83344"/>
                  <a:pt x="119063" y="75344"/>
                  <a:pt x="119063" y="65484"/>
                </a:cubicBezTo>
                <a:lnTo>
                  <a:pt x="119063" y="59531"/>
                </a:lnTo>
                <a:lnTo>
                  <a:pt x="71438" y="59531"/>
                </a:lnTo>
                <a:lnTo>
                  <a:pt x="71438" y="65484"/>
                </a:lnTo>
                <a:cubicBezTo>
                  <a:pt x="71438" y="68200"/>
                  <a:pt x="70805" y="70805"/>
                  <a:pt x="69726" y="73112"/>
                </a:cubicBezTo>
                <a:lnTo>
                  <a:pt x="95250" y="107156"/>
                </a:lnTo>
                <a:lnTo>
                  <a:pt x="125016" y="107156"/>
                </a:lnTo>
                <a:cubicBezTo>
                  <a:pt x="134875" y="107156"/>
                  <a:pt x="142875" y="115156"/>
                  <a:pt x="142875" y="125016"/>
                </a:cubicBezTo>
                <a:lnTo>
                  <a:pt x="142875" y="160734"/>
                </a:lnTo>
                <a:cubicBezTo>
                  <a:pt x="142875" y="170594"/>
                  <a:pt x="134875" y="178594"/>
                  <a:pt x="125016" y="178594"/>
                </a:cubicBezTo>
                <a:lnTo>
                  <a:pt x="89297" y="178594"/>
                </a:lnTo>
                <a:cubicBezTo>
                  <a:pt x="79437" y="178594"/>
                  <a:pt x="71438" y="170594"/>
                  <a:pt x="71438" y="160734"/>
                </a:cubicBezTo>
                <a:lnTo>
                  <a:pt x="71438" y="125016"/>
                </a:lnTo>
                <a:cubicBezTo>
                  <a:pt x="71438" y="122300"/>
                  <a:pt x="72070" y="119695"/>
                  <a:pt x="73149" y="117388"/>
                </a:cubicBezTo>
                <a:lnTo>
                  <a:pt x="47625" y="83344"/>
                </a:lnTo>
                <a:lnTo>
                  <a:pt x="17859" y="83344"/>
                </a:lnTo>
                <a:cubicBezTo>
                  <a:pt x="8000" y="83344"/>
                  <a:pt x="0" y="75344"/>
                  <a:pt x="0" y="65484"/>
                </a:cubicBezTo>
                <a:lnTo>
                  <a:pt x="0" y="29766"/>
                </a:lnTo>
                <a:close/>
              </a:path>
            </a:pathLst>
          </a:custGeom>
          <a:solidFill>
            <a:srgbClr val="D4A26A"/>
          </a:solidFill>
          <a:ln/>
        </p:spPr>
      </p:sp>
      <p:sp>
        <p:nvSpPr>
          <p:cNvPr id="21" name="Text 19"/>
          <p:cNvSpPr/>
          <p:nvPr/>
        </p:nvSpPr>
        <p:spPr>
          <a:xfrm>
            <a:off x="3209925" y="2232659"/>
            <a:ext cx="1143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Association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209925" y="2384943"/>
            <a:ext cx="1143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E2E8F0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FP-Growth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472940" y="1920243"/>
            <a:ext cx="1238250" cy="693420"/>
          </a:xfrm>
          <a:custGeom>
            <a:avLst/>
            <a:gdLst/>
            <a:ahLst/>
            <a:cxnLst/>
            <a:rect l="l" t="t" r="r" b="b"/>
            <a:pathLst>
              <a:path w="1238250" h="693420">
                <a:moveTo>
                  <a:pt x="15240" y="0"/>
                </a:moveTo>
                <a:lnTo>
                  <a:pt x="1223010" y="0"/>
                </a:lnTo>
                <a:cubicBezTo>
                  <a:pt x="1231427" y="0"/>
                  <a:pt x="1238250" y="6823"/>
                  <a:pt x="1238250" y="15240"/>
                </a:cubicBezTo>
                <a:lnTo>
                  <a:pt x="1238250" y="617220"/>
                </a:lnTo>
                <a:cubicBezTo>
                  <a:pt x="1238250" y="659276"/>
                  <a:pt x="1204106" y="693420"/>
                  <a:pt x="1162050" y="693420"/>
                </a:cubicBezTo>
                <a:lnTo>
                  <a:pt x="76200" y="693420"/>
                </a:lnTo>
                <a:cubicBezTo>
                  <a:pt x="34144" y="693420"/>
                  <a:pt x="0" y="659276"/>
                  <a:pt x="0" y="617220"/>
                </a:cubicBezTo>
                <a:lnTo>
                  <a:pt x="0" y="15240"/>
                </a:lnTo>
                <a:cubicBezTo>
                  <a:pt x="0" y="6829"/>
                  <a:pt x="6829" y="0"/>
                  <a:pt x="1524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4472940" y="1920243"/>
            <a:ext cx="1238250" cy="15240"/>
          </a:xfrm>
          <a:custGeom>
            <a:avLst/>
            <a:gdLst/>
            <a:ahLst/>
            <a:cxnLst/>
            <a:rect l="l" t="t" r="r" b="b"/>
            <a:pathLst>
              <a:path w="1238250" h="15240">
                <a:moveTo>
                  <a:pt x="15240" y="0"/>
                </a:moveTo>
                <a:lnTo>
                  <a:pt x="1223010" y="0"/>
                </a:lnTo>
                <a:cubicBezTo>
                  <a:pt x="1231427" y="0"/>
                  <a:pt x="1238250" y="6823"/>
                  <a:pt x="1238250" y="15240"/>
                </a:cubicBezTo>
                <a:lnTo>
                  <a:pt x="1238250" y="15240"/>
                </a:lnTo>
                <a:lnTo>
                  <a:pt x="0" y="15240"/>
                </a:lnTo>
                <a:lnTo>
                  <a:pt x="0" y="15240"/>
                </a:lnTo>
                <a:cubicBezTo>
                  <a:pt x="0" y="6829"/>
                  <a:pt x="6829" y="0"/>
                  <a:pt x="15240" y="0"/>
                </a:cubicBezTo>
                <a:close/>
              </a:path>
            </a:pathLst>
          </a:custGeom>
          <a:solidFill>
            <a:srgbClr val="6B7A8F"/>
          </a:solidFill>
          <a:ln/>
        </p:spPr>
      </p:sp>
      <p:sp>
        <p:nvSpPr>
          <p:cNvPr id="25" name="Shape 23"/>
          <p:cNvSpPr/>
          <p:nvPr/>
        </p:nvSpPr>
        <p:spPr>
          <a:xfrm>
            <a:off x="4983004" y="2004059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90649" y="89297"/>
                </a:moveTo>
                <a:lnTo>
                  <a:pt x="125164" y="89297"/>
                </a:lnTo>
                <a:cubicBezTo>
                  <a:pt x="118579" y="89297"/>
                  <a:pt x="113258" y="83976"/>
                  <a:pt x="113258" y="77391"/>
                </a:cubicBezTo>
                <a:lnTo>
                  <a:pt x="113258" y="11906"/>
                </a:lnTo>
                <a:cubicBezTo>
                  <a:pt x="113258" y="5321"/>
                  <a:pt x="118616" y="-74"/>
                  <a:pt x="125127" y="781"/>
                </a:cubicBezTo>
                <a:cubicBezTo>
                  <a:pt x="164939" y="6065"/>
                  <a:pt x="196490" y="37616"/>
                  <a:pt x="201774" y="77428"/>
                </a:cubicBezTo>
                <a:cubicBezTo>
                  <a:pt x="202629" y="83939"/>
                  <a:pt x="197234" y="89297"/>
                  <a:pt x="190649" y="89297"/>
                </a:cubicBezTo>
                <a:close/>
                <a:moveTo>
                  <a:pt x="82823" y="13841"/>
                </a:moveTo>
                <a:cubicBezTo>
                  <a:pt x="89557" y="12427"/>
                  <a:pt x="95399" y="17934"/>
                  <a:pt x="95399" y="24817"/>
                </a:cubicBezTo>
                <a:lnTo>
                  <a:pt x="95399" y="98227"/>
                </a:lnTo>
                <a:cubicBezTo>
                  <a:pt x="95399" y="100310"/>
                  <a:pt x="96143" y="102319"/>
                  <a:pt x="97445" y="103919"/>
                </a:cubicBezTo>
                <a:lnTo>
                  <a:pt x="146596" y="163227"/>
                </a:lnTo>
                <a:cubicBezTo>
                  <a:pt x="150949" y="168473"/>
                  <a:pt x="150019" y="176399"/>
                  <a:pt x="144028" y="179636"/>
                </a:cubicBezTo>
                <a:cubicBezTo>
                  <a:pt x="131341" y="186556"/>
                  <a:pt x="116793" y="190500"/>
                  <a:pt x="101352" y="190500"/>
                </a:cubicBezTo>
                <a:cubicBezTo>
                  <a:pt x="52053" y="190500"/>
                  <a:pt x="12055" y="150502"/>
                  <a:pt x="12055" y="101203"/>
                </a:cubicBezTo>
                <a:cubicBezTo>
                  <a:pt x="12055" y="58229"/>
                  <a:pt x="42379" y="22361"/>
                  <a:pt x="82823" y="13841"/>
                </a:cubicBezTo>
                <a:close/>
                <a:moveTo>
                  <a:pt x="177775" y="107156"/>
                </a:moveTo>
                <a:lnTo>
                  <a:pt x="201588" y="107156"/>
                </a:lnTo>
                <a:cubicBezTo>
                  <a:pt x="208471" y="107156"/>
                  <a:pt x="213978" y="112998"/>
                  <a:pt x="212564" y="119732"/>
                </a:cubicBezTo>
                <a:cubicBezTo>
                  <a:pt x="208769" y="137740"/>
                  <a:pt x="199541" y="153739"/>
                  <a:pt x="186668" y="165943"/>
                </a:cubicBezTo>
                <a:cubicBezTo>
                  <a:pt x="182091" y="170297"/>
                  <a:pt x="174910" y="169366"/>
                  <a:pt x="170892" y="164492"/>
                </a:cubicBezTo>
                <a:lnTo>
                  <a:pt x="139489" y="126653"/>
                </a:lnTo>
                <a:cubicBezTo>
                  <a:pt x="133052" y="118876"/>
                  <a:pt x="138596" y="107156"/>
                  <a:pt x="148642" y="107156"/>
                </a:cubicBezTo>
                <a:lnTo>
                  <a:pt x="177738" y="107156"/>
                </a:lnTo>
                <a:close/>
              </a:path>
            </a:pathLst>
          </a:custGeom>
          <a:solidFill>
            <a:srgbClr val="6B7A8F"/>
          </a:solidFill>
          <a:ln/>
        </p:spPr>
      </p:sp>
      <p:sp>
        <p:nvSpPr>
          <p:cNvPr id="26" name="Text 24"/>
          <p:cNvSpPr/>
          <p:nvPr/>
        </p:nvSpPr>
        <p:spPr>
          <a:xfrm>
            <a:off x="4520565" y="2232659"/>
            <a:ext cx="1143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Classification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520565" y="2384943"/>
            <a:ext cx="1143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E2E8F0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SVM vs NB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83580" y="1920243"/>
            <a:ext cx="1238250" cy="693420"/>
          </a:xfrm>
          <a:custGeom>
            <a:avLst/>
            <a:gdLst/>
            <a:ahLst/>
            <a:cxnLst/>
            <a:rect l="l" t="t" r="r" b="b"/>
            <a:pathLst>
              <a:path w="1238250" h="693420">
                <a:moveTo>
                  <a:pt x="15240" y="0"/>
                </a:moveTo>
                <a:lnTo>
                  <a:pt x="1223010" y="0"/>
                </a:lnTo>
                <a:cubicBezTo>
                  <a:pt x="1231427" y="0"/>
                  <a:pt x="1238250" y="6823"/>
                  <a:pt x="1238250" y="15240"/>
                </a:cubicBezTo>
                <a:lnTo>
                  <a:pt x="1238250" y="617220"/>
                </a:lnTo>
                <a:cubicBezTo>
                  <a:pt x="1238250" y="659276"/>
                  <a:pt x="1204106" y="693420"/>
                  <a:pt x="1162050" y="693420"/>
                </a:cubicBezTo>
                <a:lnTo>
                  <a:pt x="76200" y="693420"/>
                </a:lnTo>
                <a:cubicBezTo>
                  <a:pt x="34144" y="693420"/>
                  <a:pt x="0" y="659276"/>
                  <a:pt x="0" y="617220"/>
                </a:cubicBezTo>
                <a:lnTo>
                  <a:pt x="0" y="15240"/>
                </a:lnTo>
                <a:cubicBezTo>
                  <a:pt x="0" y="6829"/>
                  <a:pt x="6829" y="0"/>
                  <a:pt x="1524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5783580" y="1920243"/>
            <a:ext cx="1238250" cy="15240"/>
          </a:xfrm>
          <a:custGeom>
            <a:avLst/>
            <a:gdLst/>
            <a:ahLst/>
            <a:cxnLst/>
            <a:rect l="l" t="t" r="r" b="b"/>
            <a:pathLst>
              <a:path w="1238250" h="15240">
                <a:moveTo>
                  <a:pt x="15240" y="0"/>
                </a:moveTo>
                <a:lnTo>
                  <a:pt x="1223010" y="0"/>
                </a:lnTo>
                <a:cubicBezTo>
                  <a:pt x="1231427" y="0"/>
                  <a:pt x="1238250" y="6823"/>
                  <a:pt x="1238250" y="15240"/>
                </a:cubicBezTo>
                <a:lnTo>
                  <a:pt x="1238250" y="15240"/>
                </a:lnTo>
                <a:lnTo>
                  <a:pt x="0" y="15240"/>
                </a:lnTo>
                <a:lnTo>
                  <a:pt x="0" y="15240"/>
                </a:lnTo>
                <a:cubicBezTo>
                  <a:pt x="0" y="6829"/>
                  <a:pt x="6829" y="0"/>
                  <a:pt x="15240" y="0"/>
                </a:cubicBezTo>
                <a:close/>
              </a:path>
            </a:pathLst>
          </a:custGeom>
          <a:solidFill>
            <a:srgbClr val="D4A26A"/>
          </a:solidFill>
          <a:ln/>
        </p:spPr>
      </p:sp>
      <p:sp>
        <p:nvSpPr>
          <p:cNvPr id="30" name="Shape 28"/>
          <p:cNvSpPr/>
          <p:nvPr/>
        </p:nvSpPr>
        <p:spPr>
          <a:xfrm>
            <a:off x="6293644" y="2004059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1906" y="44425"/>
                </a:moveTo>
                <a:cubicBezTo>
                  <a:pt x="4800" y="40332"/>
                  <a:pt x="0" y="32631"/>
                  <a:pt x="0" y="23812"/>
                </a:cubicBezTo>
                <a:cubicBezTo>
                  <a:pt x="0" y="10678"/>
                  <a:pt x="10678" y="0"/>
                  <a:pt x="23812" y="0"/>
                </a:cubicBezTo>
                <a:cubicBezTo>
                  <a:pt x="32631" y="0"/>
                  <a:pt x="40332" y="4800"/>
                  <a:pt x="44425" y="11906"/>
                </a:cubicBezTo>
                <a:lnTo>
                  <a:pt x="169850" y="11906"/>
                </a:lnTo>
                <a:cubicBezTo>
                  <a:pt x="173980" y="4800"/>
                  <a:pt x="181645" y="0"/>
                  <a:pt x="190463" y="0"/>
                </a:cubicBezTo>
                <a:cubicBezTo>
                  <a:pt x="203597" y="0"/>
                  <a:pt x="214275" y="10678"/>
                  <a:pt x="214275" y="23812"/>
                </a:cubicBezTo>
                <a:cubicBezTo>
                  <a:pt x="214275" y="32631"/>
                  <a:pt x="209476" y="40332"/>
                  <a:pt x="202369" y="44425"/>
                </a:cubicBezTo>
                <a:lnTo>
                  <a:pt x="202369" y="146038"/>
                </a:lnTo>
                <a:cubicBezTo>
                  <a:pt x="209476" y="150168"/>
                  <a:pt x="214275" y="157832"/>
                  <a:pt x="214275" y="166650"/>
                </a:cubicBezTo>
                <a:cubicBezTo>
                  <a:pt x="214275" y="179784"/>
                  <a:pt x="203597" y="190463"/>
                  <a:pt x="190463" y="190463"/>
                </a:cubicBezTo>
                <a:cubicBezTo>
                  <a:pt x="181645" y="190463"/>
                  <a:pt x="173943" y="185663"/>
                  <a:pt x="169850" y="178557"/>
                </a:cubicBezTo>
                <a:lnTo>
                  <a:pt x="44425" y="178557"/>
                </a:lnTo>
                <a:cubicBezTo>
                  <a:pt x="40295" y="185663"/>
                  <a:pt x="32631" y="190463"/>
                  <a:pt x="23812" y="190463"/>
                </a:cubicBezTo>
                <a:cubicBezTo>
                  <a:pt x="10678" y="190463"/>
                  <a:pt x="0" y="179784"/>
                  <a:pt x="0" y="166650"/>
                </a:cubicBezTo>
                <a:cubicBezTo>
                  <a:pt x="0" y="157832"/>
                  <a:pt x="4800" y="150130"/>
                  <a:pt x="11906" y="146038"/>
                </a:cubicBezTo>
                <a:lnTo>
                  <a:pt x="11906" y="44425"/>
                </a:lnTo>
                <a:close/>
                <a:moveTo>
                  <a:pt x="178594" y="44425"/>
                </a:moveTo>
                <a:cubicBezTo>
                  <a:pt x="174985" y="42342"/>
                  <a:pt x="171971" y="39328"/>
                  <a:pt x="169887" y="35719"/>
                </a:cubicBezTo>
                <a:lnTo>
                  <a:pt x="44425" y="35719"/>
                </a:lnTo>
                <a:cubicBezTo>
                  <a:pt x="42342" y="39328"/>
                  <a:pt x="39328" y="42342"/>
                  <a:pt x="35719" y="44425"/>
                </a:cubicBezTo>
                <a:lnTo>
                  <a:pt x="35719" y="146038"/>
                </a:lnTo>
                <a:cubicBezTo>
                  <a:pt x="39328" y="148121"/>
                  <a:pt x="42342" y="151135"/>
                  <a:pt x="44425" y="154744"/>
                </a:cubicBezTo>
                <a:lnTo>
                  <a:pt x="169850" y="154744"/>
                </a:lnTo>
                <a:cubicBezTo>
                  <a:pt x="171934" y="151135"/>
                  <a:pt x="174947" y="148121"/>
                  <a:pt x="178557" y="146038"/>
                </a:cubicBezTo>
                <a:lnTo>
                  <a:pt x="178557" y="44425"/>
                </a:lnTo>
                <a:close/>
                <a:moveTo>
                  <a:pt x="53578" y="65484"/>
                </a:moveTo>
                <a:cubicBezTo>
                  <a:pt x="53578" y="58899"/>
                  <a:pt x="58899" y="53578"/>
                  <a:pt x="65484" y="53578"/>
                </a:cubicBezTo>
                <a:lnTo>
                  <a:pt x="107156" y="53578"/>
                </a:lnTo>
                <a:cubicBezTo>
                  <a:pt x="113742" y="53578"/>
                  <a:pt x="119063" y="58899"/>
                  <a:pt x="119063" y="65484"/>
                </a:cubicBezTo>
                <a:lnTo>
                  <a:pt x="119063" y="89297"/>
                </a:lnTo>
                <a:cubicBezTo>
                  <a:pt x="119063" y="95883"/>
                  <a:pt x="113742" y="101203"/>
                  <a:pt x="107156" y="101203"/>
                </a:cubicBezTo>
                <a:lnTo>
                  <a:pt x="65484" y="101203"/>
                </a:lnTo>
                <a:cubicBezTo>
                  <a:pt x="58899" y="101203"/>
                  <a:pt x="53578" y="95883"/>
                  <a:pt x="53578" y="89297"/>
                </a:cubicBezTo>
                <a:lnTo>
                  <a:pt x="53578" y="65484"/>
                </a:lnTo>
                <a:close/>
                <a:moveTo>
                  <a:pt x="95250" y="119063"/>
                </a:moveTo>
                <a:lnTo>
                  <a:pt x="107156" y="119063"/>
                </a:lnTo>
                <a:cubicBezTo>
                  <a:pt x="123602" y="119063"/>
                  <a:pt x="136922" y="105742"/>
                  <a:pt x="136922" y="89297"/>
                </a:cubicBezTo>
                <a:lnTo>
                  <a:pt x="148828" y="89297"/>
                </a:lnTo>
                <a:cubicBezTo>
                  <a:pt x="155414" y="89297"/>
                  <a:pt x="160734" y="94617"/>
                  <a:pt x="160734" y="101203"/>
                </a:cubicBezTo>
                <a:lnTo>
                  <a:pt x="160734" y="125016"/>
                </a:lnTo>
                <a:cubicBezTo>
                  <a:pt x="160734" y="131601"/>
                  <a:pt x="155414" y="136922"/>
                  <a:pt x="148828" y="136922"/>
                </a:cubicBezTo>
                <a:lnTo>
                  <a:pt x="107156" y="136922"/>
                </a:lnTo>
                <a:cubicBezTo>
                  <a:pt x="100571" y="136922"/>
                  <a:pt x="95250" y="131601"/>
                  <a:pt x="95250" y="125016"/>
                </a:cubicBezTo>
                <a:lnTo>
                  <a:pt x="95250" y="119063"/>
                </a:lnTo>
                <a:close/>
              </a:path>
            </a:pathLst>
          </a:custGeom>
          <a:solidFill>
            <a:srgbClr val="D4A26A"/>
          </a:solidFill>
          <a:ln/>
        </p:spPr>
      </p:sp>
      <p:sp>
        <p:nvSpPr>
          <p:cNvPr id="31" name="Text 29"/>
          <p:cNvSpPr/>
          <p:nvPr/>
        </p:nvSpPr>
        <p:spPr>
          <a:xfrm>
            <a:off x="5831205" y="2232659"/>
            <a:ext cx="1143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Clustering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831205" y="2384943"/>
            <a:ext cx="1143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E2E8F0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K-Means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388620" y="2933465"/>
            <a:ext cx="6777990" cy="3539490"/>
          </a:xfrm>
          <a:prstGeom prst="roundRect">
            <a:avLst>
              <a:gd name="adj" fmla="val 2153"/>
            </a:avLst>
          </a:prstGeom>
          <a:gradFill flip="none" rotWithShape="1">
            <a:gsLst>
              <a:gs pos="0">
                <a:srgbClr val="D4A26A">
                  <a:alpha val="20000"/>
                </a:srgbClr>
              </a:gs>
              <a:gs pos="100000">
                <a:srgbClr val="6B7A8F">
                  <a:alpha val="20000"/>
                </a:srgbClr>
              </a:gs>
            </a:gsLst>
            <a:lin ang="2700000" scaled="1"/>
          </a:gradFill>
          <a:ln w="20320">
            <a:solidFill>
              <a:srgbClr val="D4A26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61737" y="3141106"/>
            <a:ext cx="192881" cy="171450"/>
          </a:xfrm>
          <a:custGeom>
            <a:avLst/>
            <a:gdLst/>
            <a:ahLst/>
            <a:cxnLst/>
            <a:rect l="l" t="t" r="r" b="b"/>
            <a:pathLst>
              <a:path w="192881" h="171450">
                <a:moveTo>
                  <a:pt x="96441" y="10716"/>
                </a:moveTo>
                <a:cubicBezTo>
                  <a:pt x="69384" y="10716"/>
                  <a:pt x="47718" y="23039"/>
                  <a:pt x="31946" y="37706"/>
                </a:cubicBezTo>
                <a:cubicBezTo>
                  <a:pt x="16274" y="52272"/>
                  <a:pt x="5793" y="69652"/>
                  <a:pt x="804" y="81606"/>
                </a:cubicBezTo>
                <a:cubicBezTo>
                  <a:pt x="-301" y="84252"/>
                  <a:pt x="-301" y="87198"/>
                  <a:pt x="804" y="89844"/>
                </a:cubicBezTo>
                <a:cubicBezTo>
                  <a:pt x="5793" y="101798"/>
                  <a:pt x="16274" y="119211"/>
                  <a:pt x="31946" y="133744"/>
                </a:cubicBezTo>
                <a:cubicBezTo>
                  <a:pt x="47718" y="148378"/>
                  <a:pt x="69384" y="160734"/>
                  <a:pt x="96441" y="160734"/>
                </a:cubicBezTo>
                <a:cubicBezTo>
                  <a:pt x="123498" y="160734"/>
                  <a:pt x="145163" y="148411"/>
                  <a:pt x="160935" y="133744"/>
                </a:cubicBezTo>
                <a:cubicBezTo>
                  <a:pt x="176607" y="119178"/>
                  <a:pt x="187088" y="101798"/>
                  <a:pt x="192078" y="89844"/>
                </a:cubicBezTo>
                <a:cubicBezTo>
                  <a:pt x="193183" y="87198"/>
                  <a:pt x="193183" y="84252"/>
                  <a:pt x="192078" y="81606"/>
                </a:cubicBezTo>
                <a:cubicBezTo>
                  <a:pt x="187088" y="69652"/>
                  <a:pt x="176607" y="52239"/>
                  <a:pt x="160935" y="37706"/>
                </a:cubicBezTo>
                <a:cubicBezTo>
                  <a:pt x="145163" y="23072"/>
                  <a:pt x="123498" y="10716"/>
                  <a:pt x="96441" y="10716"/>
                </a:cubicBezTo>
                <a:close/>
                <a:moveTo>
                  <a:pt x="48220" y="85725"/>
                </a:moveTo>
                <a:cubicBezTo>
                  <a:pt x="48220" y="59111"/>
                  <a:pt x="69827" y="37505"/>
                  <a:pt x="96441" y="37505"/>
                </a:cubicBezTo>
                <a:cubicBezTo>
                  <a:pt x="123054" y="37505"/>
                  <a:pt x="144661" y="59111"/>
                  <a:pt x="144661" y="85725"/>
                </a:cubicBezTo>
                <a:cubicBezTo>
                  <a:pt x="144661" y="112339"/>
                  <a:pt x="123054" y="133945"/>
                  <a:pt x="96441" y="133945"/>
                </a:cubicBezTo>
                <a:cubicBezTo>
                  <a:pt x="69827" y="133945"/>
                  <a:pt x="48220" y="112339"/>
                  <a:pt x="48220" y="85725"/>
                </a:cubicBezTo>
                <a:close/>
                <a:moveTo>
                  <a:pt x="96441" y="64294"/>
                </a:moveTo>
                <a:cubicBezTo>
                  <a:pt x="96441" y="76114"/>
                  <a:pt x="86830" y="85725"/>
                  <a:pt x="75009" y="85725"/>
                </a:cubicBezTo>
                <a:cubicBezTo>
                  <a:pt x="71158" y="85725"/>
                  <a:pt x="67542" y="84720"/>
                  <a:pt x="64394" y="82912"/>
                </a:cubicBezTo>
                <a:cubicBezTo>
                  <a:pt x="64059" y="86562"/>
                  <a:pt x="64361" y="90313"/>
                  <a:pt x="65365" y="94030"/>
                </a:cubicBezTo>
                <a:cubicBezTo>
                  <a:pt x="69953" y="111175"/>
                  <a:pt x="87600" y="121354"/>
                  <a:pt x="104745" y="116767"/>
                </a:cubicBezTo>
                <a:cubicBezTo>
                  <a:pt x="121890" y="112179"/>
                  <a:pt x="132070" y="94532"/>
                  <a:pt x="127482" y="77387"/>
                </a:cubicBezTo>
                <a:cubicBezTo>
                  <a:pt x="123397" y="62084"/>
                  <a:pt x="108898" y="52339"/>
                  <a:pt x="93628" y="53679"/>
                </a:cubicBezTo>
                <a:cubicBezTo>
                  <a:pt x="95403" y="56793"/>
                  <a:pt x="96441" y="60409"/>
                  <a:pt x="96441" y="64294"/>
                </a:cubicBezTo>
                <a:close/>
              </a:path>
            </a:pathLst>
          </a:custGeom>
          <a:solidFill>
            <a:srgbClr val="D4A26A"/>
          </a:solidFill>
          <a:ln/>
        </p:spPr>
      </p:sp>
      <p:sp>
        <p:nvSpPr>
          <p:cNvPr id="35" name="Text 33"/>
          <p:cNvSpPr/>
          <p:nvPr/>
        </p:nvSpPr>
        <p:spPr>
          <a:xfrm>
            <a:off x="767715" y="3093481"/>
            <a:ext cx="6324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D4A2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PCA Visualization Pipeline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548640" y="3474481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D4A26A">
              <a:alpha val="20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674370" y="3531631"/>
            <a:ext cx="1238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D4A2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967740" y="3474481"/>
            <a:ext cx="3552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100D K-Means Spaces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967740" y="3741181"/>
            <a:ext cx="3552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Bisecting K-Means operates on 100 LSA components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548640" y="4084081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D4A26A">
              <a:alpha val="20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662226" y="4141231"/>
            <a:ext cx="142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D4A2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967740" y="4084081"/>
            <a:ext cx="3971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PCA Projection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967740" y="4350781"/>
            <a:ext cx="3971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Principal Component Analysis projects to 2D X-Y mappings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548640" y="4693681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D4A26A">
              <a:alpha val="20000"/>
            </a:srgbClr>
          </a:solidFill>
          <a:ln/>
        </p:spPr>
      </p:sp>
      <p:sp>
        <p:nvSpPr>
          <p:cNvPr id="45" name="Text 43"/>
          <p:cNvSpPr/>
          <p:nvPr/>
        </p:nvSpPr>
        <p:spPr>
          <a:xfrm>
            <a:off x="661630" y="4750831"/>
            <a:ext cx="142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D4A2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967740" y="4693681"/>
            <a:ext cx="4210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Interactive Chart.js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967740" y="4960381"/>
            <a:ext cx="4210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2D scatter plots with JSON payload to custom Javascript layout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7334250" y="1375410"/>
            <a:ext cx="4474845" cy="3903345"/>
          </a:xfrm>
          <a:prstGeom prst="roundRect">
            <a:avLst>
              <a:gd name="adj" fmla="val 1952"/>
            </a:avLst>
          </a:prstGeom>
          <a:solidFill>
            <a:srgbClr val="4A5568">
              <a:alpha val="14902"/>
            </a:srgbClr>
          </a:solidFill>
          <a:ln w="10160">
            <a:solidFill>
              <a:srgbClr val="6B7A8F">
                <a:alpha val="30196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524988" y="1579248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96441" y="0"/>
                </a:moveTo>
                <a:lnTo>
                  <a:pt x="42863" y="0"/>
                </a:lnTo>
                <a:cubicBezTo>
                  <a:pt x="36935" y="0"/>
                  <a:pt x="32147" y="4789"/>
                  <a:pt x="32147" y="10716"/>
                </a:cubicBezTo>
                <a:cubicBezTo>
                  <a:pt x="32147" y="16643"/>
                  <a:pt x="36935" y="21431"/>
                  <a:pt x="42863" y="21431"/>
                </a:cubicBezTo>
                <a:lnTo>
                  <a:pt x="42863" y="72163"/>
                </a:lnTo>
                <a:lnTo>
                  <a:pt x="2511" y="142752"/>
                </a:lnTo>
                <a:cubicBezTo>
                  <a:pt x="871" y="145666"/>
                  <a:pt x="0" y="148914"/>
                  <a:pt x="0" y="152262"/>
                </a:cubicBezTo>
                <a:cubicBezTo>
                  <a:pt x="0" y="162878"/>
                  <a:pt x="8573" y="171450"/>
                  <a:pt x="19188" y="171450"/>
                </a:cubicBezTo>
                <a:lnTo>
                  <a:pt x="130831" y="171450"/>
                </a:lnTo>
                <a:cubicBezTo>
                  <a:pt x="141413" y="171450"/>
                  <a:pt x="150019" y="162878"/>
                  <a:pt x="150019" y="152262"/>
                </a:cubicBezTo>
                <a:cubicBezTo>
                  <a:pt x="150019" y="148914"/>
                  <a:pt x="149148" y="145632"/>
                  <a:pt x="147507" y="142752"/>
                </a:cubicBezTo>
                <a:lnTo>
                  <a:pt x="107156" y="72163"/>
                </a:lnTo>
                <a:lnTo>
                  <a:pt x="107156" y="21431"/>
                </a:lnTo>
                <a:cubicBezTo>
                  <a:pt x="113083" y="21431"/>
                  <a:pt x="117872" y="16643"/>
                  <a:pt x="117872" y="10716"/>
                </a:cubicBezTo>
                <a:cubicBezTo>
                  <a:pt x="117872" y="4789"/>
                  <a:pt x="113083" y="0"/>
                  <a:pt x="107156" y="0"/>
                </a:cubicBezTo>
                <a:lnTo>
                  <a:pt x="96441" y="0"/>
                </a:lnTo>
                <a:close/>
                <a:moveTo>
                  <a:pt x="64294" y="72163"/>
                </a:moveTo>
                <a:lnTo>
                  <a:pt x="64294" y="21431"/>
                </a:lnTo>
                <a:lnTo>
                  <a:pt x="85725" y="21431"/>
                </a:lnTo>
                <a:lnTo>
                  <a:pt x="85725" y="72163"/>
                </a:lnTo>
                <a:cubicBezTo>
                  <a:pt x="85725" y="75880"/>
                  <a:pt x="86696" y="79564"/>
                  <a:pt x="88538" y="82812"/>
                </a:cubicBezTo>
                <a:lnTo>
                  <a:pt x="102468" y="107156"/>
                </a:lnTo>
                <a:lnTo>
                  <a:pt x="47551" y="107156"/>
                </a:lnTo>
                <a:lnTo>
                  <a:pt x="61481" y="82812"/>
                </a:lnTo>
                <a:cubicBezTo>
                  <a:pt x="63323" y="79564"/>
                  <a:pt x="64294" y="75914"/>
                  <a:pt x="64294" y="72163"/>
                </a:cubicBezTo>
                <a:close/>
              </a:path>
            </a:pathLst>
          </a:custGeom>
          <a:solidFill>
            <a:srgbClr val="6B7A8F"/>
          </a:solidFill>
          <a:ln/>
        </p:spPr>
      </p:sp>
      <p:sp>
        <p:nvSpPr>
          <p:cNvPr id="50" name="Text 48"/>
          <p:cNvSpPr/>
          <p:nvPr/>
        </p:nvSpPr>
        <p:spPr>
          <a:xfrm>
            <a:off x="7709535" y="1531623"/>
            <a:ext cx="40290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Live Operations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7490460" y="1912623"/>
            <a:ext cx="4162425" cy="914400"/>
          </a:xfrm>
          <a:prstGeom prst="roundRect">
            <a:avLst>
              <a:gd name="adj" fmla="val 8333"/>
            </a:avLst>
          </a:prstGeom>
          <a:solidFill>
            <a:srgbClr val="1A1D21">
              <a:alpha val="60000"/>
            </a:srgbClr>
          </a:solidFill>
          <a:ln/>
        </p:spPr>
      </p:sp>
      <p:sp>
        <p:nvSpPr>
          <p:cNvPr id="52" name="Text 50"/>
          <p:cNvSpPr/>
          <p:nvPr/>
        </p:nvSpPr>
        <p:spPr>
          <a:xfrm>
            <a:off x="7604760" y="2026923"/>
            <a:ext cx="400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6B7A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Frozen Corpus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7604760" y="2255523"/>
            <a:ext cx="40100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Algorithms run on verified "Frozen" internal corpus for mathematical repeatability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7490460" y="2941323"/>
            <a:ext cx="4162425" cy="914400"/>
          </a:xfrm>
          <a:prstGeom prst="roundRect">
            <a:avLst>
              <a:gd name="adj" fmla="val 8333"/>
            </a:avLst>
          </a:prstGeom>
          <a:solidFill>
            <a:srgbClr val="1A1D21">
              <a:alpha val="60000"/>
            </a:srgbClr>
          </a:solidFill>
          <a:ln/>
        </p:spPr>
      </p:sp>
      <p:sp>
        <p:nvSpPr>
          <p:cNvPr id="55" name="Text 53"/>
          <p:cNvSpPr/>
          <p:nvPr/>
        </p:nvSpPr>
        <p:spPr>
          <a:xfrm>
            <a:off x="7604760" y="3055623"/>
            <a:ext cx="400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6B7A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API Response Speed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7604760" y="3284223"/>
            <a:ext cx="40100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Guaranteed fast response times via static dataset optimization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7490460" y="3970023"/>
            <a:ext cx="4162425" cy="914400"/>
          </a:xfrm>
          <a:prstGeom prst="roundRect">
            <a:avLst>
              <a:gd name="adj" fmla="val 8333"/>
            </a:avLst>
          </a:prstGeom>
          <a:solidFill>
            <a:srgbClr val="1A1D21">
              <a:alpha val="60000"/>
            </a:srgbClr>
          </a:solidFill>
          <a:ln/>
        </p:spPr>
      </p:sp>
      <p:sp>
        <p:nvSpPr>
          <p:cNvPr id="58" name="Text 56"/>
          <p:cNvSpPr/>
          <p:nvPr/>
        </p:nvSpPr>
        <p:spPr>
          <a:xfrm>
            <a:off x="7604760" y="4084323"/>
            <a:ext cx="400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6B7A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Unified Pipeline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7604760" y="4312923"/>
            <a:ext cx="40100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Users step through all 5 stages directly from UI without touching code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7334250" y="5436869"/>
            <a:ext cx="4474845" cy="1036320"/>
          </a:xfrm>
          <a:prstGeom prst="roundRect">
            <a:avLst>
              <a:gd name="adj" fmla="val 7353"/>
            </a:avLst>
          </a:prstGeom>
          <a:solidFill>
            <a:srgbClr val="D4A26A">
              <a:alpha val="10196"/>
            </a:srgbClr>
          </a:solidFill>
          <a:ln w="10160">
            <a:solidFill>
              <a:srgbClr val="D4A26A">
                <a:alpha val="30196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7471410" y="5840732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214536" y="4599"/>
                </a:moveTo>
                <a:lnTo>
                  <a:pt x="115684" y="70545"/>
                </a:lnTo>
                <a:cubicBezTo>
                  <a:pt x="102691" y="79206"/>
                  <a:pt x="94431" y="93271"/>
                  <a:pt x="93092" y="108630"/>
                </a:cubicBezTo>
                <a:cubicBezTo>
                  <a:pt x="120908" y="114345"/>
                  <a:pt x="142830" y="136267"/>
                  <a:pt x="148590" y="164128"/>
                </a:cubicBezTo>
                <a:cubicBezTo>
                  <a:pt x="163994" y="162788"/>
                  <a:pt x="178013" y="154528"/>
                  <a:pt x="186675" y="141536"/>
                </a:cubicBezTo>
                <a:lnTo>
                  <a:pt x="252576" y="42639"/>
                </a:lnTo>
                <a:cubicBezTo>
                  <a:pt x="255568" y="38130"/>
                  <a:pt x="257175" y="32861"/>
                  <a:pt x="257175" y="27414"/>
                </a:cubicBezTo>
                <a:cubicBezTo>
                  <a:pt x="257175" y="12278"/>
                  <a:pt x="244897" y="0"/>
                  <a:pt x="229761" y="0"/>
                </a:cubicBezTo>
                <a:cubicBezTo>
                  <a:pt x="224358" y="0"/>
                  <a:pt x="219045" y="1607"/>
                  <a:pt x="214536" y="4599"/>
                </a:cubicBezTo>
                <a:close/>
                <a:moveTo>
                  <a:pt x="128588" y="178594"/>
                </a:moveTo>
                <a:cubicBezTo>
                  <a:pt x="128588" y="150956"/>
                  <a:pt x="106219" y="128588"/>
                  <a:pt x="78581" y="128588"/>
                </a:cubicBezTo>
                <a:cubicBezTo>
                  <a:pt x="50944" y="128588"/>
                  <a:pt x="28575" y="150956"/>
                  <a:pt x="28575" y="178594"/>
                </a:cubicBezTo>
                <a:cubicBezTo>
                  <a:pt x="28575" y="180335"/>
                  <a:pt x="28664" y="182076"/>
                  <a:pt x="28843" y="183773"/>
                </a:cubicBezTo>
                <a:cubicBezTo>
                  <a:pt x="29647" y="191586"/>
                  <a:pt x="24289" y="200025"/>
                  <a:pt x="16431" y="200025"/>
                </a:cubicBezTo>
                <a:lnTo>
                  <a:pt x="14288" y="200025"/>
                </a:lnTo>
                <a:cubicBezTo>
                  <a:pt x="6385" y="200025"/>
                  <a:pt x="0" y="206410"/>
                  <a:pt x="0" y="214313"/>
                </a:cubicBezTo>
                <a:cubicBezTo>
                  <a:pt x="0" y="222215"/>
                  <a:pt x="6385" y="228600"/>
                  <a:pt x="14288" y="228600"/>
                </a:cubicBezTo>
                <a:lnTo>
                  <a:pt x="78581" y="228600"/>
                </a:lnTo>
                <a:cubicBezTo>
                  <a:pt x="106219" y="228600"/>
                  <a:pt x="128588" y="206231"/>
                  <a:pt x="128588" y="178594"/>
                </a:cubicBezTo>
                <a:close/>
              </a:path>
            </a:pathLst>
          </a:custGeom>
          <a:solidFill>
            <a:srgbClr val="D4A26A"/>
          </a:solidFill>
          <a:ln/>
        </p:spPr>
      </p:sp>
      <p:sp>
        <p:nvSpPr>
          <p:cNvPr id="62" name="Text 60"/>
          <p:cNvSpPr/>
          <p:nvPr/>
        </p:nvSpPr>
        <p:spPr>
          <a:xfrm>
            <a:off x="7819906" y="5593082"/>
            <a:ext cx="39147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D4A2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Visual Validation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7819906" y="5859782"/>
            <a:ext cx="39052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Silhouette scores and weighted purity measure mathematical isolation quality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5beqdm23l5qus/images/8_Neural_Network_the_Future_Concept.png"/>
          <p:cNvPicPr>
            <a:picLocks noChangeAspect="1"/>
          </p:cNvPicPr>
          <p:nvPr/>
        </p:nvPicPr>
        <p:blipFill>
          <a:blip r:embed="rId3">
            <a:alphaModFix amt="30000"/>
          </a:blip>
          <a:srcRect t="4545" b="4545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rgbClr val="1A1D21">
                  <a:alpha val="98000"/>
                </a:srgbClr>
              </a:gs>
              <a:gs pos="50000">
                <a:srgbClr val="1A1D21">
                  <a:alpha val="9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400050" y="1976438"/>
            <a:ext cx="1304925" cy="381000"/>
          </a:xfrm>
          <a:prstGeom prst="roundRect">
            <a:avLst>
              <a:gd name="adj" fmla="val 0"/>
            </a:avLst>
          </a:prstGeom>
          <a:solidFill>
            <a:srgbClr val="D4A26A">
              <a:alpha val="20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400050" y="1976438"/>
            <a:ext cx="38100" cy="381000"/>
          </a:xfrm>
          <a:prstGeom prst="roundRect">
            <a:avLst>
              <a:gd name="adj" fmla="val 0"/>
            </a:avLst>
          </a:prstGeom>
          <a:solidFill>
            <a:srgbClr val="D4A26A"/>
          </a:solidFill>
          <a:ln/>
        </p:spPr>
      </p:sp>
      <p:sp>
        <p:nvSpPr>
          <p:cNvPr id="6" name="Text 3"/>
          <p:cNvSpPr/>
          <p:nvPr/>
        </p:nvSpPr>
        <p:spPr>
          <a:xfrm>
            <a:off x="571500" y="2052637"/>
            <a:ext cx="1057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D4A2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CHAPTER 03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1000" y="2586038"/>
            <a:ext cx="117157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5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Challenges &amp;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45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Resolutions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81000" y="4243388"/>
            <a:ext cx="1219200" cy="38100"/>
          </a:xfrm>
          <a:prstGeom prst="roundRect">
            <a:avLst>
              <a:gd name="adj" fmla="val 0"/>
            </a:avLst>
          </a:prstGeom>
          <a:solidFill>
            <a:srgbClr val="D4A26A"/>
          </a:solidFill>
          <a:ln/>
        </p:spPr>
      </p:sp>
      <p:sp>
        <p:nvSpPr>
          <p:cNvPr id="9" name="Text 6"/>
          <p:cNvSpPr/>
          <p:nvPr/>
        </p:nvSpPr>
        <p:spPr>
          <a:xfrm>
            <a:off x="381000" y="4510088"/>
            <a:ext cx="65151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technical obstacles and engineering solutions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D4A2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CHALLENGES &amp; RESOLUTIONS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Three Critical Challenges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181100"/>
            <a:ext cx="914400" cy="38100"/>
          </a:xfrm>
          <a:prstGeom prst="roundRect">
            <a:avLst>
              <a:gd name="adj" fmla="val 0"/>
            </a:avLst>
          </a:prstGeom>
          <a:solidFill>
            <a:srgbClr val="D4A26A"/>
          </a:solidFill>
          <a:ln/>
        </p:spPr>
      </p:sp>
      <p:sp>
        <p:nvSpPr>
          <p:cNvPr id="5" name="Shape 3"/>
          <p:cNvSpPr/>
          <p:nvPr/>
        </p:nvSpPr>
        <p:spPr>
          <a:xfrm>
            <a:off x="400050" y="1371600"/>
            <a:ext cx="11410950" cy="1628775"/>
          </a:xfrm>
          <a:custGeom>
            <a:avLst/>
            <a:gdLst/>
            <a:ahLst/>
            <a:cxnLst/>
            <a:rect l="l" t="t" r="r" b="b"/>
            <a:pathLst>
              <a:path w="11410950" h="1628775">
                <a:moveTo>
                  <a:pt x="0" y="0"/>
                </a:moveTo>
                <a:lnTo>
                  <a:pt x="11334750" y="0"/>
                </a:lnTo>
                <a:cubicBezTo>
                  <a:pt x="11376806" y="0"/>
                  <a:pt x="11410950" y="34144"/>
                  <a:pt x="11410950" y="76200"/>
                </a:cubicBezTo>
                <a:lnTo>
                  <a:pt x="11410950" y="1552575"/>
                </a:lnTo>
                <a:cubicBezTo>
                  <a:pt x="11410950" y="1594631"/>
                  <a:pt x="11376806" y="1628775"/>
                  <a:pt x="11334750" y="1628775"/>
                </a:cubicBezTo>
                <a:lnTo>
                  <a:pt x="0" y="1628775"/>
                </a:lnTo>
                <a:lnTo>
                  <a:pt x="0" y="0"/>
                </a:lnTo>
                <a:close/>
              </a:path>
            </a:pathLst>
          </a:custGeom>
          <a:solidFill>
            <a:srgbClr val="4A5568">
              <a:alpha val="14902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00050" y="1371600"/>
            <a:ext cx="38100" cy="1628775"/>
          </a:xfrm>
          <a:prstGeom prst="roundRect">
            <a:avLst>
              <a:gd name="adj" fmla="val 0"/>
            </a:avLst>
          </a:prstGeom>
          <a:solidFill>
            <a:srgbClr val="D4A26A"/>
          </a:solidFill>
          <a:ln/>
        </p:spPr>
      </p:sp>
      <p:sp>
        <p:nvSpPr>
          <p:cNvPr id="7" name="Shape 5"/>
          <p:cNvSpPr/>
          <p:nvPr/>
        </p:nvSpPr>
        <p:spPr>
          <a:xfrm>
            <a:off x="571500" y="1555672"/>
            <a:ext cx="457200" cy="457200"/>
          </a:xfrm>
          <a:prstGeom prst="roundRect">
            <a:avLst>
              <a:gd name="adj" fmla="val 16667"/>
            </a:avLst>
          </a:prstGeom>
          <a:solidFill>
            <a:srgbClr val="D4A26A">
              <a:alpha val="2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681395" y="1631872"/>
            <a:ext cx="3524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D4A2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81100" y="1555672"/>
            <a:ext cx="10572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Apriori Memory Overruns &amp; "No Rules Found"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200150" y="1927147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43495" y="43495"/>
                </a:moveTo>
                <a:cubicBezTo>
                  <a:pt x="45943" y="41047"/>
                  <a:pt x="49902" y="41047"/>
                  <a:pt x="52324" y="43495"/>
                </a:cubicBezTo>
                <a:lnTo>
                  <a:pt x="66649" y="57820"/>
                </a:lnTo>
                <a:lnTo>
                  <a:pt x="80974" y="43495"/>
                </a:lnTo>
                <a:cubicBezTo>
                  <a:pt x="83422" y="41047"/>
                  <a:pt x="87381" y="41047"/>
                  <a:pt x="89803" y="43495"/>
                </a:cubicBezTo>
                <a:cubicBezTo>
                  <a:pt x="92225" y="45943"/>
                  <a:pt x="92251" y="49902"/>
                  <a:pt x="89803" y="52324"/>
                </a:cubicBezTo>
                <a:lnTo>
                  <a:pt x="75478" y="66649"/>
                </a:lnTo>
                <a:lnTo>
                  <a:pt x="89803" y="80974"/>
                </a:lnTo>
                <a:cubicBezTo>
                  <a:pt x="92251" y="83422"/>
                  <a:pt x="92251" y="87381"/>
                  <a:pt x="89803" y="89803"/>
                </a:cubicBezTo>
                <a:cubicBezTo>
                  <a:pt x="87355" y="92225"/>
                  <a:pt x="83396" y="92251"/>
                  <a:pt x="80974" y="89803"/>
                </a:cubicBezTo>
                <a:lnTo>
                  <a:pt x="66649" y="75478"/>
                </a:lnTo>
                <a:lnTo>
                  <a:pt x="52324" y="89803"/>
                </a:lnTo>
                <a:cubicBezTo>
                  <a:pt x="49876" y="92251"/>
                  <a:pt x="45917" y="92251"/>
                  <a:pt x="43495" y="89803"/>
                </a:cubicBezTo>
                <a:cubicBezTo>
                  <a:pt x="41073" y="87355"/>
                  <a:pt x="41047" y="83396"/>
                  <a:pt x="43495" y="80974"/>
                </a:cubicBezTo>
                <a:lnTo>
                  <a:pt x="57820" y="66649"/>
                </a:lnTo>
                <a:lnTo>
                  <a:pt x="43495" y="52324"/>
                </a:lnTo>
                <a:cubicBezTo>
                  <a:pt x="41047" y="49876"/>
                  <a:pt x="41047" y="45917"/>
                  <a:pt x="43495" y="43495"/>
                </a:cubicBezTo>
                <a:close/>
              </a:path>
            </a:pathLst>
          </a:custGeom>
          <a:solidFill>
            <a:srgbClr val="FF6467"/>
          </a:solidFill>
          <a:ln/>
        </p:spPr>
      </p:sp>
      <p:sp>
        <p:nvSpPr>
          <p:cNvPr id="11" name="Text 9"/>
          <p:cNvSpPr/>
          <p:nvPr/>
        </p:nvSpPr>
        <p:spPr>
          <a:xfrm>
            <a:off x="1352550" y="1898572"/>
            <a:ext cx="5057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646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Problem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81100" y="2127172"/>
            <a:ext cx="52387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Passing 120,000 articles with 10,000 variables into Apriori crashed due to astronomical permutation overhead. High bounds caused HTTP 500 exceptions when zero results found.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515100" y="1927147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05DF72"/>
          </a:solidFill>
          <a:ln/>
        </p:spPr>
      </p:sp>
      <p:sp>
        <p:nvSpPr>
          <p:cNvPr id="14" name="Text 12"/>
          <p:cNvSpPr/>
          <p:nvPr/>
        </p:nvSpPr>
        <p:spPr>
          <a:xfrm>
            <a:off x="6667500" y="1898572"/>
            <a:ext cx="5057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05DF7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Resolution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96050" y="2127172"/>
            <a:ext cx="52387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Switched to FP-Growth via mlxtend — significantly reduced processing overhead. Modified codebase to interpret "zero" conditions gracefully, returning clear visualization arrays.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00050" y="3111461"/>
            <a:ext cx="11410950" cy="1628775"/>
          </a:xfrm>
          <a:custGeom>
            <a:avLst/>
            <a:gdLst/>
            <a:ahLst/>
            <a:cxnLst/>
            <a:rect l="l" t="t" r="r" b="b"/>
            <a:pathLst>
              <a:path w="11410950" h="1628775">
                <a:moveTo>
                  <a:pt x="0" y="0"/>
                </a:moveTo>
                <a:lnTo>
                  <a:pt x="11334750" y="0"/>
                </a:lnTo>
                <a:cubicBezTo>
                  <a:pt x="11376806" y="0"/>
                  <a:pt x="11410950" y="34144"/>
                  <a:pt x="11410950" y="76200"/>
                </a:cubicBezTo>
                <a:lnTo>
                  <a:pt x="11410950" y="1552575"/>
                </a:lnTo>
                <a:cubicBezTo>
                  <a:pt x="11410950" y="1594631"/>
                  <a:pt x="11376806" y="1628775"/>
                  <a:pt x="11334750" y="1628775"/>
                </a:cubicBezTo>
                <a:lnTo>
                  <a:pt x="0" y="1628775"/>
                </a:lnTo>
                <a:lnTo>
                  <a:pt x="0" y="0"/>
                </a:lnTo>
                <a:close/>
              </a:path>
            </a:pathLst>
          </a:custGeom>
          <a:solidFill>
            <a:srgbClr val="4A5568">
              <a:alpha val="14902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400050" y="3111461"/>
            <a:ext cx="38100" cy="1628775"/>
          </a:xfrm>
          <a:prstGeom prst="roundRect">
            <a:avLst>
              <a:gd name="adj" fmla="val 0"/>
            </a:avLst>
          </a:prstGeom>
          <a:solidFill>
            <a:srgbClr val="6B7A8F"/>
          </a:solidFill>
          <a:ln/>
        </p:spPr>
      </p:sp>
      <p:sp>
        <p:nvSpPr>
          <p:cNvPr id="18" name="Shape 16"/>
          <p:cNvSpPr/>
          <p:nvPr/>
        </p:nvSpPr>
        <p:spPr>
          <a:xfrm>
            <a:off x="571500" y="3409950"/>
            <a:ext cx="457200" cy="457200"/>
          </a:xfrm>
          <a:prstGeom prst="roundRect">
            <a:avLst>
              <a:gd name="adj" fmla="val 16667"/>
            </a:avLst>
          </a:prstGeom>
          <a:solidFill>
            <a:srgbClr val="6B7A8F">
              <a:alpha val="2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660678" y="3486150"/>
            <a:ext cx="3905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6B7A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181100" y="3409950"/>
            <a:ext cx="10572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Scipy CSR Matrix Incompatibility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200150" y="378142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43495" y="43495"/>
                </a:moveTo>
                <a:cubicBezTo>
                  <a:pt x="45943" y="41047"/>
                  <a:pt x="49902" y="41047"/>
                  <a:pt x="52324" y="43495"/>
                </a:cubicBezTo>
                <a:lnTo>
                  <a:pt x="66649" y="57820"/>
                </a:lnTo>
                <a:lnTo>
                  <a:pt x="80974" y="43495"/>
                </a:lnTo>
                <a:cubicBezTo>
                  <a:pt x="83422" y="41047"/>
                  <a:pt x="87381" y="41047"/>
                  <a:pt x="89803" y="43495"/>
                </a:cubicBezTo>
                <a:cubicBezTo>
                  <a:pt x="92225" y="45943"/>
                  <a:pt x="92251" y="49902"/>
                  <a:pt x="89803" y="52324"/>
                </a:cubicBezTo>
                <a:lnTo>
                  <a:pt x="75478" y="66649"/>
                </a:lnTo>
                <a:lnTo>
                  <a:pt x="89803" y="80974"/>
                </a:lnTo>
                <a:cubicBezTo>
                  <a:pt x="92251" y="83422"/>
                  <a:pt x="92251" y="87381"/>
                  <a:pt x="89803" y="89803"/>
                </a:cubicBezTo>
                <a:cubicBezTo>
                  <a:pt x="87355" y="92225"/>
                  <a:pt x="83396" y="92251"/>
                  <a:pt x="80974" y="89803"/>
                </a:cubicBezTo>
                <a:lnTo>
                  <a:pt x="66649" y="75478"/>
                </a:lnTo>
                <a:lnTo>
                  <a:pt x="52324" y="89803"/>
                </a:lnTo>
                <a:cubicBezTo>
                  <a:pt x="49876" y="92251"/>
                  <a:pt x="45917" y="92251"/>
                  <a:pt x="43495" y="89803"/>
                </a:cubicBezTo>
                <a:cubicBezTo>
                  <a:pt x="41073" y="87355"/>
                  <a:pt x="41047" y="83396"/>
                  <a:pt x="43495" y="80974"/>
                </a:cubicBezTo>
                <a:lnTo>
                  <a:pt x="57820" y="66649"/>
                </a:lnTo>
                <a:lnTo>
                  <a:pt x="43495" y="52324"/>
                </a:lnTo>
                <a:cubicBezTo>
                  <a:pt x="41047" y="49876"/>
                  <a:pt x="41047" y="45917"/>
                  <a:pt x="43495" y="43495"/>
                </a:cubicBezTo>
                <a:close/>
              </a:path>
            </a:pathLst>
          </a:custGeom>
          <a:solidFill>
            <a:srgbClr val="FF6467"/>
          </a:solidFill>
          <a:ln/>
        </p:spPr>
      </p:sp>
      <p:sp>
        <p:nvSpPr>
          <p:cNvPr id="22" name="Text 20"/>
          <p:cNvSpPr/>
          <p:nvPr/>
        </p:nvSpPr>
        <p:spPr>
          <a:xfrm>
            <a:off x="1352550" y="3752850"/>
            <a:ext cx="5057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646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Problem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181100" y="3981450"/>
            <a:ext cx="52387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Pandas boolean string arrays caused .nonzero() index fault crashes against Python sparse arrays in scikit-learn during advanced keyword parsing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515100" y="378142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05DF72"/>
          </a:solidFill>
          <a:ln/>
        </p:spPr>
      </p:sp>
      <p:sp>
        <p:nvSpPr>
          <p:cNvPr id="25" name="Text 23"/>
          <p:cNvSpPr/>
          <p:nvPr/>
        </p:nvSpPr>
        <p:spPr>
          <a:xfrm>
            <a:off x="6667500" y="3752850"/>
            <a:ext cx="5057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05DF7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Resolution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496050" y="3981450"/>
            <a:ext cx="52387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Diagnosed memory-space bounds and resolved by appending numpy .values extraction to feed primitive formats back into the vector engine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400050" y="4851439"/>
            <a:ext cx="11410950" cy="1628775"/>
          </a:xfrm>
          <a:custGeom>
            <a:avLst/>
            <a:gdLst/>
            <a:ahLst/>
            <a:cxnLst/>
            <a:rect l="l" t="t" r="r" b="b"/>
            <a:pathLst>
              <a:path w="11410950" h="1628775">
                <a:moveTo>
                  <a:pt x="0" y="0"/>
                </a:moveTo>
                <a:lnTo>
                  <a:pt x="11334750" y="0"/>
                </a:lnTo>
                <a:cubicBezTo>
                  <a:pt x="11376806" y="0"/>
                  <a:pt x="11410950" y="34144"/>
                  <a:pt x="11410950" y="76200"/>
                </a:cubicBezTo>
                <a:lnTo>
                  <a:pt x="11410950" y="1552575"/>
                </a:lnTo>
                <a:cubicBezTo>
                  <a:pt x="11410950" y="1594631"/>
                  <a:pt x="11376806" y="1628775"/>
                  <a:pt x="11334750" y="1628775"/>
                </a:cubicBezTo>
                <a:lnTo>
                  <a:pt x="0" y="1628775"/>
                </a:lnTo>
                <a:lnTo>
                  <a:pt x="0" y="0"/>
                </a:lnTo>
                <a:close/>
              </a:path>
            </a:pathLst>
          </a:custGeom>
          <a:solidFill>
            <a:srgbClr val="4A5568">
              <a:alpha val="14902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400050" y="4851439"/>
            <a:ext cx="38100" cy="1628775"/>
          </a:xfrm>
          <a:prstGeom prst="roundRect">
            <a:avLst>
              <a:gd name="adj" fmla="val 0"/>
            </a:avLst>
          </a:prstGeom>
          <a:solidFill>
            <a:srgbClr val="D4A26A"/>
          </a:solidFill>
          <a:ln/>
        </p:spPr>
      </p:sp>
      <p:sp>
        <p:nvSpPr>
          <p:cNvPr id="29" name="Shape 27"/>
          <p:cNvSpPr/>
          <p:nvPr/>
        </p:nvSpPr>
        <p:spPr>
          <a:xfrm>
            <a:off x="571500" y="5149811"/>
            <a:ext cx="457200" cy="457200"/>
          </a:xfrm>
          <a:prstGeom prst="roundRect">
            <a:avLst>
              <a:gd name="adj" fmla="val 16667"/>
            </a:avLst>
          </a:prstGeom>
          <a:solidFill>
            <a:srgbClr val="D4A26A">
              <a:alpha val="20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659725" y="5226011"/>
            <a:ext cx="3905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D4A2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181100" y="5149811"/>
            <a:ext cx="10572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Inability to Visualize High-Dimensionality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1200150" y="5521286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43495" y="43495"/>
                </a:moveTo>
                <a:cubicBezTo>
                  <a:pt x="45943" y="41047"/>
                  <a:pt x="49902" y="41047"/>
                  <a:pt x="52324" y="43495"/>
                </a:cubicBezTo>
                <a:lnTo>
                  <a:pt x="66649" y="57820"/>
                </a:lnTo>
                <a:lnTo>
                  <a:pt x="80974" y="43495"/>
                </a:lnTo>
                <a:cubicBezTo>
                  <a:pt x="83422" y="41047"/>
                  <a:pt x="87381" y="41047"/>
                  <a:pt x="89803" y="43495"/>
                </a:cubicBezTo>
                <a:cubicBezTo>
                  <a:pt x="92225" y="45943"/>
                  <a:pt x="92251" y="49902"/>
                  <a:pt x="89803" y="52324"/>
                </a:cubicBezTo>
                <a:lnTo>
                  <a:pt x="75478" y="66649"/>
                </a:lnTo>
                <a:lnTo>
                  <a:pt x="89803" y="80974"/>
                </a:lnTo>
                <a:cubicBezTo>
                  <a:pt x="92251" y="83422"/>
                  <a:pt x="92251" y="87381"/>
                  <a:pt x="89803" y="89803"/>
                </a:cubicBezTo>
                <a:cubicBezTo>
                  <a:pt x="87355" y="92225"/>
                  <a:pt x="83396" y="92251"/>
                  <a:pt x="80974" y="89803"/>
                </a:cubicBezTo>
                <a:lnTo>
                  <a:pt x="66649" y="75478"/>
                </a:lnTo>
                <a:lnTo>
                  <a:pt x="52324" y="89803"/>
                </a:lnTo>
                <a:cubicBezTo>
                  <a:pt x="49876" y="92251"/>
                  <a:pt x="45917" y="92251"/>
                  <a:pt x="43495" y="89803"/>
                </a:cubicBezTo>
                <a:cubicBezTo>
                  <a:pt x="41073" y="87355"/>
                  <a:pt x="41047" y="83396"/>
                  <a:pt x="43495" y="80974"/>
                </a:cubicBezTo>
                <a:lnTo>
                  <a:pt x="57820" y="66649"/>
                </a:lnTo>
                <a:lnTo>
                  <a:pt x="43495" y="52324"/>
                </a:lnTo>
                <a:cubicBezTo>
                  <a:pt x="41047" y="49876"/>
                  <a:pt x="41047" y="45917"/>
                  <a:pt x="43495" y="43495"/>
                </a:cubicBezTo>
                <a:close/>
              </a:path>
            </a:pathLst>
          </a:custGeom>
          <a:solidFill>
            <a:srgbClr val="FF6467"/>
          </a:solidFill>
          <a:ln/>
        </p:spPr>
      </p:sp>
      <p:sp>
        <p:nvSpPr>
          <p:cNvPr id="33" name="Text 31"/>
          <p:cNvSpPr/>
          <p:nvPr/>
        </p:nvSpPr>
        <p:spPr>
          <a:xfrm>
            <a:off x="1352550" y="5492711"/>
            <a:ext cx="5057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646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Problem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181100" y="5721311"/>
            <a:ext cx="52387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Users cannot see 10,000 dimensions of TF-IDF vectors representing K-Means clusters — impossible to interpret or validate visually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515100" y="5521286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05DF72"/>
          </a:solidFill>
          <a:ln/>
        </p:spPr>
      </p:sp>
      <p:sp>
        <p:nvSpPr>
          <p:cNvPr id="36" name="Text 34"/>
          <p:cNvSpPr/>
          <p:nvPr/>
        </p:nvSpPr>
        <p:spPr>
          <a:xfrm>
            <a:off x="6667500" y="5492711"/>
            <a:ext cx="5057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05DF7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Resolution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496050" y="5721311"/>
            <a:ext cx="52387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Utilized PCA in mining_engine.py to project complex 100D spaces to X-Y mappings interfacing via JSON payload to Chart.js visual layout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5beqdm23l5qus/images/9_High_tech_Blue_Data_Analytics_Interface.png"/>
          <p:cNvPicPr>
            <a:picLocks noChangeAspect="1"/>
          </p:cNvPicPr>
          <p:nvPr/>
        </p:nvPicPr>
        <p:blipFill>
          <a:blip r:embed="rId3">
            <a:alphaModFix amt="30000"/>
          </a:blip>
          <a:srcRect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rgbClr val="1A1D21">
                  <a:alpha val="98000"/>
                </a:srgbClr>
              </a:gs>
              <a:gs pos="50000">
                <a:srgbClr val="1A1D21">
                  <a:alpha val="9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400050" y="1976438"/>
            <a:ext cx="1304925" cy="381000"/>
          </a:xfrm>
          <a:prstGeom prst="roundRect">
            <a:avLst>
              <a:gd name="adj" fmla="val 0"/>
            </a:avLst>
          </a:prstGeom>
          <a:solidFill>
            <a:srgbClr val="6B7A8F">
              <a:alpha val="20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400050" y="1976438"/>
            <a:ext cx="38100" cy="381000"/>
          </a:xfrm>
          <a:prstGeom prst="roundRect">
            <a:avLst>
              <a:gd name="adj" fmla="val 0"/>
            </a:avLst>
          </a:prstGeom>
          <a:solidFill>
            <a:srgbClr val="6B7A8F"/>
          </a:solidFill>
          <a:ln/>
        </p:spPr>
      </p:sp>
      <p:sp>
        <p:nvSpPr>
          <p:cNvPr id="6" name="Text 3"/>
          <p:cNvSpPr/>
          <p:nvPr/>
        </p:nvSpPr>
        <p:spPr>
          <a:xfrm>
            <a:off x="571500" y="2052637"/>
            <a:ext cx="1057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6B7A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CHAPTER 04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1000" y="2586038"/>
            <a:ext cx="117157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5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Evaluation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45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&amp; Results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81000" y="4243388"/>
            <a:ext cx="1219200" cy="38100"/>
          </a:xfrm>
          <a:prstGeom prst="roundRect">
            <a:avLst>
              <a:gd name="adj" fmla="val 0"/>
            </a:avLst>
          </a:prstGeom>
          <a:solidFill>
            <a:srgbClr val="6B7A8F"/>
          </a:solidFill>
          <a:ln/>
        </p:spPr>
      </p:sp>
      <p:sp>
        <p:nvSpPr>
          <p:cNvPr id="9" name="Text 6"/>
          <p:cNvSpPr/>
          <p:nvPr/>
        </p:nvSpPr>
        <p:spPr>
          <a:xfrm>
            <a:off x="381000" y="4510088"/>
            <a:ext cx="65151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Empirical metrics and performance validation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3904" y="353904"/>
            <a:ext cx="11554972" cy="2123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5" b="1" kern="0" spc="56" dirty="0">
                <a:solidFill>
                  <a:srgbClr val="6B7A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EVALUATION &amp; RESULTS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53904" y="637028"/>
            <a:ext cx="11643448" cy="353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08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Evaluation Metrics &amp; Findings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53904" y="1097103"/>
            <a:ext cx="849370" cy="35390"/>
          </a:xfrm>
          <a:prstGeom prst="roundRect">
            <a:avLst>
              <a:gd name="adj" fmla="val 0"/>
            </a:avLst>
          </a:prstGeom>
          <a:solidFill>
            <a:srgbClr val="6B7A8F"/>
          </a:solidFill>
          <a:ln/>
        </p:spPr>
      </p:sp>
      <p:sp>
        <p:nvSpPr>
          <p:cNvPr id="5" name="Shape 3"/>
          <p:cNvSpPr/>
          <p:nvPr/>
        </p:nvSpPr>
        <p:spPr>
          <a:xfrm>
            <a:off x="360982" y="1281133"/>
            <a:ext cx="5658928" cy="4349483"/>
          </a:xfrm>
          <a:prstGeom prst="roundRect">
            <a:avLst>
              <a:gd name="adj" fmla="val 1627"/>
            </a:avLst>
          </a:prstGeom>
          <a:gradFill flip="none" rotWithShape="1">
            <a:gsLst>
              <a:gs pos="0">
                <a:srgbClr val="D4A26A">
                  <a:alpha val="20000"/>
                </a:srgbClr>
              </a:gs>
              <a:gs pos="100000">
                <a:srgbClr val="6B7A8F">
                  <a:alpha val="20000"/>
                </a:srgbClr>
              </a:gs>
            </a:gsLst>
            <a:lin ang="2700000" scaled="1"/>
          </a:gradFill>
          <a:ln w="20320">
            <a:solidFill>
              <a:srgbClr val="D4A26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9622" y="1429778"/>
            <a:ext cx="353904" cy="353904"/>
          </a:xfrm>
          <a:prstGeom prst="roundRect">
            <a:avLst>
              <a:gd name="adj" fmla="val 20000"/>
            </a:avLst>
          </a:prstGeom>
          <a:solidFill>
            <a:srgbClr val="D4A26A"/>
          </a:solidFill>
          <a:ln/>
        </p:spPr>
      </p:sp>
      <p:sp>
        <p:nvSpPr>
          <p:cNvPr id="7" name="Shape 5"/>
          <p:cNvSpPr/>
          <p:nvPr/>
        </p:nvSpPr>
        <p:spPr>
          <a:xfrm>
            <a:off x="598098" y="1518254"/>
            <a:ext cx="176952" cy="176952"/>
          </a:xfrm>
          <a:custGeom>
            <a:avLst/>
            <a:gdLst/>
            <a:ahLst/>
            <a:cxnLst/>
            <a:rect l="l" t="t" r="r" b="b"/>
            <a:pathLst>
              <a:path w="176952" h="176952">
                <a:moveTo>
                  <a:pt x="49871" y="0"/>
                </a:moveTo>
                <a:lnTo>
                  <a:pt x="127288" y="0"/>
                </a:lnTo>
                <a:cubicBezTo>
                  <a:pt x="136447" y="0"/>
                  <a:pt x="143912" y="7534"/>
                  <a:pt x="143566" y="16658"/>
                </a:cubicBezTo>
                <a:cubicBezTo>
                  <a:pt x="143497" y="18490"/>
                  <a:pt x="143428" y="20322"/>
                  <a:pt x="143324" y="22119"/>
                </a:cubicBezTo>
                <a:lnTo>
                  <a:pt x="160467" y="22119"/>
                </a:lnTo>
                <a:cubicBezTo>
                  <a:pt x="169487" y="22119"/>
                  <a:pt x="177436" y="29584"/>
                  <a:pt x="176745" y="39330"/>
                </a:cubicBezTo>
                <a:cubicBezTo>
                  <a:pt x="174153" y="75170"/>
                  <a:pt x="155835" y="94870"/>
                  <a:pt x="135963" y="105169"/>
                </a:cubicBezTo>
                <a:cubicBezTo>
                  <a:pt x="130502" y="108003"/>
                  <a:pt x="124938" y="110111"/>
                  <a:pt x="119650" y="111666"/>
                </a:cubicBezTo>
                <a:cubicBezTo>
                  <a:pt x="112669" y="121551"/>
                  <a:pt x="105411" y="126770"/>
                  <a:pt x="99639" y="129569"/>
                </a:cubicBezTo>
                <a:lnTo>
                  <a:pt x="99639" y="154833"/>
                </a:lnTo>
                <a:lnTo>
                  <a:pt x="121758" y="154833"/>
                </a:lnTo>
                <a:cubicBezTo>
                  <a:pt x="127876" y="154833"/>
                  <a:pt x="132818" y="159775"/>
                  <a:pt x="132818" y="165893"/>
                </a:cubicBezTo>
                <a:cubicBezTo>
                  <a:pt x="132818" y="172010"/>
                  <a:pt x="127876" y="176952"/>
                  <a:pt x="121758" y="176952"/>
                </a:cubicBezTo>
                <a:lnTo>
                  <a:pt x="55401" y="176952"/>
                </a:lnTo>
                <a:cubicBezTo>
                  <a:pt x="49284" y="176952"/>
                  <a:pt x="44342" y="172010"/>
                  <a:pt x="44342" y="165893"/>
                </a:cubicBezTo>
                <a:cubicBezTo>
                  <a:pt x="44342" y="159775"/>
                  <a:pt x="49284" y="154833"/>
                  <a:pt x="55401" y="154833"/>
                </a:cubicBezTo>
                <a:lnTo>
                  <a:pt x="77520" y="154833"/>
                </a:lnTo>
                <a:lnTo>
                  <a:pt x="77520" y="129569"/>
                </a:lnTo>
                <a:cubicBezTo>
                  <a:pt x="71990" y="126908"/>
                  <a:pt x="65113" y="121966"/>
                  <a:pt x="58408" y="112876"/>
                </a:cubicBezTo>
                <a:cubicBezTo>
                  <a:pt x="52049" y="111217"/>
                  <a:pt x="45137" y="108694"/>
                  <a:pt x="38397" y="104893"/>
                </a:cubicBezTo>
                <a:cubicBezTo>
                  <a:pt x="19700" y="94421"/>
                  <a:pt x="2834" y="74686"/>
                  <a:pt x="415" y="39261"/>
                </a:cubicBezTo>
                <a:cubicBezTo>
                  <a:pt x="-242" y="29550"/>
                  <a:pt x="7673" y="22084"/>
                  <a:pt x="16693" y="22084"/>
                </a:cubicBezTo>
                <a:lnTo>
                  <a:pt x="33835" y="22084"/>
                </a:lnTo>
                <a:cubicBezTo>
                  <a:pt x="33731" y="20287"/>
                  <a:pt x="33662" y="18490"/>
                  <a:pt x="33593" y="16624"/>
                </a:cubicBezTo>
                <a:cubicBezTo>
                  <a:pt x="33248" y="7465"/>
                  <a:pt x="40713" y="-35"/>
                  <a:pt x="49871" y="-35"/>
                </a:cubicBezTo>
                <a:close/>
                <a:moveTo>
                  <a:pt x="35079" y="38708"/>
                </a:moveTo>
                <a:lnTo>
                  <a:pt x="16969" y="38708"/>
                </a:lnTo>
                <a:cubicBezTo>
                  <a:pt x="19112" y="67981"/>
                  <a:pt x="32556" y="82635"/>
                  <a:pt x="46415" y="90411"/>
                </a:cubicBezTo>
                <a:cubicBezTo>
                  <a:pt x="41439" y="77520"/>
                  <a:pt x="37326" y="60689"/>
                  <a:pt x="35079" y="38708"/>
                </a:cubicBezTo>
                <a:close/>
                <a:moveTo>
                  <a:pt x="131332" y="88753"/>
                </a:moveTo>
                <a:cubicBezTo>
                  <a:pt x="145329" y="80527"/>
                  <a:pt x="157978" y="65908"/>
                  <a:pt x="160121" y="38708"/>
                </a:cubicBezTo>
                <a:lnTo>
                  <a:pt x="142046" y="38708"/>
                </a:lnTo>
                <a:cubicBezTo>
                  <a:pt x="139903" y="59756"/>
                  <a:pt x="136032" y="76103"/>
                  <a:pt x="131332" y="88753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8" name="Text 6"/>
          <p:cNvSpPr/>
          <p:nvPr/>
        </p:nvSpPr>
        <p:spPr>
          <a:xfrm>
            <a:off x="969698" y="1482864"/>
            <a:ext cx="1397922" cy="2477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93" b="1" dirty="0">
                <a:solidFill>
                  <a:srgbClr val="D4A2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SVM Dominance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09622" y="1889854"/>
            <a:ext cx="5361649" cy="920151"/>
          </a:xfrm>
          <a:prstGeom prst="roundRect">
            <a:avLst>
              <a:gd name="adj" fmla="val 7692"/>
            </a:avLst>
          </a:prstGeom>
          <a:solidFill>
            <a:srgbClr val="1A1D21">
              <a:alpha val="6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615793" y="1996025"/>
            <a:ext cx="5220087" cy="2123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5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Classification Benchmark Results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15793" y="2279148"/>
            <a:ext cx="5220087" cy="4246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5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</a:t>
            </a:r>
            <a:r>
              <a:rPr lang="en-US" sz="1115" b="1" dirty="0">
                <a:solidFill>
                  <a:srgbClr val="D4A2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Live Linear SVM universally outperformed</a:t>
            </a:r>
            <a:r>
              <a:rPr lang="en-US" sz="1115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Multinomial Naive Bayes across raw accuracy metrics on journalistic texts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09622" y="2916176"/>
            <a:ext cx="5361649" cy="920151"/>
          </a:xfrm>
          <a:prstGeom prst="roundRect">
            <a:avLst>
              <a:gd name="adj" fmla="val 7692"/>
            </a:avLst>
          </a:prstGeom>
          <a:solidFill>
            <a:srgbClr val="1A1D21">
              <a:alpha val="6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615793" y="3022347"/>
            <a:ext cx="5220087" cy="2123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5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Validation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15793" y="3305470"/>
            <a:ext cx="5220087" cy="4246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5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Confirmed as the </a:t>
            </a:r>
            <a:r>
              <a:rPr lang="en-US" sz="1115" b="1" dirty="0">
                <a:solidFill>
                  <a:srgbClr val="D4A2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offline category predictor of choice</a:t>
            </a:r>
            <a:r>
              <a:rPr lang="en-US" sz="1115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Sports, Business, Tech classification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09622" y="3942498"/>
            <a:ext cx="5361649" cy="920151"/>
          </a:xfrm>
          <a:prstGeom prst="roundRect">
            <a:avLst>
              <a:gd name="adj" fmla="val 7692"/>
            </a:avLst>
          </a:prstGeom>
          <a:solidFill>
            <a:srgbClr val="1A1D21">
              <a:alpha val="6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615793" y="4048669"/>
            <a:ext cx="5220087" cy="2123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5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Live Confidence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15793" y="4331793"/>
            <a:ext cx="5220087" cy="4246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5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UI displays real-time confidence interval progress bars for unknown string classifications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57443" y="5786339"/>
            <a:ext cx="5660698" cy="1068791"/>
          </a:xfrm>
          <a:prstGeom prst="roundRect">
            <a:avLst>
              <a:gd name="adj" fmla="val 6623"/>
            </a:avLst>
          </a:prstGeom>
          <a:solidFill>
            <a:srgbClr val="4A5568">
              <a:alpha val="14902"/>
            </a:srgbClr>
          </a:solidFill>
          <a:ln w="10160">
            <a:solidFill>
              <a:srgbClr val="D4A26A">
                <a:alpha val="30196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24663" y="5975676"/>
            <a:ext cx="159257" cy="159257"/>
          </a:xfrm>
          <a:custGeom>
            <a:avLst/>
            <a:gdLst/>
            <a:ahLst/>
            <a:cxnLst/>
            <a:rect l="l" t="t" r="r" b="b"/>
            <a:pathLst>
              <a:path w="159257" h="159257">
                <a:moveTo>
                  <a:pt x="19907" y="19907"/>
                </a:moveTo>
                <a:cubicBezTo>
                  <a:pt x="19907" y="14402"/>
                  <a:pt x="15459" y="9954"/>
                  <a:pt x="9954" y="9954"/>
                </a:cubicBezTo>
                <a:cubicBezTo>
                  <a:pt x="4448" y="9954"/>
                  <a:pt x="0" y="14402"/>
                  <a:pt x="0" y="19907"/>
                </a:cubicBezTo>
                <a:lnTo>
                  <a:pt x="0" y="124419"/>
                </a:lnTo>
                <a:cubicBezTo>
                  <a:pt x="0" y="138168"/>
                  <a:pt x="11136" y="149303"/>
                  <a:pt x="24884" y="149303"/>
                </a:cubicBezTo>
                <a:lnTo>
                  <a:pt x="149303" y="149303"/>
                </a:lnTo>
                <a:cubicBezTo>
                  <a:pt x="154809" y="149303"/>
                  <a:pt x="159257" y="144855"/>
                  <a:pt x="159257" y="139350"/>
                </a:cubicBezTo>
                <a:cubicBezTo>
                  <a:pt x="159257" y="133844"/>
                  <a:pt x="154809" y="129396"/>
                  <a:pt x="149303" y="129396"/>
                </a:cubicBezTo>
                <a:lnTo>
                  <a:pt x="24884" y="129396"/>
                </a:lnTo>
                <a:cubicBezTo>
                  <a:pt x="22147" y="129396"/>
                  <a:pt x="19907" y="127157"/>
                  <a:pt x="19907" y="124419"/>
                </a:cubicBezTo>
                <a:lnTo>
                  <a:pt x="19907" y="19907"/>
                </a:lnTo>
                <a:close/>
                <a:moveTo>
                  <a:pt x="146379" y="46844"/>
                </a:moveTo>
                <a:cubicBezTo>
                  <a:pt x="150268" y="42956"/>
                  <a:pt x="150268" y="36642"/>
                  <a:pt x="146379" y="32753"/>
                </a:cubicBezTo>
                <a:cubicBezTo>
                  <a:pt x="142491" y="28865"/>
                  <a:pt x="136177" y="28865"/>
                  <a:pt x="132289" y="32753"/>
                </a:cubicBezTo>
                <a:lnTo>
                  <a:pt x="99536" y="65538"/>
                </a:lnTo>
                <a:lnTo>
                  <a:pt x="81681" y="47715"/>
                </a:lnTo>
                <a:cubicBezTo>
                  <a:pt x="77793" y="43827"/>
                  <a:pt x="71479" y="43827"/>
                  <a:pt x="67591" y="47715"/>
                </a:cubicBezTo>
                <a:lnTo>
                  <a:pt x="37730" y="77576"/>
                </a:lnTo>
                <a:cubicBezTo>
                  <a:pt x="33842" y="81464"/>
                  <a:pt x="33842" y="87778"/>
                  <a:pt x="37730" y="91666"/>
                </a:cubicBezTo>
                <a:cubicBezTo>
                  <a:pt x="41618" y="95554"/>
                  <a:pt x="47933" y="95554"/>
                  <a:pt x="51821" y="91666"/>
                </a:cubicBezTo>
                <a:lnTo>
                  <a:pt x="74652" y="68835"/>
                </a:lnTo>
                <a:lnTo>
                  <a:pt x="92506" y="86689"/>
                </a:lnTo>
                <a:cubicBezTo>
                  <a:pt x="96394" y="90577"/>
                  <a:pt x="102708" y="90577"/>
                  <a:pt x="106596" y="86689"/>
                </a:cubicBezTo>
                <a:lnTo>
                  <a:pt x="146411" y="46875"/>
                </a:lnTo>
                <a:close/>
              </a:path>
            </a:pathLst>
          </a:custGeom>
          <a:solidFill>
            <a:srgbClr val="D4A26A"/>
          </a:solidFill>
          <a:ln/>
        </p:spPr>
      </p:sp>
      <p:sp>
        <p:nvSpPr>
          <p:cNvPr id="20" name="Text 18"/>
          <p:cNvSpPr/>
          <p:nvPr/>
        </p:nvSpPr>
        <p:spPr>
          <a:xfrm>
            <a:off x="706039" y="5931438"/>
            <a:ext cx="5246630" cy="2477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4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Silhouette Score Validation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02544" y="6285342"/>
            <a:ext cx="5441277" cy="4246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5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Rigorous silhouette score validations performed on clustering boundaries to measure mathematical isolation quality and confirm optimal cluster count.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169325" y="1277594"/>
            <a:ext cx="5660698" cy="3723072"/>
          </a:xfrm>
          <a:prstGeom prst="roundRect">
            <a:avLst>
              <a:gd name="adj" fmla="val 1901"/>
            </a:avLst>
          </a:prstGeom>
          <a:solidFill>
            <a:srgbClr val="4A5568">
              <a:alpha val="14902"/>
            </a:srgbClr>
          </a:solidFill>
          <a:ln w="10160">
            <a:solidFill>
              <a:srgbClr val="6B7A8F">
                <a:alpha val="30196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314425" y="1422693"/>
            <a:ext cx="353904" cy="353904"/>
          </a:xfrm>
          <a:prstGeom prst="roundRect">
            <a:avLst>
              <a:gd name="adj" fmla="val 20000"/>
            </a:avLst>
          </a:prstGeom>
          <a:solidFill>
            <a:srgbClr val="6B7A8F">
              <a:alpha val="2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6402901" y="1511169"/>
            <a:ext cx="176952" cy="176952"/>
          </a:xfrm>
          <a:custGeom>
            <a:avLst/>
            <a:gdLst/>
            <a:ahLst/>
            <a:cxnLst/>
            <a:rect l="l" t="t" r="r" b="b"/>
            <a:pathLst>
              <a:path w="176952" h="176952">
                <a:moveTo>
                  <a:pt x="0" y="27649"/>
                </a:moveTo>
                <a:cubicBezTo>
                  <a:pt x="0" y="18490"/>
                  <a:pt x="7431" y="11060"/>
                  <a:pt x="16589" y="11060"/>
                </a:cubicBezTo>
                <a:lnTo>
                  <a:pt x="49768" y="11060"/>
                </a:lnTo>
                <a:cubicBezTo>
                  <a:pt x="58926" y="11060"/>
                  <a:pt x="66357" y="18490"/>
                  <a:pt x="66357" y="27649"/>
                </a:cubicBezTo>
                <a:lnTo>
                  <a:pt x="66357" y="33179"/>
                </a:lnTo>
                <a:lnTo>
                  <a:pt x="110595" y="33179"/>
                </a:lnTo>
                <a:lnTo>
                  <a:pt x="110595" y="27649"/>
                </a:lnTo>
                <a:cubicBezTo>
                  <a:pt x="110595" y="18490"/>
                  <a:pt x="118026" y="11060"/>
                  <a:pt x="127184" y="11060"/>
                </a:cubicBezTo>
                <a:lnTo>
                  <a:pt x="160363" y="11060"/>
                </a:lnTo>
                <a:cubicBezTo>
                  <a:pt x="169521" y="11060"/>
                  <a:pt x="176952" y="18490"/>
                  <a:pt x="176952" y="27649"/>
                </a:cubicBezTo>
                <a:lnTo>
                  <a:pt x="176952" y="60827"/>
                </a:lnTo>
                <a:cubicBezTo>
                  <a:pt x="176952" y="69986"/>
                  <a:pt x="169521" y="77417"/>
                  <a:pt x="160363" y="77417"/>
                </a:cubicBezTo>
                <a:lnTo>
                  <a:pt x="127184" y="77417"/>
                </a:lnTo>
                <a:cubicBezTo>
                  <a:pt x="118026" y="77417"/>
                  <a:pt x="110595" y="69986"/>
                  <a:pt x="110595" y="60827"/>
                </a:cubicBezTo>
                <a:lnTo>
                  <a:pt x="110595" y="55298"/>
                </a:lnTo>
                <a:lnTo>
                  <a:pt x="66357" y="55298"/>
                </a:lnTo>
                <a:lnTo>
                  <a:pt x="66357" y="60827"/>
                </a:lnTo>
                <a:cubicBezTo>
                  <a:pt x="66357" y="63350"/>
                  <a:pt x="65770" y="65770"/>
                  <a:pt x="64767" y="67912"/>
                </a:cubicBezTo>
                <a:lnTo>
                  <a:pt x="88476" y="99536"/>
                </a:lnTo>
                <a:lnTo>
                  <a:pt x="116125" y="99536"/>
                </a:lnTo>
                <a:cubicBezTo>
                  <a:pt x="125283" y="99536"/>
                  <a:pt x="132714" y="106966"/>
                  <a:pt x="132714" y="116125"/>
                </a:cubicBezTo>
                <a:lnTo>
                  <a:pt x="132714" y="149303"/>
                </a:lnTo>
                <a:cubicBezTo>
                  <a:pt x="132714" y="158462"/>
                  <a:pt x="125283" y="165893"/>
                  <a:pt x="116125" y="165893"/>
                </a:cubicBezTo>
                <a:lnTo>
                  <a:pt x="82946" y="165893"/>
                </a:lnTo>
                <a:cubicBezTo>
                  <a:pt x="73788" y="165893"/>
                  <a:pt x="66357" y="158462"/>
                  <a:pt x="66357" y="149303"/>
                </a:cubicBezTo>
                <a:lnTo>
                  <a:pt x="66357" y="116125"/>
                </a:lnTo>
                <a:cubicBezTo>
                  <a:pt x="66357" y="113602"/>
                  <a:pt x="66945" y="111183"/>
                  <a:pt x="67947" y="109040"/>
                </a:cubicBezTo>
                <a:lnTo>
                  <a:pt x="44238" y="77417"/>
                </a:lnTo>
                <a:lnTo>
                  <a:pt x="16589" y="77417"/>
                </a:lnTo>
                <a:cubicBezTo>
                  <a:pt x="7431" y="77417"/>
                  <a:pt x="0" y="69986"/>
                  <a:pt x="0" y="60827"/>
                </a:cubicBezTo>
                <a:lnTo>
                  <a:pt x="0" y="27649"/>
                </a:lnTo>
                <a:close/>
              </a:path>
            </a:pathLst>
          </a:custGeom>
          <a:solidFill>
            <a:srgbClr val="6B7A8F"/>
          </a:solidFill>
          <a:ln/>
        </p:spPr>
      </p:sp>
      <p:sp>
        <p:nvSpPr>
          <p:cNvPr id="25" name="Text 23"/>
          <p:cNvSpPr/>
          <p:nvPr/>
        </p:nvSpPr>
        <p:spPr>
          <a:xfrm>
            <a:off x="6774501" y="1475779"/>
            <a:ext cx="2300377" cy="2477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93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FP-Growth Lift Identification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314425" y="1882769"/>
            <a:ext cx="5370496" cy="920151"/>
          </a:xfrm>
          <a:prstGeom prst="roundRect">
            <a:avLst>
              <a:gd name="adj" fmla="val 7692"/>
            </a:avLst>
          </a:prstGeom>
          <a:solidFill>
            <a:srgbClr val="1A1D21">
              <a:alpha val="6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6420597" y="1988940"/>
            <a:ext cx="5228935" cy="2123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5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Lift Threshold Optimization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420597" y="2272063"/>
            <a:ext cx="5228935" cy="4246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5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Standard support metric thresholding completely skewed relevant rules; incorporated </a:t>
            </a:r>
            <a:r>
              <a:rPr lang="en-US" sz="1115" b="1" dirty="0">
                <a:solidFill>
                  <a:srgbClr val="6B7A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Lift &gt; 1.25</a:t>
            </a:r>
            <a:r>
              <a:rPr lang="en-US" sz="1115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meaningful correlations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314425" y="2909091"/>
            <a:ext cx="5370496" cy="920151"/>
          </a:xfrm>
          <a:prstGeom prst="roundRect">
            <a:avLst>
              <a:gd name="adj" fmla="val 7692"/>
            </a:avLst>
          </a:prstGeom>
          <a:solidFill>
            <a:srgbClr val="1A1D21">
              <a:alpha val="60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6420597" y="3015262"/>
            <a:ext cx="5228935" cy="2123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5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Autonomous Discovery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420597" y="3298385"/>
            <a:ext cx="5228935" cy="4246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5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Module mathematically draws connections autonomously — e.g., </a:t>
            </a:r>
            <a:r>
              <a:rPr lang="en-US" sz="1115" b="1" dirty="0">
                <a:solidFill>
                  <a:srgbClr val="6B7A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World Events → Technical Market adjustments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314425" y="3935413"/>
            <a:ext cx="5370496" cy="920151"/>
          </a:xfrm>
          <a:prstGeom prst="roundRect">
            <a:avLst>
              <a:gd name="adj" fmla="val 7692"/>
            </a:avLst>
          </a:prstGeom>
          <a:solidFill>
            <a:srgbClr val="1A1D21">
              <a:alpha val="60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6420597" y="4041584"/>
            <a:ext cx="5228935" cy="2123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5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Pattern Examples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420597" y="4324708"/>
            <a:ext cx="5228935" cy="4246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5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Successfully extracts latent pattern connections with measured Lift correlations (e.g., "Inflation" → "Global Oil Prices")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169325" y="5149311"/>
            <a:ext cx="5660698" cy="1705818"/>
          </a:xfrm>
          <a:prstGeom prst="roundRect">
            <a:avLst>
              <a:gd name="adj" fmla="val 4149"/>
            </a:avLst>
          </a:prstGeom>
          <a:solidFill>
            <a:srgbClr val="D4A26A">
              <a:alpha val="10196"/>
            </a:srgbClr>
          </a:solidFill>
          <a:ln w="10160">
            <a:solidFill>
              <a:srgbClr val="D4A26A">
                <a:alpha val="30196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356451" y="5338648"/>
            <a:ext cx="119443" cy="159257"/>
          </a:xfrm>
          <a:custGeom>
            <a:avLst/>
            <a:gdLst/>
            <a:ahLst/>
            <a:cxnLst/>
            <a:rect l="l" t="t" r="r" b="b"/>
            <a:pathLst>
              <a:path w="119443" h="159257">
                <a:moveTo>
                  <a:pt x="77731" y="20778"/>
                </a:moveTo>
                <a:cubicBezTo>
                  <a:pt x="80966" y="16330"/>
                  <a:pt x="79971" y="10109"/>
                  <a:pt x="75523" y="6874"/>
                </a:cubicBezTo>
                <a:cubicBezTo>
                  <a:pt x="71075" y="3639"/>
                  <a:pt x="64854" y="4635"/>
                  <a:pt x="61619" y="9083"/>
                </a:cubicBezTo>
                <a:lnTo>
                  <a:pt x="28648" y="54402"/>
                </a:lnTo>
                <a:lnTo>
                  <a:pt x="16983" y="42738"/>
                </a:lnTo>
                <a:cubicBezTo>
                  <a:pt x="13095" y="38850"/>
                  <a:pt x="6781" y="38850"/>
                  <a:pt x="2893" y="42738"/>
                </a:cubicBezTo>
                <a:cubicBezTo>
                  <a:pt x="-995" y="46626"/>
                  <a:pt x="-995" y="52940"/>
                  <a:pt x="2893" y="56829"/>
                </a:cubicBezTo>
                <a:lnTo>
                  <a:pt x="22800" y="76736"/>
                </a:lnTo>
                <a:cubicBezTo>
                  <a:pt x="24853" y="78789"/>
                  <a:pt x="27714" y="79846"/>
                  <a:pt x="30607" y="79628"/>
                </a:cubicBezTo>
                <a:cubicBezTo>
                  <a:pt x="33500" y="79411"/>
                  <a:pt x="36175" y="77918"/>
                  <a:pt x="37886" y="75554"/>
                </a:cubicBezTo>
                <a:lnTo>
                  <a:pt x="77700" y="20809"/>
                </a:lnTo>
                <a:close/>
                <a:moveTo>
                  <a:pt x="117545" y="63081"/>
                </a:moveTo>
                <a:cubicBezTo>
                  <a:pt x="120780" y="58633"/>
                  <a:pt x="119785" y="52412"/>
                  <a:pt x="115337" y="49177"/>
                </a:cubicBezTo>
                <a:cubicBezTo>
                  <a:pt x="110889" y="45942"/>
                  <a:pt x="104668" y="46937"/>
                  <a:pt x="101433" y="51385"/>
                </a:cubicBezTo>
                <a:lnTo>
                  <a:pt x="48555" y="124077"/>
                </a:lnTo>
                <a:lnTo>
                  <a:pt x="26937" y="102459"/>
                </a:lnTo>
                <a:cubicBezTo>
                  <a:pt x="23049" y="98571"/>
                  <a:pt x="16734" y="98571"/>
                  <a:pt x="12846" y="102459"/>
                </a:cubicBezTo>
                <a:cubicBezTo>
                  <a:pt x="8958" y="106348"/>
                  <a:pt x="8958" y="112662"/>
                  <a:pt x="12846" y="116550"/>
                </a:cubicBezTo>
                <a:lnTo>
                  <a:pt x="42707" y="146411"/>
                </a:lnTo>
                <a:cubicBezTo>
                  <a:pt x="44760" y="148464"/>
                  <a:pt x="47622" y="149521"/>
                  <a:pt x="50514" y="149303"/>
                </a:cubicBezTo>
                <a:cubicBezTo>
                  <a:pt x="53407" y="149086"/>
                  <a:pt x="56082" y="147593"/>
                  <a:pt x="57793" y="145229"/>
                </a:cubicBezTo>
                <a:lnTo>
                  <a:pt x="117514" y="63112"/>
                </a:lnTo>
                <a:close/>
              </a:path>
            </a:pathLst>
          </a:custGeom>
          <a:solidFill>
            <a:srgbClr val="D4A26A"/>
          </a:solidFill>
          <a:ln/>
        </p:spPr>
      </p:sp>
      <p:sp>
        <p:nvSpPr>
          <p:cNvPr id="37" name="Text 35"/>
          <p:cNvSpPr/>
          <p:nvPr/>
        </p:nvSpPr>
        <p:spPr>
          <a:xfrm>
            <a:off x="6517920" y="5294410"/>
            <a:ext cx="5246630" cy="2477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4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System Validation Summary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340968" y="5683705"/>
            <a:ext cx="123866" cy="141562"/>
          </a:xfrm>
          <a:custGeom>
            <a:avLst/>
            <a:gdLst/>
            <a:ahLst/>
            <a:cxnLst/>
            <a:rect l="l" t="t" r="r" b="b"/>
            <a:pathLst>
              <a:path w="123866" h="141562">
                <a:moveTo>
                  <a:pt x="120217" y="19382"/>
                </a:moveTo>
                <a:cubicBezTo>
                  <a:pt x="124171" y="22257"/>
                  <a:pt x="125055" y="27787"/>
                  <a:pt x="122180" y="31741"/>
                </a:cubicBezTo>
                <a:lnTo>
                  <a:pt x="51399" y="129064"/>
                </a:lnTo>
                <a:cubicBezTo>
                  <a:pt x="49878" y="131166"/>
                  <a:pt x="47528" y="132465"/>
                  <a:pt x="44929" y="132686"/>
                </a:cubicBezTo>
                <a:cubicBezTo>
                  <a:pt x="42330" y="132908"/>
                  <a:pt x="39814" y="131940"/>
                  <a:pt x="37989" y="130115"/>
                </a:cubicBezTo>
                <a:lnTo>
                  <a:pt x="2599" y="94725"/>
                </a:lnTo>
                <a:cubicBezTo>
                  <a:pt x="-857" y="91269"/>
                  <a:pt x="-857" y="85656"/>
                  <a:pt x="2599" y="82200"/>
                </a:cubicBezTo>
                <a:cubicBezTo>
                  <a:pt x="6055" y="78744"/>
                  <a:pt x="11668" y="78744"/>
                  <a:pt x="15124" y="82200"/>
                </a:cubicBezTo>
                <a:lnTo>
                  <a:pt x="43187" y="110263"/>
                </a:lnTo>
                <a:lnTo>
                  <a:pt x="107885" y="21317"/>
                </a:lnTo>
                <a:cubicBezTo>
                  <a:pt x="110761" y="17363"/>
                  <a:pt x="116291" y="16479"/>
                  <a:pt x="120244" y="19354"/>
                </a:cubicBezTo>
                <a:close/>
              </a:path>
            </a:pathLst>
          </a:custGeom>
          <a:solidFill>
            <a:srgbClr val="D4A26A"/>
          </a:solidFill>
          <a:ln/>
        </p:spPr>
      </p:sp>
      <p:sp>
        <p:nvSpPr>
          <p:cNvPr id="39" name="Text 37"/>
          <p:cNvSpPr/>
          <p:nvPr/>
        </p:nvSpPr>
        <p:spPr>
          <a:xfrm>
            <a:off x="6562158" y="5648315"/>
            <a:ext cx="3468261" cy="2123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5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SVM outperforms Naive Bayes across all text categories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340968" y="5966828"/>
            <a:ext cx="123866" cy="141562"/>
          </a:xfrm>
          <a:custGeom>
            <a:avLst/>
            <a:gdLst/>
            <a:ahLst/>
            <a:cxnLst/>
            <a:rect l="l" t="t" r="r" b="b"/>
            <a:pathLst>
              <a:path w="123866" h="141562">
                <a:moveTo>
                  <a:pt x="120217" y="19382"/>
                </a:moveTo>
                <a:cubicBezTo>
                  <a:pt x="124171" y="22257"/>
                  <a:pt x="125055" y="27787"/>
                  <a:pt x="122180" y="31741"/>
                </a:cubicBezTo>
                <a:lnTo>
                  <a:pt x="51399" y="129064"/>
                </a:lnTo>
                <a:cubicBezTo>
                  <a:pt x="49878" y="131166"/>
                  <a:pt x="47528" y="132465"/>
                  <a:pt x="44929" y="132686"/>
                </a:cubicBezTo>
                <a:cubicBezTo>
                  <a:pt x="42330" y="132908"/>
                  <a:pt x="39814" y="131940"/>
                  <a:pt x="37989" y="130115"/>
                </a:cubicBezTo>
                <a:lnTo>
                  <a:pt x="2599" y="94725"/>
                </a:lnTo>
                <a:cubicBezTo>
                  <a:pt x="-857" y="91269"/>
                  <a:pt x="-857" y="85656"/>
                  <a:pt x="2599" y="82200"/>
                </a:cubicBezTo>
                <a:cubicBezTo>
                  <a:pt x="6055" y="78744"/>
                  <a:pt x="11668" y="78744"/>
                  <a:pt x="15124" y="82200"/>
                </a:cubicBezTo>
                <a:lnTo>
                  <a:pt x="43187" y="110263"/>
                </a:lnTo>
                <a:lnTo>
                  <a:pt x="107885" y="21317"/>
                </a:lnTo>
                <a:cubicBezTo>
                  <a:pt x="110761" y="17363"/>
                  <a:pt x="116291" y="16479"/>
                  <a:pt x="120244" y="19354"/>
                </a:cubicBezTo>
                <a:close/>
              </a:path>
            </a:pathLst>
          </a:custGeom>
          <a:solidFill>
            <a:srgbClr val="D4A26A"/>
          </a:solidFill>
          <a:ln/>
        </p:spPr>
      </p:sp>
      <p:sp>
        <p:nvSpPr>
          <p:cNvPr id="41" name="Text 39"/>
          <p:cNvSpPr/>
          <p:nvPr/>
        </p:nvSpPr>
        <p:spPr>
          <a:xfrm>
            <a:off x="6562158" y="5931438"/>
            <a:ext cx="3910642" cy="2123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5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FP-Growth discovers meaningful associations without crashing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340968" y="6249952"/>
            <a:ext cx="123866" cy="141562"/>
          </a:xfrm>
          <a:custGeom>
            <a:avLst/>
            <a:gdLst/>
            <a:ahLst/>
            <a:cxnLst/>
            <a:rect l="l" t="t" r="r" b="b"/>
            <a:pathLst>
              <a:path w="123866" h="141562">
                <a:moveTo>
                  <a:pt x="120217" y="19382"/>
                </a:moveTo>
                <a:cubicBezTo>
                  <a:pt x="124171" y="22257"/>
                  <a:pt x="125055" y="27787"/>
                  <a:pt x="122180" y="31741"/>
                </a:cubicBezTo>
                <a:lnTo>
                  <a:pt x="51399" y="129064"/>
                </a:lnTo>
                <a:cubicBezTo>
                  <a:pt x="49878" y="131166"/>
                  <a:pt x="47528" y="132465"/>
                  <a:pt x="44929" y="132686"/>
                </a:cubicBezTo>
                <a:cubicBezTo>
                  <a:pt x="42330" y="132908"/>
                  <a:pt x="39814" y="131940"/>
                  <a:pt x="37989" y="130115"/>
                </a:cubicBezTo>
                <a:lnTo>
                  <a:pt x="2599" y="94725"/>
                </a:lnTo>
                <a:cubicBezTo>
                  <a:pt x="-857" y="91269"/>
                  <a:pt x="-857" y="85656"/>
                  <a:pt x="2599" y="82200"/>
                </a:cubicBezTo>
                <a:cubicBezTo>
                  <a:pt x="6055" y="78744"/>
                  <a:pt x="11668" y="78744"/>
                  <a:pt x="15124" y="82200"/>
                </a:cubicBezTo>
                <a:lnTo>
                  <a:pt x="43187" y="110263"/>
                </a:lnTo>
                <a:lnTo>
                  <a:pt x="107885" y="21317"/>
                </a:lnTo>
                <a:cubicBezTo>
                  <a:pt x="110761" y="17363"/>
                  <a:pt x="116291" y="16479"/>
                  <a:pt x="120244" y="19354"/>
                </a:cubicBezTo>
                <a:close/>
              </a:path>
            </a:pathLst>
          </a:custGeom>
          <a:solidFill>
            <a:srgbClr val="D4A26A"/>
          </a:solidFill>
          <a:ln/>
        </p:spPr>
      </p:sp>
      <p:sp>
        <p:nvSpPr>
          <p:cNvPr id="43" name="Text 41"/>
          <p:cNvSpPr/>
          <p:nvPr/>
        </p:nvSpPr>
        <p:spPr>
          <a:xfrm>
            <a:off x="6562158" y="6214561"/>
            <a:ext cx="3362090" cy="2123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5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Bisecting K-Means achieves validated cluster isolation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340968" y="6533075"/>
            <a:ext cx="123866" cy="141562"/>
          </a:xfrm>
          <a:custGeom>
            <a:avLst/>
            <a:gdLst/>
            <a:ahLst/>
            <a:cxnLst/>
            <a:rect l="l" t="t" r="r" b="b"/>
            <a:pathLst>
              <a:path w="123866" h="141562">
                <a:moveTo>
                  <a:pt x="120217" y="19382"/>
                </a:moveTo>
                <a:cubicBezTo>
                  <a:pt x="124171" y="22257"/>
                  <a:pt x="125055" y="27787"/>
                  <a:pt x="122180" y="31741"/>
                </a:cubicBezTo>
                <a:lnTo>
                  <a:pt x="51399" y="129064"/>
                </a:lnTo>
                <a:cubicBezTo>
                  <a:pt x="49878" y="131166"/>
                  <a:pt x="47528" y="132465"/>
                  <a:pt x="44929" y="132686"/>
                </a:cubicBezTo>
                <a:cubicBezTo>
                  <a:pt x="42330" y="132908"/>
                  <a:pt x="39814" y="131940"/>
                  <a:pt x="37989" y="130115"/>
                </a:cubicBezTo>
                <a:lnTo>
                  <a:pt x="2599" y="94725"/>
                </a:lnTo>
                <a:cubicBezTo>
                  <a:pt x="-857" y="91269"/>
                  <a:pt x="-857" y="85656"/>
                  <a:pt x="2599" y="82200"/>
                </a:cubicBezTo>
                <a:cubicBezTo>
                  <a:pt x="6055" y="78744"/>
                  <a:pt x="11668" y="78744"/>
                  <a:pt x="15124" y="82200"/>
                </a:cubicBezTo>
                <a:lnTo>
                  <a:pt x="43187" y="110263"/>
                </a:lnTo>
                <a:lnTo>
                  <a:pt x="107885" y="21317"/>
                </a:lnTo>
                <a:cubicBezTo>
                  <a:pt x="110761" y="17363"/>
                  <a:pt x="116291" y="16479"/>
                  <a:pt x="120244" y="19354"/>
                </a:cubicBezTo>
                <a:close/>
              </a:path>
            </a:pathLst>
          </a:custGeom>
          <a:solidFill>
            <a:srgbClr val="D4A26A"/>
          </a:solidFill>
          <a:ln/>
        </p:spPr>
      </p:sp>
      <p:sp>
        <p:nvSpPr>
          <p:cNvPr id="45" name="Text 43"/>
          <p:cNvSpPr/>
          <p:nvPr/>
        </p:nvSpPr>
        <p:spPr>
          <a:xfrm>
            <a:off x="6562158" y="6497685"/>
            <a:ext cx="3309004" cy="2123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5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PCA visualization enables intuitive cluster exploration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4945" y="334945"/>
            <a:ext cx="11589099" cy="2009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5" b="1" kern="0" spc="53" dirty="0">
                <a:solidFill>
                  <a:srgbClr val="D4A2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CONCLUSION &amp; FUTURE SCOPE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34945" y="602901"/>
            <a:ext cx="11672835" cy="3349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374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Conclusion &amp; Future Scope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34945" y="1038330"/>
            <a:ext cx="803868" cy="33495"/>
          </a:xfrm>
          <a:prstGeom prst="roundRect">
            <a:avLst>
              <a:gd name="adj" fmla="val 0"/>
            </a:avLst>
          </a:prstGeom>
          <a:solidFill>
            <a:srgbClr val="D4A26A"/>
          </a:solidFill>
          <a:ln/>
        </p:spPr>
      </p:sp>
      <p:sp>
        <p:nvSpPr>
          <p:cNvPr id="5" name="Shape 3"/>
          <p:cNvSpPr/>
          <p:nvPr/>
        </p:nvSpPr>
        <p:spPr>
          <a:xfrm>
            <a:off x="341644" y="1212501"/>
            <a:ext cx="5682343" cy="3027903"/>
          </a:xfrm>
          <a:prstGeom prst="roundRect">
            <a:avLst>
              <a:gd name="adj" fmla="val 2212"/>
            </a:avLst>
          </a:prstGeom>
          <a:gradFill flip="none" rotWithShape="1">
            <a:gsLst>
              <a:gs pos="0">
                <a:srgbClr val="D4A26A">
                  <a:alpha val="20000"/>
                </a:srgbClr>
              </a:gs>
              <a:gs pos="100000">
                <a:srgbClr val="6B7A8F">
                  <a:alpha val="20000"/>
                </a:srgbClr>
              </a:gs>
            </a:gsLst>
            <a:lin ang="2700000" scaled="1"/>
          </a:gradFill>
          <a:ln w="20320">
            <a:solidFill>
              <a:srgbClr val="D4A26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15815" y="1386677"/>
            <a:ext cx="401934" cy="401934"/>
          </a:xfrm>
          <a:prstGeom prst="roundRect">
            <a:avLst>
              <a:gd name="adj" fmla="val 16667"/>
            </a:avLst>
          </a:prstGeom>
          <a:solidFill>
            <a:srgbClr val="D4A26A"/>
          </a:solidFill>
          <a:ln/>
        </p:spPr>
      </p:sp>
      <p:sp>
        <p:nvSpPr>
          <p:cNvPr id="7" name="Shape 5"/>
          <p:cNvSpPr/>
          <p:nvPr/>
        </p:nvSpPr>
        <p:spPr>
          <a:xfrm>
            <a:off x="616299" y="1487161"/>
            <a:ext cx="200967" cy="200967"/>
          </a:xfrm>
          <a:custGeom>
            <a:avLst/>
            <a:gdLst/>
            <a:ahLst/>
            <a:cxnLst/>
            <a:rect l="l" t="t" r="r" b="b"/>
            <a:pathLst>
              <a:path w="200967" h="200967">
                <a:moveTo>
                  <a:pt x="100484" y="200967"/>
                </a:moveTo>
                <a:cubicBezTo>
                  <a:pt x="155942" y="200967"/>
                  <a:pt x="200967" y="155942"/>
                  <a:pt x="200967" y="100484"/>
                </a:cubicBezTo>
                <a:cubicBezTo>
                  <a:pt x="200967" y="45025"/>
                  <a:pt x="155942" y="0"/>
                  <a:pt x="100484" y="0"/>
                </a:cubicBezTo>
                <a:cubicBezTo>
                  <a:pt x="45025" y="0"/>
                  <a:pt x="0" y="45025"/>
                  <a:pt x="0" y="100484"/>
                </a:cubicBezTo>
                <a:cubicBezTo>
                  <a:pt x="0" y="155942"/>
                  <a:pt x="45025" y="200967"/>
                  <a:pt x="100484" y="200967"/>
                </a:cubicBezTo>
                <a:close/>
                <a:moveTo>
                  <a:pt x="133612" y="83488"/>
                </a:moveTo>
                <a:lnTo>
                  <a:pt x="102211" y="133729"/>
                </a:lnTo>
                <a:cubicBezTo>
                  <a:pt x="100562" y="136359"/>
                  <a:pt x="97736" y="138008"/>
                  <a:pt x="94635" y="138165"/>
                </a:cubicBezTo>
                <a:cubicBezTo>
                  <a:pt x="91534" y="138322"/>
                  <a:pt x="88551" y="136909"/>
                  <a:pt x="86706" y="134397"/>
                </a:cubicBezTo>
                <a:lnTo>
                  <a:pt x="67866" y="109276"/>
                </a:lnTo>
                <a:cubicBezTo>
                  <a:pt x="64726" y="105115"/>
                  <a:pt x="65589" y="99227"/>
                  <a:pt x="69750" y="96087"/>
                </a:cubicBezTo>
                <a:cubicBezTo>
                  <a:pt x="73910" y="92947"/>
                  <a:pt x="79798" y="93811"/>
                  <a:pt x="82938" y="97971"/>
                </a:cubicBezTo>
                <a:lnTo>
                  <a:pt x="93536" y="112102"/>
                </a:lnTo>
                <a:lnTo>
                  <a:pt x="117636" y="73518"/>
                </a:lnTo>
                <a:cubicBezTo>
                  <a:pt x="120384" y="69122"/>
                  <a:pt x="126193" y="67748"/>
                  <a:pt x="130629" y="70535"/>
                </a:cubicBezTo>
                <a:cubicBezTo>
                  <a:pt x="135064" y="73322"/>
                  <a:pt x="136399" y="79092"/>
                  <a:pt x="133612" y="83527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8" name="Text 6"/>
          <p:cNvSpPr/>
          <p:nvPr/>
        </p:nvSpPr>
        <p:spPr>
          <a:xfrm>
            <a:off x="1018233" y="1453666"/>
            <a:ext cx="1758462" cy="267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82" b="1" dirty="0">
                <a:solidFill>
                  <a:srgbClr val="D4A2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Project Conclusion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32563" y="1956084"/>
            <a:ext cx="133978" cy="133978"/>
          </a:xfrm>
          <a:custGeom>
            <a:avLst/>
            <a:gdLst/>
            <a:ahLst/>
            <a:cxnLst/>
            <a:rect l="l" t="t" r="r" b="b"/>
            <a:pathLst>
              <a:path w="133978" h="133978">
                <a:moveTo>
                  <a:pt x="131518" y="72903"/>
                </a:moveTo>
                <a:cubicBezTo>
                  <a:pt x="134789" y="69632"/>
                  <a:pt x="134789" y="64320"/>
                  <a:pt x="131518" y="61049"/>
                </a:cubicBezTo>
                <a:lnTo>
                  <a:pt x="89650" y="19181"/>
                </a:lnTo>
                <a:cubicBezTo>
                  <a:pt x="86379" y="15910"/>
                  <a:pt x="81067" y="15910"/>
                  <a:pt x="77796" y="19181"/>
                </a:cubicBezTo>
                <a:cubicBezTo>
                  <a:pt x="74525" y="22452"/>
                  <a:pt x="74525" y="27764"/>
                  <a:pt x="77796" y="31035"/>
                </a:cubicBezTo>
                <a:lnTo>
                  <a:pt x="105377" y="58615"/>
                </a:lnTo>
                <a:lnTo>
                  <a:pt x="8374" y="58615"/>
                </a:lnTo>
                <a:cubicBezTo>
                  <a:pt x="3742" y="58615"/>
                  <a:pt x="0" y="62357"/>
                  <a:pt x="0" y="66989"/>
                </a:cubicBezTo>
                <a:cubicBezTo>
                  <a:pt x="0" y="71621"/>
                  <a:pt x="3742" y="75363"/>
                  <a:pt x="8374" y="75363"/>
                </a:cubicBezTo>
                <a:lnTo>
                  <a:pt x="105377" y="75363"/>
                </a:lnTo>
                <a:lnTo>
                  <a:pt x="77796" y="102943"/>
                </a:lnTo>
                <a:cubicBezTo>
                  <a:pt x="74525" y="106214"/>
                  <a:pt x="74525" y="111526"/>
                  <a:pt x="77796" y="114797"/>
                </a:cubicBezTo>
                <a:cubicBezTo>
                  <a:pt x="81067" y="118068"/>
                  <a:pt x="86379" y="118068"/>
                  <a:pt x="89650" y="114797"/>
                </a:cubicBezTo>
                <a:lnTo>
                  <a:pt x="131518" y="72929"/>
                </a:lnTo>
                <a:close/>
              </a:path>
            </a:pathLst>
          </a:custGeom>
          <a:solidFill>
            <a:srgbClr val="D4A26A"/>
          </a:solidFill>
          <a:ln/>
        </p:spPr>
      </p:sp>
      <p:sp>
        <p:nvSpPr>
          <p:cNvPr id="10" name="Text 8"/>
          <p:cNvSpPr/>
          <p:nvPr/>
        </p:nvSpPr>
        <p:spPr>
          <a:xfrm>
            <a:off x="783771" y="1922590"/>
            <a:ext cx="5133033" cy="435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5" dirty="0">
                <a:solidFill>
                  <a:srgbClr val="E2E8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Successfully implemented both </a:t>
            </a:r>
            <a:r>
              <a:rPr lang="en-US" sz="1055" b="1" dirty="0">
                <a:solidFill>
                  <a:srgbClr val="D4A2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supervised benchmarking algorithms</a:t>
            </a:r>
            <a:r>
              <a:rPr lang="en-US" sz="1055" dirty="0">
                <a:solidFill>
                  <a:srgbClr val="E2E8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(SVM vs Naive Bayes) and </a:t>
            </a:r>
            <a:r>
              <a:rPr lang="en-US" sz="1055" b="1" dirty="0">
                <a:solidFill>
                  <a:srgbClr val="D4A2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unsupervised clustering isolation</a:t>
            </a:r>
            <a:r>
              <a:rPr lang="en-US" sz="1055" dirty="0">
                <a:solidFill>
                  <a:srgbClr val="E2E8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methods (Bisecting K-Means)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32563" y="2525491"/>
            <a:ext cx="133978" cy="133978"/>
          </a:xfrm>
          <a:custGeom>
            <a:avLst/>
            <a:gdLst/>
            <a:ahLst/>
            <a:cxnLst/>
            <a:rect l="l" t="t" r="r" b="b"/>
            <a:pathLst>
              <a:path w="133978" h="133978">
                <a:moveTo>
                  <a:pt x="131518" y="72903"/>
                </a:moveTo>
                <a:cubicBezTo>
                  <a:pt x="134789" y="69632"/>
                  <a:pt x="134789" y="64320"/>
                  <a:pt x="131518" y="61049"/>
                </a:cubicBezTo>
                <a:lnTo>
                  <a:pt x="89650" y="19181"/>
                </a:lnTo>
                <a:cubicBezTo>
                  <a:pt x="86379" y="15910"/>
                  <a:pt x="81067" y="15910"/>
                  <a:pt x="77796" y="19181"/>
                </a:cubicBezTo>
                <a:cubicBezTo>
                  <a:pt x="74525" y="22452"/>
                  <a:pt x="74525" y="27764"/>
                  <a:pt x="77796" y="31035"/>
                </a:cubicBezTo>
                <a:lnTo>
                  <a:pt x="105377" y="58615"/>
                </a:lnTo>
                <a:lnTo>
                  <a:pt x="8374" y="58615"/>
                </a:lnTo>
                <a:cubicBezTo>
                  <a:pt x="3742" y="58615"/>
                  <a:pt x="0" y="62357"/>
                  <a:pt x="0" y="66989"/>
                </a:cubicBezTo>
                <a:cubicBezTo>
                  <a:pt x="0" y="71621"/>
                  <a:pt x="3742" y="75363"/>
                  <a:pt x="8374" y="75363"/>
                </a:cubicBezTo>
                <a:lnTo>
                  <a:pt x="105377" y="75363"/>
                </a:lnTo>
                <a:lnTo>
                  <a:pt x="77796" y="102943"/>
                </a:lnTo>
                <a:cubicBezTo>
                  <a:pt x="74525" y="106214"/>
                  <a:pt x="74525" y="111526"/>
                  <a:pt x="77796" y="114797"/>
                </a:cubicBezTo>
                <a:cubicBezTo>
                  <a:pt x="81067" y="118068"/>
                  <a:pt x="86379" y="118068"/>
                  <a:pt x="89650" y="114797"/>
                </a:cubicBezTo>
                <a:lnTo>
                  <a:pt x="131518" y="72929"/>
                </a:lnTo>
                <a:close/>
              </a:path>
            </a:pathLst>
          </a:custGeom>
          <a:solidFill>
            <a:srgbClr val="D4A26A"/>
          </a:solidFill>
          <a:ln/>
        </p:spPr>
      </p:sp>
      <p:sp>
        <p:nvSpPr>
          <p:cNvPr id="12" name="Text 10"/>
          <p:cNvSpPr/>
          <p:nvPr/>
        </p:nvSpPr>
        <p:spPr>
          <a:xfrm>
            <a:off x="783771" y="2491996"/>
            <a:ext cx="5133033" cy="435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5" dirty="0">
                <a:solidFill>
                  <a:srgbClr val="E2E8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Mining module effortlessly converts previously unused data troves into </a:t>
            </a:r>
            <a:r>
              <a:rPr lang="en-US" sz="1055" b="1" dirty="0">
                <a:solidFill>
                  <a:srgbClr val="D4A2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mathematically verifiable business-intelligence visual graphs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32563" y="3094897"/>
            <a:ext cx="133978" cy="133978"/>
          </a:xfrm>
          <a:custGeom>
            <a:avLst/>
            <a:gdLst/>
            <a:ahLst/>
            <a:cxnLst/>
            <a:rect l="l" t="t" r="r" b="b"/>
            <a:pathLst>
              <a:path w="133978" h="133978">
                <a:moveTo>
                  <a:pt x="131518" y="72903"/>
                </a:moveTo>
                <a:cubicBezTo>
                  <a:pt x="134789" y="69632"/>
                  <a:pt x="134789" y="64320"/>
                  <a:pt x="131518" y="61049"/>
                </a:cubicBezTo>
                <a:lnTo>
                  <a:pt x="89650" y="19181"/>
                </a:lnTo>
                <a:cubicBezTo>
                  <a:pt x="86379" y="15910"/>
                  <a:pt x="81067" y="15910"/>
                  <a:pt x="77796" y="19181"/>
                </a:cubicBezTo>
                <a:cubicBezTo>
                  <a:pt x="74525" y="22452"/>
                  <a:pt x="74525" y="27764"/>
                  <a:pt x="77796" y="31035"/>
                </a:cubicBezTo>
                <a:lnTo>
                  <a:pt x="105377" y="58615"/>
                </a:lnTo>
                <a:lnTo>
                  <a:pt x="8374" y="58615"/>
                </a:lnTo>
                <a:cubicBezTo>
                  <a:pt x="3742" y="58615"/>
                  <a:pt x="0" y="62357"/>
                  <a:pt x="0" y="66989"/>
                </a:cubicBezTo>
                <a:cubicBezTo>
                  <a:pt x="0" y="71621"/>
                  <a:pt x="3742" y="75363"/>
                  <a:pt x="8374" y="75363"/>
                </a:cubicBezTo>
                <a:lnTo>
                  <a:pt x="105377" y="75363"/>
                </a:lnTo>
                <a:lnTo>
                  <a:pt x="77796" y="102943"/>
                </a:lnTo>
                <a:cubicBezTo>
                  <a:pt x="74525" y="106214"/>
                  <a:pt x="74525" y="111526"/>
                  <a:pt x="77796" y="114797"/>
                </a:cubicBezTo>
                <a:cubicBezTo>
                  <a:pt x="81067" y="118068"/>
                  <a:pt x="86379" y="118068"/>
                  <a:pt x="89650" y="114797"/>
                </a:cubicBezTo>
                <a:lnTo>
                  <a:pt x="131518" y="72929"/>
                </a:lnTo>
                <a:close/>
              </a:path>
            </a:pathLst>
          </a:custGeom>
          <a:solidFill>
            <a:srgbClr val="D4A26A"/>
          </a:solidFill>
          <a:ln/>
        </p:spPr>
      </p:sp>
      <p:sp>
        <p:nvSpPr>
          <p:cNvPr id="14" name="Text 12"/>
          <p:cNvSpPr/>
          <p:nvPr/>
        </p:nvSpPr>
        <p:spPr>
          <a:xfrm>
            <a:off x="783771" y="3061403"/>
            <a:ext cx="5133033" cy="435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5" dirty="0">
                <a:solidFill>
                  <a:srgbClr val="E2E8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FP-Growth association rules autonomously discover latent patterns (e.g., Inflation → Global Oil Prices) with </a:t>
            </a:r>
            <a:r>
              <a:rPr lang="en-US" sz="1055" b="1" dirty="0">
                <a:solidFill>
                  <a:srgbClr val="D4A2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Lift &gt; 1.25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32563" y="3664304"/>
            <a:ext cx="133978" cy="133978"/>
          </a:xfrm>
          <a:custGeom>
            <a:avLst/>
            <a:gdLst/>
            <a:ahLst/>
            <a:cxnLst/>
            <a:rect l="l" t="t" r="r" b="b"/>
            <a:pathLst>
              <a:path w="133978" h="133978">
                <a:moveTo>
                  <a:pt x="131518" y="72903"/>
                </a:moveTo>
                <a:cubicBezTo>
                  <a:pt x="134789" y="69632"/>
                  <a:pt x="134789" y="64320"/>
                  <a:pt x="131518" y="61049"/>
                </a:cubicBezTo>
                <a:lnTo>
                  <a:pt x="89650" y="19181"/>
                </a:lnTo>
                <a:cubicBezTo>
                  <a:pt x="86379" y="15910"/>
                  <a:pt x="81067" y="15910"/>
                  <a:pt x="77796" y="19181"/>
                </a:cubicBezTo>
                <a:cubicBezTo>
                  <a:pt x="74525" y="22452"/>
                  <a:pt x="74525" y="27764"/>
                  <a:pt x="77796" y="31035"/>
                </a:cubicBezTo>
                <a:lnTo>
                  <a:pt x="105377" y="58615"/>
                </a:lnTo>
                <a:lnTo>
                  <a:pt x="8374" y="58615"/>
                </a:lnTo>
                <a:cubicBezTo>
                  <a:pt x="3742" y="58615"/>
                  <a:pt x="0" y="62357"/>
                  <a:pt x="0" y="66989"/>
                </a:cubicBezTo>
                <a:cubicBezTo>
                  <a:pt x="0" y="71621"/>
                  <a:pt x="3742" y="75363"/>
                  <a:pt x="8374" y="75363"/>
                </a:cubicBezTo>
                <a:lnTo>
                  <a:pt x="105377" y="75363"/>
                </a:lnTo>
                <a:lnTo>
                  <a:pt x="77796" y="102943"/>
                </a:lnTo>
                <a:cubicBezTo>
                  <a:pt x="74525" y="106214"/>
                  <a:pt x="74525" y="111526"/>
                  <a:pt x="77796" y="114797"/>
                </a:cubicBezTo>
                <a:cubicBezTo>
                  <a:pt x="81067" y="118068"/>
                  <a:pt x="86379" y="118068"/>
                  <a:pt x="89650" y="114797"/>
                </a:cubicBezTo>
                <a:lnTo>
                  <a:pt x="131518" y="72929"/>
                </a:lnTo>
                <a:close/>
              </a:path>
            </a:pathLst>
          </a:custGeom>
          <a:solidFill>
            <a:srgbClr val="D4A26A"/>
          </a:solidFill>
          <a:ln/>
        </p:spPr>
      </p:sp>
      <p:sp>
        <p:nvSpPr>
          <p:cNvPr id="16" name="Text 14"/>
          <p:cNvSpPr/>
          <p:nvPr/>
        </p:nvSpPr>
        <p:spPr>
          <a:xfrm>
            <a:off x="783771" y="3630809"/>
            <a:ext cx="5133033" cy="435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5" dirty="0">
                <a:solidFill>
                  <a:srgbClr val="E2E8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Interactive 5-panel visual lab enables </a:t>
            </a:r>
            <a:r>
              <a:rPr lang="en-US" sz="1055" b="1" dirty="0">
                <a:solidFill>
                  <a:srgbClr val="D4A2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zero-code exploration</a:t>
            </a:r>
            <a:r>
              <a:rPr lang="en-US" sz="1055" dirty="0">
                <a:solidFill>
                  <a:srgbClr val="E2E8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of warehouse, preprocessing, association, classification, and clustering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38295" y="4384432"/>
            <a:ext cx="5684018" cy="2250831"/>
          </a:xfrm>
          <a:prstGeom prst="roundRect">
            <a:avLst>
              <a:gd name="adj" fmla="val 2976"/>
            </a:avLst>
          </a:prstGeom>
          <a:solidFill>
            <a:srgbClr val="4A5568">
              <a:alpha val="14902"/>
            </a:srgbClr>
          </a:solidFill>
          <a:ln w="10160">
            <a:solidFill>
              <a:srgbClr val="6B7A8F">
                <a:alpha val="30196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5976" y="4563626"/>
            <a:ext cx="131885" cy="150725"/>
          </a:xfrm>
          <a:custGeom>
            <a:avLst/>
            <a:gdLst/>
            <a:ahLst/>
            <a:cxnLst/>
            <a:rect l="l" t="t" r="r" b="b"/>
            <a:pathLst>
              <a:path w="131885" h="150725">
                <a:moveTo>
                  <a:pt x="72389" y="-7625"/>
                </a:moveTo>
                <a:cubicBezTo>
                  <a:pt x="68445" y="-10039"/>
                  <a:pt x="63469" y="-10039"/>
                  <a:pt x="59525" y="-7625"/>
                </a:cubicBezTo>
                <a:cubicBezTo>
                  <a:pt x="52342" y="-3238"/>
                  <a:pt x="47896" y="-2061"/>
                  <a:pt x="39477" y="-2237"/>
                </a:cubicBezTo>
                <a:cubicBezTo>
                  <a:pt x="34855" y="-2355"/>
                  <a:pt x="30557" y="147"/>
                  <a:pt x="28320" y="4210"/>
                </a:cubicBezTo>
                <a:cubicBezTo>
                  <a:pt x="24287" y="11599"/>
                  <a:pt x="21019" y="14866"/>
                  <a:pt x="13630" y="18900"/>
                </a:cubicBezTo>
                <a:cubicBezTo>
                  <a:pt x="9568" y="21107"/>
                  <a:pt x="7095" y="25435"/>
                  <a:pt x="7183" y="30057"/>
                </a:cubicBezTo>
                <a:cubicBezTo>
                  <a:pt x="7389" y="38476"/>
                  <a:pt x="6182" y="42921"/>
                  <a:pt x="1796" y="50104"/>
                </a:cubicBezTo>
                <a:cubicBezTo>
                  <a:pt x="-618" y="54049"/>
                  <a:pt x="-618" y="59024"/>
                  <a:pt x="1796" y="62969"/>
                </a:cubicBezTo>
                <a:cubicBezTo>
                  <a:pt x="6182" y="70152"/>
                  <a:pt x="7360" y="74597"/>
                  <a:pt x="7183" y="83017"/>
                </a:cubicBezTo>
                <a:cubicBezTo>
                  <a:pt x="7065" y="87639"/>
                  <a:pt x="9568" y="91937"/>
                  <a:pt x="13630" y="94174"/>
                </a:cubicBezTo>
                <a:cubicBezTo>
                  <a:pt x="20136" y="97736"/>
                  <a:pt x="23433" y="100680"/>
                  <a:pt x="26907" y="106391"/>
                </a:cubicBezTo>
                <a:lnTo>
                  <a:pt x="12570" y="134976"/>
                </a:lnTo>
                <a:cubicBezTo>
                  <a:pt x="10833" y="138479"/>
                  <a:pt x="12246" y="142718"/>
                  <a:pt x="15720" y="144455"/>
                </a:cubicBezTo>
                <a:lnTo>
                  <a:pt x="41037" y="157113"/>
                </a:lnTo>
                <a:cubicBezTo>
                  <a:pt x="44423" y="158791"/>
                  <a:pt x="48544" y="157526"/>
                  <a:pt x="50369" y="154228"/>
                </a:cubicBezTo>
                <a:lnTo>
                  <a:pt x="65913" y="126232"/>
                </a:lnTo>
                <a:lnTo>
                  <a:pt x="81456" y="154228"/>
                </a:lnTo>
                <a:cubicBezTo>
                  <a:pt x="83282" y="157526"/>
                  <a:pt x="87403" y="158821"/>
                  <a:pt x="90788" y="157113"/>
                </a:cubicBezTo>
                <a:lnTo>
                  <a:pt x="116106" y="144455"/>
                </a:lnTo>
                <a:cubicBezTo>
                  <a:pt x="119609" y="142718"/>
                  <a:pt x="121022" y="138479"/>
                  <a:pt x="119255" y="134976"/>
                </a:cubicBezTo>
                <a:lnTo>
                  <a:pt x="104948" y="106361"/>
                </a:lnTo>
                <a:cubicBezTo>
                  <a:pt x="108393" y="100650"/>
                  <a:pt x="111719" y="97706"/>
                  <a:pt x="118225" y="94144"/>
                </a:cubicBezTo>
                <a:cubicBezTo>
                  <a:pt x="122288" y="91937"/>
                  <a:pt x="124760" y="87609"/>
                  <a:pt x="124672" y="82987"/>
                </a:cubicBezTo>
                <a:cubicBezTo>
                  <a:pt x="124466" y="74568"/>
                  <a:pt x="125673" y="70123"/>
                  <a:pt x="130059" y="62940"/>
                </a:cubicBezTo>
                <a:cubicBezTo>
                  <a:pt x="132473" y="58995"/>
                  <a:pt x="132473" y="54020"/>
                  <a:pt x="130059" y="50075"/>
                </a:cubicBezTo>
                <a:cubicBezTo>
                  <a:pt x="125673" y="42892"/>
                  <a:pt x="124496" y="38447"/>
                  <a:pt x="124672" y="30027"/>
                </a:cubicBezTo>
                <a:cubicBezTo>
                  <a:pt x="124790" y="25405"/>
                  <a:pt x="122288" y="21107"/>
                  <a:pt x="118225" y="18870"/>
                </a:cubicBezTo>
                <a:cubicBezTo>
                  <a:pt x="110836" y="14837"/>
                  <a:pt x="107568" y="11569"/>
                  <a:pt x="103535" y="4180"/>
                </a:cubicBezTo>
                <a:cubicBezTo>
                  <a:pt x="101327" y="118"/>
                  <a:pt x="97000" y="-2355"/>
                  <a:pt x="92378" y="-2267"/>
                </a:cubicBezTo>
                <a:cubicBezTo>
                  <a:pt x="83959" y="-2061"/>
                  <a:pt x="79513" y="-3268"/>
                  <a:pt x="72330" y="-7654"/>
                </a:cubicBezTo>
                <a:close/>
                <a:moveTo>
                  <a:pt x="65942" y="28261"/>
                </a:moveTo>
                <a:cubicBezTo>
                  <a:pt x="81540" y="28261"/>
                  <a:pt x="94203" y="40924"/>
                  <a:pt x="94203" y="56522"/>
                </a:cubicBezTo>
                <a:cubicBezTo>
                  <a:pt x="94203" y="72120"/>
                  <a:pt x="81540" y="84783"/>
                  <a:pt x="65942" y="84783"/>
                </a:cubicBezTo>
                <a:cubicBezTo>
                  <a:pt x="50345" y="84783"/>
                  <a:pt x="37681" y="72120"/>
                  <a:pt x="37681" y="56522"/>
                </a:cubicBezTo>
                <a:cubicBezTo>
                  <a:pt x="37681" y="40924"/>
                  <a:pt x="50345" y="28261"/>
                  <a:pt x="65942" y="28261"/>
                </a:cubicBezTo>
                <a:close/>
              </a:path>
            </a:pathLst>
          </a:custGeom>
          <a:solidFill>
            <a:srgbClr val="6B7A8F"/>
          </a:solidFill>
          <a:ln/>
        </p:spPr>
      </p:sp>
      <p:sp>
        <p:nvSpPr>
          <p:cNvPr id="19" name="Text 17"/>
          <p:cNvSpPr/>
          <p:nvPr/>
        </p:nvSpPr>
        <p:spPr>
          <a:xfrm>
            <a:off x="668215" y="4521758"/>
            <a:ext cx="5292132" cy="234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7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Achievements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75622" y="4856703"/>
            <a:ext cx="2654440" cy="770374"/>
          </a:xfrm>
          <a:prstGeom prst="roundRect">
            <a:avLst>
              <a:gd name="adj" fmla="val 8696"/>
            </a:avLst>
          </a:prstGeom>
          <a:solidFill>
            <a:srgbClr val="1A1D21">
              <a:alpha val="6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703196" y="4957187"/>
            <a:ext cx="200967" cy="200967"/>
          </a:xfrm>
          <a:custGeom>
            <a:avLst/>
            <a:gdLst/>
            <a:ahLst/>
            <a:cxnLst/>
            <a:rect l="l" t="t" r="r" b="b"/>
            <a:pathLst>
              <a:path w="200967" h="200967">
                <a:moveTo>
                  <a:pt x="47102" y="21981"/>
                </a:moveTo>
                <a:cubicBezTo>
                  <a:pt x="47102" y="9852"/>
                  <a:pt x="56954" y="0"/>
                  <a:pt x="69082" y="0"/>
                </a:cubicBezTo>
                <a:lnTo>
                  <a:pt x="78503" y="0"/>
                </a:lnTo>
                <a:cubicBezTo>
                  <a:pt x="85450" y="0"/>
                  <a:pt x="91063" y="5613"/>
                  <a:pt x="91063" y="12560"/>
                </a:cubicBezTo>
                <a:lnTo>
                  <a:pt x="91063" y="188407"/>
                </a:lnTo>
                <a:cubicBezTo>
                  <a:pt x="91063" y="195354"/>
                  <a:pt x="85450" y="200967"/>
                  <a:pt x="78503" y="200967"/>
                </a:cubicBezTo>
                <a:lnTo>
                  <a:pt x="65942" y="200967"/>
                </a:lnTo>
                <a:cubicBezTo>
                  <a:pt x="54245" y="200967"/>
                  <a:pt x="44393" y="192960"/>
                  <a:pt x="41606" y="182126"/>
                </a:cubicBezTo>
                <a:cubicBezTo>
                  <a:pt x="41332" y="182126"/>
                  <a:pt x="41096" y="182126"/>
                  <a:pt x="40821" y="182126"/>
                </a:cubicBezTo>
                <a:cubicBezTo>
                  <a:pt x="23472" y="182126"/>
                  <a:pt x="9420" y="168074"/>
                  <a:pt x="9420" y="150725"/>
                </a:cubicBezTo>
                <a:cubicBezTo>
                  <a:pt x="9420" y="143660"/>
                  <a:pt x="11775" y="137144"/>
                  <a:pt x="15701" y="131885"/>
                </a:cubicBezTo>
                <a:cubicBezTo>
                  <a:pt x="8086" y="126154"/>
                  <a:pt x="3140" y="117048"/>
                  <a:pt x="3140" y="106764"/>
                </a:cubicBezTo>
                <a:cubicBezTo>
                  <a:pt x="3140" y="94635"/>
                  <a:pt x="10048" y="84076"/>
                  <a:pt x="20097" y="78856"/>
                </a:cubicBezTo>
                <a:cubicBezTo>
                  <a:pt x="17310" y="74146"/>
                  <a:pt x="15701" y="68651"/>
                  <a:pt x="15701" y="62802"/>
                </a:cubicBezTo>
                <a:cubicBezTo>
                  <a:pt x="15701" y="45453"/>
                  <a:pt x="29753" y="31401"/>
                  <a:pt x="47102" y="31401"/>
                </a:cubicBezTo>
                <a:lnTo>
                  <a:pt x="47102" y="21981"/>
                </a:lnTo>
                <a:close/>
                <a:moveTo>
                  <a:pt x="153865" y="21981"/>
                </a:moveTo>
                <a:lnTo>
                  <a:pt x="153865" y="31401"/>
                </a:lnTo>
                <a:cubicBezTo>
                  <a:pt x="171214" y="31401"/>
                  <a:pt x="185266" y="45453"/>
                  <a:pt x="185266" y="62802"/>
                </a:cubicBezTo>
                <a:cubicBezTo>
                  <a:pt x="185266" y="68690"/>
                  <a:pt x="183657" y="74185"/>
                  <a:pt x="180870" y="78856"/>
                </a:cubicBezTo>
                <a:cubicBezTo>
                  <a:pt x="190958" y="84076"/>
                  <a:pt x="197827" y="94596"/>
                  <a:pt x="197827" y="106764"/>
                </a:cubicBezTo>
                <a:cubicBezTo>
                  <a:pt x="197827" y="117048"/>
                  <a:pt x="192881" y="126154"/>
                  <a:pt x="185266" y="131885"/>
                </a:cubicBezTo>
                <a:cubicBezTo>
                  <a:pt x="189192" y="137144"/>
                  <a:pt x="191547" y="143660"/>
                  <a:pt x="191547" y="150725"/>
                </a:cubicBezTo>
                <a:cubicBezTo>
                  <a:pt x="191547" y="168074"/>
                  <a:pt x="177495" y="182126"/>
                  <a:pt x="160146" y="182126"/>
                </a:cubicBezTo>
                <a:cubicBezTo>
                  <a:pt x="159871" y="182126"/>
                  <a:pt x="159635" y="182126"/>
                  <a:pt x="159361" y="182126"/>
                </a:cubicBezTo>
                <a:cubicBezTo>
                  <a:pt x="156574" y="192960"/>
                  <a:pt x="146722" y="200967"/>
                  <a:pt x="135025" y="200967"/>
                </a:cubicBezTo>
                <a:lnTo>
                  <a:pt x="122464" y="200967"/>
                </a:lnTo>
                <a:cubicBezTo>
                  <a:pt x="115517" y="200967"/>
                  <a:pt x="109904" y="195354"/>
                  <a:pt x="109904" y="188407"/>
                </a:cubicBezTo>
                <a:lnTo>
                  <a:pt x="109904" y="12560"/>
                </a:lnTo>
                <a:cubicBezTo>
                  <a:pt x="109904" y="5613"/>
                  <a:pt x="115517" y="0"/>
                  <a:pt x="122464" y="0"/>
                </a:cubicBezTo>
                <a:lnTo>
                  <a:pt x="131885" y="0"/>
                </a:lnTo>
                <a:cubicBezTo>
                  <a:pt x="144013" y="0"/>
                  <a:pt x="153865" y="9852"/>
                  <a:pt x="153865" y="21981"/>
                </a:cubicBezTo>
                <a:close/>
              </a:path>
            </a:pathLst>
          </a:custGeom>
          <a:solidFill>
            <a:srgbClr val="D4A26A"/>
          </a:solidFill>
          <a:ln/>
        </p:spPr>
      </p:sp>
      <p:sp>
        <p:nvSpPr>
          <p:cNvPr id="22" name="Text 20"/>
          <p:cNvSpPr/>
          <p:nvPr/>
        </p:nvSpPr>
        <p:spPr>
          <a:xfrm>
            <a:off x="546798" y="5225143"/>
            <a:ext cx="2512088" cy="1674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23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Supervised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50985" y="5392615"/>
            <a:ext cx="2503714" cy="133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91" dirty="0">
                <a:solidFill>
                  <a:srgbClr val="E2E8F0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SVM vs NB racing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3232220" y="4856703"/>
            <a:ext cx="2654440" cy="770374"/>
          </a:xfrm>
          <a:prstGeom prst="roundRect">
            <a:avLst>
              <a:gd name="adj" fmla="val 8696"/>
            </a:avLst>
          </a:prstGeom>
          <a:solidFill>
            <a:srgbClr val="1A1D21">
              <a:alpha val="60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4447233" y="4957187"/>
            <a:ext cx="226088" cy="200967"/>
          </a:xfrm>
          <a:custGeom>
            <a:avLst/>
            <a:gdLst/>
            <a:ahLst/>
            <a:cxnLst/>
            <a:rect l="l" t="t" r="r" b="b"/>
            <a:pathLst>
              <a:path w="226088" h="200967">
                <a:moveTo>
                  <a:pt x="12560" y="46866"/>
                </a:moveTo>
                <a:cubicBezTo>
                  <a:pt x="5063" y="42548"/>
                  <a:pt x="0" y="34423"/>
                  <a:pt x="0" y="25121"/>
                </a:cubicBezTo>
                <a:cubicBezTo>
                  <a:pt x="0" y="11265"/>
                  <a:pt x="11265" y="0"/>
                  <a:pt x="25121" y="0"/>
                </a:cubicBezTo>
                <a:cubicBezTo>
                  <a:pt x="34423" y="0"/>
                  <a:pt x="42548" y="5063"/>
                  <a:pt x="46866" y="12560"/>
                </a:cubicBezTo>
                <a:lnTo>
                  <a:pt x="179183" y="12560"/>
                </a:lnTo>
                <a:cubicBezTo>
                  <a:pt x="183539" y="5063"/>
                  <a:pt x="191625" y="0"/>
                  <a:pt x="200928" y="0"/>
                </a:cubicBezTo>
                <a:cubicBezTo>
                  <a:pt x="214784" y="0"/>
                  <a:pt x="226049" y="11265"/>
                  <a:pt x="226049" y="25121"/>
                </a:cubicBezTo>
                <a:cubicBezTo>
                  <a:pt x="226049" y="34423"/>
                  <a:pt x="220985" y="42548"/>
                  <a:pt x="213488" y="46866"/>
                </a:cubicBezTo>
                <a:lnTo>
                  <a:pt x="213488" y="154062"/>
                </a:lnTo>
                <a:cubicBezTo>
                  <a:pt x="220985" y="158419"/>
                  <a:pt x="226049" y="166504"/>
                  <a:pt x="226049" y="175807"/>
                </a:cubicBezTo>
                <a:cubicBezTo>
                  <a:pt x="226049" y="189663"/>
                  <a:pt x="214784" y="200928"/>
                  <a:pt x="200928" y="200928"/>
                </a:cubicBezTo>
                <a:cubicBezTo>
                  <a:pt x="191625" y="200928"/>
                  <a:pt x="183500" y="195864"/>
                  <a:pt x="179183" y="188367"/>
                </a:cubicBezTo>
                <a:lnTo>
                  <a:pt x="46866" y="188367"/>
                </a:lnTo>
                <a:cubicBezTo>
                  <a:pt x="42509" y="195864"/>
                  <a:pt x="34423" y="200928"/>
                  <a:pt x="25121" y="200928"/>
                </a:cubicBezTo>
                <a:cubicBezTo>
                  <a:pt x="11265" y="200928"/>
                  <a:pt x="0" y="189663"/>
                  <a:pt x="0" y="175807"/>
                </a:cubicBezTo>
                <a:cubicBezTo>
                  <a:pt x="0" y="166504"/>
                  <a:pt x="5063" y="158379"/>
                  <a:pt x="12560" y="154062"/>
                </a:cubicBezTo>
                <a:lnTo>
                  <a:pt x="12560" y="46866"/>
                </a:lnTo>
                <a:close/>
                <a:moveTo>
                  <a:pt x="188407" y="46866"/>
                </a:moveTo>
                <a:cubicBezTo>
                  <a:pt x="184599" y="44668"/>
                  <a:pt x="181420" y="41489"/>
                  <a:pt x="179222" y="37681"/>
                </a:cubicBezTo>
                <a:lnTo>
                  <a:pt x="46866" y="37681"/>
                </a:lnTo>
                <a:cubicBezTo>
                  <a:pt x="44668" y="41489"/>
                  <a:pt x="41489" y="44668"/>
                  <a:pt x="37681" y="46866"/>
                </a:cubicBezTo>
                <a:lnTo>
                  <a:pt x="37681" y="154062"/>
                </a:lnTo>
                <a:cubicBezTo>
                  <a:pt x="41489" y="156260"/>
                  <a:pt x="44668" y="159439"/>
                  <a:pt x="46866" y="163246"/>
                </a:cubicBezTo>
                <a:lnTo>
                  <a:pt x="179183" y="163246"/>
                </a:lnTo>
                <a:cubicBezTo>
                  <a:pt x="181381" y="159439"/>
                  <a:pt x="184560" y="156260"/>
                  <a:pt x="188367" y="154062"/>
                </a:cubicBezTo>
                <a:lnTo>
                  <a:pt x="188367" y="46866"/>
                </a:lnTo>
                <a:close/>
                <a:moveTo>
                  <a:pt x="56522" y="69082"/>
                </a:moveTo>
                <a:cubicBezTo>
                  <a:pt x="56522" y="62135"/>
                  <a:pt x="62135" y="56522"/>
                  <a:pt x="69082" y="56522"/>
                </a:cubicBezTo>
                <a:lnTo>
                  <a:pt x="113044" y="56522"/>
                </a:lnTo>
                <a:cubicBezTo>
                  <a:pt x="119991" y="56522"/>
                  <a:pt x="125604" y="62135"/>
                  <a:pt x="125604" y="69082"/>
                </a:cubicBezTo>
                <a:lnTo>
                  <a:pt x="125604" y="94203"/>
                </a:lnTo>
                <a:cubicBezTo>
                  <a:pt x="125604" y="101151"/>
                  <a:pt x="119991" y="106764"/>
                  <a:pt x="113044" y="106764"/>
                </a:cubicBezTo>
                <a:lnTo>
                  <a:pt x="69082" y="106764"/>
                </a:lnTo>
                <a:cubicBezTo>
                  <a:pt x="62135" y="106764"/>
                  <a:pt x="56522" y="101151"/>
                  <a:pt x="56522" y="94203"/>
                </a:cubicBezTo>
                <a:lnTo>
                  <a:pt x="56522" y="69082"/>
                </a:lnTo>
                <a:close/>
                <a:moveTo>
                  <a:pt x="100484" y="125604"/>
                </a:moveTo>
                <a:lnTo>
                  <a:pt x="113044" y="125604"/>
                </a:lnTo>
                <a:cubicBezTo>
                  <a:pt x="130393" y="125604"/>
                  <a:pt x="144445" y="111552"/>
                  <a:pt x="144445" y="94203"/>
                </a:cubicBezTo>
                <a:lnTo>
                  <a:pt x="157005" y="94203"/>
                </a:lnTo>
                <a:cubicBezTo>
                  <a:pt x="163953" y="94203"/>
                  <a:pt x="169566" y="99816"/>
                  <a:pt x="169566" y="106764"/>
                </a:cubicBezTo>
                <a:lnTo>
                  <a:pt x="169566" y="131885"/>
                </a:lnTo>
                <a:cubicBezTo>
                  <a:pt x="169566" y="138832"/>
                  <a:pt x="163953" y="144445"/>
                  <a:pt x="157005" y="144445"/>
                </a:cubicBezTo>
                <a:lnTo>
                  <a:pt x="113044" y="144445"/>
                </a:lnTo>
                <a:cubicBezTo>
                  <a:pt x="106096" y="144445"/>
                  <a:pt x="100484" y="138832"/>
                  <a:pt x="100484" y="131885"/>
                </a:cubicBezTo>
                <a:lnTo>
                  <a:pt x="100484" y="125604"/>
                </a:lnTo>
                <a:close/>
              </a:path>
            </a:pathLst>
          </a:custGeom>
          <a:solidFill>
            <a:srgbClr val="6B7A8F"/>
          </a:solidFill>
          <a:ln/>
        </p:spPr>
      </p:sp>
      <p:sp>
        <p:nvSpPr>
          <p:cNvPr id="26" name="Text 24"/>
          <p:cNvSpPr/>
          <p:nvPr/>
        </p:nvSpPr>
        <p:spPr>
          <a:xfrm>
            <a:off x="3303396" y="5225143"/>
            <a:ext cx="2512088" cy="1674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23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Unsupervised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3307582" y="5392615"/>
            <a:ext cx="2503714" cy="133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91" dirty="0">
                <a:solidFill>
                  <a:srgbClr val="E2E8F0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K-Means + FP-Growth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75622" y="5727454"/>
            <a:ext cx="2654440" cy="770374"/>
          </a:xfrm>
          <a:prstGeom prst="roundRect">
            <a:avLst>
              <a:gd name="adj" fmla="val 8696"/>
            </a:avLst>
          </a:prstGeom>
          <a:solidFill>
            <a:srgbClr val="1A1D21">
              <a:alpha val="60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703196" y="5827938"/>
            <a:ext cx="200967" cy="200967"/>
          </a:xfrm>
          <a:custGeom>
            <a:avLst/>
            <a:gdLst/>
            <a:ahLst/>
            <a:cxnLst/>
            <a:rect l="l" t="t" r="r" b="b"/>
            <a:pathLst>
              <a:path w="200967" h="200967">
                <a:moveTo>
                  <a:pt x="25867" y="89689"/>
                </a:moveTo>
                <a:cubicBezTo>
                  <a:pt x="31087" y="53186"/>
                  <a:pt x="62527" y="25121"/>
                  <a:pt x="100484" y="25121"/>
                </a:cubicBezTo>
                <a:cubicBezTo>
                  <a:pt x="121287" y="25121"/>
                  <a:pt x="140127" y="33560"/>
                  <a:pt x="153787" y="47180"/>
                </a:cubicBezTo>
                <a:cubicBezTo>
                  <a:pt x="153865" y="47259"/>
                  <a:pt x="153944" y="47337"/>
                  <a:pt x="154022" y="47416"/>
                </a:cubicBezTo>
                <a:lnTo>
                  <a:pt x="157005" y="50242"/>
                </a:lnTo>
                <a:lnTo>
                  <a:pt x="138204" y="50242"/>
                </a:lnTo>
                <a:cubicBezTo>
                  <a:pt x="131257" y="50242"/>
                  <a:pt x="125644" y="55855"/>
                  <a:pt x="125644" y="62802"/>
                </a:cubicBezTo>
                <a:cubicBezTo>
                  <a:pt x="125644" y="69750"/>
                  <a:pt x="131257" y="75363"/>
                  <a:pt x="138204" y="75363"/>
                </a:cubicBezTo>
                <a:lnTo>
                  <a:pt x="188446" y="75363"/>
                </a:lnTo>
                <a:cubicBezTo>
                  <a:pt x="195393" y="75363"/>
                  <a:pt x="201006" y="69750"/>
                  <a:pt x="201006" y="62802"/>
                </a:cubicBezTo>
                <a:lnTo>
                  <a:pt x="201006" y="12560"/>
                </a:lnTo>
                <a:cubicBezTo>
                  <a:pt x="201006" y="5613"/>
                  <a:pt x="195393" y="0"/>
                  <a:pt x="188446" y="0"/>
                </a:cubicBezTo>
                <a:cubicBezTo>
                  <a:pt x="181498" y="0"/>
                  <a:pt x="175885" y="5613"/>
                  <a:pt x="175885" y="12560"/>
                </a:cubicBezTo>
                <a:lnTo>
                  <a:pt x="175885" y="33521"/>
                </a:lnTo>
                <a:lnTo>
                  <a:pt x="171450" y="29321"/>
                </a:lnTo>
                <a:cubicBezTo>
                  <a:pt x="153277" y="11226"/>
                  <a:pt x="128156" y="0"/>
                  <a:pt x="100484" y="0"/>
                </a:cubicBezTo>
                <a:cubicBezTo>
                  <a:pt x="49849" y="0"/>
                  <a:pt x="7968" y="37446"/>
                  <a:pt x="1021" y="86157"/>
                </a:cubicBezTo>
                <a:cubicBezTo>
                  <a:pt x="39" y="93026"/>
                  <a:pt x="4789" y="99384"/>
                  <a:pt x="11658" y="100366"/>
                </a:cubicBezTo>
                <a:cubicBezTo>
                  <a:pt x="18527" y="101347"/>
                  <a:pt x="24885" y="96558"/>
                  <a:pt x="25867" y="89729"/>
                </a:cubicBezTo>
                <a:close/>
                <a:moveTo>
                  <a:pt x="199946" y="114810"/>
                </a:moveTo>
                <a:cubicBezTo>
                  <a:pt x="200928" y="107941"/>
                  <a:pt x="196139" y="101583"/>
                  <a:pt x="189309" y="100601"/>
                </a:cubicBezTo>
                <a:cubicBezTo>
                  <a:pt x="182480" y="99620"/>
                  <a:pt x="176082" y="104409"/>
                  <a:pt x="175100" y="111238"/>
                </a:cubicBezTo>
                <a:cubicBezTo>
                  <a:pt x="169880" y="147742"/>
                  <a:pt x="138440" y="175807"/>
                  <a:pt x="100484" y="175807"/>
                </a:cubicBezTo>
                <a:cubicBezTo>
                  <a:pt x="79680" y="175807"/>
                  <a:pt x="60840" y="167368"/>
                  <a:pt x="47180" y="153748"/>
                </a:cubicBezTo>
                <a:cubicBezTo>
                  <a:pt x="47102" y="153669"/>
                  <a:pt x="47023" y="153591"/>
                  <a:pt x="46945" y="153512"/>
                </a:cubicBezTo>
                <a:lnTo>
                  <a:pt x="43962" y="150686"/>
                </a:lnTo>
                <a:lnTo>
                  <a:pt x="62763" y="150686"/>
                </a:lnTo>
                <a:cubicBezTo>
                  <a:pt x="69710" y="150686"/>
                  <a:pt x="75323" y="145073"/>
                  <a:pt x="75323" y="138126"/>
                </a:cubicBezTo>
                <a:cubicBezTo>
                  <a:pt x="75323" y="131178"/>
                  <a:pt x="69710" y="125565"/>
                  <a:pt x="62763" y="125565"/>
                </a:cubicBezTo>
                <a:lnTo>
                  <a:pt x="12560" y="125604"/>
                </a:lnTo>
                <a:cubicBezTo>
                  <a:pt x="9224" y="125604"/>
                  <a:pt x="6005" y="126939"/>
                  <a:pt x="3650" y="129333"/>
                </a:cubicBezTo>
                <a:cubicBezTo>
                  <a:pt x="1295" y="131728"/>
                  <a:pt x="-39" y="134907"/>
                  <a:pt x="0" y="138283"/>
                </a:cubicBezTo>
                <a:lnTo>
                  <a:pt x="393" y="188132"/>
                </a:lnTo>
                <a:cubicBezTo>
                  <a:pt x="432" y="195079"/>
                  <a:pt x="6123" y="200653"/>
                  <a:pt x="13071" y="200575"/>
                </a:cubicBezTo>
                <a:cubicBezTo>
                  <a:pt x="20018" y="200496"/>
                  <a:pt x="25592" y="194844"/>
                  <a:pt x="25513" y="187896"/>
                </a:cubicBezTo>
                <a:lnTo>
                  <a:pt x="25356" y="167682"/>
                </a:lnTo>
                <a:lnTo>
                  <a:pt x="29556" y="171646"/>
                </a:lnTo>
                <a:cubicBezTo>
                  <a:pt x="47730" y="189741"/>
                  <a:pt x="72811" y="200967"/>
                  <a:pt x="100484" y="200967"/>
                </a:cubicBezTo>
                <a:cubicBezTo>
                  <a:pt x="151118" y="200967"/>
                  <a:pt x="192999" y="163521"/>
                  <a:pt x="199946" y="114810"/>
                </a:cubicBezTo>
                <a:close/>
              </a:path>
            </a:pathLst>
          </a:custGeom>
          <a:solidFill>
            <a:srgbClr val="D4A26A"/>
          </a:solidFill>
          <a:ln/>
        </p:spPr>
      </p:sp>
      <p:sp>
        <p:nvSpPr>
          <p:cNvPr id="30" name="Text 28"/>
          <p:cNvSpPr/>
          <p:nvPr/>
        </p:nvSpPr>
        <p:spPr>
          <a:xfrm>
            <a:off x="546798" y="6095894"/>
            <a:ext cx="2512088" cy="1674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23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PCA Visualization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50985" y="6263366"/>
            <a:ext cx="2503714" cy="133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91" dirty="0">
                <a:solidFill>
                  <a:srgbClr val="E2E8F0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2D cluster exploration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3232220" y="5727454"/>
            <a:ext cx="2654440" cy="770374"/>
          </a:xfrm>
          <a:prstGeom prst="roundRect">
            <a:avLst>
              <a:gd name="adj" fmla="val 8696"/>
            </a:avLst>
          </a:prstGeom>
          <a:solidFill>
            <a:srgbClr val="1A1D21">
              <a:alpha val="60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4459794" y="5827938"/>
            <a:ext cx="200967" cy="200967"/>
          </a:xfrm>
          <a:custGeom>
            <a:avLst/>
            <a:gdLst/>
            <a:ahLst/>
            <a:cxnLst/>
            <a:rect l="l" t="t" r="r" b="b"/>
            <a:pathLst>
              <a:path w="200967" h="200967">
                <a:moveTo>
                  <a:pt x="0" y="31401"/>
                </a:moveTo>
                <a:cubicBezTo>
                  <a:pt x="0" y="20999"/>
                  <a:pt x="8439" y="12560"/>
                  <a:pt x="18841" y="12560"/>
                </a:cubicBezTo>
                <a:lnTo>
                  <a:pt x="56522" y="12560"/>
                </a:lnTo>
                <a:cubicBezTo>
                  <a:pt x="66924" y="12560"/>
                  <a:pt x="75363" y="20999"/>
                  <a:pt x="75363" y="31401"/>
                </a:cubicBezTo>
                <a:lnTo>
                  <a:pt x="75363" y="37681"/>
                </a:lnTo>
                <a:lnTo>
                  <a:pt x="125604" y="37681"/>
                </a:lnTo>
                <a:lnTo>
                  <a:pt x="125604" y="31401"/>
                </a:lnTo>
                <a:cubicBezTo>
                  <a:pt x="125604" y="20999"/>
                  <a:pt x="134043" y="12560"/>
                  <a:pt x="144445" y="12560"/>
                </a:cubicBezTo>
                <a:lnTo>
                  <a:pt x="182126" y="12560"/>
                </a:lnTo>
                <a:cubicBezTo>
                  <a:pt x="192528" y="12560"/>
                  <a:pt x="200967" y="20999"/>
                  <a:pt x="200967" y="31401"/>
                </a:cubicBezTo>
                <a:lnTo>
                  <a:pt x="200967" y="69082"/>
                </a:lnTo>
                <a:cubicBezTo>
                  <a:pt x="200967" y="79484"/>
                  <a:pt x="192528" y="87923"/>
                  <a:pt x="182126" y="87923"/>
                </a:cubicBezTo>
                <a:lnTo>
                  <a:pt x="144445" y="87923"/>
                </a:lnTo>
                <a:cubicBezTo>
                  <a:pt x="134043" y="87923"/>
                  <a:pt x="125604" y="79484"/>
                  <a:pt x="125604" y="69082"/>
                </a:cubicBezTo>
                <a:lnTo>
                  <a:pt x="125604" y="62802"/>
                </a:lnTo>
                <a:lnTo>
                  <a:pt x="75363" y="62802"/>
                </a:lnTo>
                <a:lnTo>
                  <a:pt x="75363" y="69082"/>
                </a:lnTo>
                <a:cubicBezTo>
                  <a:pt x="75363" y="71948"/>
                  <a:pt x="74695" y="74695"/>
                  <a:pt x="73557" y="77129"/>
                </a:cubicBezTo>
                <a:lnTo>
                  <a:pt x="100484" y="113044"/>
                </a:lnTo>
                <a:lnTo>
                  <a:pt x="131885" y="113044"/>
                </a:lnTo>
                <a:cubicBezTo>
                  <a:pt x="142286" y="113044"/>
                  <a:pt x="150725" y="121483"/>
                  <a:pt x="150725" y="131885"/>
                </a:cubicBezTo>
                <a:lnTo>
                  <a:pt x="150725" y="169566"/>
                </a:lnTo>
                <a:cubicBezTo>
                  <a:pt x="150725" y="179968"/>
                  <a:pt x="142286" y="188407"/>
                  <a:pt x="131885" y="188407"/>
                </a:cubicBezTo>
                <a:lnTo>
                  <a:pt x="94203" y="188407"/>
                </a:lnTo>
                <a:cubicBezTo>
                  <a:pt x="83802" y="188407"/>
                  <a:pt x="75363" y="179968"/>
                  <a:pt x="75363" y="169566"/>
                </a:cubicBezTo>
                <a:lnTo>
                  <a:pt x="75363" y="131885"/>
                </a:lnTo>
                <a:cubicBezTo>
                  <a:pt x="75363" y="129019"/>
                  <a:pt x="76030" y="126272"/>
                  <a:pt x="77168" y="123838"/>
                </a:cubicBezTo>
                <a:lnTo>
                  <a:pt x="50242" y="87923"/>
                </a:lnTo>
                <a:lnTo>
                  <a:pt x="18841" y="87923"/>
                </a:lnTo>
                <a:cubicBezTo>
                  <a:pt x="8439" y="87923"/>
                  <a:pt x="0" y="79484"/>
                  <a:pt x="0" y="69082"/>
                </a:cubicBezTo>
                <a:lnTo>
                  <a:pt x="0" y="31401"/>
                </a:lnTo>
                <a:close/>
              </a:path>
            </a:pathLst>
          </a:custGeom>
          <a:solidFill>
            <a:srgbClr val="6B7A8F"/>
          </a:solidFill>
          <a:ln/>
        </p:spPr>
      </p:sp>
      <p:sp>
        <p:nvSpPr>
          <p:cNvPr id="34" name="Text 32"/>
          <p:cNvSpPr/>
          <p:nvPr/>
        </p:nvSpPr>
        <p:spPr>
          <a:xfrm>
            <a:off x="3303396" y="6095894"/>
            <a:ext cx="2512088" cy="1674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23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Pattern Discovery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3307582" y="6263366"/>
            <a:ext cx="2503714" cy="133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91" dirty="0">
                <a:solidFill>
                  <a:srgbClr val="E2E8F0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Lift correlations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166338" y="1209152"/>
            <a:ext cx="5684018" cy="5424435"/>
          </a:xfrm>
          <a:prstGeom prst="roundRect">
            <a:avLst>
              <a:gd name="adj" fmla="val 1235"/>
            </a:avLst>
          </a:prstGeom>
          <a:solidFill>
            <a:srgbClr val="4A5568">
              <a:alpha val="14902"/>
            </a:srgbClr>
          </a:solidFill>
          <a:ln w="10160">
            <a:solidFill>
              <a:srgbClr val="D4A26A">
                <a:alpha val="30196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337160" y="1379972"/>
            <a:ext cx="401934" cy="401934"/>
          </a:xfrm>
          <a:prstGeom prst="roundRect">
            <a:avLst>
              <a:gd name="adj" fmla="val 16667"/>
            </a:avLst>
          </a:prstGeom>
          <a:solidFill>
            <a:srgbClr val="D4A26A">
              <a:alpha val="20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6437644" y="1480456"/>
            <a:ext cx="200967" cy="200967"/>
          </a:xfrm>
          <a:custGeom>
            <a:avLst/>
            <a:gdLst/>
            <a:ahLst/>
            <a:cxnLst/>
            <a:rect l="l" t="t" r="r" b="b"/>
            <a:pathLst>
              <a:path w="200967" h="200967">
                <a:moveTo>
                  <a:pt x="50242" y="125604"/>
                </a:moveTo>
                <a:lnTo>
                  <a:pt x="9617" y="125604"/>
                </a:lnTo>
                <a:cubicBezTo>
                  <a:pt x="-157" y="125604"/>
                  <a:pt x="-6162" y="114967"/>
                  <a:pt x="-1138" y="106567"/>
                </a:cubicBezTo>
                <a:lnTo>
                  <a:pt x="19626" y="71948"/>
                </a:lnTo>
                <a:cubicBezTo>
                  <a:pt x="23041" y="66256"/>
                  <a:pt x="29164" y="62802"/>
                  <a:pt x="35797" y="62802"/>
                </a:cubicBezTo>
                <a:lnTo>
                  <a:pt x="73086" y="62802"/>
                </a:lnTo>
                <a:cubicBezTo>
                  <a:pt x="102956" y="12207"/>
                  <a:pt x="147507" y="9656"/>
                  <a:pt x="177298" y="14013"/>
                </a:cubicBezTo>
                <a:cubicBezTo>
                  <a:pt x="182323" y="14759"/>
                  <a:pt x="186248" y="18684"/>
                  <a:pt x="186954" y="23669"/>
                </a:cubicBezTo>
                <a:cubicBezTo>
                  <a:pt x="191311" y="53460"/>
                  <a:pt x="188760" y="98011"/>
                  <a:pt x="138165" y="127881"/>
                </a:cubicBezTo>
                <a:lnTo>
                  <a:pt x="138165" y="165170"/>
                </a:lnTo>
                <a:cubicBezTo>
                  <a:pt x="138165" y="171803"/>
                  <a:pt x="134711" y="177926"/>
                  <a:pt x="129019" y="181341"/>
                </a:cubicBezTo>
                <a:lnTo>
                  <a:pt x="94400" y="202105"/>
                </a:lnTo>
                <a:cubicBezTo>
                  <a:pt x="86039" y="207129"/>
                  <a:pt x="75363" y="201085"/>
                  <a:pt x="75363" y="191350"/>
                </a:cubicBezTo>
                <a:lnTo>
                  <a:pt x="75363" y="150725"/>
                </a:lnTo>
                <a:cubicBezTo>
                  <a:pt x="75363" y="136870"/>
                  <a:pt x="64097" y="125604"/>
                  <a:pt x="50242" y="125604"/>
                </a:cubicBezTo>
                <a:lnTo>
                  <a:pt x="50203" y="125604"/>
                </a:lnTo>
                <a:close/>
                <a:moveTo>
                  <a:pt x="157005" y="62802"/>
                </a:moveTo>
                <a:cubicBezTo>
                  <a:pt x="157005" y="52404"/>
                  <a:pt x="148563" y="43962"/>
                  <a:pt x="138165" y="43962"/>
                </a:cubicBezTo>
                <a:cubicBezTo>
                  <a:pt x="127766" y="43962"/>
                  <a:pt x="119324" y="52404"/>
                  <a:pt x="119324" y="62802"/>
                </a:cubicBezTo>
                <a:cubicBezTo>
                  <a:pt x="119324" y="73201"/>
                  <a:pt x="127766" y="81643"/>
                  <a:pt x="138165" y="81643"/>
                </a:cubicBezTo>
                <a:cubicBezTo>
                  <a:pt x="148563" y="81643"/>
                  <a:pt x="157005" y="73201"/>
                  <a:pt x="157005" y="62802"/>
                </a:cubicBezTo>
                <a:close/>
              </a:path>
            </a:pathLst>
          </a:custGeom>
          <a:solidFill>
            <a:srgbClr val="D4A26A"/>
          </a:solidFill>
          <a:ln/>
        </p:spPr>
      </p:sp>
      <p:sp>
        <p:nvSpPr>
          <p:cNvPr id="39" name="Text 37"/>
          <p:cNvSpPr/>
          <p:nvPr/>
        </p:nvSpPr>
        <p:spPr>
          <a:xfrm>
            <a:off x="6839578" y="1446961"/>
            <a:ext cx="1281165" cy="267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82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Future Scope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343859" y="1915884"/>
            <a:ext cx="5340699" cy="937846"/>
          </a:xfrm>
          <a:custGeom>
            <a:avLst/>
            <a:gdLst/>
            <a:ahLst/>
            <a:cxnLst/>
            <a:rect l="l" t="t" r="r" b="b"/>
            <a:pathLst>
              <a:path w="5340699" h="937846">
                <a:moveTo>
                  <a:pt x="13335" y="0"/>
                </a:moveTo>
                <a:lnTo>
                  <a:pt x="5273675" y="0"/>
                </a:lnTo>
                <a:cubicBezTo>
                  <a:pt x="5291448" y="-34"/>
                  <a:pt x="5308504" y="7003"/>
                  <a:pt x="5321083" y="19558"/>
                </a:cubicBezTo>
                <a:cubicBezTo>
                  <a:pt x="5333662" y="32113"/>
                  <a:pt x="5340731" y="49156"/>
                  <a:pt x="5340731" y="66929"/>
                </a:cubicBezTo>
                <a:lnTo>
                  <a:pt x="5340731" y="870839"/>
                </a:lnTo>
                <a:cubicBezTo>
                  <a:pt x="5340765" y="888634"/>
                  <a:pt x="5333711" y="905709"/>
                  <a:pt x="5321128" y="918292"/>
                </a:cubicBezTo>
                <a:cubicBezTo>
                  <a:pt x="5308545" y="930875"/>
                  <a:pt x="5291470" y="937929"/>
                  <a:pt x="5273675" y="937895"/>
                </a:cubicBezTo>
                <a:lnTo>
                  <a:pt x="13335" y="937895"/>
                </a:lnTo>
                <a:cubicBezTo>
                  <a:pt x="9776" y="937895"/>
                  <a:pt x="6365" y="936473"/>
                  <a:pt x="3861" y="933944"/>
                </a:cubicBezTo>
                <a:cubicBezTo>
                  <a:pt x="1356" y="931416"/>
                  <a:pt x="-34" y="927992"/>
                  <a:pt x="0" y="924433"/>
                </a:cubicBezTo>
                <a:lnTo>
                  <a:pt x="0" y="13335"/>
                </a:lnTo>
                <a:cubicBezTo>
                  <a:pt x="0" y="5975"/>
                  <a:pt x="5975" y="0"/>
                  <a:pt x="13335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6343859" y="1915884"/>
            <a:ext cx="13398" cy="937846"/>
          </a:xfrm>
          <a:custGeom>
            <a:avLst/>
            <a:gdLst/>
            <a:ahLst/>
            <a:cxnLst/>
            <a:rect l="l" t="t" r="r" b="b"/>
            <a:pathLst>
              <a:path w="13398" h="937846">
                <a:moveTo>
                  <a:pt x="13335" y="0"/>
                </a:moveTo>
                <a:lnTo>
                  <a:pt x="13335" y="0"/>
                </a:lnTo>
                <a:lnTo>
                  <a:pt x="13335" y="937895"/>
                </a:lnTo>
                <a:lnTo>
                  <a:pt x="13335" y="937895"/>
                </a:lnTo>
                <a:cubicBezTo>
                  <a:pt x="9776" y="937895"/>
                  <a:pt x="6365" y="936473"/>
                  <a:pt x="3861" y="933944"/>
                </a:cubicBezTo>
                <a:cubicBezTo>
                  <a:pt x="1356" y="931416"/>
                  <a:pt x="-34" y="927992"/>
                  <a:pt x="0" y="924433"/>
                </a:cubicBezTo>
                <a:lnTo>
                  <a:pt x="0" y="13335"/>
                </a:lnTo>
                <a:cubicBezTo>
                  <a:pt x="0" y="5975"/>
                  <a:pt x="5975" y="0"/>
                  <a:pt x="13335" y="0"/>
                </a:cubicBezTo>
                <a:close/>
              </a:path>
            </a:pathLst>
          </a:custGeom>
          <a:solidFill>
            <a:srgbClr val="D4A26A"/>
          </a:solidFill>
          <a:ln/>
        </p:spPr>
      </p:sp>
      <p:sp>
        <p:nvSpPr>
          <p:cNvPr id="42" name="Shape 40"/>
          <p:cNvSpPr/>
          <p:nvPr/>
        </p:nvSpPr>
        <p:spPr>
          <a:xfrm>
            <a:off x="6484536" y="2049862"/>
            <a:ext cx="334945" cy="334945"/>
          </a:xfrm>
          <a:prstGeom prst="roundRect">
            <a:avLst>
              <a:gd name="adj" fmla="val 20000"/>
            </a:avLst>
          </a:prstGeom>
          <a:solidFill>
            <a:srgbClr val="D4A26A">
              <a:alpha val="20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6578740" y="2141972"/>
            <a:ext cx="150725" cy="150725"/>
          </a:xfrm>
          <a:custGeom>
            <a:avLst/>
            <a:gdLst/>
            <a:ahLst/>
            <a:cxnLst/>
            <a:rect l="l" t="t" r="r" b="b"/>
            <a:pathLst>
              <a:path w="150725" h="150725">
                <a:moveTo>
                  <a:pt x="9420" y="9420"/>
                </a:moveTo>
                <a:cubicBezTo>
                  <a:pt x="14631" y="9420"/>
                  <a:pt x="18841" y="13630"/>
                  <a:pt x="18841" y="18841"/>
                </a:cubicBezTo>
                <a:lnTo>
                  <a:pt x="18841" y="117754"/>
                </a:lnTo>
                <a:cubicBezTo>
                  <a:pt x="18841" y="120345"/>
                  <a:pt x="20960" y="122464"/>
                  <a:pt x="23551" y="122464"/>
                </a:cubicBezTo>
                <a:lnTo>
                  <a:pt x="141305" y="122464"/>
                </a:lnTo>
                <a:cubicBezTo>
                  <a:pt x="146516" y="122464"/>
                  <a:pt x="150725" y="126674"/>
                  <a:pt x="150725" y="131885"/>
                </a:cubicBezTo>
                <a:cubicBezTo>
                  <a:pt x="150725" y="137095"/>
                  <a:pt x="146516" y="141305"/>
                  <a:pt x="141305" y="141305"/>
                </a:cubicBezTo>
                <a:lnTo>
                  <a:pt x="23551" y="141305"/>
                </a:lnTo>
                <a:cubicBezTo>
                  <a:pt x="10539" y="141305"/>
                  <a:pt x="0" y="130766"/>
                  <a:pt x="0" y="117754"/>
                </a:cubicBezTo>
                <a:lnTo>
                  <a:pt x="0" y="18841"/>
                </a:lnTo>
                <a:cubicBezTo>
                  <a:pt x="0" y="13630"/>
                  <a:pt x="4210" y="9420"/>
                  <a:pt x="9420" y="9420"/>
                </a:cubicBezTo>
                <a:close/>
                <a:moveTo>
                  <a:pt x="70652" y="28261"/>
                </a:moveTo>
                <a:cubicBezTo>
                  <a:pt x="72625" y="28261"/>
                  <a:pt x="74509" y="29085"/>
                  <a:pt x="75863" y="30557"/>
                </a:cubicBezTo>
                <a:lnTo>
                  <a:pt x="96794" y="53372"/>
                </a:lnTo>
                <a:lnTo>
                  <a:pt x="110394" y="39742"/>
                </a:lnTo>
                <a:cubicBezTo>
                  <a:pt x="113162" y="36975"/>
                  <a:pt x="117636" y="36975"/>
                  <a:pt x="120374" y="39742"/>
                </a:cubicBezTo>
                <a:lnTo>
                  <a:pt x="139215" y="58583"/>
                </a:lnTo>
                <a:cubicBezTo>
                  <a:pt x="140540" y="59907"/>
                  <a:pt x="141276" y="61703"/>
                  <a:pt x="141276" y="63587"/>
                </a:cubicBezTo>
                <a:lnTo>
                  <a:pt x="141276" y="96558"/>
                </a:lnTo>
                <a:cubicBezTo>
                  <a:pt x="141276" y="100474"/>
                  <a:pt x="138126" y="103624"/>
                  <a:pt x="134210" y="103624"/>
                </a:cubicBezTo>
                <a:lnTo>
                  <a:pt x="44717" y="103624"/>
                </a:lnTo>
                <a:cubicBezTo>
                  <a:pt x="40802" y="103624"/>
                  <a:pt x="37652" y="100474"/>
                  <a:pt x="37652" y="96558"/>
                </a:cubicBezTo>
                <a:lnTo>
                  <a:pt x="37652" y="63587"/>
                </a:lnTo>
                <a:cubicBezTo>
                  <a:pt x="37652" y="61821"/>
                  <a:pt x="38329" y="60113"/>
                  <a:pt x="39507" y="58818"/>
                </a:cubicBezTo>
                <a:lnTo>
                  <a:pt x="65412" y="30557"/>
                </a:lnTo>
                <a:cubicBezTo>
                  <a:pt x="66737" y="29085"/>
                  <a:pt x="68651" y="28261"/>
                  <a:pt x="70623" y="28261"/>
                </a:cubicBezTo>
                <a:close/>
              </a:path>
            </a:pathLst>
          </a:custGeom>
          <a:solidFill>
            <a:srgbClr val="D4A26A"/>
          </a:solidFill>
          <a:ln/>
        </p:spPr>
      </p:sp>
      <p:sp>
        <p:nvSpPr>
          <p:cNvPr id="44" name="Text 42"/>
          <p:cNvSpPr/>
          <p:nvPr/>
        </p:nvSpPr>
        <p:spPr>
          <a:xfrm>
            <a:off x="6919965" y="2049862"/>
            <a:ext cx="4697604" cy="2009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5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Time-Series Anomaly Forecasting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919965" y="2317818"/>
            <a:ext cx="4697604" cy="4019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5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Add deeper </a:t>
            </a:r>
            <a:r>
              <a:rPr lang="en-US" sz="1055" b="1" dirty="0">
                <a:solidFill>
                  <a:srgbClr val="D4A2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time-series anomaly detection routines</a:t>
            </a:r>
            <a:r>
              <a:rPr lang="en-US" sz="1055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to identify trending patterns and forecast emerging topics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343859" y="2987708"/>
            <a:ext cx="5340699" cy="937846"/>
          </a:xfrm>
          <a:custGeom>
            <a:avLst/>
            <a:gdLst/>
            <a:ahLst/>
            <a:cxnLst/>
            <a:rect l="l" t="t" r="r" b="b"/>
            <a:pathLst>
              <a:path w="5340699" h="937846">
                <a:moveTo>
                  <a:pt x="13335" y="0"/>
                </a:moveTo>
                <a:lnTo>
                  <a:pt x="5273675" y="0"/>
                </a:lnTo>
                <a:cubicBezTo>
                  <a:pt x="5291448" y="-34"/>
                  <a:pt x="5308504" y="7003"/>
                  <a:pt x="5321083" y="19558"/>
                </a:cubicBezTo>
                <a:cubicBezTo>
                  <a:pt x="5333662" y="32113"/>
                  <a:pt x="5340731" y="49156"/>
                  <a:pt x="5340731" y="66929"/>
                </a:cubicBezTo>
                <a:lnTo>
                  <a:pt x="5340731" y="870839"/>
                </a:lnTo>
                <a:cubicBezTo>
                  <a:pt x="5340765" y="888634"/>
                  <a:pt x="5333711" y="905709"/>
                  <a:pt x="5321128" y="918292"/>
                </a:cubicBezTo>
                <a:cubicBezTo>
                  <a:pt x="5308545" y="930875"/>
                  <a:pt x="5291470" y="937929"/>
                  <a:pt x="5273675" y="937895"/>
                </a:cubicBezTo>
                <a:lnTo>
                  <a:pt x="13335" y="937895"/>
                </a:lnTo>
                <a:cubicBezTo>
                  <a:pt x="9776" y="937895"/>
                  <a:pt x="6365" y="936473"/>
                  <a:pt x="3861" y="933944"/>
                </a:cubicBezTo>
                <a:cubicBezTo>
                  <a:pt x="1356" y="931416"/>
                  <a:pt x="-34" y="927992"/>
                  <a:pt x="0" y="924433"/>
                </a:cubicBezTo>
                <a:lnTo>
                  <a:pt x="0" y="13335"/>
                </a:lnTo>
                <a:cubicBezTo>
                  <a:pt x="0" y="5975"/>
                  <a:pt x="5975" y="0"/>
                  <a:pt x="13335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6343859" y="2987708"/>
            <a:ext cx="13398" cy="937846"/>
          </a:xfrm>
          <a:custGeom>
            <a:avLst/>
            <a:gdLst/>
            <a:ahLst/>
            <a:cxnLst/>
            <a:rect l="l" t="t" r="r" b="b"/>
            <a:pathLst>
              <a:path w="13398" h="937846">
                <a:moveTo>
                  <a:pt x="13335" y="0"/>
                </a:moveTo>
                <a:lnTo>
                  <a:pt x="13335" y="0"/>
                </a:lnTo>
                <a:lnTo>
                  <a:pt x="13335" y="937895"/>
                </a:lnTo>
                <a:lnTo>
                  <a:pt x="13335" y="937895"/>
                </a:lnTo>
                <a:cubicBezTo>
                  <a:pt x="9776" y="937895"/>
                  <a:pt x="6365" y="936473"/>
                  <a:pt x="3861" y="933944"/>
                </a:cubicBezTo>
                <a:cubicBezTo>
                  <a:pt x="1356" y="931416"/>
                  <a:pt x="-34" y="927992"/>
                  <a:pt x="0" y="924433"/>
                </a:cubicBezTo>
                <a:lnTo>
                  <a:pt x="0" y="13335"/>
                </a:lnTo>
                <a:cubicBezTo>
                  <a:pt x="0" y="5975"/>
                  <a:pt x="5975" y="0"/>
                  <a:pt x="13335" y="0"/>
                </a:cubicBezTo>
                <a:close/>
              </a:path>
            </a:pathLst>
          </a:custGeom>
          <a:solidFill>
            <a:srgbClr val="6B7A8F"/>
          </a:solidFill>
          <a:ln/>
        </p:spPr>
      </p:sp>
      <p:sp>
        <p:nvSpPr>
          <p:cNvPr id="48" name="Shape 46"/>
          <p:cNvSpPr/>
          <p:nvPr/>
        </p:nvSpPr>
        <p:spPr>
          <a:xfrm>
            <a:off x="6484536" y="3121686"/>
            <a:ext cx="334945" cy="334945"/>
          </a:xfrm>
          <a:prstGeom prst="roundRect">
            <a:avLst>
              <a:gd name="adj" fmla="val 20000"/>
            </a:avLst>
          </a:prstGeom>
          <a:solidFill>
            <a:srgbClr val="6B7A8F">
              <a:alpha val="20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6578740" y="3213796"/>
            <a:ext cx="150725" cy="150725"/>
          </a:xfrm>
          <a:custGeom>
            <a:avLst/>
            <a:gdLst/>
            <a:ahLst/>
            <a:cxnLst/>
            <a:rect l="l" t="t" r="r" b="b"/>
            <a:pathLst>
              <a:path w="150725" h="150725">
                <a:moveTo>
                  <a:pt x="141334" y="56522"/>
                </a:moveTo>
                <a:lnTo>
                  <a:pt x="143660" y="56522"/>
                </a:lnTo>
                <a:cubicBezTo>
                  <a:pt x="147575" y="56522"/>
                  <a:pt x="150725" y="53372"/>
                  <a:pt x="150725" y="49457"/>
                </a:cubicBezTo>
                <a:lnTo>
                  <a:pt x="150725" y="7065"/>
                </a:lnTo>
                <a:cubicBezTo>
                  <a:pt x="150725" y="4210"/>
                  <a:pt x="149018" y="1619"/>
                  <a:pt x="146368" y="530"/>
                </a:cubicBezTo>
                <a:cubicBezTo>
                  <a:pt x="143719" y="-559"/>
                  <a:pt x="140687" y="59"/>
                  <a:pt x="138655" y="2061"/>
                </a:cubicBezTo>
                <a:lnTo>
                  <a:pt x="123436" y="17310"/>
                </a:lnTo>
                <a:cubicBezTo>
                  <a:pt x="110394" y="6506"/>
                  <a:pt x="93615" y="0"/>
                  <a:pt x="75363" y="0"/>
                </a:cubicBezTo>
                <a:cubicBezTo>
                  <a:pt x="37387" y="0"/>
                  <a:pt x="5976" y="28084"/>
                  <a:pt x="765" y="64618"/>
                </a:cubicBezTo>
                <a:cubicBezTo>
                  <a:pt x="29" y="69769"/>
                  <a:pt x="3592" y="74538"/>
                  <a:pt x="8743" y="75274"/>
                </a:cubicBezTo>
                <a:cubicBezTo>
                  <a:pt x="13895" y="76010"/>
                  <a:pt x="18664" y="72419"/>
                  <a:pt x="19400" y="67296"/>
                </a:cubicBezTo>
                <a:cubicBezTo>
                  <a:pt x="23315" y="39889"/>
                  <a:pt x="46896" y="18841"/>
                  <a:pt x="75363" y="18841"/>
                </a:cubicBezTo>
                <a:cubicBezTo>
                  <a:pt x="88433" y="18841"/>
                  <a:pt x="100444" y="23256"/>
                  <a:pt x="110012" y="30704"/>
                </a:cubicBezTo>
                <a:lnTo>
                  <a:pt x="96264" y="44452"/>
                </a:lnTo>
                <a:cubicBezTo>
                  <a:pt x="94233" y="46483"/>
                  <a:pt x="93644" y="49516"/>
                  <a:pt x="94733" y="52165"/>
                </a:cubicBezTo>
                <a:cubicBezTo>
                  <a:pt x="95822" y="54815"/>
                  <a:pt x="98413" y="56522"/>
                  <a:pt x="101269" y="56522"/>
                </a:cubicBezTo>
                <a:lnTo>
                  <a:pt x="141334" y="56522"/>
                </a:lnTo>
                <a:close/>
                <a:moveTo>
                  <a:pt x="149989" y="86108"/>
                </a:moveTo>
                <a:cubicBezTo>
                  <a:pt x="150725" y="80956"/>
                  <a:pt x="147134" y="76187"/>
                  <a:pt x="142011" y="75451"/>
                </a:cubicBezTo>
                <a:cubicBezTo>
                  <a:pt x="136889" y="74715"/>
                  <a:pt x="132091" y="78306"/>
                  <a:pt x="131355" y="83429"/>
                </a:cubicBezTo>
                <a:cubicBezTo>
                  <a:pt x="127439" y="110807"/>
                  <a:pt x="103859" y="131855"/>
                  <a:pt x="75392" y="131855"/>
                </a:cubicBezTo>
                <a:cubicBezTo>
                  <a:pt x="62321" y="131855"/>
                  <a:pt x="50310" y="127439"/>
                  <a:pt x="40743" y="119991"/>
                </a:cubicBezTo>
                <a:lnTo>
                  <a:pt x="54461" y="106273"/>
                </a:lnTo>
                <a:cubicBezTo>
                  <a:pt x="56493" y="104242"/>
                  <a:pt x="57081" y="101210"/>
                  <a:pt x="55992" y="98560"/>
                </a:cubicBezTo>
                <a:cubicBezTo>
                  <a:pt x="54903" y="95911"/>
                  <a:pt x="52312" y="94203"/>
                  <a:pt x="49457" y="94203"/>
                </a:cubicBezTo>
                <a:lnTo>
                  <a:pt x="7065" y="94203"/>
                </a:lnTo>
                <a:cubicBezTo>
                  <a:pt x="3150" y="94203"/>
                  <a:pt x="0" y="97353"/>
                  <a:pt x="0" y="101269"/>
                </a:cubicBezTo>
                <a:lnTo>
                  <a:pt x="0" y="143660"/>
                </a:lnTo>
                <a:cubicBezTo>
                  <a:pt x="0" y="146516"/>
                  <a:pt x="1707" y="149106"/>
                  <a:pt x="4357" y="150195"/>
                </a:cubicBezTo>
                <a:cubicBezTo>
                  <a:pt x="7006" y="151285"/>
                  <a:pt x="10039" y="150666"/>
                  <a:pt x="12070" y="148665"/>
                </a:cubicBezTo>
                <a:lnTo>
                  <a:pt x="27319" y="133415"/>
                </a:lnTo>
                <a:cubicBezTo>
                  <a:pt x="40331" y="144219"/>
                  <a:pt x="57111" y="150725"/>
                  <a:pt x="75363" y="150725"/>
                </a:cubicBezTo>
                <a:cubicBezTo>
                  <a:pt x="113338" y="150725"/>
                  <a:pt x="144749" y="122641"/>
                  <a:pt x="149960" y="86108"/>
                </a:cubicBezTo>
                <a:close/>
              </a:path>
            </a:pathLst>
          </a:custGeom>
          <a:solidFill>
            <a:srgbClr val="6B7A8F"/>
          </a:solidFill>
          <a:ln/>
        </p:spPr>
      </p:sp>
      <p:sp>
        <p:nvSpPr>
          <p:cNvPr id="50" name="Text 48"/>
          <p:cNvSpPr/>
          <p:nvPr/>
        </p:nvSpPr>
        <p:spPr>
          <a:xfrm>
            <a:off x="6919965" y="3121686"/>
            <a:ext cx="4697604" cy="2009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5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Live Backend Integration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6919965" y="3389642"/>
            <a:ext cx="4697604" cy="4019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5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Transition from static frozen_corpus to </a:t>
            </a:r>
            <a:r>
              <a:rPr lang="en-US" sz="1055" b="1" dirty="0">
                <a:solidFill>
                  <a:srgbClr val="6B7A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live updating backend warehouse</a:t>
            </a:r>
            <a:r>
              <a:rPr lang="en-US" sz="1055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with dynamic daily chart rebuilding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6343859" y="4059532"/>
            <a:ext cx="5340699" cy="937846"/>
          </a:xfrm>
          <a:custGeom>
            <a:avLst/>
            <a:gdLst/>
            <a:ahLst/>
            <a:cxnLst/>
            <a:rect l="l" t="t" r="r" b="b"/>
            <a:pathLst>
              <a:path w="5340699" h="937846">
                <a:moveTo>
                  <a:pt x="13335" y="0"/>
                </a:moveTo>
                <a:lnTo>
                  <a:pt x="5273675" y="0"/>
                </a:lnTo>
                <a:cubicBezTo>
                  <a:pt x="5291448" y="-34"/>
                  <a:pt x="5308504" y="7003"/>
                  <a:pt x="5321083" y="19558"/>
                </a:cubicBezTo>
                <a:cubicBezTo>
                  <a:pt x="5333662" y="32113"/>
                  <a:pt x="5340731" y="49156"/>
                  <a:pt x="5340731" y="66929"/>
                </a:cubicBezTo>
                <a:lnTo>
                  <a:pt x="5340731" y="870839"/>
                </a:lnTo>
                <a:cubicBezTo>
                  <a:pt x="5340765" y="888634"/>
                  <a:pt x="5333711" y="905709"/>
                  <a:pt x="5321128" y="918292"/>
                </a:cubicBezTo>
                <a:cubicBezTo>
                  <a:pt x="5308545" y="930875"/>
                  <a:pt x="5291470" y="937929"/>
                  <a:pt x="5273675" y="937895"/>
                </a:cubicBezTo>
                <a:lnTo>
                  <a:pt x="13335" y="937895"/>
                </a:lnTo>
                <a:cubicBezTo>
                  <a:pt x="9776" y="937895"/>
                  <a:pt x="6365" y="936473"/>
                  <a:pt x="3861" y="933944"/>
                </a:cubicBezTo>
                <a:cubicBezTo>
                  <a:pt x="1356" y="931416"/>
                  <a:pt x="-34" y="927992"/>
                  <a:pt x="0" y="924433"/>
                </a:cubicBezTo>
                <a:lnTo>
                  <a:pt x="0" y="13335"/>
                </a:lnTo>
                <a:cubicBezTo>
                  <a:pt x="0" y="5975"/>
                  <a:pt x="5975" y="0"/>
                  <a:pt x="13335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6343859" y="4059532"/>
            <a:ext cx="13398" cy="937846"/>
          </a:xfrm>
          <a:custGeom>
            <a:avLst/>
            <a:gdLst/>
            <a:ahLst/>
            <a:cxnLst/>
            <a:rect l="l" t="t" r="r" b="b"/>
            <a:pathLst>
              <a:path w="13398" h="937846">
                <a:moveTo>
                  <a:pt x="13335" y="0"/>
                </a:moveTo>
                <a:lnTo>
                  <a:pt x="13335" y="0"/>
                </a:lnTo>
                <a:lnTo>
                  <a:pt x="13335" y="937895"/>
                </a:lnTo>
                <a:lnTo>
                  <a:pt x="13335" y="937895"/>
                </a:lnTo>
                <a:cubicBezTo>
                  <a:pt x="9776" y="937895"/>
                  <a:pt x="6365" y="936473"/>
                  <a:pt x="3861" y="933944"/>
                </a:cubicBezTo>
                <a:cubicBezTo>
                  <a:pt x="1356" y="931416"/>
                  <a:pt x="-34" y="927992"/>
                  <a:pt x="0" y="924433"/>
                </a:cubicBezTo>
                <a:lnTo>
                  <a:pt x="0" y="13335"/>
                </a:lnTo>
                <a:cubicBezTo>
                  <a:pt x="0" y="5975"/>
                  <a:pt x="5975" y="0"/>
                  <a:pt x="13335" y="0"/>
                </a:cubicBezTo>
                <a:close/>
              </a:path>
            </a:pathLst>
          </a:custGeom>
          <a:solidFill>
            <a:srgbClr val="D4A26A"/>
          </a:solidFill>
          <a:ln/>
        </p:spPr>
      </p:sp>
      <p:sp>
        <p:nvSpPr>
          <p:cNvPr id="54" name="Shape 52"/>
          <p:cNvSpPr/>
          <p:nvPr/>
        </p:nvSpPr>
        <p:spPr>
          <a:xfrm>
            <a:off x="6484536" y="4193510"/>
            <a:ext cx="334945" cy="334945"/>
          </a:xfrm>
          <a:prstGeom prst="roundRect">
            <a:avLst>
              <a:gd name="adj" fmla="val 20000"/>
            </a:avLst>
          </a:prstGeom>
          <a:solidFill>
            <a:srgbClr val="D4A26A">
              <a:alpha val="20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6588160" y="4285620"/>
            <a:ext cx="131885" cy="150725"/>
          </a:xfrm>
          <a:custGeom>
            <a:avLst/>
            <a:gdLst/>
            <a:ahLst/>
            <a:cxnLst/>
            <a:rect l="l" t="t" r="r" b="b"/>
            <a:pathLst>
              <a:path w="131885" h="150725">
                <a:moveTo>
                  <a:pt x="49457" y="9420"/>
                </a:moveTo>
                <a:lnTo>
                  <a:pt x="7065" y="9420"/>
                </a:lnTo>
                <a:cubicBezTo>
                  <a:pt x="3150" y="9420"/>
                  <a:pt x="0" y="12570"/>
                  <a:pt x="0" y="16486"/>
                </a:cubicBezTo>
                <a:lnTo>
                  <a:pt x="0" y="58877"/>
                </a:lnTo>
                <a:cubicBezTo>
                  <a:pt x="0" y="61733"/>
                  <a:pt x="1707" y="64323"/>
                  <a:pt x="4357" y="65412"/>
                </a:cubicBezTo>
                <a:cubicBezTo>
                  <a:pt x="7006" y="66502"/>
                  <a:pt x="10039" y="65883"/>
                  <a:pt x="12070" y="63882"/>
                </a:cubicBezTo>
                <a:lnTo>
                  <a:pt x="23845" y="52106"/>
                </a:lnTo>
                <a:lnTo>
                  <a:pt x="47102" y="75363"/>
                </a:lnTo>
                <a:lnTo>
                  <a:pt x="23845" y="98619"/>
                </a:lnTo>
                <a:lnTo>
                  <a:pt x="12070" y="86844"/>
                </a:lnTo>
                <a:cubicBezTo>
                  <a:pt x="10039" y="84812"/>
                  <a:pt x="7006" y="84224"/>
                  <a:pt x="4357" y="85313"/>
                </a:cubicBezTo>
                <a:cubicBezTo>
                  <a:pt x="1707" y="86402"/>
                  <a:pt x="0" y="88993"/>
                  <a:pt x="0" y="91848"/>
                </a:cubicBezTo>
                <a:lnTo>
                  <a:pt x="0" y="134240"/>
                </a:lnTo>
                <a:cubicBezTo>
                  <a:pt x="0" y="138155"/>
                  <a:pt x="3150" y="141305"/>
                  <a:pt x="7065" y="141305"/>
                </a:cubicBezTo>
                <a:lnTo>
                  <a:pt x="49457" y="141305"/>
                </a:lnTo>
                <a:cubicBezTo>
                  <a:pt x="52312" y="141305"/>
                  <a:pt x="54903" y="139598"/>
                  <a:pt x="55992" y="136948"/>
                </a:cubicBezTo>
                <a:cubicBezTo>
                  <a:pt x="57081" y="134299"/>
                  <a:pt x="56493" y="131266"/>
                  <a:pt x="54461" y="129235"/>
                </a:cubicBezTo>
                <a:lnTo>
                  <a:pt x="42686" y="117460"/>
                </a:lnTo>
                <a:lnTo>
                  <a:pt x="65942" y="94203"/>
                </a:lnTo>
                <a:lnTo>
                  <a:pt x="89199" y="117460"/>
                </a:lnTo>
                <a:lnTo>
                  <a:pt x="77423" y="129235"/>
                </a:lnTo>
                <a:cubicBezTo>
                  <a:pt x="75392" y="131266"/>
                  <a:pt x="74803" y="134299"/>
                  <a:pt x="75893" y="136948"/>
                </a:cubicBezTo>
                <a:cubicBezTo>
                  <a:pt x="76982" y="139598"/>
                  <a:pt x="79572" y="141305"/>
                  <a:pt x="82428" y="141305"/>
                </a:cubicBezTo>
                <a:lnTo>
                  <a:pt x="124819" y="141305"/>
                </a:lnTo>
                <a:cubicBezTo>
                  <a:pt x="128735" y="141305"/>
                  <a:pt x="131885" y="138155"/>
                  <a:pt x="131885" y="134240"/>
                </a:cubicBezTo>
                <a:lnTo>
                  <a:pt x="131885" y="91848"/>
                </a:lnTo>
                <a:cubicBezTo>
                  <a:pt x="131885" y="88993"/>
                  <a:pt x="130177" y="86402"/>
                  <a:pt x="127528" y="85313"/>
                </a:cubicBezTo>
                <a:cubicBezTo>
                  <a:pt x="124878" y="84224"/>
                  <a:pt x="121846" y="84812"/>
                  <a:pt x="119815" y="86844"/>
                </a:cubicBezTo>
                <a:lnTo>
                  <a:pt x="108039" y="98619"/>
                </a:lnTo>
                <a:lnTo>
                  <a:pt x="84783" y="75363"/>
                </a:lnTo>
                <a:lnTo>
                  <a:pt x="108039" y="52106"/>
                </a:lnTo>
                <a:lnTo>
                  <a:pt x="119815" y="63882"/>
                </a:lnTo>
                <a:cubicBezTo>
                  <a:pt x="121846" y="65913"/>
                  <a:pt x="124878" y="66502"/>
                  <a:pt x="127528" y="65412"/>
                </a:cubicBezTo>
                <a:cubicBezTo>
                  <a:pt x="130177" y="64323"/>
                  <a:pt x="131885" y="61733"/>
                  <a:pt x="131885" y="58877"/>
                </a:cubicBezTo>
                <a:lnTo>
                  <a:pt x="131885" y="16486"/>
                </a:lnTo>
                <a:cubicBezTo>
                  <a:pt x="131885" y="12570"/>
                  <a:pt x="128735" y="9420"/>
                  <a:pt x="124819" y="9420"/>
                </a:cubicBezTo>
                <a:lnTo>
                  <a:pt x="82428" y="9420"/>
                </a:lnTo>
                <a:cubicBezTo>
                  <a:pt x="79572" y="9420"/>
                  <a:pt x="76982" y="11128"/>
                  <a:pt x="75893" y="13777"/>
                </a:cubicBezTo>
                <a:cubicBezTo>
                  <a:pt x="74803" y="16427"/>
                  <a:pt x="75422" y="19459"/>
                  <a:pt x="77423" y="21490"/>
                </a:cubicBezTo>
                <a:lnTo>
                  <a:pt x="89199" y="33266"/>
                </a:lnTo>
                <a:lnTo>
                  <a:pt x="65942" y="56522"/>
                </a:lnTo>
                <a:lnTo>
                  <a:pt x="42686" y="33266"/>
                </a:lnTo>
                <a:lnTo>
                  <a:pt x="54461" y="21490"/>
                </a:lnTo>
                <a:cubicBezTo>
                  <a:pt x="56493" y="19459"/>
                  <a:pt x="57081" y="16427"/>
                  <a:pt x="55992" y="13777"/>
                </a:cubicBezTo>
                <a:cubicBezTo>
                  <a:pt x="54903" y="11128"/>
                  <a:pt x="52312" y="9420"/>
                  <a:pt x="49457" y="9420"/>
                </a:cubicBezTo>
                <a:close/>
              </a:path>
            </a:pathLst>
          </a:custGeom>
          <a:solidFill>
            <a:srgbClr val="D4A26A"/>
          </a:solidFill>
          <a:ln/>
        </p:spPr>
      </p:sp>
      <p:sp>
        <p:nvSpPr>
          <p:cNvPr id="56" name="Text 54"/>
          <p:cNvSpPr/>
          <p:nvPr/>
        </p:nvSpPr>
        <p:spPr>
          <a:xfrm>
            <a:off x="6919965" y="4193510"/>
            <a:ext cx="4697604" cy="2009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5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Real-Time Event Cascade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6919965" y="4461466"/>
            <a:ext cx="4697604" cy="4019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5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Dynamically rebuild charts daily as news events cascade, providing always-current business intelligence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6340510" y="5851281"/>
            <a:ext cx="5340699" cy="609600"/>
          </a:xfrm>
          <a:prstGeom prst="roundRect">
            <a:avLst>
              <a:gd name="adj" fmla="val 10989"/>
            </a:avLst>
          </a:prstGeom>
          <a:solidFill>
            <a:srgbClr val="D4A26A">
              <a:alpha val="10196"/>
            </a:srgbClr>
          </a:solidFill>
          <a:ln w="10160">
            <a:solidFill>
              <a:srgbClr val="D4A26A">
                <a:alpha val="30196"/>
              </a:srgbClr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444343" y="5955112"/>
            <a:ext cx="5200022" cy="4019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5" b="1" dirty="0">
                <a:solidFill>
                  <a:srgbClr val="D4A2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Vision:</a:t>
            </a:r>
            <a:r>
              <a:rPr lang="en-US" sz="1055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An autonomous data mining engine that continuously discovers, categorizes, and visualizes patterns from live news streams without human intervention.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5beqdm23l5qus/images/6_119_842_Analytics_Abstract_Stock.png"/>
          <p:cNvPicPr>
            <a:picLocks noChangeAspect="1"/>
          </p:cNvPicPr>
          <p:nvPr/>
        </p:nvPicPr>
        <p:blipFill>
          <a:blip r:embed="rId3">
            <a:alphaModFix amt="40000"/>
          </a:blip>
          <a:srcRect l="1111" r="1111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rgbClr val="1A1D21">
                  <a:alpha val="95000"/>
                </a:srgbClr>
              </a:gs>
              <a:gs pos="50000">
                <a:srgbClr val="1A1D21">
                  <a:alpha val="85000"/>
                </a:srgbClr>
              </a:gs>
              <a:gs pos="100000">
                <a:srgbClr val="6B7A8F">
                  <a:alpha val="30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5638681" y="1428750"/>
            <a:ext cx="914400" cy="38100"/>
          </a:xfrm>
          <a:prstGeom prst="roundRect">
            <a:avLst>
              <a:gd name="adj" fmla="val 0"/>
            </a:avLst>
          </a:prstGeom>
          <a:solidFill>
            <a:srgbClr val="D4A26A"/>
          </a:solidFill>
          <a:ln/>
        </p:spPr>
      </p:sp>
      <p:sp>
        <p:nvSpPr>
          <p:cNvPr id="5" name="Text 2"/>
          <p:cNvSpPr/>
          <p:nvPr/>
        </p:nvSpPr>
        <p:spPr>
          <a:xfrm>
            <a:off x="4334113" y="1771650"/>
            <a:ext cx="35242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54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Thank You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4434126" y="2686050"/>
            <a:ext cx="33242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dirty="0">
                <a:solidFill>
                  <a:srgbClr val="6B7A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Concepts of Data Mining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457938" y="3181350"/>
            <a:ext cx="3276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dirty="0">
                <a:solidFill>
                  <a:srgbClr val="E2E8F0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Final Project Presentation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142184" y="4210050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D4A26A">
              <a:alpha val="20000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4288631" y="4371975"/>
            <a:ext cx="321469" cy="285750"/>
          </a:xfrm>
          <a:custGeom>
            <a:avLst/>
            <a:gdLst/>
            <a:ahLst/>
            <a:cxnLst/>
            <a:rect l="l" t="t" r="r" b="b"/>
            <a:pathLst>
              <a:path w="321469" h="285750">
                <a:moveTo>
                  <a:pt x="17859" y="66638"/>
                </a:moveTo>
                <a:cubicBezTo>
                  <a:pt x="7200" y="60499"/>
                  <a:pt x="0" y="48946"/>
                  <a:pt x="0" y="35719"/>
                </a:cubicBezTo>
                <a:cubicBezTo>
                  <a:pt x="0" y="16018"/>
                  <a:pt x="16018" y="0"/>
                  <a:pt x="35719" y="0"/>
                </a:cubicBezTo>
                <a:cubicBezTo>
                  <a:pt x="48946" y="0"/>
                  <a:pt x="60499" y="7200"/>
                  <a:pt x="66638" y="17859"/>
                </a:cubicBezTo>
                <a:lnTo>
                  <a:pt x="254775" y="17859"/>
                </a:lnTo>
                <a:cubicBezTo>
                  <a:pt x="260970" y="7200"/>
                  <a:pt x="272467" y="0"/>
                  <a:pt x="285694" y="0"/>
                </a:cubicBezTo>
                <a:cubicBezTo>
                  <a:pt x="305395" y="0"/>
                  <a:pt x="321413" y="16018"/>
                  <a:pt x="321413" y="35719"/>
                </a:cubicBezTo>
                <a:cubicBezTo>
                  <a:pt x="321413" y="48946"/>
                  <a:pt x="314213" y="60499"/>
                  <a:pt x="303554" y="66638"/>
                </a:cubicBezTo>
                <a:lnTo>
                  <a:pt x="303554" y="219056"/>
                </a:lnTo>
                <a:cubicBezTo>
                  <a:pt x="314213" y="225251"/>
                  <a:pt x="321413" y="236748"/>
                  <a:pt x="321413" y="249975"/>
                </a:cubicBezTo>
                <a:cubicBezTo>
                  <a:pt x="321413" y="269677"/>
                  <a:pt x="305395" y="285694"/>
                  <a:pt x="285694" y="285694"/>
                </a:cubicBezTo>
                <a:cubicBezTo>
                  <a:pt x="272467" y="285694"/>
                  <a:pt x="260914" y="278495"/>
                  <a:pt x="254775" y="267835"/>
                </a:cubicBezTo>
                <a:lnTo>
                  <a:pt x="66638" y="267835"/>
                </a:lnTo>
                <a:cubicBezTo>
                  <a:pt x="60443" y="278495"/>
                  <a:pt x="48946" y="285694"/>
                  <a:pt x="35719" y="285694"/>
                </a:cubicBezTo>
                <a:cubicBezTo>
                  <a:pt x="16018" y="285694"/>
                  <a:pt x="0" y="269677"/>
                  <a:pt x="0" y="249975"/>
                </a:cubicBezTo>
                <a:cubicBezTo>
                  <a:pt x="0" y="236748"/>
                  <a:pt x="7200" y="225196"/>
                  <a:pt x="17859" y="219056"/>
                </a:cubicBezTo>
                <a:lnTo>
                  <a:pt x="17859" y="66638"/>
                </a:lnTo>
                <a:close/>
                <a:moveTo>
                  <a:pt x="267891" y="66638"/>
                </a:moveTo>
                <a:cubicBezTo>
                  <a:pt x="262477" y="63512"/>
                  <a:pt x="257956" y="58992"/>
                  <a:pt x="254831" y="53578"/>
                </a:cubicBezTo>
                <a:lnTo>
                  <a:pt x="66638" y="53578"/>
                </a:lnTo>
                <a:cubicBezTo>
                  <a:pt x="63512" y="58992"/>
                  <a:pt x="58992" y="63512"/>
                  <a:pt x="53578" y="66638"/>
                </a:cubicBezTo>
                <a:lnTo>
                  <a:pt x="53578" y="219056"/>
                </a:lnTo>
                <a:cubicBezTo>
                  <a:pt x="58992" y="222182"/>
                  <a:pt x="63512" y="226702"/>
                  <a:pt x="66638" y="232116"/>
                </a:cubicBezTo>
                <a:lnTo>
                  <a:pt x="254775" y="232116"/>
                </a:lnTo>
                <a:cubicBezTo>
                  <a:pt x="257901" y="226702"/>
                  <a:pt x="262421" y="222182"/>
                  <a:pt x="267835" y="219056"/>
                </a:cubicBezTo>
                <a:lnTo>
                  <a:pt x="267835" y="66638"/>
                </a:lnTo>
                <a:close/>
                <a:moveTo>
                  <a:pt x="80367" y="98227"/>
                </a:moveTo>
                <a:cubicBezTo>
                  <a:pt x="80367" y="88348"/>
                  <a:pt x="88348" y="80367"/>
                  <a:pt x="98227" y="80367"/>
                </a:cubicBezTo>
                <a:lnTo>
                  <a:pt x="160734" y="80367"/>
                </a:lnTo>
                <a:cubicBezTo>
                  <a:pt x="170613" y="80367"/>
                  <a:pt x="178594" y="88348"/>
                  <a:pt x="178594" y="98227"/>
                </a:cubicBezTo>
                <a:lnTo>
                  <a:pt x="178594" y="133945"/>
                </a:lnTo>
                <a:cubicBezTo>
                  <a:pt x="178594" y="143824"/>
                  <a:pt x="170613" y="151805"/>
                  <a:pt x="160734" y="151805"/>
                </a:cubicBezTo>
                <a:lnTo>
                  <a:pt x="98227" y="151805"/>
                </a:lnTo>
                <a:cubicBezTo>
                  <a:pt x="88348" y="151805"/>
                  <a:pt x="80367" y="143824"/>
                  <a:pt x="80367" y="133945"/>
                </a:cubicBezTo>
                <a:lnTo>
                  <a:pt x="80367" y="98227"/>
                </a:lnTo>
                <a:close/>
                <a:moveTo>
                  <a:pt x="142875" y="178594"/>
                </a:moveTo>
                <a:lnTo>
                  <a:pt x="160734" y="178594"/>
                </a:lnTo>
                <a:cubicBezTo>
                  <a:pt x="185403" y="178594"/>
                  <a:pt x="205383" y="158614"/>
                  <a:pt x="205383" y="133945"/>
                </a:cubicBezTo>
                <a:lnTo>
                  <a:pt x="223242" y="133945"/>
                </a:lnTo>
                <a:cubicBezTo>
                  <a:pt x="233121" y="133945"/>
                  <a:pt x="241102" y="141926"/>
                  <a:pt x="241102" y="151805"/>
                </a:cubicBezTo>
                <a:lnTo>
                  <a:pt x="241102" y="187523"/>
                </a:lnTo>
                <a:cubicBezTo>
                  <a:pt x="241102" y="197402"/>
                  <a:pt x="233121" y="205383"/>
                  <a:pt x="223242" y="205383"/>
                </a:cubicBezTo>
                <a:lnTo>
                  <a:pt x="160734" y="205383"/>
                </a:lnTo>
                <a:cubicBezTo>
                  <a:pt x="150856" y="205383"/>
                  <a:pt x="142875" y="197402"/>
                  <a:pt x="142875" y="187523"/>
                </a:cubicBezTo>
                <a:lnTo>
                  <a:pt x="142875" y="178594"/>
                </a:lnTo>
                <a:close/>
              </a:path>
            </a:pathLst>
          </a:custGeom>
          <a:solidFill>
            <a:srgbClr val="D4A26A"/>
          </a:solidFill>
          <a:ln/>
        </p:spPr>
      </p:sp>
      <p:sp>
        <p:nvSpPr>
          <p:cNvPr id="10" name="Text 7"/>
          <p:cNvSpPr/>
          <p:nvPr/>
        </p:nvSpPr>
        <p:spPr>
          <a:xfrm>
            <a:off x="3732133" y="4933950"/>
            <a:ext cx="1428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Clustering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3736896" y="5200650"/>
            <a:ext cx="14192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E2E8F0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Bisecting K-Means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5791081" y="4210050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6B7A8F">
              <a:alpha val="20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5955387" y="4371975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0" y="44648"/>
                </a:moveTo>
                <a:cubicBezTo>
                  <a:pt x="0" y="29859"/>
                  <a:pt x="11999" y="17859"/>
                  <a:pt x="26789" y="17859"/>
                </a:cubicBezTo>
                <a:lnTo>
                  <a:pt x="80367" y="17859"/>
                </a:lnTo>
                <a:cubicBezTo>
                  <a:pt x="95157" y="17859"/>
                  <a:pt x="107156" y="29859"/>
                  <a:pt x="107156" y="44648"/>
                </a:cubicBezTo>
                <a:lnTo>
                  <a:pt x="107156" y="53578"/>
                </a:lnTo>
                <a:lnTo>
                  <a:pt x="178594" y="53578"/>
                </a:lnTo>
                <a:lnTo>
                  <a:pt x="178594" y="44648"/>
                </a:lnTo>
                <a:cubicBezTo>
                  <a:pt x="178594" y="29859"/>
                  <a:pt x="190593" y="17859"/>
                  <a:pt x="205383" y="17859"/>
                </a:cubicBezTo>
                <a:lnTo>
                  <a:pt x="258961" y="17859"/>
                </a:lnTo>
                <a:cubicBezTo>
                  <a:pt x="273751" y="17859"/>
                  <a:pt x="285750" y="29859"/>
                  <a:pt x="285750" y="44648"/>
                </a:cubicBezTo>
                <a:lnTo>
                  <a:pt x="285750" y="98227"/>
                </a:lnTo>
                <a:cubicBezTo>
                  <a:pt x="285750" y="113016"/>
                  <a:pt x="273751" y="125016"/>
                  <a:pt x="258961" y="125016"/>
                </a:cubicBezTo>
                <a:lnTo>
                  <a:pt x="205383" y="125016"/>
                </a:lnTo>
                <a:cubicBezTo>
                  <a:pt x="190593" y="125016"/>
                  <a:pt x="178594" y="113016"/>
                  <a:pt x="178594" y="98227"/>
                </a:cubicBezTo>
                <a:lnTo>
                  <a:pt x="178594" y="89297"/>
                </a:lnTo>
                <a:lnTo>
                  <a:pt x="107156" y="89297"/>
                </a:lnTo>
                <a:lnTo>
                  <a:pt x="107156" y="98227"/>
                </a:lnTo>
                <a:cubicBezTo>
                  <a:pt x="107156" y="102301"/>
                  <a:pt x="106207" y="106207"/>
                  <a:pt x="104589" y="109668"/>
                </a:cubicBezTo>
                <a:lnTo>
                  <a:pt x="142875" y="160734"/>
                </a:lnTo>
                <a:lnTo>
                  <a:pt x="187523" y="160734"/>
                </a:lnTo>
                <a:cubicBezTo>
                  <a:pt x="202313" y="160734"/>
                  <a:pt x="214313" y="172734"/>
                  <a:pt x="214313" y="187523"/>
                </a:cubicBezTo>
                <a:lnTo>
                  <a:pt x="214313" y="241102"/>
                </a:lnTo>
                <a:cubicBezTo>
                  <a:pt x="214313" y="255891"/>
                  <a:pt x="202313" y="267891"/>
                  <a:pt x="187523" y="267891"/>
                </a:cubicBezTo>
                <a:lnTo>
                  <a:pt x="133945" y="267891"/>
                </a:lnTo>
                <a:cubicBezTo>
                  <a:pt x="119156" y="267891"/>
                  <a:pt x="107156" y="255891"/>
                  <a:pt x="107156" y="241102"/>
                </a:cubicBezTo>
                <a:lnTo>
                  <a:pt x="107156" y="187523"/>
                </a:lnTo>
                <a:cubicBezTo>
                  <a:pt x="107156" y="183449"/>
                  <a:pt x="108105" y="179543"/>
                  <a:pt x="109724" y="176082"/>
                </a:cubicBezTo>
                <a:lnTo>
                  <a:pt x="71438" y="125016"/>
                </a:lnTo>
                <a:lnTo>
                  <a:pt x="26789" y="125016"/>
                </a:lnTo>
                <a:cubicBezTo>
                  <a:pt x="11999" y="125016"/>
                  <a:pt x="0" y="113016"/>
                  <a:pt x="0" y="98227"/>
                </a:cubicBezTo>
                <a:lnTo>
                  <a:pt x="0" y="44648"/>
                </a:lnTo>
                <a:close/>
              </a:path>
            </a:pathLst>
          </a:custGeom>
          <a:solidFill>
            <a:srgbClr val="6B7A8F"/>
          </a:solidFill>
          <a:ln/>
        </p:spPr>
      </p:sp>
      <p:sp>
        <p:nvSpPr>
          <p:cNvPr id="14" name="Text 11"/>
          <p:cNvSpPr/>
          <p:nvPr/>
        </p:nvSpPr>
        <p:spPr>
          <a:xfrm>
            <a:off x="5381030" y="4933950"/>
            <a:ext cx="1428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Pattern Discovery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5385792" y="5200650"/>
            <a:ext cx="14192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E2E8F0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FP-Growth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7439978" y="4210050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D4A26A">
              <a:alpha val="20000"/>
            </a:srgbClr>
          </a:solidFill>
          <a:ln/>
        </p:spPr>
      </p:sp>
      <p:sp>
        <p:nvSpPr>
          <p:cNvPr id="17" name="Shape 14"/>
          <p:cNvSpPr/>
          <p:nvPr/>
        </p:nvSpPr>
        <p:spPr>
          <a:xfrm>
            <a:off x="7604284" y="4371975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35719" y="35719"/>
                </a:moveTo>
                <a:cubicBezTo>
                  <a:pt x="35719" y="25840"/>
                  <a:pt x="27738" y="17859"/>
                  <a:pt x="17859" y="17859"/>
                </a:cubicBezTo>
                <a:cubicBezTo>
                  <a:pt x="7981" y="17859"/>
                  <a:pt x="0" y="25840"/>
                  <a:pt x="0" y="35719"/>
                </a:cubicBezTo>
                <a:lnTo>
                  <a:pt x="0" y="223242"/>
                </a:lnTo>
                <a:cubicBezTo>
                  <a:pt x="0" y="247910"/>
                  <a:pt x="19980" y="267891"/>
                  <a:pt x="44648" y="267891"/>
                </a:cubicBezTo>
                <a:lnTo>
                  <a:pt x="267891" y="267891"/>
                </a:lnTo>
                <a:cubicBezTo>
                  <a:pt x="277769" y="267891"/>
                  <a:pt x="285750" y="259910"/>
                  <a:pt x="285750" y="250031"/>
                </a:cubicBezTo>
                <a:cubicBezTo>
                  <a:pt x="285750" y="240153"/>
                  <a:pt x="277769" y="232172"/>
                  <a:pt x="267891" y="232172"/>
                </a:cubicBezTo>
                <a:lnTo>
                  <a:pt x="44648" y="232172"/>
                </a:lnTo>
                <a:cubicBezTo>
                  <a:pt x="39737" y="232172"/>
                  <a:pt x="35719" y="228154"/>
                  <a:pt x="35719" y="223242"/>
                </a:cubicBezTo>
                <a:lnTo>
                  <a:pt x="35719" y="35719"/>
                </a:lnTo>
                <a:close/>
                <a:moveTo>
                  <a:pt x="262644" y="84051"/>
                </a:moveTo>
                <a:cubicBezTo>
                  <a:pt x="269621" y="77074"/>
                  <a:pt x="269621" y="65745"/>
                  <a:pt x="262644" y="58769"/>
                </a:cubicBezTo>
                <a:cubicBezTo>
                  <a:pt x="255668" y="51792"/>
                  <a:pt x="244339" y="51792"/>
                  <a:pt x="237362" y="58769"/>
                </a:cubicBezTo>
                <a:lnTo>
                  <a:pt x="178594" y="117593"/>
                </a:lnTo>
                <a:lnTo>
                  <a:pt x="146558" y="85613"/>
                </a:lnTo>
                <a:cubicBezTo>
                  <a:pt x="139582" y="78637"/>
                  <a:pt x="128253" y="78637"/>
                  <a:pt x="121276" y="85613"/>
                </a:cubicBezTo>
                <a:lnTo>
                  <a:pt x="67698" y="139192"/>
                </a:lnTo>
                <a:cubicBezTo>
                  <a:pt x="60722" y="146168"/>
                  <a:pt x="60722" y="157497"/>
                  <a:pt x="67698" y="164474"/>
                </a:cubicBezTo>
                <a:cubicBezTo>
                  <a:pt x="74675" y="171450"/>
                  <a:pt x="86004" y="171450"/>
                  <a:pt x="92980" y="164474"/>
                </a:cubicBezTo>
                <a:lnTo>
                  <a:pt x="133945" y="123509"/>
                </a:lnTo>
                <a:lnTo>
                  <a:pt x="165981" y="155544"/>
                </a:lnTo>
                <a:cubicBezTo>
                  <a:pt x="172957" y="162520"/>
                  <a:pt x="184286" y="162520"/>
                  <a:pt x="191263" y="155544"/>
                </a:cubicBezTo>
                <a:lnTo>
                  <a:pt x="262700" y="84106"/>
                </a:lnTo>
                <a:close/>
              </a:path>
            </a:pathLst>
          </a:custGeom>
          <a:solidFill>
            <a:srgbClr val="D4A26A"/>
          </a:solidFill>
          <a:ln/>
        </p:spPr>
      </p:sp>
      <p:sp>
        <p:nvSpPr>
          <p:cNvPr id="18" name="Text 15"/>
          <p:cNvSpPr/>
          <p:nvPr/>
        </p:nvSpPr>
        <p:spPr>
          <a:xfrm>
            <a:off x="7029926" y="4933950"/>
            <a:ext cx="1428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Classification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7034689" y="5200650"/>
            <a:ext cx="14192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E2E8F0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SVM vs Naive Bayes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1343</Words>
  <Application>Microsoft Office PowerPoint</Application>
  <PresentationFormat>Widescreen</PresentationFormat>
  <Paragraphs>246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Quattrocento Sans</vt:lpstr>
      <vt:lpstr>Arial</vt:lpstr>
      <vt:lpstr>Liter</vt:lpstr>
      <vt:lpstr>Custom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Concepts of Data Mining (CDM)</dc:title>
  <dc:subject>Concepts of Data Mining (CDM)</dc:subject>
  <dc:creator>Kimi</dc:creator>
  <cp:lastModifiedBy>krishna surya</cp:lastModifiedBy>
  <cp:revision>2</cp:revision>
  <dcterms:created xsi:type="dcterms:W3CDTF">2026-04-21T17:59:31Z</dcterms:created>
  <dcterms:modified xsi:type="dcterms:W3CDTF">2026-05-02T08:28:15Z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{"Label":"Concepts of Data Mining (CDM)","ContentProducer":"001191110108MACG2KBH8F10000","ProduceID":"19db0f30-8832-8e5b-8000-000081e9c663","ReservedCode1":"","ContentPropagator":"001191110108MACG2KBH8F20000","PropagateID":"19db0f30-8832-8e5b-8000-000081e9c663","ReservedCode2":""}</vt:lpwstr>
  </property>
</Properties>
</file>