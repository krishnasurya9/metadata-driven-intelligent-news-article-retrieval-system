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pinimg.com/580c29ac87089a04c7e7b5fe7500acc2a735709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31250" b="312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2">
            <a:alphaModFix amt="3000"/>
          </a:blip>
          <a:srcRect l="0" r="0" t="6091" b="60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00050" y="78313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" name="Text 2"/>
          <p:cNvSpPr/>
          <p:nvPr/>
        </p:nvSpPr>
        <p:spPr>
          <a:xfrm>
            <a:off x="609600" y="859334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360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CONCEPTS OF DATA MINING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381000" y="1468934"/>
            <a:ext cx="88773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Data Mining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Pattern Discovery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81000" y="3960316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Trend Analysis and Sentiment Mining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Unstructured News Corpora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81000" y="50842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0" name="Shape 6"/>
          <p:cNvSpPr/>
          <p:nvPr/>
        </p:nvSpPr>
        <p:spPr>
          <a:xfrm>
            <a:off x="514350" y="521761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1" name="Text 7"/>
          <p:cNvSpPr/>
          <p:nvPr/>
        </p:nvSpPr>
        <p:spPr>
          <a:xfrm>
            <a:off x="952500" y="5198566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Architecture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068092" y="508426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Shape 9"/>
          <p:cNvSpPr/>
          <p:nvPr/>
        </p:nvSpPr>
        <p:spPr>
          <a:xfrm>
            <a:off x="3213348" y="521761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4" name="Text 10"/>
          <p:cNvSpPr/>
          <p:nvPr/>
        </p:nvSpPr>
        <p:spPr>
          <a:xfrm>
            <a:off x="3639592" y="5198566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Hybrid Intelligence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81000" y="59436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Authors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81000" y="6210300"/>
            <a:ext cx="333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P. Krishna Surya &amp; V. Omkareshwara Reddy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485983" y="6019800"/>
            <a:ext cx="1323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36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91" b="60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168830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360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069306"/>
            <a:ext cx="409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308848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431381"/>
            <a:ext cx="3895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structured exploration of our system's architecture, from data foundation to deployment.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6700" y="4445794"/>
            <a:ext cx="676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2900" y="4941094"/>
            <a:ext cx="523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58168" y="4502944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1" name="Text 8"/>
          <p:cNvSpPr/>
          <p:nvPr/>
        </p:nvSpPr>
        <p:spPr>
          <a:xfrm>
            <a:off x="1181993" y="4445794"/>
            <a:ext cx="1171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58193" y="4941094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A8A2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Sections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00600" y="11811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10200" y="1181100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10200" y="14859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failure in traditional retrieval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58200" y="11811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067800" y="118110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67800" y="148590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hybrid AI approach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800600" y="21717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410200" y="2171700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10200" y="24765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Five-phase engineering pipeline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58200" y="21717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067800" y="2171700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67800" y="2476500"/>
            <a:ext cx="1762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 News corpus analysis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800600" y="31623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410200" y="316230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10200" y="34671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noise to normalized tokens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458200" y="31623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067800" y="3162300"/>
            <a:ext cx="2343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Mining Engine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067800" y="34671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Multi-algorithm pattern discovery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800600" y="41529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410200" y="4152900"/>
            <a:ext cx="2314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&amp; Classification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10200" y="445770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Density-based filtering approach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458200" y="41529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067800" y="4152900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Analytics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067800" y="445770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&amp; RAG architecture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800600" y="51435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410200" y="5143500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410200" y="544830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&amp; system impact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458200" y="5143500"/>
            <a:ext cx="62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C4B7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9067800" y="514350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067800" y="54483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noise to knowledge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91" b="60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360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CHALLENGE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7" name="Shape 4"/>
          <p:cNvSpPr/>
          <p:nvPr/>
        </p:nvSpPr>
        <p:spPr>
          <a:xfrm>
            <a:off x="400050" y="1638300"/>
            <a:ext cx="38100" cy="2000250"/>
          </a:xfrm>
          <a:custGeom>
            <a:avLst/>
            <a:gdLst/>
            <a:ahLst/>
            <a:cxnLst/>
            <a:rect l="l" t="t" r="r" b="b"/>
            <a:pathLst>
              <a:path w="38100" h="2000250">
                <a:moveTo>
                  <a:pt x="0" y="0"/>
                </a:moveTo>
                <a:lnTo>
                  <a:pt x="38100" y="0"/>
                </a:lnTo>
                <a:lnTo>
                  <a:pt x="38100" y="2000250"/>
                </a:lnTo>
                <a:lnTo>
                  <a:pt x="0" y="20002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8" name="Shape 5"/>
          <p:cNvSpPr/>
          <p:nvPr/>
        </p:nvSpPr>
        <p:spPr>
          <a:xfrm>
            <a:off x="723900" y="1866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205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0" name="Text 7"/>
          <p:cNvSpPr/>
          <p:nvPr/>
        </p:nvSpPr>
        <p:spPr>
          <a:xfrm>
            <a:off x="1562100" y="1866900"/>
            <a:ext cx="10391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Failure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62100" y="2362200"/>
            <a:ext cx="103441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systems retrieve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isolated keywords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but entirely miss underlying patterns, temporal dynamics, and sentiment analysis.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62100" y="3133725"/>
            <a:ext cx="10334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data points without contextual relationships create information silos that prevent holistic understanding of news narratives.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0050" y="3945731"/>
            <a:ext cx="38100" cy="1971675"/>
          </a:xfrm>
          <a:custGeom>
            <a:avLst/>
            <a:gdLst/>
            <a:ahLst/>
            <a:cxnLst/>
            <a:rect l="l" t="t" r="r" b="b"/>
            <a:pathLst>
              <a:path w="38100" h="1971675">
                <a:moveTo>
                  <a:pt x="0" y="0"/>
                </a:moveTo>
                <a:lnTo>
                  <a:pt x="38100" y="0"/>
                </a:lnTo>
                <a:lnTo>
                  <a:pt x="38100" y="1971675"/>
                </a:lnTo>
                <a:lnTo>
                  <a:pt x="0" y="197167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Shape 11"/>
          <p:cNvSpPr/>
          <p:nvPr/>
        </p:nvSpPr>
        <p:spPr>
          <a:xfrm>
            <a:off x="723900" y="417433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5" name="Shape 12"/>
          <p:cNvSpPr/>
          <p:nvPr/>
        </p:nvSpPr>
        <p:spPr>
          <a:xfrm>
            <a:off x="900113" y="436483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306" y="-11117"/>
                </a:moveTo>
                <a:cubicBezTo>
                  <a:pt x="14109" y="-15314"/>
                  <a:pt x="7322" y="-15314"/>
                  <a:pt x="3170" y="-11117"/>
                </a:cubicBezTo>
                <a:cubicBezTo>
                  <a:pt x="-982" y="-6921"/>
                  <a:pt x="-1027" y="-134"/>
                  <a:pt x="3125" y="4063"/>
                </a:cubicBezTo>
                <a:lnTo>
                  <a:pt x="238869" y="239807"/>
                </a:lnTo>
                <a:cubicBezTo>
                  <a:pt x="243066" y="244004"/>
                  <a:pt x="249853" y="244004"/>
                  <a:pt x="254005" y="239807"/>
                </a:cubicBezTo>
                <a:cubicBezTo>
                  <a:pt x="258157" y="235610"/>
                  <a:pt x="258202" y="228823"/>
                  <a:pt x="254005" y="224671"/>
                </a:cubicBezTo>
                <a:lnTo>
                  <a:pt x="210964" y="181630"/>
                </a:lnTo>
                <a:cubicBezTo>
                  <a:pt x="212169" y="180558"/>
                  <a:pt x="213375" y="179487"/>
                  <a:pt x="214536" y="178415"/>
                </a:cubicBezTo>
                <a:cubicBezTo>
                  <a:pt x="235431" y="158993"/>
                  <a:pt x="249406" y="135821"/>
                  <a:pt x="256059" y="119881"/>
                </a:cubicBezTo>
                <a:cubicBezTo>
                  <a:pt x="257532" y="116354"/>
                  <a:pt x="257532" y="112425"/>
                  <a:pt x="256059" y="108898"/>
                </a:cubicBezTo>
                <a:cubicBezTo>
                  <a:pt x="249406" y="92958"/>
                  <a:pt x="235431" y="69741"/>
                  <a:pt x="214536" y="50363"/>
                </a:cubicBezTo>
                <a:cubicBezTo>
                  <a:pt x="193506" y="30852"/>
                  <a:pt x="164619" y="14377"/>
                  <a:pt x="128543" y="14377"/>
                </a:cubicBezTo>
                <a:cubicBezTo>
                  <a:pt x="103183" y="14377"/>
                  <a:pt x="81394" y="22503"/>
                  <a:pt x="63356" y="34111"/>
                </a:cubicBezTo>
                <a:lnTo>
                  <a:pt x="18306" y="-11117"/>
                </a:lnTo>
                <a:close/>
                <a:moveTo>
                  <a:pt x="91306" y="61927"/>
                </a:moveTo>
                <a:cubicBezTo>
                  <a:pt x="101798" y="54426"/>
                  <a:pt x="114702" y="50006"/>
                  <a:pt x="128588" y="50006"/>
                </a:cubicBezTo>
                <a:cubicBezTo>
                  <a:pt x="164083" y="50006"/>
                  <a:pt x="192881" y="78804"/>
                  <a:pt x="192881" y="114300"/>
                </a:cubicBezTo>
                <a:cubicBezTo>
                  <a:pt x="192881" y="128186"/>
                  <a:pt x="188461" y="141044"/>
                  <a:pt x="180960" y="151581"/>
                </a:cubicBezTo>
                <a:lnTo>
                  <a:pt x="165467" y="136088"/>
                </a:lnTo>
                <a:cubicBezTo>
                  <a:pt x="171137" y="126534"/>
                  <a:pt x="173057" y="114791"/>
                  <a:pt x="169977" y="103183"/>
                </a:cubicBezTo>
                <a:cubicBezTo>
                  <a:pt x="163860" y="80323"/>
                  <a:pt x="140330" y="66749"/>
                  <a:pt x="117470" y="72866"/>
                </a:cubicBezTo>
                <a:cubicBezTo>
                  <a:pt x="113630" y="73893"/>
                  <a:pt x="110014" y="75411"/>
                  <a:pt x="106754" y="77331"/>
                </a:cubicBezTo>
                <a:lnTo>
                  <a:pt x="91261" y="61838"/>
                </a:lnTo>
                <a:close/>
                <a:moveTo>
                  <a:pt x="145241" y="176406"/>
                </a:moveTo>
                <a:cubicBezTo>
                  <a:pt x="139928" y="177835"/>
                  <a:pt x="134347" y="178594"/>
                  <a:pt x="128588" y="178594"/>
                </a:cubicBezTo>
                <a:cubicBezTo>
                  <a:pt x="93092" y="178594"/>
                  <a:pt x="64294" y="149796"/>
                  <a:pt x="64294" y="114300"/>
                </a:cubicBezTo>
                <a:cubicBezTo>
                  <a:pt x="64294" y="108540"/>
                  <a:pt x="65053" y="102959"/>
                  <a:pt x="66482" y="97646"/>
                </a:cubicBezTo>
                <a:lnTo>
                  <a:pt x="30986" y="62151"/>
                </a:lnTo>
                <a:cubicBezTo>
                  <a:pt x="16431" y="78581"/>
                  <a:pt x="6429" y="95994"/>
                  <a:pt x="1116" y="108808"/>
                </a:cubicBezTo>
                <a:cubicBezTo>
                  <a:pt x="-357" y="112335"/>
                  <a:pt x="-357" y="116265"/>
                  <a:pt x="1116" y="119792"/>
                </a:cubicBezTo>
                <a:cubicBezTo>
                  <a:pt x="7769" y="135731"/>
                  <a:pt x="21744" y="158948"/>
                  <a:pt x="42639" y="178326"/>
                </a:cubicBezTo>
                <a:cubicBezTo>
                  <a:pt x="63669" y="197837"/>
                  <a:pt x="92556" y="214313"/>
                  <a:pt x="128632" y="214313"/>
                </a:cubicBezTo>
                <a:cubicBezTo>
                  <a:pt x="145286" y="214313"/>
                  <a:pt x="160422" y="210785"/>
                  <a:pt x="173950" y="205115"/>
                </a:cubicBezTo>
                <a:lnTo>
                  <a:pt x="145286" y="176451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6" name="Text 13"/>
          <p:cNvSpPr/>
          <p:nvPr/>
        </p:nvSpPr>
        <p:spPr>
          <a:xfrm>
            <a:off x="1562100" y="4174331"/>
            <a:ext cx="10391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Blindness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562100" y="4669631"/>
            <a:ext cx="10344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inability to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correlate entities, publishers, and sentiments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global real-time streams limits actionable intelligence.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62100" y="5131594"/>
            <a:ext cx="10334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connecting the dots between sources, topics, and temporal evolution, news analysis remains superficial and reactive rather than predictive.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1000" y="6226969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Text 17"/>
          <p:cNvSpPr/>
          <p:nvPr/>
        </p:nvSpPr>
        <p:spPr>
          <a:xfrm>
            <a:off x="338138" y="6460331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Challenge:</a:t>
            </a:r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Digital news overload demands systems that can contextualize, not just retrieve.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91" b="60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360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APPROACH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954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2000250"/>
            <a:ext cx="1647825" cy="495300"/>
          </a:xfrm>
          <a:custGeom>
            <a:avLst/>
            <a:gdLst/>
            <a:ahLst/>
            <a:cxnLst/>
            <a:rect l="l" t="t" r="r" b="b"/>
            <a:pathLst>
              <a:path w="1647825" h="495300">
                <a:moveTo>
                  <a:pt x="0" y="0"/>
                </a:moveTo>
                <a:lnTo>
                  <a:pt x="1647825" y="0"/>
                </a:lnTo>
                <a:lnTo>
                  <a:pt x="164782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114550"/>
            <a:ext cx="135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Proposition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2724150"/>
            <a:ext cx="46863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raw, unstructured news into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mathematically backed, transparent intelligence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via a standalone, offline-first architecture.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4591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4514850"/>
            <a:ext cx="3114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 cloud dependency and latency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50101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" y="4933950"/>
            <a:ext cx="280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data sovereignty and privacy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1000" y="54292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5" name="Text 12"/>
          <p:cNvSpPr/>
          <p:nvPr/>
        </p:nvSpPr>
        <p:spPr>
          <a:xfrm>
            <a:off x="647700" y="5353050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high-speed local processing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1000" y="5848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7" name="Text 14"/>
          <p:cNvSpPr/>
          <p:nvPr/>
        </p:nvSpPr>
        <p:spPr>
          <a:xfrm>
            <a:off x="647700" y="577215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explainable AI interpretations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353050" y="156210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9" name="Shape 16"/>
          <p:cNvSpPr/>
          <p:nvPr/>
        </p:nvSpPr>
        <p:spPr>
          <a:xfrm>
            <a:off x="5600700" y="17152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0" name="Shape 17"/>
          <p:cNvSpPr/>
          <p:nvPr/>
        </p:nvSpPr>
        <p:spPr>
          <a:xfrm>
            <a:off x="5772150" y="188669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44648"/>
                </a:lnTo>
                <a:cubicBezTo>
                  <a:pt x="0" y="39700"/>
                  <a:pt x="3981" y="35719"/>
                  <a:pt x="8930" y="35719"/>
                </a:cubicBezTo>
                <a:cubicBezTo>
                  <a:pt x="13878" y="35719"/>
                  <a:pt x="17859" y="39700"/>
                  <a:pt x="17859" y="44648"/>
                </a:cubicBezTo>
                <a:lnTo>
                  <a:pt x="17859" y="151805"/>
                </a:lnTo>
                <a:cubicBezTo>
                  <a:pt x="17859" y="156753"/>
                  <a:pt x="21841" y="160734"/>
                  <a:pt x="26789" y="160734"/>
                </a:cubicBezTo>
                <a:cubicBezTo>
                  <a:pt x="31738" y="160734"/>
                  <a:pt x="35719" y="156753"/>
                  <a:pt x="35719" y="151805"/>
                </a:cubicBezTo>
                <a:lnTo>
                  <a:pt x="35719" y="35719"/>
                </a:lnTo>
                <a:cubicBezTo>
                  <a:pt x="35719" y="22585"/>
                  <a:pt x="46397" y="11906"/>
                  <a:pt x="59531" y="11906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59531" y="47625"/>
                </a:moveTo>
                <a:lnTo>
                  <a:pt x="59531" y="71438"/>
                </a:lnTo>
                <a:cubicBezTo>
                  <a:pt x="59531" y="78023"/>
                  <a:pt x="64852" y="83344"/>
                  <a:pt x="71438" y="83344"/>
                </a:cubicBezTo>
                <a:lnTo>
                  <a:pt x="95250" y="83344"/>
                </a:lnTo>
                <a:cubicBezTo>
                  <a:pt x="101836" y="83344"/>
                  <a:pt x="107156" y="78023"/>
                  <a:pt x="107156" y="71438"/>
                </a:cubicBezTo>
                <a:lnTo>
                  <a:pt x="107156" y="47625"/>
                </a:lnTo>
                <a:cubicBezTo>
                  <a:pt x="107156" y="41039"/>
                  <a:pt x="101836" y="35719"/>
                  <a:pt x="95250" y="35719"/>
                </a:cubicBezTo>
                <a:lnTo>
                  <a:pt x="71438" y="35719"/>
                </a:lnTo>
                <a:cubicBezTo>
                  <a:pt x="64852" y="35719"/>
                  <a:pt x="59531" y="41039"/>
                  <a:pt x="59531" y="47625"/>
                </a:cubicBezTo>
                <a:close/>
                <a:moveTo>
                  <a:pt x="68461" y="136922"/>
                </a:moveTo>
                <a:cubicBezTo>
                  <a:pt x="63512" y="136922"/>
                  <a:pt x="59531" y="140903"/>
                  <a:pt x="59531" y="145852"/>
                </a:cubicBezTo>
                <a:cubicBezTo>
                  <a:pt x="59531" y="150800"/>
                  <a:pt x="63512" y="154781"/>
                  <a:pt x="68461" y="154781"/>
                </a:cubicBezTo>
                <a:lnTo>
                  <a:pt x="157758" y="154781"/>
                </a:lnTo>
                <a:cubicBezTo>
                  <a:pt x="162706" y="154781"/>
                  <a:pt x="166688" y="150800"/>
                  <a:pt x="166688" y="145852"/>
                </a:cubicBezTo>
                <a:cubicBezTo>
                  <a:pt x="166688" y="140903"/>
                  <a:pt x="162706" y="136922"/>
                  <a:pt x="157758" y="136922"/>
                </a:cubicBezTo>
                <a:lnTo>
                  <a:pt x="68461" y="136922"/>
                </a:lnTo>
                <a:close/>
                <a:moveTo>
                  <a:pt x="59531" y="110133"/>
                </a:moveTo>
                <a:cubicBezTo>
                  <a:pt x="59531" y="115081"/>
                  <a:pt x="63512" y="119063"/>
                  <a:pt x="68461" y="119063"/>
                </a:cubicBezTo>
                <a:lnTo>
                  <a:pt x="157758" y="119063"/>
                </a:lnTo>
                <a:cubicBezTo>
                  <a:pt x="162706" y="119063"/>
                  <a:pt x="166688" y="115081"/>
                  <a:pt x="166688" y="110133"/>
                </a:cubicBezTo>
                <a:cubicBezTo>
                  <a:pt x="166688" y="105184"/>
                  <a:pt x="162706" y="101203"/>
                  <a:pt x="157758" y="101203"/>
                </a:cubicBezTo>
                <a:lnTo>
                  <a:pt x="68461" y="101203"/>
                </a:lnTo>
                <a:cubicBezTo>
                  <a:pt x="63512" y="101203"/>
                  <a:pt x="59531" y="105184"/>
                  <a:pt x="59531" y="110133"/>
                </a:cubicBezTo>
                <a:close/>
                <a:moveTo>
                  <a:pt x="133945" y="65484"/>
                </a:moveTo>
                <a:cubicBezTo>
                  <a:pt x="128997" y="65484"/>
                  <a:pt x="125016" y="69466"/>
                  <a:pt x="125016" y="74414"/>
                </a:cubicBezTo>
                <a:cubicBezTo>
                  <a:pt x="125016" y="79363"/>
                  <a:pt x="128997" y="83344"/>
                  <a:pt x="133945" y="83344"/>
                </a:cubicBezTo>
                <a:lnTo>
                  <a:pt x="157758" y="83344"/>
                </a:lnTo>
                <a:cubicBezTo>
                  <a:pt x="162706" y="83344"/>
                  <a:pt x="166688" y="79363"/>
                  <a:pt x="166688" y="74414"/>
                </a:cubicBezTo>
                <a:cubicBezTo>
                  <a:pt x="166688" y="69466"/>
                  <a:pt x="162706" y="65484"/>
                  <a:pt x="157758" y="65484"/>
                </a:cubicBezTo>
                <a:lnTo>
                  <a:pt x="133945" y="65484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1" name="Text 18"/>
          <p:cNvSpPr/>
          <p:nvPr/>
        </p:nvSpPr>
        <p:spPr>
          <a:xfrm>
            <a:off x="6286500" y="1829544"/>
            <a:ext cx="2200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Journalism Analytics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600700" y="2362944"/>
            <a:ext cx="6296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analysis &amp; insights for media monitoring, editorial decision-making, and content strategy optimization.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53050" y="3263801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4" name="Shape 21"/>
          <p:cNvSpPr/>
          <p:nvPr/>
        </p:nvSpPr>
        <p:spPr>
          <a:xfrm>
            <a:off x="5600700" y="341694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5" name="Shape 22"/>
          <p:cNvSpPr/>
          <p:nvPr/>
        </p:nvSpPr>
        <p:spPr>
          <a:xfrm>
            <a:off x="5772150" y="358839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6" name="Text 23"/>
          <p:cNvSpPr/>
          <p:nvPr/>
        </p:nvSpPr>
        <p:spPr>
          <a:xfrm>
            <a:off x="6286500" y="3531245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Brand Monitoring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600700" y="4064645"/>
            <a:ext cx="6296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Reputation tracking and sentiment analysis for corporate communications, crisis management, and competitive intelligence.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353050" y="4965650"/>
            <a:ext cx="38100" cy="1514475"/>
          </a:xfrm>
          <a:custGeom>
            <a:avLst/>
            <a:gdLst/>
            <a:ahLst/>
            <a:cxnLst/>
            <a:rect l="l" t="t" r="r" b="b"/>
            <a:pathLst>
              <a:path w="38100" h="1514475">
                <a:moveTo>
                  <a:pt x="0" y="0"/>
                </a:moveTo>
                <a:lnTo>
                  <a:pt x="38100" y="0"/>
                </a:lnTo>
                <a:lnTo>
                  <a:pt x="38100" y="1514475"/>
                </a:lnTo>
                <a:lnTo>
                  <a:pt x="0" y="151447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9" name="Shape 26"/>
          <p:cNvSpPr/>
          <p:nvPr/>
        </p:nvSpPr>
        <p:spPr>
          <a:xfrm>
            <a:off x="5600700" y="511879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0" name="Shape 27"/>
          <p:cNvSpPr/>
          <p:nvPr/>
        </p:nvSpPr>
        <p:spPr>
          <a:xfrm>
            <a:off x="5772150" y="52902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31" name="Text 28"/>
          <p:cNvSpPr/>
          <p:nvPr/>
        </p:nvSpPr>
        <p:spPr>
          <a:xfrm>
            <a:off x="6286500" y="5233095"/>
            <a:ext cx="2695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Event Tracking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600700" y="5766495"/>
            <a:ext cx="6296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monitoring of global economy, tech innovation, political unrest, and market trends for strategic decision support.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91" b="60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360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FOUNDATION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Five-phase engineering pipeline structures the data lifecycle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4859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Shape 5"/>
          <p:cNvSpPr/>
          <p:nvPr/>
        </p:nvSpPr>
        <p:spPr>
          <a:xfrm>
            <a:off x="982861" y="1985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Text 6"/>
          <p:cNvSpPr/>
          <p:nvPr/>
        </p:nvSpPr>
        <p:spPr>
          <a:xfrm>
            <a:off x="1111746" y="2138363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3375" y="2709863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2900" y="3052763"/>
            <a:ext cx="1885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&amp; Store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3348038"/>
            <a:ext cx="1809750" cy="19050"/>
          </a:xfrm>
          <a:custGeom>
            <a:avLst/>
            <a:gdLst/>
            <a:ahLst/>
            <a:cxnLst/>
            <a:rect l="l" t="t" r="r" b="b"/>
            <a:pathLst>
              <a:path w="1809750" h="19050">
                <a:moveTo>
                  <a:pt x="0" y="0"/>
                </a:moveTo>
                <a:lnTo>
                  <a:pt x="1809750" y="0"/>
                </a:lnTo>
                <a:lnTo>
                  <a:pt x="18097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" y="3433763"/>
            <a:ext cx="188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warehousing &amp; ETL processes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375446" y="23669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5" name="Shape 12"/>
          <p:cNvSpPr/>
          <p:nvPr/>
        </p:nvSpPr>
        <p:spPr>
          <a:xfrm>
            <a:off x="3387030" y="1985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6" name="Text 13"/>
          <p:cNvSpPr/>
          <p:nvPr/>
        </p:nvSpPr>
        <p:spPr>
          <a:xfrm>
            <a:off x="3495229" y="213836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737396" y="2709863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46921" y="3052763"/>
            <a:ext cx="1885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&amp; Transform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785021" y="3348038"/>
            <a:ext cx="1809750" cy="19050"/>
          </a:xfrm>
          <a:custGeom>
            <a:avLst/>
            <a:gdLst/>
            <a:ahLst/>
            <a:cxnLst/>
            <a:rect l="l" t="t" r="r" b="b"/>
            <a:pathLst>
              <a:path w="1809750" h="19050">
                <a:moveTo>
                  <a:pt x="0" y="0"/>
                </a:moveTo>
                <a:lnTo>
                  <a:pt x="1809750" y="0"/>
                </a:lnTo>
                <a:lnTo>
                  <a:pt x="18097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0" name="Text 17"/>
          <p:cNvSpPr/>
          <p:nvPr/>
        </p:nvSpPr>
        <p:spPr>
          <a:xfrm>
            <a:off x="2746921" y="3433763"/>
            <a:ext cx="188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&amp; dimensionality reduction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79615" y="23669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2" name="Shape 19"/>
          <p:cNvSpPr/>
          <p:nvPr/>
        </p:nvSpPr>
        <p:spPr>
          <a:xfrm>
            <a:off x="5791051" y="1985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0"/>
          <p:cNvSpPr/>
          <p:nvPr/>
        </p:nvSpPr>
        <p:spPr>
          <a:xfrm>
            <a:off x="5898207" y="213836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41565" y="2709863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51090" y="3052763"/>
            <a:ext cx="1885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Mine Patterns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189190" y="3348038"/>
            <a:ext cx="1809750" cy="19050"/>
          </a:xfrm>
          <a:custGeom>
            <a:avLst/>
            <a:gdLst/>
            <a:ahLst/>
            <a:cxnLst/>
            <a:rect l="l" t="t" r="r" b="b"/>
            <a:pathLst>
              <a:path w="1809750" h="19050">
                <a:moveTo>
                  <a:pt x="0" y="0"/>
                </a:moveTo>
                <a:lnTo>
                  <a:pt x="1809750" y="0"/>
                </a:lnTo>
                <a:lnTo>
                  <a:pt x="18097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7" name="Text 24"/>
          <p:cNvSpPr/>
          <p:nvPr/>
        </p:nvSpPr>
        <p:spPr>
          <a:xfrm>
            <a:off x="5151090" y="3433763"/>
            <a:ext cx="188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engine &amp; algorithms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183636" y="23669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9" name="Shape 26"/>
          <p:cNvSpPr/>
          <p:nvPr/>
        </p:nvSpPr>
        <p:spPr>
          <a:xfrm>
            <a:off x="8195221" y="1985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0" name="Text 27"/>
          <p:cNvSpPr/>
          <p:nvPr/>
        </p:nvSpPr>
        <p:spPr>
          <a:xfrm>
            <a:off x="8302526" y="213836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545586" y="2709863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555111" y="3052763"/>
            <a:ext cx="1885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Interpret Results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93211" y="3348038"/>
            <a:ext cx="1809750" cy="19050"/>
          </a:xfrm>
          <a:custGeom>
            <a:avLst/>
            <a:gdLst/>
            <a:ahLst/>
            <a:cxnLst/>
            <a:rect l="l" t="t" r="r" b="b"/>
            <a:pathLst>
              <a:path w="1809750" h="19050">
                <a:moveTo>
                  <a:pt x="0" y="0"/>
                </a:moveTo>
                <a:lnTo>
                  <a:pt x="1809750" y="0"/>
                </a:lnTo>
                <a:lnTo>
                  <a:pt x="18097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4" name="Text 31"/>
          <p:cNvSpPr/>
          <p:nvPr/>
        </p:nvSpPr>
        <p:spPr>
          <a:xfrm>
            <a:off x="7555111" y="3433763"/>
            <a:ext cx="1885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&amp; translation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9587805" y="23669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6" name="Shape 33"/>
          <p:cNvSpPr/>
          <p:nvPr/>
        </p:nvSpPr>
        <p:spPr>
          <a:xfrm>
            <a:off x="10599390" y="1985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7" name="Text 34"/>
          <p:cNvSpPr/>
          <p:nvPr/>
        </p:nvSpPr>
        <p:spPr>
          <a:xfrm>
            <a:off x="10708184" y="2138363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949755" y="2709863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959280" y="3052763"/>
            <a:ext cx="1885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 Data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997380" y="3348038"/>
            <a:ext cx="1809750" cy="19050"/>
          </a:xfrm>
          <a:custGeom>
            <a:avLst/>
            <a:gdLst/>
            <a:ahLst/>
            <a:cxnLst/>
            <a:rect l="l" t="t" r="r" b="b"/>
            <a:pathLst>
              <a:path w="1809750" h="19050">
                <a:moveTo>
                  <a:pt x="0" y="0"/>
                </a:moveTo>
                <a:lnTo>
                  <a:pt x="1809750" y="0"/>
                </a:lnTo>
                <a:lnTo>
                  <a:pt x="180975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1" name="Text 38"/>
          <p:cNvSpPr/>
          <p:nvPr/>
        </p:nvSpPr>
        <p:spPr>
          <a:xfrm>
            <a:off x="9959280" y="3433763"/>
            <a:ext cx="1885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&amp; insights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00050" y="4157663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3" name="Shape 40"/>
          <p:cNvSpPr/>
          <p:nvPr/>
        </p:nvSpPr>
        <p:spPr>
          <a:xfrm>
            <a:off x="682228" y="431958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4" name="Text 41"/>
          <p:cNvSpPr/>
          <p:nvPr/>
        </p:nvSpPr>
        <p:spPr>
          <a:xfrm>
            <a:off x="866775" y="4271963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 Architecture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47700" y="4614863"/>
            <a:ext cx="5410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Unlike conventional cloud-dependent engines, this system operates as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standalone, offline-first hybrid AI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, eliminating cloud latency and ensuring data sovereignty.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229350" y="4157663"/>
            <a:ext cx="38100" cy="1314450"/>
          </a:xfrm>
          <a:custGeom>
            <a:avLst/>
            <a:gdLst/>
            <a:ahLst/>
            <a:cxnLst/>
            <a:rect l="l" t="t" r="r" b="b"/>
            <a:pathLst>
              <a:path w="38100" h="1314450">
                <a:moveTo>
                  <a:pt x="0" y="0"/>
                </a:moveTo>
                <a:lnTo>
                  <a:pt x="38100" y="0"/>
                </a:lnTo>
                <a:lnTo>
                  <a:pt x="38100" y="1314450"/>
                </a:lnTo>
                <a:lnTo>
                  <a:pt x="0" y="131445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7" name="Shape 44"/>
          <p:cNvSpPr/>
          <p:nvPr/>
        </p:nvSpPr>
        <p:spPr>
          <a:xfrm>
            <a:off x="6511528" y="431958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8" name="Text 45"/>
          <p:cNvSpPr/>
          <p:nvPr/>
        </p:nvSpPr>
        <p:spPr>
          <a:xfrm>
            <a:off x="6696075" y="4271963"/>
            <a:ext cx="5200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Embedded DuckDB Instance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77000" y="4614863"/>
            <a:ext cx="5410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engineering baseline is built on an embedded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news_corpus.duckdb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instance, enabling high-speed local processing of heterogeneous text without network dependencies.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381000" y="578167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51" name="Text 48"/>
          <p:cNvSpPr/>
          <p:nvPr/>
        </p:nvSpPr>
        <p:spPr>
          <a:xfrm>
            <a:off x="342900" y="5938838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Pipeline: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Raw Ingestion → Preprocessing → Feature Extraction → Pattern Discovery → Visualization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101" b="6101"/>
          <a:stretch/>
        </p:blipFill>
        <p:spPr>
          <a:xfrm>
            <a:off x="0" y="0"/>
            <a:ext cx="12192000" cy="685635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6352"/>
          </a:xfrm>
          <a:custGeom>
            <a:avLst/>
            <a:gdLst/>
            <a:ahLst/>
            <a:cxnLst/>
            <a:rect l="l" t="t" r="r" b="b"/>
            <a:pathLst>
              <a:path w="12192000" h="6856352">
                <a:moveTo>
                  <a:pt x="0" y="0"/>
                </a:moveTo>
                <a:lnTo>
                  <a:pt x="12192000" y="0"/>
                </a:lnTo>
                <a:lnTo>
                  <a:pt x="12192000" y="6856352"/>
                </a:lnTo>
                <a:lnTo>
                  <a:pt x="0" y="68563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51608" y="351608"/>
            <a:ext cx="11559106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spc="332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DATASET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1608" y="632894"/>
            <a:ext cx="11699749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1608" y="1125145"/>
            <a:ext cx="11576686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4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 News Corpus Analysis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1608" y="1476753"/>
            <a:ext cx="703216" cy="35161"/>
          </a:xfrm>
          <a:custGeom>
            <a:avLst/>
            <a:gdLst/>
            <a:ahLst/>
            <a:cxnLst/>
            <a:rect l="l" t="t" r="r" b="b"/>
            <a:pathLst>
              <a:path w="703216" h="35161">
                <a:moveTo>
                  <a:pt x="0" y="0"/>
                </a:moveTo>
                <a:lnTo>
                  <a:pt x="703216" y="0"/>
                </a:lnTo>
                <a:lnTo>
                  <a:pt x="703216" y="35161"/>
                </a:lnTo>
                <a:lnTo>
                  <a:pt x="0" y="35161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Shape 5"/>
          <p:cNvSpPr/>
          <p:nvPr/>
        </p:nvSpPr>
        <p:spPr>
          <a:xfrm>
            <a:off x="360398" y="1661347"/>
            <a:ext cx="4447839" cy="1283368"/>
          </a:xfrm>
          <a:custGeom>
            <a:avLst/>
            <a:gdLst/>
            <a:ahLst/>
            <a:cxnLst/>
            <a:rect l="l" t="t" r="r" b="b"/>
            <a:pathLst>
              <a:path w="4447839" h="1283368">
                <a:moveTo>
                  <a:pt x="0" y="0"/>
                </a:moveTo>
                <a:lnTo>
                  <a:pt x="4447839" y="0"/>
                </a:lnTo>
                <a:lnTo>
                  <a:pt x="4447839" y="1283368"/>
                </a:lnTo>
                <a:lnTo>
                  <a:pt x="0" y="12833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4B7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335" y="1881102"/>
            <a:ext cx="4693964" cy="527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53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9632" y="2478835"/>
            <a:ext cx="450937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Articles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60398" y="3138099"/>
            <a:ext cx="4447839" cy="1283368"/>
          </a:xfrm>
          <a:custGeom>
            <a:avLst/>
            <a:gdLst/>
            <a:ahLst/>
            <a:cxnLst/>
            <a:rect l="l" t="t" r="r" b="b"/>
            <a:pathLst>
              <a:path w="4447839" h="1283368">
                <a:moveTo>
                  <a:pt x="0" y="0"/>
                </a:moveTo>
                <a:lnTo>
                  <a:pt x="4447839" y="0"/>
                </a:lnTo>
                <a:lnTo>
                  <a:pt x="4447839" y="1283368"/>
                </a:lnTo>
                <a:lnTo>
                  <a:pt x="0" y="12833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335" y="3357854"/>
            <a:ext cx="4693964" cy="527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53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9632" y="3955588"/>
            <a:ext cx="450937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60398" y="4614852"/>
            <a:ext cx="4447839" cy="1283368"/>
          </a:xfrm>
          <a:custGeom>
            <a:avLst/>
            <a:gdLst/>
            <a:ahLst/>
            <a:cxnLst/>
            <a:rect l="l" t="t" r="r" b="b"/>
            <a:pathLst>
              <a:path w="4447839" h="1283368">
                <a:moveTo>
                  <a:pt x="0" y="0"/>
                </a:moveTo>
                <a:lnTo>
                  <a:pt x="4447839" y="0"/>
                </a:lnTo>
                <a:lnTo>
                  <a:pt x="4447839" y="1283368"/>
                </a:lnTo>
                <a:lnTo>
                  <a:pt x="0" y="128336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4B7A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335" y="4834607"/>
            <a:ext cx="4693964" cy="527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53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9632" y="5432340"/>
            <a:ext cx="4509370" cy="246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46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Span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1608" y="6082815"/>
            <a:ext cx="4465419" cy="773537"/>
          </a:xfrm>
          <a:custGeom>
            <a:avLst/>
            <a:gdLst/>
            <a:ahLst/>
            <a:cxnLst/>
            <a:rect l="l" t="t" r="r" b="b"/>
            <a:pathLst>
              <a:path w="4465419" h="773537">
                <a:moveTo>
                  <a:pt x="0" y="0"/>
                </a:moveTo>
                <a:lnTo>
                  <a:pt x="4465419" y="0"/>
                </a:lnTo>
                <a:lnTo>
                  <a:pt x="4465419" y="773537"/>
                </a:lnTo>
                <a:lnTo>
                  <a:pt x="0" y="773537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8" name="Text 15"/>
          <p:cNvSpPr/>
          <p:nvPr/>
        </p:nvSpPr>
        <p:spPr>
          <a:xfrm>
            <a:off x="298867" y="6223458"/>
            <a:ext cx="4570901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1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∞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16447" y="6504744"/>
            <a:ext cx="453574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30189" y="1832756"/>
            <a:ext cx="6909093" cy="28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Schema Structure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30189" y="2575527"/>
            <a:ext cx="6803611" cy="8790"/>
          </a:xfrm>
          <a:custGeom>
            <a:avLst/>
            <a:gdLst/>
            <a:ahLst/>
            <a:cxnLst/>
            <a:rect l="l" t="t" r="r" b="b"/>
            <a:pathLst>
              <a:path w="6803611" h="8790">
                <a:moveTo>
                  <a:pt x="0" y="0"/>
                </a:moveTo>
                <a:lnTo>
                  <a:pt x="6803611" y="0"/>
                </a:lnTo>
                <a:lnTo>
                  <a:pt x="6803611" y="8790"/>
                </a:lnTo>
                <a:lnTo>
                  <a:pt x="0" y="879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2" name="Text 19"/>
          <p:cNvSpPr/>
          <p:nvPr/>
        </p:nvSpPr>
        <p:spPr>
          <a:xfrm>
            <a:off x="5030189" y="2254685"/>
            <a:ext cx="91418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Title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014691" y="2254685"/>
            <a:ext cx="273375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Headline serving as concentrated summary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30189" y="3006247"/>
            <a:ext cx="6803611" cy="8790"/>
          </a:xfrm>
          <a:custGeom>
            <a:avLst/>
            <a:gdLst/>
            <a:ahLst/>
            <a:cxnLst/>
            <a:rect l="l" t="t" r="r" b="b"/>
            <a:pathLst>
              <a:path w="6803611" h="8790">
                <a:moveTo>
                  <a:pt x="0" y="0"/>
                </a:moveTo>
                <a:lnTo>
                  <a:pt x="6803611" y="0"/>
                </a:lnTo>
                <a:lnTo>
                  <a:pt x="6803611" y="8790"/>
                </a:lnTo>
                <a:lnTo>
                  <a:pt x="0" y="879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5" name="Text 22"/>
          <p:cNvSpPr/>
          <p:nvPr/>
        </p:nvSpPr>
        <p:spPr>
          <a:xfrm>
            <a:off x="5030189" y="2685404"/>
            <a:ext cx="91418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014691" y="2685404"/>
            <a:ext cx="311172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unstructured body with detailed narrative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030189" y="3647931"/>
            <a:ext cx="6803611" cy="8790"/>
          </a:xfrm>
          <a:custGeom>
            <a:avLst/>
            <a:gdLst/>
            <a:ahLst/>
            <a:cxnLst/>
            <a:rect l="l" t="t" r="r" b="b"/>
            <a:pathLst>
              <a:path w="6803611" h="8790">
                <a:moveTo>
                  <a:pt x="0" y="0"/>
                </a:moveTo>
                <a:lnTo>
                  <a:pt x="6803611" y="0"/>
                </a:lnTo>
                <a:lnTo>
                  <a:pt x="6803611" y="8790"/>
                </a:lnTo>
                <a:lnTo>
                  <a:pt x="0" y="879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8" name="Text 25"/>
          <p:cNvSpPr/>
          <p:nvPr/>
        </p:nvSpPr>
        <p:spPr>
          <a:xfrm>
            <a:off x="5030189" y="3116124"/>
            <a:ext cx="914180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Published Date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14691" y="3116124"/>
            <a:ext cx="3094149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timestamp enabling time-series mining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030189" y="4078650"/>
            <a:ext cx="6803611" cy="8790"/>
          </a:xfrm>
          <a:custGeom>
            <a:avLst/>
            <a:gdLst/>
            <a:ahLst/>
            <a:cxnLst/>
            <a:rect l="l" t="t" r="r" b="b"/>
            <a:pathLst>
              <a:path w="6803611" h="8790">
                <a:moveTo>
                  <a:pt x="0" y="0"/>
                </a:moveTo>
                <a:lnTo>
                  <a:pt x="6803611" y="0"/>
                </a:lnTo>
                <a:lnTo>
                  <a:pt x="6803611" y="8790"/>
                </a:lnTo>
                <a:lnTo>
                  <a:pt x="0" y="879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1" name="Text 28"/>
          <p:cNvSpPr/>
          <p:nvPr/>
        </p:nvSpPr>
        <p:spPr>
          <a:xfrm>
            <a:off x="5030189" y="3757808"/>
            <a:ext cx="91418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014691" y="3757808"/>
            <a:ext cx="2320611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Journalistic entity (Reuters, AP, etc.)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030189" y="4188528"/>
            <a:ext cx="914180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014691" y="4188528"/>
            <a:ext cx="34721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Thematic classification (World, Sports, Business, Tech)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034584" y="4685174"/>
            <a:ext cx="1617396" cy="852649"/>
          </a:xfrm>
          <a:custGeom>
            <a:avLst/>
            <a:gdLst/>
            <a:ahLst/>
            <a:cxnLst/>
            <a:rect l="l" t="t" r="r" b="b"/>
            <a:pathLst>
              <a:path w="1617396" h="852649">
                <a:moveTo>
                  <a:pt x="0" y="0"/>
                </a:moveTo>
                <a:lnTo>
                  <a:pt x="1617396" y="0"/>
                </a:lnTo>
                <a:lnTo>
                  <a:pt x="1617396" y="852649"/>
                </a:lnTo>
                <a:lnTo>
                  <a:pt x="0" y="8526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868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73053" y="4830212"/>
            <a:ext cx="174045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003818" y="5181820"/>
            <a:ext cx="16789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World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762681" y="4685174"/>
            <a:ext cx="1617396" cy="852649"/>
          </a:xfrm>
          <a:custGeom>
            <a:avLst/>
            <a:gdLst/>
            <a:ahLst/>
            <a:cxnLst/>
            <a:rect l="l" t="t" r="r" b="b"/>
            <a:pathLst>
              <a:path w="1617396" h="852649">
                <a:moveTo>
                  <a:pt x="0" y="0"/>
                </a:moveTo>
                <a:lnTo>
                  <a:pt x="1617396" y="0"/>
                </a:lnTo>
                <a:lnTo>
                  <a:pt x="1617396" y="852649"/>
                </a:lnTo>
                <a:lnTo>
                  <a:pt x="0" y="8526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C4B7A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701150" y="4830212"/>
            <a:ext cx="174045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731916" y="5181820"/>
            <a:ext cx="16789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Sports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490916" y="4685174"/>
            <a:ext cx="1617396" cy="852649"/>
          </a:xfrm>
          <a:custGeom>
            <a:avLst/>
            <a:gdLst/>
            <a:ahLst/>
            <a:cxnLst/>
            <a:rect l="l" t="t" r="r" b="b"/>
            <a:pathLst>
              <a:path w="1617396" h="852649">
                <a:moveTo>
                  <a:pt x="0" y="0"/>
                </a:moveTo>
                <a:lnTo>
                  <a:pt x="1617396" y="0"/>
                </a:lnTo>
                <a:lnTo>
                  <a:pt x="1617396" y="852649"/>
                </a:lnTo>
                <a:lnTo>
                  <a:pt x="0" y="8526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B868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429385" y="4830212"/>
            <a:ext cx="174045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460150" y="5181820"/>
            <a:ext cx="16789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0219013" y="4685174"/>
            <a:ext cx="1617396" cy="852649"/>
          </a:xfrm>
          <a:custGeom>
            <a:avLst/>
            <a:gdLst/>
            <a:ahLst/>
            <a:cxnLst/>
            <a:rect l="l" t="t" r="r" b="b"/>
            <a:pathLst>
              <a:path w="1617396" h="852649">
                <a:moveTo>
                  <a:pt x="0" y="0"/>
                </a:moveTo>
                <a:lnTo>
                  <a:pt x="1617396" y="0"/>
                </a:lnTo>
                <a:lnTo>
                  <a:pt x="1617396" y="852649"/>
                </a:lnTo>
                <a:lnTo>
                  <a:pt x="0" y="8526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C4B7A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57482" y="4830212"/>
            <a:ext cx="1740459" cy="3164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76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30K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0188248" y="5181820"/>
            <a:ext cx="1678927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030189" y="5827899"/>
            <a:ext cx="6803611" cy="8790"/>
          </a:xfrm>
          <a:custGeom>
            <a:avLst/>
            <a:gdLst/>
            <a:ahLst/>
            <a:cxnLst/>
            <a:rect l="l" t="t" r="r" b="b"/>
            <a:pathLst>
              <a:path w="6803611" h="8790">
                <a:moveTo>
                  <a:pt x="0" y="0"/>
                </a:moveTo>
                <a:lnTo>
                  <a:pt x="6803611" y="0"/>
                </a:lnTo>
                <a:lnTo>
                  <a:pt x="6803611" y="8790"/>
                </a:lnTo>
                <a:lnTo>
                  <a:pt x="0" y="879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8" name="Text 45"/>
          <p:cNvSpPr/>
          <p:nvPr/>
        </p:nvSpPr>
        <p:spPr>
          <a:xfrm>
            <a:off x="5030189" y="5972937"/>
            <a:ext cx="6873932" cy="210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Source:</a:t>
            </a:r>
            <a:pPr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Hugging Face AG News subset | </a:t>
            </a:r>
            <a:pPr>
              <a:lnSpc>
                <a:spcPct val="130000"/>
              </a:lnSpc>
            </a:pPr>
            <a:r>
              <a:rPr lang="en-US" sz="110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Range:</a:t>
            </a:r>
            <a:pPr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2018–2024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047769" y="6289384"/>
            <a:ext cx="140643" cy="140643"/>
          </a:xfrm>
          <a:custGeom>
            <a:avLst/>
            <a:gdLst/>
            <a:ahLst/>
            <a:cxnLst/>
            <a:rect l="l" t="t" r="r" b="b"/>
            <a:pathLst>
              <a:path w="140643" h="140643">
                <a:moveTo>
                  <a:pt x="70322" y="140643"/>
                </a:moveTo>
                <a:cubicBezTo>
                  <a:pt x="109133" y="140643"/>
                  <a:pt x="140643" y="109133"/>
                  <a:pt x="140643" y="70322"/>
                </a:cubicBezTo>
                <a:cubicBezTo>
                  <a:pt x="140643" y="31510"/>
                  <a:pt x="109133" y="0"/>
                  <a:pt x="70322" y="0"/>
                </a:cubicBezTo>
                <a:cubicBezTo>
                  <a:pt x="31510" y="0"/>
                  <a:pt x="0" y="31510"/>
                  <a:pt x="0" y="70322"/>
                </a:cubicBezTo>
                <a:cubicBezTo>
                  <a:pt x="0" y="109133"/>
                  <a:pt x="31510" y="140643"/>
                  <a:pt x="70322" y="140643"/>
                </a:cubicBezTo>
                <a:close/>
                <a:moveTo>
                  <a:pt x="61531" y="43951"/>
                </a:moveTo>
                <a:cubicBezTo>
                  <a:pt x="61531" y="39100"/>
                  <a:pt x="65470" y="35161"/>
                  <a:pt x="70322" y="35161"/>
                </a:cubicBezTo>
                <a:cubicBezTo>
                  <a:pt x="75173" y="35161"/>
                  <a:pt x="79112" y="39100"/>
                  <a:pt x="79112" y="43951"/>
                </a:cubicBezTo>
                <a:cubicBezTo>
                  <a:pt x="79112" y="48802"/>
                  <a:pt x="75173" y="52741"/>
                  <a:pt x="70322" y="52741"/>
                </a:cubicBezTo>
                <a:cubicBezTo>
                  <a:pt x="65470" y="52741"/>
                  <a:pt x="61531" y="48802"/>
                  <a:pt x="61531" y="43951"/>
                </a:cubicBezTo>
                <a:close/>
                <a:moveTo>
                  <a:pt x="59334" y="61531"/>
                </a:moveTo>
                <a:lnTo>
                  <a:pt x="72519" y="61531"/>
                </a:lnTo>
                <a:cubicBezTo>
                  <a:pt x="76173" y="61531"/>
                  <a:pt x="79112" y="64471"/>
                  <a:pt x="79112" y="68124"/>
                </a:cubicBezTo>
                <a:lnTo>
                  <a:pt x="79112" y="92297"/>
                </a:lnTo>
                <a:lnTo>
                  <a:pt x="81309" y="92297"/>
                </a:lnTo>
                <a:cubicBezTo>
                  <a:pt x="84963" y="92297"/>
                  <a:pt x="87902" y="95236"/>
                  <a:pt x="87902" y="98890"/>
                </a:cubicBezTo>
                <a:cubicBezTo>
                  <a:pt x="87902" y="102543"/>
                  <a:pt x="84963" y="105482"/>
                  <a:pt x="81309" y="105482"/>
                </a:cubicBezTo>
                <a:lnTo>
                  <a:pt x="59334" y="105482"/>
                </a:lnTo>
                <a:cubicBezTo>
                  <a:pt x="55680" y="105482"/>
                  <a:pt x="52741" y="102543"/>
                  <a:pt x="52741" y="98890"/>
                </a:cubicBezTo>
                <a:cubicBezTo>
                  <a:pt x="52741" y="95236"/>
                  <a:pt x="55680" y="92297"/>
                  <a:pt x="59334" y="92297"/>
                </a:cubicBezTo>
                <a:lnTo>
                  <a:pt x="65926" y="92297"/>
                </a:lnTo>
                <a:lnTo>
                  <a:pt x="65926" y="74717"/>
                </a:lnTo>
                <a:lnTo>
                  <a:pt x="59334" y="74717"/>
                </a:lnTo>
                <a:cubicBezTo>
                  <a:pt x="55680" y="74717"/>
                  <a:pt x="52741" y="71777"/>
                  <a:pt x="52741" y="68124"/>
                </a:cubicBezTo>
                <a:cubicBezTo>
                  <a:pt x="52741" y="64471"/>
                  <a:pt x="55680" y="61531"/>
                  <a:pt x="59334" y="61531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50" name="Text 47"/>
          <p:cNvSpPr/>
          <p:nvPr/>
        </p:nvSpPr>
        <p:spPr>
          <a:xfrm>
            <a:off x="5254665" y="6254224"/>
            <a:ext cx="6649456" cy="421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State: </a:t>
            </a:r>
            <a:pPr>
              <a:lnSpc>
                <a:spcPct val="130000"/>
              </a:lnSpc>
            </a:pPr>
            <a:r>
              <a:rPr lang="en-US" sz="1107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Completely Static (Frozen)</a:t>
            </a:r>
            <a:pPr>
              <a:lnSpc>
                <a:spcPct val="130000"/>
              </a:lnSpc>
            </a:pPr>
            <a:r>
              <a:rPr lang="en-US" sz="1107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deterministic, repeatable, and academically verifiable results without structural drift.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80" b="6080"/>
          <a:stretch/>
        </p:blipFill>
        <p:spPr>
          <a:xfrm>
            <a:off x="0" y="0"/>
            <a:ext cx="12192000" cy="685958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582"/>
          </a:xfrm>
          <a:custGeom>
            <a:avLst/>
            <a:gdLst/>
            <a:ahLst/>
            <a:cxnLst/>
            <a:rect l="l" t="t" r="r" b="b"/>
            <a:pathLst>
              <a:path w="12192000" h="6859582">
                <a:moveTo>
                  <a:pt x="0" y="0"/>
                </a:moveTo>
                <a:lnTo>
                  <a:pt x="12192000" y="0"/>
                </a:lnTo>
                <a:lnTo>
                  <a:pt x="12192000" y="6859582"/>
                </a:lnTo>
                <a:lnTo>
                  <a:pt x="0" y="68595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37495" y="337495"/>
            <a:ext cx="11584509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spc="319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TRANSFORMATION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37495" y="607491"/>
            <a:ext cx="11719507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7495" y="1079983"/>
            <a:ext cx="11601384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Noise to Normalized Tokens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7495" y="1417478"/>
            <a:ext cx="674990" cy="33749"/>
          </a:xfrm>
          <a:custGeom>
            <a:avLst/>
            <a:gdLst/>
            <a:ahLst/>
            <a:cxnLst/>
            <a:rect l="l" t="t" r="r" b="b"/>
            <a:pathLst>
              <a:path w="674990" h="33749">
                <a:moveTo>
                  <a:pt x="0" y="0"/>
                </a:moveTo>
                <a:lnTo>
                  <a:pt x="674990" y="0"/>
                </a:lnTo>
                <a:lnTo>
                  <a:pt x="674990" y="33749"/>
                </a:lnTo>
                <a:lnTo>
                  <a:pt x="0" y="33749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Shape 5"/>
          <p:cNvSpPr/>
          <p:nvPr/>
        </p:nvSpPr>
        <p:spPr>
          <a:xfrm>
            <a:off x="345932" y="1594663"/>
            <a:ext cx="2472149" cy="1468102"/>
          </a:xfrm>
          <a:custGeom>
            <a:avLst/>
            <a:gdLst/>
            <a:ahLst/>
            <a:cxnLst/>
            <a:rect l="l" t="t" r="r" b="b"/>
            <a:pathLst>
              <a:path w="2472149" h="1468102">
                <a:moveTo>
                  <a:pt x="0" y="0"/>
                </a:moveTo>
                <a:lnTo>
                  <a:pt x="2472149" y="0"/>
                </a:lnTo>
                <a:lnTo>
                  <a:pt x="2472149" y="1468102"/>
                </a:lnTo>
                <a:lnTo>
                  <a:pt x="0" y="14681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78719" y="1738098"/>
            <a:ext cx="404994" cy="404994"/>
          </a:xfrm>
          <a:custGeom>
            <a:avLst/>
            <a:gdLst/>
            <a:ahLst/>
            <a:cxnLst/>
            <a:rect l="l" t="t" r="r" b="b"/>
            <a:pathLst>
              <a:path w="404994" h="404994">
                <a:moveTo>
                  <a:pt x="202497" y="0"/>
                </a:moveTo>
                <a:lnTo>
                  <a:pt x="202497" y="0"/>
                </a:lnTo>
                <a:cubicBezTo>
                  <a:pt x="314333" y="0"/>
                  <a:pt x="404994" y="90661"/>
                  <a:pt x="404994" y="202497"/>
                </a:cubicBezTo>
                <a:lnTo>
                  <a:pt x="404994" y="202497"/>
                </a:lnTo>
                <a:cubicBezTo>
                  <a:pt x="404994" y="314333"/>
                  <a:pt x="314333" y="404994"/>
                  <a:pt x="202497" y="404994"/>
                </a:cubicBezTo>
                <a:lnTo>
                  <a:pt x="202497" y="404994"/>
                </a:lnTo>
                <a:cubicBezTo>
                  <a:pt x="90661" y="404994"/>
                  <a:pt x="0" y="314333"/>
                  <a:pt x="0" y="202497"/>
                </a:cubicBezTo>
                <a:lnTo>
                  <a:pt x="0" y="202497"/>
                </a:lnTo>
                <a:cubicBezTo>
                  <a:pt x="0" y="90661"/>
                  <a:pt x="90661" y="0"/>
                  <a:pt x="202497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Text 7"/>
          <p:cNvSpPr/>
          <p:nvPr/>
        </p:nvSpPr>
        <p:spPr>
          <a:xfrm>
            <a:off x="1505280" y="1822472"/>
            <a:ext cx="151873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16401" y="2210591"/>
            <a:ext cx="2531211" cy="47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Text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20620" y="2716833"/>
            <a:ext cx="2522774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&amp; Store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985379" y="2227466"/>
            <a:ext cx="202497" cy="202497"/>
          </a:xfrm>
          <a:custGeom>
            <a:avLst/>
            <a:gdLst/>
            <a:ahLst/>
            <a:cxnLst/>
            <a:rect l="l" t="t" r="r" b="b"/>
            <a:pathLst>
              <a:path w="202497" h="202497">
                <a:moveTo>
                  <a:pt x="198779" y="110187"/>
                </a:moveTo>
                <a:cubicBezTo>
                  <a:pt x="203723" y="105243"/>
                  <a:pt x="203723" y="97214"/>
                  <a:pt x="198779" y="92271"/>
                </a:cubicBezTo>
                <a:lnTo>
                  <a:pt x="135499" y="28990"/>
                </a:lnTo>
                <a:cubicBezTo>
                  <a:pt x="130555" y="24047"/>
                  <a:pt x="122526" y="24047"/>
                  <a:pt x="117583" y="28990"/>
                </a:cubicBezTo>
                <a:cubicBezTo>
                  <a:pt x="112639" y="33934"/>
                  <a:pt x="112639" y="41963"/>
                  <a:pt x="117583" y="46907"/>
                </a:cubicBezTo>
                <a:lnTo>
                  <a:pt x="159269" y="88592"/>
                </a:lnTo>
                <a:lnTo>
                  <a:pt x="12656" y="88592"/>
                </a:lnTo>
                <a:cubicBezTo>
                  <a:pt x="5656" y="88592"/>
                  <a:pt x="0" y="94248"/>
                  <a:pt x="0" y="101248"/>
                </a:cubicBezTo>
                <a:cubicBezTo>
                  <a:pt x="0" y="108249"/>
                  <a:pt x="5656" y="113904"/>
                  <a:pt x="12656" y="113904"/>
                </a:cubicBezTo>
                <a:lnTo>
                  <a:pt x="159269" y="113904"/>
                </a:lnTo>
                <a:lnTo>
                  <a:pt x="117583" y="155590"/>
                </a:lnTo>
                <a:cubicBezTo>
                  <a:pt x="112639" y="160534"/>
                  <a:pt x="112639" y="168563"/>
                  <a:pt x="117583" y="173507"/>
                </a:cubicBezTo>
                <a:cubicBezTo>
                  <a:pt x="122526" y="178450"/>
                  <a:pt x="130555" y="178450"/>
                  <a:pt x="135499" y="173507"/>
                </a:cubicBezTo>
                <a:lnTo>
                  <a:pt x="198779" y="11022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Shape 11"/>
          <p:cNvSpPr/>
          <p:nvPr/>
        </p:nvSpPr>
        <p:spPr>
          <a:xfrm>
            <a:off x="3356623" y="1594663"/>
            <a:ext cx="2472149" cy="1468102"/>
          </a:xfrm>
          <a:custGeom>
            <a:avLst/>
            <a:gdLst/>
            <a:ahLst/>
            <a:cxnLst/>
            <a:rect l="l" t="t" r="r" b="b"/>
            <a:pathLst>
              <a:path w="2472149" h="1468102">
                <a:moveTo>
                  <a:pt x="0" y="0"/>
                </a:moveTo>
                <a:lnTo>
                  <a:pt x="2472149" y="0"/>
                </a:lnTo>
                <a:lnTo>
                  <a:pt x="2472149" y="1468102"/>
                </a:lnTo>
                <a:lnTo>
                  <a:pt x="0" y="14681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4B7A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542" y="1738098"/>
            <a:ext cx="404994" cy="404994"/>
          </a:xfrm>
          <a:custGeom>
            <a:avLst/>
            <a:gdLst/>
            <a:ahLst/>
            <a:cxnLst/>
            <a:rect l="l" t="t" r="r" b="b"/>
            <a:pathLst>
              <a:path w="404994" h="404994">
                <a:moveTo>
                  <a:pt x="202497" y="0"/>
                </a:moveTo>
                <a:lnTo>
                  <a:pt x="202497" y="0"/>
                </a:lnTo>
                <a:cubicBezTo>
                  <a:pt x="314333" y="0"/>
                  <a:pt x="404994" y="90661"/>
                  <a:pt x="404994" y="202497"/>
                </a:cubicBezTo>
                <a:lnTo>
                  <a:pt x="404994" y="202497"/>
                </a:lnTo>
                <a:cubicBezTo>
                  <a:pt x="404994" y="314333"/>
                  <a:pt x="314333" y="404994"/>
                  <a:pt x="202497" y="404994"/>
                </a:cubicBezTo>
                <a:lnTo>
                  <a:pt x="202497" y="404994"/>
                </a:lnTo>
                <a:cubicBezTo>
                  <a:pt x="90661" y="404994"/>
                  <a:pt x="0" y="314333"/>
                  <a:pt x="0" y="202497"/>
                </a:cubicBezTo>
                <a:lnTo>
                  <a:pt x="0" y="202497"/>
                </a:lnTo>
                <a:cubicBezTo>
                  <a:pt x="0" y="90661"/>
                  <a:pt x="90661" y="0"/>
                  <a:pt x="202497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6" name="Text 13"/>
          <p:cNvSpPr/>
          <p:nvPr/>
        </p:nvSpPr>
        <p:spPr>
          <a:xfrm>
            <a:off x="4500810" y="1822472"/>
            <a:ext cx="185622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327092" y="2210591"/>
            <a:ext cx="2531211" cy="47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31311" y="2716833"/>
            <a:ext cx="2522774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&amp; Filter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96202" y="2227466"/>
            <a:ext cx="202497" cy="202497"/>
          </a:xfrm>
          <a:custGeom>
            <a:avLst/>
            <a:gdLst/>
            <a:ahLst/>
            <a:cxnLst/>
            <a:rect l="l" t="t" r="r" b="b"/>
            <a:pathLst>
              <a:path w="202497" h="202497">
                <a:moveTo>
                  <a:pt x="198779" y="110187"/>
                </a:moveTo>
                <a:cubicBezTo>
                  <a:pt x="203723" y="105243"/>
                  <a:pt x="203723" y="97214"/>
                  <a:pt x="198779" y="92271"/>
                </a:cubicBezTo>
                <a:lnTo>
                  <a:pt x="135499" y="28990"/>
                </a:lnTo>
                <a:cubicBezTo>
                  <a:pt x="130555" y="24047"/>
                  <a:pt x="122526" y="24047"/>
                  <a:pt x="117583" y="28990"/>
                </a:cubicBezTo>
                <a:cubicBezTo>
                  <a:pt x="112639" y="33934"/>
                  <a:pt x="112639" y="41963"/>
                  <a:pt x="117583" y="46907"/>
                </a:cubicBezTo>
                <a:lnTo>
                  <a:pt x="159269" y="88592"/>
                </a:lnTo>
                <a:lnTo>
                  <a:pt x="12656" y="88592"/>
                </a:lnTo>
                <a:cubicBezTo>
                  <a:pt x="5656" y="88592"/>
                  <a:pt x="0" y="94248"/>
                  <a:pt x="0" y="101248"/>
                </a:cubicBezTo>
                <a:cubicBezTo>
                  <a:pt x="0" y="108249"/>
                  <a:pt x="5656" y="113904"/>
                  <a:pt x="12656" y="113904"/>
                </a:cubicBezTo>
                <a:lnTo>
                  <a:pt x="159269" y="113904"/>
                </a:lnTo>
                <a:lnTo>
                  <a:pt x="117583" y="155590"/>
                </a:lnTo>
                <a:cubicBezTo>
                  <a:pt x="112639" y="160534"/>
                  <a:pt x="112639" y="168563"/>
                  <a:pt x="117583" y="173507"/>
                </a:cubicBezTo>
                <a:cubicBezTo>
                  <a:pt x="122526" y="178450"/>
                  <a:pt x="130555" y="178450"/>
                  <a:pt x="135499" y="173507"/>
                </a:cubicBezTo>
                <a:lnTo>
                  <a:pt x="198779" y="11022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Shape 17"/>
          <p:cNvSpPr/>
          <p:nvPr/>
        </p:nvSpPr>
        <p:spPr>
          <a:xfrm>
            <a:off x="6367446" y="1594663"/>
            <a:ext cx="2472149" cy="1468102"/>
          </a:xfrm>
          <a:custGeom>
            <a:avLst/>
            <a:gdLst/>
            <a:ahLst/>
            <a:cxnLst/>
            <a:rect l="l" t="t" r="r" b="b"/>
            <a:pathLst>
              <a:path w="2472149" h="1468102">
                <a:moveTo>
                  <a:pt x="0" y="0"/>
                </a:moveTo>
                <a:lnTo>
                  <a:pt x="2472149" y="0"/>
                </a:lnTo>
                <a:lnTo>
                  <a:pt x="2472149" y="1468102"/>
                </a:lnTo>
                <a:lnTo>
                  <a:pt x="0" y="14681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400233" y="1738098"/>
            <a:ext cx="404994" cy="404994"/>
          </a:xfrm>
          <a:custGeom>
            <a:avLst/>
            <a:gdLst/>
            <a:ahLst/>
            <a:cxnLst/>
            <a:rect l="l" t="t" r="r" b="b"/>
            <a:pathLst>
              <a:path w="404994" h="404994">
                <a:moveTo>
                  <a:pt x="202497" y="0"/>
                </a:moveTo>
                <a:lnTo>
                  <a:pt x="202497" y="0"/>
                </a:lnTo>
                <a:cubicBezTo>
                  <a:pt x="314333" y="0"/>
                  <a:pt x="404994" y="90661"/>
                  <a:pt x="404994" y="202497"/>
                </a:cubicBezTo>
                <a:lnTo>
                  <a:pt x="404994" y="202497"/>
                </a:lnTo>
                <a:cubicBezTo>
                  <a:pt x="404994" y="314333"/>
                  <a:pt x="314333" y="404994"/>
                  <a:pt x="202497" y="404994"/>
                </a:cubicBezTo>
                <a:lnTo>
                  <a:pt x="202497" y="404994"/>
                </a:lnTo>
                <a:cubicBezTo>
                  <a:pt x="90661" y="404994"/>
                  <a:pt x="0" y="314333"/>
                  <a:pt x="0" y="202497"/>
                </a:cubicBezTo>
                <a:lnTo>
                  <a:pt x="0" y="202497"/>
                </a:lnTo>
                <a:cubicBezTo>
                  <a:pt x="0" y="90661"/>
                  <a:pt x="90661" y="0"/>
                  <a:pt x="202497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2" name="Text 19"/>
          <p:cNvSpPr/>
          <p:nvPr/>
        </p:nvSpPr>
        <p:spPr>
          <a:xfrm>
            <a:off x="7510710" y="1822472"/>
            <a:ext cx="185622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37915" y="2210591"/>
            <a:ext cx="2531211" cy="47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42134" y="2716833"/>
            <a:ext cx="2522774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006893" y="2227466"/>
            <a:ext cx="202497" cy="202497"/>
          </a:xfrm>
          <a:custGeom>
            <a:avLst/>
            <a:gdLst/>
            <a:ahLst/>
            <a:cxnLst/>
            <a:rect l="l" t="t" r="r" b="b"/>
            <a:pathLst>
              <a:path w="202497" h="202497">
                <a:moveTo>
                  <a:pt x="198779" y="110187"/>
                </a:moveTo>
                <a:cubicBezTo>
                  <a:pt x="203723" y="105243"/>
                  <a:pt x="203723" y="97214"/>
                  <a:pt x="198779" y="92271"/>
                </a:cubicBezTo>
                <a:lnTo>
                  <a:pt x="135499" y="28990"/>
                </a:lnTo>
                <a:cubicBezTo>
                  <a:pt x="130555" y="24047"/>
                  <a:pt x="122526" y="24047"/>
                  <a:pt x="117583" y="28990"/>
                </a:cubicBezTo>
                <a:cubicBezTo>
                  <a:pt x="112639" y="33934"/>
                  <a:pt x="112639" y="41963"/>
                  <a:pt x="117583" y="46907"/>
                </a:cubicBezTo>
                <a:lnTo>
                  <a:pt x="159269" y="88592"/>
                </a:lnTo>
                <a:lnTo>
                  <a:pt x="12656" y="88592"/>
                </a:lnTo>
                <a:cubicBezTo>
                  <a:pt x="5656" y="88592"/>
                  <a:pt x="0" y="94248"/>
                  <a:pt x="0" y="101248"/>
                </a:cubicBezTo>
                <a:cubicBezTo>
                  <a:pt x="0" y="108249"/>
                  <a:pt x="5656" y="113904"/>
                  <a:pt x="12656" y="113904"/>
                </a:cubicBezTo>
                <a:lnTo>
                  <a:pt x="159269" y="113904"/>
                </a:lnTo>
                <a:lnTo>
                  <a:pt x="117583" y="155590"/>
                </a:lnTo>
                <a:cubicBezTo>
                  <a:pt x="112639" y="160534"/>
                  <a:pt x="112639" y="168563"/>
                  <a:pt x="117583" y="173507"/>
                </a:cubicBezTo>
                <a:cubicBezTo>
                  <a:pt x="122526" y="178450"/>
                  <a:pt x="130555" y="178450"/>
                  <a:pt x="135499" y="173507"/>
                </a:cubicBezTo>
                <a:lnTo>
                  <a:pt x="198779" y="110226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6" name="Shape 23"/>
          <p:cNvSpPr/>
          <p:nvPr/>
        </p:nvSpPr>
        <p:spPr>
          <a:xfrm>
            <a:off x="9378137" y="1594663"/>
            <a:ext cx="2472149" cy="1468102"/>
          </a:xfrm>
          <a:custGeom>
            <a:avLst/>
            <a:gdLst/>
            <a:ahLst/>
            <a:cxnLst/>
            <a:rect l="l" t="t" r="r" b="b"/>
            <a:pathLst>
              <a:path w="2472149" h="1468102">
                <a:moveTo>
                  <a:pt x="0" y="0"/>
                </a:moveTo>
                <a:lnTo>
                  <a:pt x="2472149" y="0"/>
                </a:lnTo>
                <a:lnTo>
                  <a:pt x="2472149" y="1468102"/>
                </a:lnTo>
                <a:lnTo>
                  <a:pt x="0" y="14681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4B7A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410924" y="1738098"/>
            <a:ext cx="404994" cy="404994"/>
          </a:xfrm>
          <a:custGeom>
            <a:avLst/>
            <a:gdLst/>
            <a:ahLst/>
            <a:cxnLst/>
            <a:rect l="l" t="t" r="r" b="b"/>
            <a:pathLst>
              <a:path w="404994" h="404994">
                <a:moveTo>
                  <a:pt x="202497" y="0"/>
                </a:moveTo>
                <a:lnTo>
                  <a:pt x="202497" y="0"/>
                </a:lnTo>
                <a:cubicBezTo>
                  <a:pt x="314333" y="0"/>
                  <a:pt x="404994" y="90661"/>
                  <a:pt x="404994" y="202497"/>
                </a:cubicBezTo>
                <a:lnTo>
                  <a:pt x="404994" y="202497"/>
                </a:lnTo>
                <a:cubicBezTo>
                  <a:pt x="404994" y="314333"/>
                  <a:pt x="314333" y="404994"/>
                  <a:pt x="202497" y="404994"/>
                </a:cubicBezTo>
                <a:lnTo>
                  <a:pt x="202497" y="404994"/>
                </a:lnTo>
                <a:cubicBezTo>
                  <a:pt x="90661" y="404994"/>
                  <a:pt x="0" y="314333"/>
                  <a:pt x="0" y="202497"/>
                </a:cubicBezTo>
                <a:lnTo>
                  <a:pt x="0" y="202497"/>
                </a:lnTo>
                <a:cubicBezTo>
                  <a:pt x="0" y="90661"/>
                  <a:pt x="90661" y="0"/>
                  <a:pt x="202497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8" name="Text 25"/>
          <p:cNvSpPr/>
          <p:nvPr/>
        </p:nvSpPr>
        <p:spPr>
          <a:xfrm>
            <a:off x="10521533" y="1822472"/>
            <a:ext cx="185622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29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348606" y="2210591"/>
            <a:ext cx="2531211" cy="472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Output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19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352825" y="2716833"/>
            <a:ext cx="2522774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for Mining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354370" y="3273700"/>
            <a:ext cx="33749" cy="1316230"/>
          </a:xfrm>
          <a:custGeom>
            <a:avLst/>
            <a:gdLst/>
            <a:ahLst/>
            <a:cxnLst/>
            <a:rect l="l" t="t" r="r" b="b"/>
            <a:pathLst>
              <a:path w="33749" h="1316230">
                <a:moveTo>
                  <a:pt x="0" y="0"/>
                </a:moveTo>
                <a:lnTo>
                  <a:pt x="33749" y="0"/>
                </a:lnTo>
                <a:lnTo>
                  <a:pt x="33749" y="1316230"/>
                </a:lnTo>
                <a:lnTo>
                  <a:pt x="0" y="131623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2" name="Shape 29"/>
          <p:cNvSpPr/>
          <p:nvPr/>
        </p:nvSpPr>
        <p:spPr>
          <a:xfrm>
            <a:off x="615928" y="3442447"/>
            <a:ext cx="126561" cy="168747"/>
          </a:xfrm>
          <a:custGeom>
            <a:avLst/>
            <a:gdLst/>
            <a:ahLst/>
            <a:cxnLst/>
            <a:rect l="l" t="t" r="r" b="b"/>
            <a:pathLst>
              <a:path w="126561" h="168747">
                <a:moveTo>
                  <a:pt x="21093" y="0"/>
                </a:moveTo>
                <a:cubicBezTo>
                  <a:pt x="9459" y="0"/>
                  <a:pt x="0" y="9459"/>
                  <a:pt x="0" y="21093"/>
                </a:cubicBezTo>
                <a:lnTo>
                  <a:pt x="0" y="100194"/>
                </a:lnTo>
                <a:lnTo>
                  <a:pt x="60017" y="100194"/>
                </a:lnTo>
                <a:lnTo>
                  <a:pt x="49800" y="89977"/>
                </a:lnTo>
                <a:cubicBezTo>
                  <a:pt x="46702" y="86879"/>
                  <a:pt x="46702" y="81869"/>
                  <a:pt x="49800" y="78804"/>
                </a:cubicBezTo>
                <a:cubicBezTo>
                  <a:pt x="52898" y="75739"/>
                  <a:pt x="57908" y="75706"/>
                  <a:pt x="60973" y="78804"/>
                </a:cubicBezTo>
                <a:lnTo>
                  <a:pt x="84703" y="102534"/>
                </a:lnTo>
                <a:cubicBezTo>
                  <a:pt x="87801" y="105632"/>
                  <a:pt x="87801" y="110642"/>
                  <a:pt x="84703" y="113707"/>
                </a:cubicBezTo>
                <a:lnTo>
                  <a:pt x="60973" y="137437"/>
                </a:lnTo>
                <a:cubicBezTo>
                  <a:pt x="57875" y="140535"/>
                  <a:pt x="52865" y="140535"/>
                  <a:pt x="49800" y="137437"/>
                </a:cubicBezTo>
                <a:cubicBezTo>
                  <a:pt x="46735" y="134339"/>
                  <a:pt x="46702" y="129329"/>
                  <a:pt x="49800" y="126264"/>
                </a:cubicBezTo>
                <a:lnTo>
                  <a:pt x="60017" y="116047"/>
                </a:lnTo>
                <a:lnTo>
                  <a:pt x="0" y="116047"/>
                </a:lnTo>
                <a:lnTo>
                  <a:pt x="0" y="147687"/>
                </a:lnTo>
                <a:cubicBezTo>
                  <a:pt x="0" y="159321"/>
                  <a:pt x="9459" y="168780"/>
                  <a:pt x="21093" y="168780"/>
                </a:cubicBezTo>
                <a:lnTo>
                  <a:pt x="105467" y="168780"/>
                </a:lnTo>
                <a:cubicBezTo>
                  <a:pt x="117101" y="168780"/>
                  <a:pt x="126561" y="159321"/>
                  <a:pt x="126561" y="147687"/>
                </a:cubicBezTo>
                <a:lnTo>
                  <a:pt x="126561" y="56227"/>
                </a:lnTo>
                <a:cubicBezTo>
                  <a:pt x="126561" y="50624"/>
                  <a:pt x="124352" y="45252"/>
                  <a:pt x="120397" y="41297"/>
                </a:cubicBezTo>
                <a:lnTo>
                  <a:pt x="85264" y="6163"/>
                </a:lnTo>
                <a:cubicBezTo>
                  <a:pt x="81309" y="2208"/>
                  <a:pt x="75969" y="0"/>
                  <a:pt x="70366" y="0"/>
                </a:cubicBezTo>
                <a:lnTo>
                  <a:pt x="21093" y="0"/>
                </a:lnTo>
                <a:close/>
                <a:moveTo>
                  <a:pt x="107280" y="58007"/>
                </a:moveTo>
                <a:lnTo>
                  <a:pt x="76464" y="58007"/>
                </a:lnTo>
                <a:cubicBezTo>
                  <a:pt x="72080" y="58007"/>
                  <a:pt x="68554" y="54480"/>
                  <a:pt x="68554" y="50097"/>
                </a:cubicBezTo>
                <a:lnTo>
                  <a:pt x="68554" y="19281"/>
                </a:lnTo>
                <a:lnTo>
                  <a:pt x="107280" y="58007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Text 30"/>
          <p:cNvSpPr/>
          <p:nvPr/>
        </p:nvSpPr>
        <p:spPr>
          <a:xfrm>
            <a:off x="784675" y="3408698"/>
            <a:ext cx="5298669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Text Ingestion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3741" y="3746192"/>
            <a:ext cx="5492728" cy="4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 are loaded from the </a:t>
            </a:r>
            <a:pPr>
              <a:lnSpc>
                <a:spcPct val="140000"/>
              </a:lnSpc>
            </a:pPr>
            <a:r>
              <a:rPr lang="en-US" sz="1063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frozen DuckDB warehouse</a:t>
            </a:r>
            <a:pPr>
              <a:lnSpc>
                <a:spcPct val="14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preserving original structure and metadata for traceability.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73741" y="4252435"/>
            <a:ext cx="5492728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Maintains data lineage and reproducibility throughout the pipeline.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215442" y="3273700"/>
            <a:ext cx="33749" cy="1316230"/>
          </a:xfrm>
          <a:custGeom>
            <a:avLst/>
            <a:gdLst/>
            <a:ahLst/>
            <a:cxnLst/>
            <a:rect l="l" t="t" r="r" b="b"/>
            <a:pathLst>
              <a:path w="33749" h="1316230">
                <a:moveTo>
                  <a:pt x="0" y="0"/>
                </a:moveTo>
                <a:lnTo>
                  <a:pt x="33749" y="0"/>
                </a:lnTo>
                <a:lnTo>
                  <a:pt x="33749" y="1316230"/>
                </a:lnTo>
                <a:lnTo>
                  <a:pt x="0" y="131623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7" name="Shape 34"/>
          <p:cNvSpPr/>
          <p:nvPr/>
        </p:nvSpPr>
        <p:spPr>
          <a:xfrm>
            <a:off x="6445360" y="3442447"/>
            <a:ext cx="189841" cy="168747"/>
          </a:xfrm>
          <a:custGeom>
            <a:avLst/>
            <a:gdLst/>
            <a:ahLst/>
            <a:cxnLst/>
            <a:rect l="l" t="t" r="r" b="b"/>
            <a:pathLst>
              <a:path w="189841" h="168747">
                <a:moveTo>
                  <a:pt x="186743" y="17995"/>
                </a:moveTo>
                <a:cubicBezTo>
                  <a:pt x="190863" y="13876"/>
                  <a:pt x="190863" y="7185"/>
                  <a:pt x="186743" y="3065"/>
                </a:cubicBezTo>
                <a:cubicBezTo>
                  <a:pt x="182623" y="-1055"/>
                  <a:pt x="175932" y="-1055"/>
                  <a:pt x="171813" y="3065"/>
                </a:cubicBezTo>
                <a:lnTo>
                  <a:pt x="108532" y="66345"/>
                </a:lnTo>
                <a:lnTo>
                  <a:pt x="97096" y="54909"/>
                </a:lnTo>
                <a:cubicBezTo>
                  <a:pt x="95711" y="53525"/>
                  <a:pt x="93800" y="52734"/>
                  <a:pt x="91822" y="52734"/>
                </a:cubicBezTo>
                <a:cubicBezTo>
                  <a:pt x="87703" y="52734"/>
                  <a:pt x="84374" y="56062"/>
                  <a:pt x="84374" y="60182"/>
                </a:cubicBezTo>
                <a:lnTo>
                  <a:pt x="84374" y="69773"/>
                </a:lnTo>
                <a:lnTo>
                  <a:pt x="120068" y="105467"/>
                </a:lnTo>
                <a:lnTo>
                  <a:pt x="129659" y="105467"/>
                </a:lnTo>
                <a:cubicBezTo>
                  <a:pt x="133778" y="105467"/>
                  <a:pt x="137107" y="102138"/>
                  <a:pt x="137107" y="98019"/>
                </a:cubicBezTo>
                <a:cubicBezTo>
                  <a:pt x="137107" y="96041"/>
                  <a:pt x="136316" y="94129"/>
                  <a:pt x="134932" y="92745"/>
                </a:cubicBezTo>
                <a:lnTo>
                  <a:pt x="123495" y="81309"/>
                </a:lnTo>
                <a:lnTo>
                  <a:pt x="186776" y="18028"/>
                </a:lnTo>
                <a:close/>
                <a:moveTo>
                  <a:pt x="112421" y="116475"/>
                </a:moveTo>
                <a:lnTo>
                  <a:pt x="73366" y="77419"/>
                </a:lnTo>
                <a:cubicBezTo>
                  <a:pt x="59292" y="76200"/>
                  <a:pt x="45285" y="81276"/>
                  <a:pt x="35200" y="91361"/>
                </a:cubicBezTo>
                <a:lnTo>
                  <a:pt x="32563" y="93998"/>
                </a:lnTo>
                <a:cubicBezTo>
                  <a:pt x="25213" y="101347"/>
                  <a:pt x="21093" y="111301"/>
                  <a:pt x="21093" y="121683"/>
                </a:cubicBezTo>
                <a:cubicBezTo>
                  <a:pt x="21093" y="123924"/>
                  <a:pt x="23433" y="125374"/>
                  <a:pt x="25444" y="124385"/>
                </a:cubicBezTo>
                <a:lnTo>
                  <a:pt x="42286" y="115981"/>
                </a:lnTo>
                <a:cubicBezTo>
                  <a:pt x="43934" y="115157"/>
                  <a:pt x="45417" y="117332"/>
                  <a:pt x="44065" y="118585"/>
                </a:cubicBezTo>
                <a:lnTo>
                  <a:pt x="2406" y="156025"/>
                </a:lnTo>
                <a:cubicBezTo>
                  <a:pt x="890" y="157410"/>
                  <a:pt x="0" y="159387"/>
                  <a:pt x="0" y="161464"/>
                </a:cubicBezTo>
                <a:cubicBezTo>
                  <a:pt x="0" y="165485"/>
                  <a:pt x="3263" y="168747"/>
                  <a:pt x="7284" y="168747"/>
                </a:cubicBezTo>
                <a:lnTo>
                  <a:pt x="64401" y="168747"/>
                </a:lnTo>
                <a:cubicBezTo>
                  <a:pt x="77189" y="168747"/>
                  <a:pt x="89416" y="163672"/>
                  <a:pt x="98480" y="154641"/>
                </a:cubicBezTo>
                <a:cubicBezTo>
                  <a:pt x="108565" y="144556"/>
                  <a:pt x="113608" y="130549"/>
                  <a:pt x="112421" y="116475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8" name="Text 35"/>
          <p:cNvSpPr/>
          <p:nvPr/>
        </p:nvSpPr>
        <p:spPr>
          <a:xfrm>
            <a:off x="6645747" y="3408698"/>
            <a:ext cx="5298669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Noise Elimination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434813" y="3746192"/>
            <a:ext cx="5492728" cy="4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Removes </a:t>
            </a:r>
            <a:pPr>
              <a:lnSpc>
                <a:spcPct val="140000"/>
              </a:lnSpc>
            </a:pPr>
            <a:r>
              <a:rPr lang="en-US" sz="1063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punctuation, special characters, mixed capitalization</a:t>
            </a:r>
            <a:pPr>
              <a:lnSpc>
                <a:spcPct val="14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structural stopwords that don't contribute to semantic meaning.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434813" y="4252435"/>
            <a:ext cx="5492728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syntactical anomalies and linguistic noise.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54370" y="4792426"/>
            <a:ext cx="33749" cy="1316230"/>
          </a:xfrm>
          <a:custGeom>
            <a:avLst/>
            <a:gdLst/>
            <a:ahLst/>
            <a:cxnLst/>
            <a:rect l="l" t="t" r="r" b="b"/>
            <a:pathLst>
              <a:path w="33749" h="1316230">
                <a:moveTo>
                  <a:pt x="0" y="0"/>
                </a:moveTo>
                <a:lnTo>
                  <a:pt x="33749" y="0"/>
                </a:lnTo>
                <a:lnTo>
                  <a:pt x="33749" y="1316230"/>
                </a:lnTo>
                <a:lnTo>
                  <a:pt x="0" y="1316230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2" name="Shape 39"/>
          <p:cNvSpPr/>
          <p:nvPr/>
        </p:nvSpPr>
        <p:spPr>
          <a:xfrm>
            <a:off x="584288" y="4961174"/>
            <a:ext cx="189841" cy="168747"/>
          </a:xfrm>
          <a:custGeom>
            <a:avLst/>
            <a:gdLst/>
            <a:ahLst/>
            <a:cxnLst/>
            <a:rect l="l" t="t" r="r" b="b"/>
            <a:pathLst>
              <a:path w="189841" h="168747">
                <a:moveTo>
                  <a:pt x="13183" y="10547"/>
                </a:moveTo>
                <a:cubicBezTo>
                  <a:pt x="5900" y="10547"/>
                  <a:pt x="0" y="16446"/>
                  <a:pt x="0" y="23730"/>
                </a:cubicBezTo>
                <a:lnTo>
                  <a:pt x="0" y="42187"/>
                </a:lnTo>
                <a:cubicBezTo>
                  <a:pt x="0" y="48021"/>
                  <a:pt x="4713" y="52734"/>
                  <a:pt x="10547" y="52734"/>
                </a:cubicBezTo>
                <a:cubicBezTo>
                  <a:pt x="16380" y="52734"/>
                  <a:pt x="21093" y="48021"/>
                  <a:pt x="21093" y="42187"/>
                </a:cubicBezTo>
                <a:lnTo>
                  <a:pt x="21093" y="31640"/>
                </a:lnTo>
                <a:lnTo>
                  <a:pt x="42187" y="31640"/>
                </a:lnTo>
                <a:lnTo>
                  <a:pt x="42187" y="137107"/>
                </a:lnTo>
                <a:lnTo>
                  <a:pt x="31640" y="137107"/>
                </a:lnTo>
                <a:cubicBezTo>
                  <a:pt x="25806" y="137107"/>
                  <a:pt x="21093" y="141820"/>
                  <a:pt x="21093" y="147654"/>
                </a:cubicBezTo>
                <a:cubicBezTo>
                  <a:pt x="21093" y="153488"/>
                  <a:pt x="25806" y="158201"/>
                  <a:pt x="31640" y="158201"/>
                </a:cubicBezTo>
                <a:lnTo>
                  <a:pt x="73827" y="158201"/>
                </a:lnTo>
                <a:cubicBezTo>
                  <a:pt x="79661" y="158201"/>
                  <a:pt x="84374" y="153488"/>
                  <a:pt x="84374" y="147654"/>
                </a:cubicBezTo>
                <a:cubicBezTo>
                  <a:pt x="84374" y="141820"/>
                  <a:pt x="79661" y="137107"/>
                  <a:pt x="73827" y="137107"/>
                </a:cubicBezTo>
                <a:lnTo>
                  <a:pt x="63280" y="137107"/>
                </a:lnTo>
                <a:lnTo>
                  <a:pt x="63280" y="31640"/>
                </a:lnTo>
                <a:lnTo>
                  <a:pt x="84374" y="31640"/>
                </a:lnTo>
                <a:lnTo>
                  <a:pt x="84374" y="42187"/>
                </a:lnTo>
                <a:cubicBezTo>
                  <a:pt x="84374" y="48021"/>
                  <a:pt x="89087" y="52734"/>
                  <a:pt x="94920" y="52734"/>
                </a:cubicBezTo>
                <a:cubicBezTo>
                  <a:pt x="100754" y="52734"/>
                  <a:pt x="105467" y="48021"/>
                  <a:pt x="105467" y="42187"/>
                </a:cubicBezTo>
                <a:lnTo>
                  <a:pt x="105467" y="23730"/>
                </a:lnTo>
                <a:cubicBezTo>
                  <a:pt x="105467" y="16446"/>
                  <a:pt x="99568" y="10547"/>
                  <a:pt x="92284" y="10547"/>
                </a:cubicBezTo>
                <a:lnTo>
                  <a:pt x="13183" y="10547"/>
                </a:lnTo>
                <a:close/>
                <a:moveTo>
                  <a:pt x="144556" y="119112"/>
                </a:moveTo>
                <a:cubicBezTo>
                  <a:pt x="140436" y="114992"/>
                  <a:pt x="133746" y="114992"/>
                  <a:pt x="129626" y="119112"/>
                </a:cubicBezTo>
                <a:cubicBezTo>
                  <a:pt x="125506" y="123232"/>
                  <a:pt x="125506" y="129922"/>
                  <a:pt x="129626" y="134042"/>
                </a:cubicBezTo>
                <a:lnTo>
                  <a:pt x="150719" y="155136"/>
                </a:lnTo>
                <a:cubicBezTo>
                  <a:pt x="154839" y="159255"/>
                  <a:pt x="161529" y="159255"/>
                  <a:pt x="165649" y="155136"/>
                </a:cubicBezTo>
                <a:lnTo>
                  <a:pt x="186743" y="134042"/>
                </a:lnTo>
                <a:cubicBezTo>
                  <a:pt x="190863" y="129922"/>
                  <a:pt x="190863" y="123232"/>
                  <a:pt x="186743" y="119112"/>
                </a:cubicBezTo>
                <a:cubicBezTo>
                  <a:pt x="182623" y="114992"/>
                  <a:pt x="175932" y="114992"/>
                  <a:pt x="171813" y="119112"/>
                </a:cubicBezTo>
                <a:lnTo>
                  <a:pt x="168714" y="122210"/>
                </a:lnTo>
                <a:lnTo>
                  <a:pt x="168714" y="46570"/>
                </a:lnTo>
                <a:lnTo>
                  <a:pt x="171813" y="49668"/>
                </a:lnTo>
                <a:cubicBezTo>
                  <a:pt x="175932" y="53788"/>
                  <a:pt x="182623" y="53788"/>
                  <a:pt x="186743" y="49668"/>
                </a:cubicBezTo>
                <a:cubicBezTo>
                  <a:pt x="190863" y="45549"/>
                  <a:pt x="190863" y="38858"/>
                  <a:pt x="186743" y="34738"/>
                </a:cubicBezTo>
                <a:lnTo>
                  <a:pt x="165649" y="13645"/>
                </a:lnTo>
                <a:cubicBezTo>
                  <a:pt x="163672" y="11667"/>
                  <a:pt x="161002" y="10547"/>
                  <a:pt x="158201" y="10547"/>
                </a:cubicBezTo>
                <a:cubicBezTo>
                  <a:pt x="155399" y="10547"/>
                  <a:pt x="152730" y="11667"/>
                  <a:pt x="150752" y="13645"/>
                </a:cubicBezTo>
                <a:lnTo>
                  <a:pt x="129659" y="34738"/>
                </a:lnTo>
                <a:cubicBezTo>
                  <a:pt x="125539" y="38858"/>
                  <a:pt x="125539" y="45549"/>
                  <a:pt x="129659" y="49668"/>
                </a:cubicBezTo>
                <a:cubicBezTo>
                  <a:pt x="133778" y="53788"/>
                  <a:pt x="140469" y="53788"/>
                  <a:pt x="144589" y="49668"/>
                </a:cubicBezTo>
                <a:lnTo>
                  <a:pt x="147687" y="46570"/>
                </a:lnTo>
                <a:lnTo>
                  <a:pt x="147687" y="122210"/>
                </a:lnTo>
                <a:lnTo>
                  <a:pt x="144589" y="119112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3" name="Text 40"/>
          <p:cNvSpPr/>
          <p:nvPr/>
        </p:nvSpPr>
        <p:spPr>
          <a:xfrm>
            <a:off x="784675" y="4927424"/>
            <a:ext cx="5298669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Token Normalization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573741" y="5264919"/>
            <a:ext cx="5492728" cy="4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Converts text to </a:t>
            </a:r>
            <a:pPr>
              <a:lnSpc>
                <a:spcPct val="140000"/>
              </a:lnSpc>
            </a:pPr>
            <a:r>
              <a:rPr lang="en-US" sz="1063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lowercase, applies lemmatization</a:t>
            </a:r>
            <a:pPr>
              <a:lnSpc>
                <a:spcPct val="14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standardizes tokens to create a dense, semantically potent vocabulary.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573741" y="5771161"/>
            <a:ext cx="5492728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dimensionality while preserving core semantic value.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215442" y="4792426"/>
            <a:ext cx="33749" cy="1316230"/>
          </a:xfrm>
          <a:custGeom>
            <a:avLst/>
            <a:gdLst/>
            <a:ahLst/>
            <a:cxnLst/>
            <a:rect l="l" t="t" r="r" b="b"/>
            <a:pathLst>
              <a:path w="33749" h="1316230">
                <a:moveTo>
                  <a:pt x="0" y="0"/>
                </a:moveTo>
                <a:lnTo>
                  <a:pt x="33749" y="0"/>
                </a:lnTo>
                <a:lnTo>
                  <a:pt x="33749" y="1316230"/>
                </a:lnTo>
                <a:lnTo>
                  <a:pt x="0" y="131623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7" name="Shape 44"/>
          <p:cNvSpPr/>
          <p:nvPr/>
        </p:nvSpPr>
        <p:spPr>
          <a:xfrm>
            <a:off x="6455907" y="4961174"/>
            <a:ext cx="168747" cy="168747"/>
          </a:xfrm>
          <a:custGeom>
            <a:avLst/>
            <a:gdLst/>
            <a:ahLst/>
            <a:cxnLst/>
            <a:rect l="l" t="t" r="r" b="b"/>
            <a:pathLst>
              <a:path w="168747" h="168747">
                <a:moveTo>
                  <a:pt x="84374" y="168747"/>
                </a:moveTo>
                <a:cubicBezTo>
                  <a:pt x="130941" y="168747"/>
                  <a:pt x="168747" y="130941"/>
                  <a:pt x="168747" y="84374"/>
                </a:cubicBezTo>
                <a:cubicBezTo>
                  <a:pt x="168747" y="37807"/>
                  <a:pt x="130941" y="0"/>
                  <a:pt x="84374" y="0"/>
                </a:cubicBezTo>
                <a:cubicBezTo>
                  <a:pt x="37807" y="0"/>
                  <a:pt x="0" y="37807"/>
                  <a:pt x="0" y="84374"/>
                </a:cubicBezTo>
                <a:cubicBezTo>
                  <a:pt x="0" y="130941"/>
                  <a:pt x="37807" y="168747"/>
                  <a:pt x="84374" y="168747"/>
                </a:cubicBezTo>
                <a:close/>
                <a:moveTo>
                  <a:pt x="112191" y="70103"/>
                </a:moveTo>
                <a:lnTo>
                  <a:pt x="85824" y="112290"/>
                </a:lnTo>
                <a:cubicBezTo>
                  <a:pt x="84440" y="114498"/>
                  <a:pt x="82067" y="115882"/>
                  <a:pt x="79463" y="116014"/>
                </a:cubicBezTo>
                <a:cubicBezTo>
                  <a:pt x="76859" y="116146"/>
                  <a:pt x="74354" y="114959"/>
                  <a:pt x="72805" y="112850"/>
                </a:cubicBezTo>
                <a:lnTo>
                  <a:pt x="56985" y="91756"/>
                </a:lnTo>
                <a:cubicBezTo>
                  <a:pt x="54349" y="88263"/>
                  <a:pt x="55074" y="83319"/>
                  <a:pt x="58567" y="80682"/>
                </a:cubicBezTo>
                <a:cubicBezTo>
                  <a:pt x="62061" y="78046"/>
                  <a:pt x="67005" y="78771"/>
                  <a:pt x="69641" y="82264"/>
                </a:cubicBezTo>
                <a:lnTo>
                  <a:pt x="78540" y="94129"/>
                </a:lnTo>
                <a:lnTo>
                  <a:pt x="98777" y="61731"/>
                </a:lnTo>
                <a:cubicBezTo>
                  <a:pt x="101084" y="58040"/>
                  <a:pt x="105962" y="56886"/>
                  <a:pt x="109686" y="59226"/>
                </a:cubicBezTo>
                <a:cubicBezTo>
                  <a:pt x="113410" y="61566"/>
                  <a:pt x="114531" y="66411"/>
                  <a:pt x="112191" y="70136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8" name="Text 45"/>
          <p:cNvSpPr/>
          <p:nvPr/>
        </p:nvSpPr>
        <p:spPr>
          <a:xfrm>
            <a:off x="6645747" y="4927424"/>
            <a:ext cx="5298669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9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Output Generation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34813" y="5264919"/>
            <a:ext cx="5492728" cy="43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Produces </a:t>
            </a:r>
            <a:pPr>
              <a:lnSpc>
                <a:spcPct val="140000"/>
              </a:lnSpc>
            </a:pPr>
            <a:r>
              <a:rPr lang="en-US" sz="1063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normalized token sequences</a:t>
            </a:r>
            <a:pPr>
              <a:lnSpc>
                <a:spcPct val="14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ready for mathematical feature extraction (TF-IDF) and unsupervised KMeans algorithms.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434813" y="5771161"/>
            <a:ext cx="5492728" cy="202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sequence of semantically potent tokens.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37495" y="6315372"/>
            <a:ext cx="11517010" cy="8437"/>
          </a:xfrm>
          <a:custGeom>
            <a:avLst/>
            <a:gdLst/>
            <a:ahLst/>
            <a:cxnLst/>
            <a:rect l="l" t="t" r="r" b="b"/>
            <a:pathLst>
              <a:path w="11517010" h="8437">
                <a:moveTo>
                  <a:pt x="0" y="0"/>
                </a:moveTo>
                <a:lnTo>
                  <a:pt x="11517010" y="0"/>
                </a:lnTo>
                <a:lnTo>
                  <a:pt x="11517010" y="8437"/>
                </a:lnTo>
                <a:lnTo>
                  <a:pt x="0" y="8437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52" name="Text 49"/>
          <p:cNvSpPr/>
          <p:nvPr/>
        </p:nvSpPr>
        <p:spPr>
          <a:xfrm>
            <a:off x="303745" y="6454588"/>
            <a:ext cx="11584509" cy="404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3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Impact:</a:t>
            </a:r>
            <a:pPr algn="ctr">
              <a:lnSpc>
                <a:spcPct val="130000"/>
              </a:lnSpc>
            </a:pPr>
            <a:r>
              <a:rPr lang="en-US" sz="106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rigorous custom preprocessing pipeline reduces text dimensionality while isolating core semantic value, ensuring pattern recognition focuses strictly on topical vocabulary and thematic terminologies rather than linguistic noise.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91" b="60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360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INTELLIGENCE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Mining Engine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2192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Multi-Algorithm Pattern Discovery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6002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1790700"/>
            <a:ext cx="38100" cy="1838325"/>
          </a:xfrm>
          <a:custGeom>
            <a:avLst/>
            <a:gdLst/>
            <a:ahLst/>
            <a:cxnLst/>
            <a:rect l="l" t="t" r="r" b="b"/>
            <a:pathLst>
              <a:path w="38100" h="1838325">
                <a:moveTo>
                  <a:pt x="0" y="0"/>
                </a:moveTo>
                <a:lnTo>
                  <a:pt x="38100" y="0"/>
                </a:lnTo>
                <a:lnTo>
                  <a:pt x="38100" y="1838325"/>
                </a:lnTo>
                <a:lnTo>
                  <a:pt x="0" y="18383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Shape 6"/>
          <p:cNvSpPr/>
          <p:nvPr/>
        </p:nvSpPr>
        <p:spPr>
          <a:xfrm>
            <a:off x="647700" y="1943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Shape 7"/>
          <p:cNvSpPr/>
          <p:nvPr/>
        </p:nvSpPr>
        <p:spPr>
          <a:xfrm>
            <a:off x="819150" y="2114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1" name="Text 8"/>
          <p:cNvSpPr/>
          <p:nvPr/>
        </p:nvSpPr>
        <p:spPr>
          <a:xfrm>
            <a:off x="1333500" y="1943100"/>
            <a:ext cx="2524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 Mining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33500" y="224790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Algorithm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7700" y="2590800"/>
            <a:ext cx="5429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Uncovers latent relationships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between entities (e.g., "Economic Reform" and "Policy Shifts") through frequent itemset mining.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7700" y="3167063"/>
            <a:ext cx="5353050" cy="9525"/>
          </a:xfrm>
          <a:custGeom>
            <a:avLst/>
            <a:gdLst/>
            <a:ahLst/>
            <a:cxnLst/>
            <a:rect l="l" t="t" r="r" b="b"/>
            <a:pathLst>
              <a:path w="5353050" h="9525">
                <a:moveTo>
                  <a:pt x="0" y="0"/>
                </a:moveTo>
                <a:lnTo>
                  <a:pt x="5353050" y="0"/>
                </a:lnTo>
                <a:lnTo>
                  <a:pt x="5353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5" name="Text 12"/>
          <p:cNvSpPr/>
          <p:nvPr/>
        </p:nvSpPr>
        <p:spPr>
          <a:xfrm>
            <a:off x="647700" y="324802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 hidden thematic correlations and entity-level trajectories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0300" y="1790700"/>
            <a:ext cx="38100" cy="1838325"/>
          </a:xfrm>
          <a:custGeom>
            <a:avLst/>
            <a:gdLst/>
            <a:ahLst/>
            <a:cxnLst/>
            <a:rect l="l" t="t" r="r" b="b"/>
            <a:pathLst>
              <a:path w="38100" h="1838325">
                <a:moveTo>
                  <a:pt x="0" y="0"/>
                </a:moveTo>
                <a:lnTo>
                  <a:pt x="38100" y="0"/>
                </a:lnTo>
                <a:lnTo>
                  <a:pt x="38100" y="1838325"/>
                </a:lnTo>
                <a:lnTo>
                  <a:pt x="0" y="18383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7" name="Shape 14"/>
          <p:cNvSpPr/>
          <p:nvPr/>
        </p:nvSpPr>
        <p:spPr>
          <a:xfrm>
            <a:off x="6457950" y="1943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8" name="Shape 15"/>
          <p:cNvSpPr/>
          <p:nvPr/>
        </p:nvSpPr>
        <p:spPr>
          <a:xfrm>
            <a:off x="6629400" y="2114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9" name="Text 16"/>
          <p:cNvSpPr/>
          <p:nvPr/>
        </p:nvSpPr>
        <p:spPr>
          <a:xfrm>
            <a:off x="7143750" y="194310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Extraction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143750" y="2247900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 &amp; Transformers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57950" y="2590800"/>
            <a:ext cx="5429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approach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weighted keyword frequencies and dense embeddings to translate raw text into high-dimensional numerical feature space.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57950" y="3167063"/>
            <a:ext cx="5353050" cy="9525"/>
          </a:xfrm>
          <a:custGeom>
            <a:avLst/>
            <a:gdLst/>
            <a:ahLst/>
            <a:cxnLst/>
            <a:rect l="l" t="t" r="r" b="b"/>
            <a:pathLst>
              <a:path w="5353050" h="9525">
                <a:moveTo>
                  <a:pt x="0" y="0"/>
                </a:moveTo>
                <a:lnTo>
                  <a:pt x="5353050" y="0"/>
                </a:lnTo>
                <a:lnTo>
                  <a:pt x="5353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0"/>
          <p:cNvSpPr/>
          <p:nvPr/>
        </p:nvSpPr>
        <p:spPr>
          <a:xfrm>
            <a:off x="6457950" y="3248025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Capture both topical keywords and deep semantic context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00050" y="3819525"/>
            <a:ext cx="38100" cy="2066925"/>
          </a:xfrm>
          <a:custGeom>
            <a:avLst/>
            <a:gdLst/>
            <a:ahLst/>
            <a:cxnLst/>
            <a:rect l="l" t="t" r="r" b="b"/>
            <a:pathLst>
              <a:path w="38100" h="2066925">
                <a:moveTo>
                  <a:pt x="0" y="0"/>
                </a:moveTo>
                <a:lnTo>
                  <a:pt x="38100" y="0"/>
                </a:lnTo>
                <a:lnTo>
                  <a:pt x="38100" y="2066925"/>
                </a:lnTo>
                <a:lnTo>
                  <a:pt x="0" y="20669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5" name="Shape 22"/>
          <p:cNvSpPr/>
          <p:nvPr/>
        </p:nvSpPr>
        <p:spPr>
          <a:xfrm>
            <a:off x="647700" y="3971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6" name="Shape 23"/>
          <p:cNvSpPr/>
          <p:nvPr/>
        </p:nvSpPr>
        <p:spPr>
          <a:xfrm>
            <a:off x="807244" y="41433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06" y="44425"/>
                </a:moveTo>
                <a:cubicBezTo>
                  <a:pt x="4800" y="40332"/>
                  <a:pt x="0" y="32631"/>
                  <a:pt x="0" y="23812"/>
                </a:cubicBezTo>
                <a:cubicBezTo>
                  <a:pt x="0" y="10678"/>
                  <a:pt x="10678" y="0"/>
                  <a:pt x="23812" y="0"/>
                </a:cubicBezTo>
                <a:cubicBezTo>
                  <a:pt x="32631" y="0"/>
                  <a:pt x="40332" y="4800"/>
                  <a:pt x="44425" y="11906"/>
                </a:cubicBezTo>
                <a:lnTo>
                  <a:pt x="169850" y="11906"/>
                </a:lnTo>
                <a:cubicBezTo>
                  <a:pt x="173980" y="4800"/>
                  <a:pt x="181645" y="0"/>
                  <a:pt x="190463" y="0"/>
                </a:cubicBezTo>
                <a:cubicBezTo>
                  <a:pt x="203597" y="0"/>
                  <a:pt x="214275" y="10678"/>
                  <a:pt x="214275" y="23812"/>
                </a:cubicBezTo>
                <a:cubicBezTo>
                  <a:pt x="214275" y="32631"/>
                  <a:pt x="209476" y="40332"/>
                  <a:pt x="202369" y="44425"/>
                </a:cubicBezTo>
                <a:lnTo>
                  <a:pt x="202369" y="146038"/>
                </a:lnTo>
                <a:cubicBezTo>
                  <a:pt x="209476" y="150168"/>
                  <a:pt x="214275" y="157832"/>
                  <a:pt x="214275" y="166650"/>
                </a:cubicBezTo>
                <a:cubicBezTo>
                  <a:pt x="214275" y="179784"/>
                  <a:pt x="203597" y="190463"/>
                  <a:pt x="190463" y="190463"/>
                </a:cubicBezTo>
                <a:cubicBezTo>
                  <a:pt x="181645" y="190463"/>
                  <a:pt x="173943" y="185663"/>
                  <a:pt x="169850" y="178557"/>
                </a:cubicBezTo>
                <a:lnTo>
                  <a:pt x="44425" y="178557"/>
                </a:lnTo>
                <a:cubicBezTo>
                  <a:pt x="40295" y="185663"/>
                  <a:pt x="32631" y="190463"/>
                  <a:pt x="23812" y="190463"/>
                </a:cubicBezTo>
                <a:cubicBezTo>
                  <a:pt x="10678" y="190463"/>
                  <a:pt x="0" y="179784"/>
                  <a:pt x="0" y="166650"/>
                </a:cubicBezTo>
                <a:cubicBezTo>
                  <a:pt x="0" y="157832"/>
                  <a:pt x="4800" y="150130"/>
                  <a:pt x="11906" y="146038"/>
                </a:cubicBezTo>
                <a:lnTo>
                  <a:pt x="11906" y="44425"/>
                </a:lnTo>
                <a:close/>
                <a:moveTo>
                  <a:pt x="178594" y="44425"/>
                </a:moveTo>
                <a:cubicBezTo>
                  <a:pt x="174985" y="42342"/>
                  <a:pt x="171971" y="39328"/>
                  <a:pt x="169887" y="35719"/>
                </a:cubicBezTo>
                <a:lnTo>
                  <a:pt x="44425" y="35719"/>
                </a:lnTo>
                <a:cubicBezTo>
                  <a:pt x="42342" y="39328"/>
                  <a:pt x="39328" y="42342"/>
                  <a:pt x="35719" y="44425"/>
                </a:cubicBezTo>
                <a:lnTo>
                  <a:pt x="35719" y="146038"/>
                </a:lnTo>
                <a:cubicBezTo>
                  <a:pt x="39328" y="148121"/>
                  <a:pt x="42342" y="151135"/>
                  <a:pt x="44425" y="154744"/>
                </a:cubicBezTo>
                <a:lnTo>
                  <a:pt x="169850" y="154744"/>
                </a:lnTo>
                <a:cubicBezTo>
                  <a:pt x="171934" y="151135"/>
                  <a:pt x="174947" y="148121"/>
                  <a:pt x="178557" y="146038"/>
                </a:cubicBezTo>
                <a:lnTo>
                  <a:pt x="178557" y="44425"/>
                </a:lnTo>
                <a:close/>
                <a:moveTo>
                  <a:pt x="53578" y="65484"/>
                </a:moveTo>
                <a:cubicBezTo>
                  <a:pt x="53578" y="58899"/>
                  <a:pt x="58899" y="53578"/>
                  <a:pt x="65484" y="53578"/>
                </a:cubicBezTo>
                <a:lnTo>
                  <a:pt x="107156" y="53578"/>
                </a:lnTo>
                <a:cubicBezTo>
                  <a:pt x="113742" y="53578"/>
                  <a:pt x="119063" y="58899"/>
                  <a:pt x="119063" y="65484"/>
                </a:cubicBezTo>
                <a:lnTo>
                  <a:pt x="119063" y="89297"/>
                </a:lnTo>
                <a:cubicBezTo>
                  <a:pt x="119063" y="95883"/>
                  <a:pt x="113742" y="101203"/>
                  <a:pt x="107156" y="101203"/>
                </a:cubicBezTo>
                <a:lnTo>
                  <a:pt x="65484" y="101203"/>
                </a:lnTo>
                <a:cubicBezTo>
                  <a:pt x="58899" y="101203"/>
                  <a:pt x="53578" y="95883"/>
                  <a:pt x="53578" y="89297"/>
                </a:cubicBezTo>
                <a:lnTo>
                  <a:pt x="53578" y="65484"/>
                </a:lnTo>
                <a:close/>
                <a:moveTo>
                  <a:pt x="95250" y="119063"/>
                </a:moveTo>
                <a:lnTo>
                  <a:pt x="107156" y="119063"/>
                </a:lnTo>
                <a:cubicBezTo>
                  <a:pt x="123602" y="119063"/>
                  <a:pt x="136922" y="105742"/>
                  <a:pt x="136922" y="89297"/>
                </a:cubicBezTo>
                <a:lnTo>
                  <a:pt x="148828" y="89297"/>
                </a:lnTo>
                <a:cubicBezTo>
                  <a:pt x="155414" y="89297"/>
                  <a:pt x="160734" y="94617"/>
                  <a:pt x="160734" y="101203"/>
                </a:cubicBezTo>
                <a:lnTo>
                  <a:pt x="160734" y="125016"/>
                </a:lnTo>
                <a:cubicBezTo>
                  <a:pt x="160734" y="131601"/>
                  <a:pt x="155414" y="136922"/>
                  <a:pt x="148828" y="136922"/>
                </a:cubicBezTo>
                <a:lnTo>
                  <a:pt x="107156" y="136922"/>
                </a:lnTo>
                <a:cubicBezTo>
                  <a:pt x="100571" y="136922"/>
                  <a:pt x="95250" y="131601"/>
                  <a:pt x="95250" y="125016"/>
                </a:cubicBezTo>
                <a:lnTo>
                  <a:pt x="95250" y="119063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7" name="Text 24"/>
          <p:cNvSpPr/>
          <p:nvPr/>
        </p:nvSpPr>
        <p:spPr>
          <a:xfrm>
            <a:off x="1333500" y="3971925"/>
            <a:ext cx="2686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Density-Based Clustering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33500" y="4276725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DBSCAN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7700" y="4619625"/>
            <a:ext cx="5429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learning algorithm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executed on text vectors to spatially separate rapidly developing stories from ephemeral background noise.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7700" y="5195888"/>
            <a:ext cx="5353050" cy="9525"/>
          </a:xfrm>
          <a:custGeom>
            <a:avLst/>
            <a:gdLst/>
            <a:ahLst/>
            <a:cxnLst/>
            <a:rect l="l" t="t" r="r" b="b"/>
            <a:pathLst>
              <a:path w="5353050" h="9525">
                <a:moveTo>
                  <a:pt x="0" y="0"/>
                </a:moveTo>
                <a:lnTo>
                  <a:pt x="5353050" y="0"/>
                </a:lnTo>
                <a:lnTo>
                  <a:pt x="5353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1" name="Text 28"/>
          <p:cNvSpPr/>
          <p:nvPr/>
        </p:nvSpPr>
        <p:spPr>
          <a:xfrm>
            <a:off x="647700" y="5276850"/>
            <a:ext cx="542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Spatially separate developing stories from background noise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210300" y="3819525"/>
            <a:ext cx="38100" cy="2066925"/>
          </a:xfrm>
          <a:custGeom>
            <a:avLst/>
            <a:gdLst/>
            <a:ahLst/>
            <a:cxnLst/>
            <a:rect l="l" t="t" r="r" b="b"/>
            <a:pathLst>
              <a:path w="38100" h="2066925">
                <a:moveTo>
                  <a:pt x="0" y="0"/>
                </a:moveTo>
                <a:lnTo>
                  <a:pt x="38100" y="0"/>
                </a:lnTo>
                <a:lnTo>
                  <a:pt x="38100" y="2066925"/>
                </a:lnTo>
                <a:lnTo>
                  <a:pt x="0" y="2066925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Shape 30"/>
          <p:cNvSpPr/>
          <p:nvPr/>
        </p:nvSpPr>
        <p:spPr>
          <a:xfrm>
            <a:off x="6457950" y="39719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4" name="Shape 31"/>
          <p:cNvSpPr/>
          <p:nvPr/>
        </p:nvSpPr>
        <p:spPr>
          <a:xfrm>
            <a:off x="6641306" y="41433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-11906"/>
                </a:moveTo>
                <a:cubicBezTo>
                  <a:pt x="85948" y="-11906"/>
                  <a:pt x="88441" y="-10753"/>
                  <a:pt x="90153" y="-8744"/>
                </a:cubicBezTo>
                <a:lnTo>
                  <a:pt x="140754" y="50788"/>
                </a:lnTo>
                <a:cubicBezTo>
                  <a:pt x="143024" y="53429"/>
                  <a:pt x="143508" y="57150"/>
                  <a:pt x="142056" y="60313"/>
                </a:cubicBezTo>
                <a:cubicBezTo>
                  <a:pt x="140605" y="63475"/>
                  <a:pt x="137443" y="65484"/>
                  <a:pt x="133945" y="65484"/>
                </a:cubicBezTo>
                <a:lnTo>
                  <a:pt x="124681" y="65484"/>
                </a:lnTo>
                <a:lnTo>
                  <a:pt x="152660" y="98413"/>
                </a:lnTo>
                <a:cubicBezTo>
                  <a:pt x="154930" y="101054"/>
                  <a:pt x="155414" y="104775"/>
                  <a:pt x="153963" y="107938"/>
                </a:cubicBezTo>
                <a:cubicBezTo>
                  <a:pt x="152512" y="111100"/>
                  <a:pt x="149349" y="113109"/>
                  <a:pt x="145852" y="113109"/>
                </a:cubicBezTo>
                <a:lnTo>
                  <a:pt x="131527" y="113109"/>
                </a:lnTo>
                <a:lnTo>
                  <a:pt x="164567" y="151991"/>
                </a:lnTo>
                <a:cubicBezTo>
                  <a:pt x="166836" y="154632"/>
                  <a:pt x="167320" y="158353"/>
                  <a:pt x="165869" y="161516"/>
                </a:cubicBezTo>
                <a:cubicBezTo>
                  <a:pt x="164418" y="164678"/>
                  <a:pt x="161255" y="166688"/>
                  <a:pt x="157758" y="166688"/>
                </a:cubicBezTo>
                <a:lnTo>
                  <a:pt x="95250" y="166688"/>
                </a:lnTo>
                <a:lnTo>
                  <a:pt x="95250" y="190500"/>
                </a:lnTo>
                <a:cubicBezTo>
                  <a:pt x="95250" y="197086"/>
                  <a:pt x="89929" y="202406"/>
                  <a:pt x="83344" y="202406"/>
                </a:cubicBezTo>
                <a:cubicBezTo>
                  <a:pt x="76758" y="202406"/>
                  <a:pt x="71438" y="197086"/>
                  <a:pt x="71438" y="190500"/>
                </a:cubicBezTo>
                <a:lnTo>
                  <a:pt x="71438" y="166688"/>
                </a:lnTo>
                <a:lnTo>
                  <a:pt x="8930" y="166688"/>
                </a:lnTo>
                <a:cubicBezTo>
                  <a:pt x="5432" y="166688"/>
                  <a:pt x="2270" y="164678"/>
                  <a:pt x="819" y="161516"/>
                </a:cubicBezTo>
                <a:cubicBezTo>
                  <a:pt x="-633" y="158353"/>
                  <a:pt x="-149" y="154632"/>
                  <a:pt x="2121" y="151991"/>
                </a:cubicBezTo>
                <a:lnTo>
                  <a:pt x="35161" y="113109"/>
                </a:lnTo>
                <a:lnTo>
                  <a:pt x="20836" y="113109"/>
                </a:lnTo>
                <a:cubicBezTo>
                  <a:pt x="17338" y="113109"/>
                  <a:pt x="14176" y="111100"/>
                  <a:pt x="12725" y="107938"/>
                </a:cubicBezTo>
                <a:cubicBezTo>
                  <a:pt x="11274" y="104775"/>
                  <a:pt x="11757" y="101054"/>
                  <a:pt x="14027" y="98413"/>
                </a:cubicBezTo>
                <a:lnTo>
                  <a:pt x="42007" y="65484"/>
                </a:lnTo>
                <a:lnTo>
                  <a:pt x="32742" y="65484"/>
                </a:lnTo>
                <a:cubicBezTo>
                  <a:pt x="29245" y="65484"/>
                  <a:pt x="26082" y="63475"/>
                  <a:pt x="24631" y="60313"/>
                </a:cubicBezTo>
                <a:cubicBezTo>
                  <a:pt x="23180" y="57150"/>
                  <a:pt x="23664" y="53429"/>
                  <a:pt x="25933" y="50788"/>
                </a:cubicBezTo>
                <a:lnTo>
                  <a:pt x="76535" y="-8744"/>
                </a:lnTo>
                <a:cubicBezTo>
                  <a:pt x="78246" y="-10753"/>
                  <a:pt x="80739" y="-11906"/>
                  <a:pt x="83344" y="-1190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35" name="Text 32"/>
          <p:cNvSpPr/>
          <p:nvPr/>
        </p:nvSpPr>
        <p:spPr>
          <a:xfrm>
            <a:off x="7143750" y="3971925"/>
            <a:ext cx="2657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Classification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143750" y="4276725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457950" y="4619625"/>
            <a:ext cx="5429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Multi-class ensemble learning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method used to categorize articles into Politics, Business, and Tech domains with high accuracy.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57950" y="5195888"/>
            <a:ext cx="5353050" cy="9525"/>
          </a:xfrm>
          <a:custGeom>
            <a:avLst/>
            <a:gdLst/>
            <a:ahLst/>
            <a:cxnLst/>
            <a:rect l="l" t="t" r="r" b="b"/>
            <a:pathLst>
              <a:path w="5353050" h="9525">
                <a:moveTo>
                  <a:pt x="0" y="0"/>
                </a:moveTo>
                <a:lnTo>
                  <a:pt x="5353050" y="0"/>
                </a:lnTo>
                <a:lnTo>
                  <a:pt x="53530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9" name="Text 36"/>
          <p:cNvSpPr/>
          <p:nvPr/>
        </p:nvSpPr>
        <p:spPr>
          <a:xfrm>
            <a:off x="6457950" y="5276850"/>
            <a:ext cx="5429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Purpose: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 instant "temperature check" by classifying news by sentiment and domain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381000" y="619601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1" name="Text 38"/>
          <p:cNvSpPr/>
          <p:nvPr/>
        </p:nvSpPr>
        <p:spPr>
          <a:xfrm>
            <a:off x="342900" y="6353175"/>
            <a:ext cx="1150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Approach: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These four techniques work synergistically to capture different facets of news text—from surface-level keywords to deep semantic relationships, from supervised classification to unsupervised pattern discovery.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91" b="60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76296" y="376296"/>
            <a:ext cx="11514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spc="356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ANALYSIS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76296" y="677333"/>
            <a:ext cx="11665185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6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Clustering &amp; Classification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6296" y="1204148"/>
            <a:ext cx="11533481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Density-Based Filtering Approach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6296" y="1580444"/>
            <a:ext cx="752593" cy="37630"/>
          </a:xfrm>
          <a:custGeom>
            <a:avLst/>
            <a:gdLst/>
            <a:ahLst/>
            <a:cxnLst/>
            <a:rect l="l" t="t" r="r" b="b"/>
            <a:pathLst>
              <a:path w="752593" h="37630">
                <a:moveTo>
                  <a:pt x="0" y="0"/>
                </a:moveTo>
                <a:lnTo>
                  <a:pt x="752593" y="0"/>
                </a:lnTo>
                <a:lnTo>
                  <a:pt x="752593" y="37630"/>
                </a:lnTo>
                <a:lnTo>
                  <a:pt x="0" y="3763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Shape 5"/>
          <p:cNvSpPr/>
          <p:nvPr/>
        </p:nvSpPr>
        <p:spPr>
          <a:xfrm>
            <a:off x="385704" y="1778000"/>
            <a:ext cx="5588000" cy="3715926"/>
          </a:xfrm>
          <a:custGeom>
            <a:avLst/>
            <a:gdLst/>
            <a:ahLst/>
            <a:cxnLst/>
            <a:rect l="l" t="t" r="r" b="b"/>
            <a:pathLst>
              <a:path w="5588000" h="3715926">
                <a:moveTo>
                  <a:pt x="0" y="0"/>
                </a:moveTo>
                <a:lnTo>
                  <a:pt x="5588000" y="0"/>
                </a:lnTo>
                <a:lnTo>
                  <a:pt x="5588000" y="3715926"/>
                </a:lnTo>
                <a:lnTo>
                  <a:pt x="0" y="37159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0889" y="2013185"/>
            <a:ext cx="602074" cy="602074"/>
          </a:xfrm>
          <a:custGeom>
            <a:avLst/>
            <a:gdLst/>
            <a:ahLst/>
            <a:cxnLst/>
            <a:rect l="l" t="t" r="r" b="b"/>
            <a:pathLst>
              <a:path w="602074" h="602074">
                <a:moveTo>
                  <a:pt x="301037" y="0"/>
                </a:moveTo>
                <a:lnTo>
                  <a:pt x="301037" y="0"/>
                </a:lnTo>
                <a:cubicBezTo>
                  <a:pt x="467295" y="0"/>
                  <a:pt x="602074" y="134779"/>
                  <a:pt x="602074" y="301037"/>
                </a:cubicBezTo>
                <a:lnTo>
                  <a:pt x="602074" y="301037"/>
                </a:lnTo>
                <a:cubicBezTo>
                  <a:pt x="602074" y="467295"/>
                  <a:pt x="467295" y="602074"/>
                  <a:pt x="301037" y="602074"/>
                </a:cubicBezTo>
                <a:lnTo>
                  <a:pt x="301037" y="602074"/>
                </a:lnTo>
                <a:cubicBezTo>
                  <a:pt x="134779" y="602074"/>
                  <a:pt x="0" y="467295"/>
                  <a:pt x="0" y="301037"/>
                </a:cubicBezTo>
                <a:lnTo>
                  <a:pt x="0" y="301037"/>
                </a:lnTo>
                <a:cubicBezTo>
                  <a:pt x="0" y="134779"/>
                  <a:pt x="134779" y="0"/>
                  <a:pt x="301037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Shape 7"/>
          <p:cNvSpPr/>
          <p:nvPr/>
        </p:nvSpPr>
        <p:spPr>
          <a:xfrm>
            <a:off x="809037" y="2201333"/>
            <a:ext cx="225778" cy="225778"/>
          </a:xfrm>
          <a:custGeom>
            <a:avLst/>
            <a:gdLst/>
            <a:ahLst/>
            <a:cxnLst/>
            <a:rect l="l" t="t" r="r" b="b"/>
            <a:pathLst>
              <a:path w="225778" h="225778">
                <a:moveTo>
                  <a:pt x="184503" y="69630"/>
                </a:moveTo>
                <a:cubicBezTo>
                  <a:pt x="200069" y="65969"/>
                  <a:pt x="211667" y="51991"/>
                  <a:pt x="211667" y="35278"/>
                </a:cubicBezTo>
                <a:cubicBezTo>
                  <a:pt x="211667" y="15787"/>
                  <a:pt x="195880" y="0"/>
                  <a:pt x="176389" y="0"/>
                </a:cubicBezTo>
                <a:cubicBezTo>
                  <a:pt x="157251" y="0"/>
                  <a:pt x="141684" y="15214"/>
                  <a:pt x="141111" y="34175"/>
                </a:cubicBezTo>
                <a:lnTo>
                  <a:pt x="60060" y="66631"/>
                </a:lnTo>
                <a:cubicBezTo>
                  <a:pt x="53666" y="60325"/>
                  <a:pt x="44935" y="56444"/>
                  <a:pt x="35278" y="56444"/>
                </a:cubicBezTo>
                <a:cubicBezTo>
                  <a:pt x="15787" y="56444"/>
                  <a:pt x="0" y="72231"/>
                  <a:pt x="0" y="91722"/>
                </a:cubicBezTo>
                <a:cubicBezTo>
                  <a:pt x="0" y="111213"/>
                  <a:pt x="15787" y="127000"/>
                  <a:pt x="35278" y="127000"/>
                </a:cubicBezTo>
                <a:cubicBezTo>
                  <a:pt x="40658" y="127000"/>
                  <a:pt x="45773" y="125809"/>
                  <a:pt x="50315" y="123649"/>
                </a:cubicBezTo>
                <a:lnTo>
                  <a:pt x="114520" y="179828"/>
                </a:lnTo>
                <a:cubicBezTo>
                  <a:pt x="113462" y="183180"/>
                  <a:pt x="112889" y="186796"/>
                  <a:pt x="112889" y="190500"/>
                </a:cubicBezTo>
                <a:cubicBezTo>
                  <a:pt x="112889" y="209991"/>
                  <a:pt x="128676" y="225778"/>
                  <a:pt x="148167" y="225778"/>
                </a:cubicBezTo>
                <a:cubicBezTo>
                  <a:pt x="167658" y="225778"/>
                  <a:pt x="183444" y="209991"/>
                  <a:pt x="183444" y="190500"/>
                </a:cubicBezTo>
                <a:cubicBezTo>
                  <a:pt x="183444" y="178285"/>
                  <a:pt x="177271" y="167525"/>
                  <a:pt x="167834" y="161219"/>
                </a:cubicBezTo>
                <a:lnTo>
                  <a:pt x="184503" y="69630"/>
                </a:lnTo>
                <a:close/>
                <a:moveTo>
                  <a:pt x="68924" y="102394"/>
                </a:moveTo>
                <a:cubicBezTo>
                  <a:pt x="69894" y="99351"/>
                  <a:pt x="70467" y="96132"/>
                  <a:pt x="70556" y="92825"/>
                </a:cubicBezTo>
                <a:lnTo>
                  <a:pt x="151606" y="60413"/>
                </a:lnTo>
                <a:cubicBezTo>
                  <a:pt x="153194" y="61957"/>
                  <a:pt x="154869" y="63368"/>
                  <a:pt x="156722" y="64602"/>
                </a:cubicBezTo>
                <a:lnTo>
                  <a:pt x="140053" y="156148"/>
                </a:lnTo>
                <a:cubicBezTo>
                  <a:pt x="137627" y="156722"/>
                  <a:pt x="135290" y="157515"/>
                  <a:pt x="133085" y="158574"/>
                </a:cubicBezTo>
                <a:lnTo>
                  <a:pt x="68924" y="102394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1" name="Text 8"/>
          <p:cNvSpPr/>
          <p:nvPr/>
        </p:nvSpPr>
        <p:spPr>
          <a:xfrm>
            <a:off x="1373481" y="2163704"/>
            <a:ext cx="2558815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Unsupervised Clustering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0889" y="2765778"/>
            <a:ext cx="5202296" cy="555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Executing </a:t>
            </a:r>
            <a:pPr>
              <a:lnSpc>
                <a:spcPct val="140000"/>
              </a:lnSpc>
            </a:pPr>
            <a:r>
              <a:rPr lang="en-US" sz="1333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K-Means and DBSCAN clustering</a:t>
            </a:r>
            <a:pPr>
              <a:lnSpc>
                <a:spcPct val="140000"/>
              </a:lnSpc>
            </a:pPr>
            <a:r>
              <a:rPr lang="en-US" sz="133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identifies natural algorithmic groupings in the text vectors.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0889" y="3466630"/>
            <a:ext cx="5192889" cy="48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allows the system to </a:t>
            </a:r>
            <a:pPr>
              <a:lnSpc>
                <a:spcPct val="140000"/>
              </a:lnSpc>
            </a:pPr>
            <a:r>
              <a:rPr lang="en-US" sz="1185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 novel topics organically</a:t>
            </a:r>
            <a:pPr>
              <a:lnSpc>
                <a:spcPct val="140000"/>
              </a:lnSpc>
            </a:pPr>
            <a:r>
              <a:rPr lang="en-US" sz="118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relying on human-labelled constraints.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0889" y="4106333"/>
            <a:ext cx="2483556" cy="1147704"/>
          </a:xfrm>
          <a:custGeom>
            <a:avLst/>
            <a:gdLst/>
            <a:ahLst/>
            <a:cxnLst/>
            <a:rect l="l" t="t" r="r" b="b"/>
            <a:pathLst>
              <a:path w="2483556" h="1147704">
                <a:moveTo>
                  <a:pt x="0" y="0"/>
                </a:moveTo>
                <a:lnTo>
                  <a:pt x="2483556" y="0"/>
                </a:lnTo>
                <a:lnTo>
                  <a:pt x="2483556" y="1147704"/>
                </a:lnTo>
                <a:lnTo>
                  <a:pt x="0" y="1147704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5" name="Shape 12"/>
          <p:cNvSpPr/>
          <p:nvPr/>
        </p:nvSpPr>
        <p:spPr>
          <a:xfrm>
            <a:off x="1741546" y="4256852"/>
            <a:ext cx="246944" cy="282222"/>
          </a:xfrm>
          <a:custGeom>
            <a:avLst/>
            <a:gdLst/>
            <a:ahLst/>
            <a:cxnLst/>
            <a:rect l="l" t="t" r="r" b="b"/>
            <a:pathLst>
              <a:path w="246944" h="282222">
                <a:moveTo>
                  <a:pt x="88470" y="-14552"/>
                </a:moveTo>
                <a:cubicBezTo>
                  <a:pt x="93596" y="-18852"/>
                  <a:pt x="101148" y="-18686"/>
                  <a:pt x="106054" y="-14056"/>
                </a:cubicBezTo>
                <a:cubicBezTo>
                  <a:pt x="112834" y="-7662"/>
                  <a:pt x="118897" y="-606"/>
                  <a:pt x="124740" y="6559"/>
                </a:cubicBezTo>
                <a:cubicBezTo>
                  <a:pt x="132181" y="15655"/>
                  <a:pt x="141111" y="27671"/>
                  <a:pt x="149710" y="41947"/>
                </a:cubicBezTo>
                <a:cubicBezTo>
                  <a:pt x="152576" y="38199"/>
                  <a:pt x="155222" y="34892"/>
                  <a:pt x="157537" y="32081"/>
                </a:cubicBezTo>
                <a:cubicBezTo>
                  <a:pt x="158144" y="31364"/>
                  <a:pt x="158750" y="30592"/>
                  <a:pt x="159356" y="29821"/>
                </a:cubicBezTo>
                <a:cubicBezTo>
                  <a:pt x="163711" y="24419"/>
                  <a:pt x="169113" y="17639"/>
                  <a:pt x="176334" y="17639"/>
                </a:cubicBezTo>
                <a:cubicBezTo>
                  <a:pt x="183720" y="17639"/>
                  <a:pt x="188901" y="24198"/>
                  <a:pt x="193311" y="29821"/>
                </a:cubicBezTo>
                <a:cubicBezTo>
                  <a:pt x="194028" y="30758"/>
                  <a:pt x="194744" y="31640"/>
                  <a:pt x="195461" y="32467"/>
                </a:cubicBezTo>
                <a:cubicBezTo>
                  <a:pt x="201138" y="39302"/>
                  <a:pt x="208690" y="49168"/>
                  <a:pt x="216242" y="61350"/>
                </a:cubicBezTo>
                <a:cubicBezTo>
                  <a:pt x="231235" y="85549"/>
                  <a:pt x="246889" y="120000"/>
                  <a:pt x="246889" y="158695"/>
                </a:cubicBezTo>
                <a:cubicBezTo>
                  <a:pt x="246889" y="226880"/>
                  <a:pt x="191602" y="282167"/>
                  <a:pt x="123417" y="282167"/>
                </a:cubicBezTo>
                <a:cubicBezTo>
                  <a:pt x="55232" y="282167"/>
                  <a:pt x="0" y="226935"/>
                  <a:pt x="0" y="158750"/>
                </a:cubicBezTo>
                <a:cubicBezTo>
                  <a:pt x="0" y="108534"/>
                  <a:pt x="22655" y="65043"/>
                  <a:pt x="44373" y="34727"/>
                </a:cubicBezTo>
                <a:cubicBezTo>
                  <a:pt x="55342" y="19458"/>
                  <a:pt x="66256" y="7221"/>
                  <a:pt x="74469" y="-1158"/>
                </a:cubicBezTo>
                <a:cubicBezTo>
                  <a:pt x="78989" y="-5788"/>
                  <a:pt x="83564" y="-10363"/>
                  <a:pt x="88525" y="-14497"/>
                </a:cubicBezTo>
                <a:close/>
                <a:moveTo>
                  <a:pt x="124409" y="229306"/>
                </a:moveTo>
                <a:cubicBezTo>
                  <a:pt x="138355" y="229306"/>
                  <a:pt x="150702" y="225447"/>
                  <a:pt x="162333" y="217730"/>
                </a:cubicBezTo>
                <a:cubicBezTo>
                  <a:pt x="185539" y="201524"/>
                  <a:pt x="191768" y="169113"/>
                  <a:pt x="177822" y="143647"/>
                </a:cubicBezTo>
                <a:cubicBezTo>
                  <a:pt x="175342" y="138686"/>
                  <a:pt x="169003" y="138355"/>
                  <a:pt x="165420" y="142544"/>
                </a:cubicBezTo>
                <a:lnTo>
                  <a:pt x="151529" y="158695"/>
                </a:lnTo>
                <a:cubicBezTo>
                  <a:pt x="147891" y="162884"/>
                  <a:pt x="141332" y="162774"/>
                  <a:pt x="137914" y="158419"/>
                </a:cubicBezTo>
                <a:cubicBezTo>
                  <a:pt x="128378" y="146237"/>
                  <a:pt x="110849" y="124023"/>
                  <a:pt x="101920" y="112668"/>
                </a:cubicBezTo>
                <a:cubicBezTo>
                  <a:pt x="98943" y="108865"/>
                  <a:pt x="93541" y="108259"/>
                  <a:pt x="90069" y="111621"/>
                </a:cubicBezTo>
                <a:cubicBezTo>
                  <a:pt x="79981" y="121433"/>
                  <a:pt x="61681" y="142930"/>
                  <a:pt x="61681" y="169113"/>
                </a:cubicBezTo>
                <a:cubicBezTo>
                  <a:pt x="61681" y="206926"/>
                  <a:pt x="89572" y="229306"/>
                  <a:pt x="124354" y="229306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6" name="Text 13"/>
          <p:cNvSpPr/>
          <p:nvPr/>
        </p:nvSpPr>
        <p:spPr>
          <a:xfrm>
            <a:off x="583259" y="4614333"/>
            <a:ext cx="255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Density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259" y="4840111"/>
            <a:ext cx="255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Rapidly Developing Stories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64370" y="4115741"/>
            <a:ext cx="2464741" cy="1128889"/>
          </a:xfrm>
          <a:custGeom>
            <a:avLst/>
            <a:gdLst/>
            <a:ahLst/>
            <a:cxnLst/>
            <a:rect l="l" t="t" r="r" b="b"/>
            <a:pathLst>
              <a:path w="2464741" h="1128889">
                <a:moveTo>
                  <a:pt x="0" y="0"/>
                </a:moveTo>
                <a:lnTo>
                  <a:pt x="2464741" y="0"/>
                </a:lnTo>
                <a:lnTo>
                  <a:pt x="2464741" y="1128889"/>
                </a:lnTo>
                <a:lnTo>
                  <a:pt x="0" y="112888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4B7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7981" y="4275667"/>
            <a:ext cx="282222" cy="282222"/>
          </a:xfrm>
          <a:custGeom>
            <a:avLst/>
            <a:gdLst/>
            <a:ahLst/>
            <a:cxnLst/>
            <a:rect l="l" t="t" r="r" b="b"/>
            <a:pathLst>
              <a:path w="282222" h="282222">
                <a:moveTo>
                  <a:pt x="158860" y="0"/>
                </a:moveTo>
                <a:cubicBezTo>
                  <a:pt x="158860" y="-9757"/>
                  <a:pt x="150978" y="-17639"/>
                  <a:pt x="141221" y="-17639"/>
                </a:cubicBezTo>
                <a:cubicBezTo>
                  <a:pt x="131465" y="-17639"/>
                  <a:pt x="123582" y="-9757"/>
                  <a:pt x="123582" y="0"/>
                </a:cubicBezTo>
                <a:lnTo>
                  <a:pt x="123582" y="34230"/>
                </a:lnTo>
                <a:lnTo>
                  <a:pt x="115314" y="25962"/>
                </a:lnTo>
                <a:cubicBezTo>
                  <a:pt x="110133" y="20781"/>
                  <a:pt x="101754" y="20781"/>
                  <a:pt x="96628" y="25962"/>
                </a:cubicBezTo>
                <a:cubicBezTo>
                  <a:pt x="91502" y="31144"/>
                  <a:pt x="91447" y="39522"/>
                  <a:pt x="96628" y="44648"/>
                </a:cubicBezTo>
                <a:lnTo>
                  <a:pt x="123638" y="71658"/>
                </a:lnTo>
                <a:lnTo>
                  <a:pt x="123638" y="110574"/>
                </a:lnTo>
                <a:lnTo>
                  <a:pt x="89903" y="91116"/>
                </a:lnTo>
                <a:lnTo>
                  <a:pt x="80036" y="54240"/>
                </a:lnTo>
                <a:cubicBezTo>
                  <a:pt x="78162" y="47184"/>
                  <a:pt x="70886" y="42995"/>
                  <a:pt x="63831" y="44869"/>
                </a:cubicBezTo>
                <a:cubicBezTo>
                  <a:pt x="56775" y="46743"/>
                  <a:pt x="52531" y="54019"/>
                  <a:pt x="54405" y="61075"/>
                </a:cubicBezTo>
                <a:lnTo>
                  <a:pt x="57437" y="72375"/>
                </a:lnTo>
                <a:lnTo>
                  <a:pt x="27836" y="55287"/>
                </a:lnTo>
                <a:cubicBezTo>
                  <a:pt x="19403" y="50436"/>
                  <a:pt x="8599" y="53303"/>
                  <a:pt x="3748" y="61736"/>
                </a:cubicBezTo>
                <a:cubicBezTo>
                  <a:pt x="-1102" y="70170"/>
                  <a:pt x="1764" y="80974"/>
                  <a:pt x="10197" y="85824"/>
                </a:cubicBezTo>
                <a:lnTo>
                  <a:pt x="39798" y="102912"/>
                </a:lnTo>
                <a:lnTo>
                  <a:pt x="28498" y="105944"/>
                </a:lnTo>
                <a:cubicBezTo>
                  <a:pt x="21442" y="107818"/>
                  <a:pt x="17253" y="115094"/>
                  <a:pt x="19127" y="122149"/>
                </a:cubicBezTo>
                <a:cubicBezTo>
                  <a:pt x="21001" y="129205"/>
                  <a:pt x="28277" y="133394"/>
                  <a:pt x="35333" y="131520"/>
                </a:cubicBezTo>
                <a:lnTo>
                  <a:pt x="72209" y="121653"/>
                </a:lnTo>
                <a:lnTo>
                  <a:pt x="105944" y="141111"/>
                </a:lnTo>
                <a:lnTo>
                  <a:pt x="72209" y="160569"/>
                </a:lnTo>
                <a:lnTo>
                  <a:pt x="35333" y="150702"/>
                </a:lnTo>
                <a:cubicBezTo>
                  <a:pt x="28277" y="148828"/>
                  <a:pt x="21001" y="153017"/>
                  <a:pt x="19127" y="160073"/>
                </a:cubicBezTo>
                <a:cubicBezTo>
                  <a:pt x="17253" y="167128"/>
                  <a:pt x="21442" y="174405"/>
                  <a:pt x="28498" y="176279"/>
                </a:cubicBezTo>
                <a:lnTo>
                  <a:pt x="39798" y="179310"/>
                </a:lnTo>
                <a:lnTo>
                  <a:pt x="10197" y="196398"/>
                </a:lnTo>
                <a:cubicBezTo>
                  <a:pt x="1764" y="201249"/>
                  <a:pt x="-1102" y="212053"/>
                  <a:pt x="3748" y="220486"/>
                </a:cubicBezTo>
                <a:cubicBezTo>
                  <a:pt x="8599" y="228920"/>
                  <a:pt x="19403" y="231841"/>
                  <a:pt x="27836" y="226935"/>
                </a:cubicBezTo>
                <a:lnTo>
                  <a:pt x="57437" y="209848"/>
                </a:lnTo>
                <a:lnTo>
                  <a:pt x="54405" y="221148"/>
                </a:lnTo>
                <a:cubicBezTo>
                  <a:pt x="52531" y="228203"/>
                  <a:pt x="56720" y="235479"/>
                  <a:pt x="63776" y="237353"/>
                </a:cubicBezTo>
                <a:cubicBezTo>
                  <a:pt x="70831" y="239227"/>
                  <a:pt x="78107" y="235038"/>
                  <a:pt x="79981" y="227983"/>
                </a:cubicBezTo>
                <a:lnTo>
                  <a:pt x="89848" y="191106"/>
                </a:lnTo>
                <a:lnTo>
                  <a:pt x="123582" y="171648"/>
                </a:lnTo>
                <a:lnTo>
                  <a:pt x="123582" y="210564"/>
                </a:lnTo>
                <a:lnTo>
                  <a:pt x="96573" y="237574"/>
                </a:lnTo>
                <a:cubicBezTo>
                  <a:pt x="91391" y="242755"/>
                  <a:pt x="91391" y="251134"/>
                  <a:pt x="96573" y="256260"/>
                </a:cubicBezTo>
                <a:cubicBezTo>
                  <a:pt x="101754" y="261386"/>
                  <a:pt x="110133" y="261441"/>
                  <a:pt x="115259" y="256260"/>
                </a:cubicBezTo>
                <a:lnTo>
                  <a:pt x="123527" y="247992"/>
                </a:lnTo>
                <a:lnTo>
                  <a:pt x="123527" y="282222"/>
                </a:lnTo>
                <a:cubicBezTo>
                  <a:pt x="123527" y="291979"/>
                  <a:pt x="131410" y="299861"/>
                  <a:pt x="141166" y="299861"/>
                </a:cubicBezTo>
                <a:cubicBezTo>
                  <a:pt x="150923" y="299861"/>
                  <a:pt x="158805" y="291979"/>
                  <a:pt x="158805" y="282222"/>
                </a:cubicBezTo>
                <a:lnTo>
                  <a:pt x="158805" y="247992"/>
                </a:lnTo>
                <a:lnTo>
                  <a:pt x="167073" y="256260"/>
                </a:lnTo>
                <a:cubicBezTo>
                  <a:pt x="172255" y="261441"/>
                  <a:pt x="180633" y="261441"/>
                  <a:pt x="185760" y="256260"/>
                </a:cubicBezTo>
                <a:cubicBezTo>
                  <a:pt x="190886" y="251079"/>
                  <a:pt x="190941" y="242700"/>
                  <a:pt x="185760" y="237574"/>
                </a:cubicBezTo>
                <a:lnTo>
                  <a:pt x="158750" y="210564"/>
                </a:lnTo>
                <a:lnTo>
                  <a:pt x="158750" y="171648"/>
                </a:lnTo>
                <a:lnTo>
                  <a:pt x="192484" y="191106"/>
                </a:lnTo>
                <a:lnTo>
                  <a:pt x="202351" y="227983"/>
                </a:lnTo>
                <a:cubicBezTo>
                  <a:pt x="204225" y="235038"/>
                  <a:pt x="211501" y="239227"/>
                  <a:pt x="218557" y="237353"/>
                </a:cubicBezTo>
                <a:cubicBezTo>
                  <a:pt x="225612" y="235479"/>
                  <a:pt x="229802" y="228203"/>
                  <a:pt x="227928" y="221148"/>
                </a:cubicBezTo>
                <a:lnTo>
                  <a:pt x="224896" y="209848"/>
                </a:lnTo>
                <a:lnTo>
                  <a:pt x="254496" y="226935"/>
                </a:lnTo>
                <a:cubicBezTo>
                  <a:pt x="262930" y="231786"/>
                  <a:pt x="273734" y="228920"/>
                  <a:pt x="278584" y="220486"/>
                </a:cubicBezTo>
                <a:cubicBezTo>
                  <a:pt x="283435" y="212053"/>
                  <a:pt x="280569" y="201249"/>
                  <a:pt x="272135" y="196398"/>
                </a:cubicBezTo>
                <a:lnTo>
                  <a:pt x="242535" y="179310"/>
                </a:lnTo>
                <a:lnTo>
                  <a:pt x="253835" y="176279"/>
                </a:lnTo>
                <a:cubicBezTo>
                  <a:pt x="260890" y="174405"/>
                  <a:pt x="265079" y="167128"/>
                  <a:pt x="263205" y="160073"/>
                </a:cubicBezTo>
                <a:cubicBezTo>
                  <a:pt x="261331" y="153017"/>
                  <a:pt x="254055" y="148828"/>
                  <a:pt x="247000" y="150702"/>
                </a:cubicBezTo>
                <a:lnTo>
                  <a:pt x="210123" y="160569"/>
                </a:lnTo>
                <a:lnTo>
                  <a:pt x="176389" y="141111"/>
                </a:lnTo>
                <a:lnTo>
                  <a:pt x="210123" y="121653"/>
                </a:lnTo>
                <a:lnTo>
                  <a:pt x="247000" y="131520"/>
                </a:lnTo>
                <a:cubicBezTo>
                  <a:pt x="254055" y="133394"/>
                  <a:pt x="261331" y="129205"/>
                  <a:pt x="263205" y="122149"/>
                </a:cubicBezTo>
                <a:cubicBezTo>
                  <a:pt x="265079" y="115094"/>
                  <a:pt x="260890" y="107818"/>
                  <a:pt x="253835" y="105944"/>
                </a:cubicBezTo>
                <a:lnTo>
                  <a:pt x="242535" y="102912"/>
                </a:lnTo>
                <a:lnTo>
                  <a:pt x="272135" y="85824"/>
                </a:lnTo>
                <a:cubicBezTo>
                  <a:pt x="280569" y="80974"/>
                  <a:pt x="283490" y="70170"/>
                  <a:pt x="278584" y="61736"/>
                </a:cubicBezTo>
                <a:cubicBezTo>
                  <a:pt x="273678" y="53303"/>
                  <a:pt x="262930" y="50436"/>
                  <a:pt x="254496" y="55287"/>
                </a:cubicBezTo>
                <a:lnTo>
                  <a:pt x="224896" y="72375"/>
                </a:lnTo>
                <a:lnTo>
                  <a:pt x="227928" y="61075"/>
                </a:lnTo>
                <a:cubicBezTo>
                  <a:pt x="229802" y="54019"/>
                  <a:pt x="225612" y="46743"/>
                  <a:pt x="218557" y="44869"/>
                </a:cubicBezTo>
                <a:cubicBezTo>
                  <a:pt x="211501" y="42995"/>
                  <a:pt x="204225" y="47184"/>
                  <a:pt x="202351" y="54240"/>
                </a:cubicBezTo>
                <a:lnTo>
                  <a:pt x="192484" y="91116"/>
                </a:lnTo>
                <a:lnTo>
                  <a:pt x="158750" y="110574"/>
                </a:lnTo>
                <a:lnTo>
                  <a:pt x="158750" y="71658"/>
                </a:lnTo>
                <a:lnTo>
                  <a:pt x="185760" y="44648"/>
                </a:lnTo>
                <a:cubicBezTo>
                  <a:pt x="190941" y="39467"/>
                  <a:pt x="190941" y="31089"/>
                  <a:pt x="185760" y="25962"/>
                </a:cubicBezTo>
                <a:cubicBezTo>
                  <a:pt x="180578" y="20836"/>
                  <a:pt x="172200" y="20781"/>
                  <a:pt x="167073" y="25962"/>
                </a:cubicBezTo>
                <a:lnTo>
                  <a:pt x="158805" y="34230"/>
                </a:lnTo>
                <a:lnTo>
                  <a:pt x="158805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Text 17"/>
          <p:cNvSpPr/>
          <p:nvPr/>
        </p:nvSpPr>
        <p:spPr>
          <a:xfrm>
            <a:off x="3236148" y="4633148"/>
            <a:ext cx="252118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Density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236148" y="4858926"/>
            <a:ext cx="252118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Ephemeral Background Noise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18296" y="1778000"/>
            <a:ext cx="5588000" cy="3715926"/>
          </a:xfrm>
          <a:custGeom>
            <a:avLst/>
            <a:gdLst/>
            <a:ahLst/>
            <a:cxnLst/>
            <a:rect l="l" t="t" r="r" b="b"/>
            <a:pathLst>
              <a:path w="5588000" h="3715926">
                <a:moveTo>
                  <a:pt x="0" y="0"/>
                </a:moveTo>
                <a:lnTo>
                  <a:pt x="5588000" y="0"/>
                </a:lnTo>
                <a:lnTo>
                  <a:pt x="5588000" y="3715926"/>
                </a:lnTo>
                <a:lnTo>
                  <a:pt x="0" y="37159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4B7A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53481" y="2013185"/>
            <a:ext cx="602074" cy="602074"/>
          </a:xfrm>
          <a:custGeom>
            <a:avLst/>
            <a:gdLst/>
            <a:ahLst/>
            <a:cxnLst/>
            <a:rect l="l" t="t" r="r" b="b"/>
            <a:pathLst>
              <a:path w="602074" h="602074">
                <a:moveTo>
                  <a:pt x="301037" y="0"/>
                </a:moveTo>
                <a:lnTo>
                  <a:pt x="301037" y="0"/>
                </a:lnTo>
                <a:cubicBezTo>
                  <a:pt x="467295" y="0"/>
                  <a:pt x="602074" y="134779"/>
                  <a:pt x="602074" y="301037"/>
                </a:cubicBezTo>
                <a:lnTo>
                  <a:pt x="602074" y="301037"/>
                </a:lnTo>
                <a:cubicBezTo>
                  <a:pt x="602074" y="467295"/>
                  <a:pt x="467295" y="602074"/>
                  <a:pt x="301037" y="602074"/>
                </a:cubicBezTo>
                <a:lnTo>
                  <a:pt x="301037" y="602074"/>
                </a:lnTo>
                <a:cubicBezTo>
                  <a:pt x="134779" y="602074"/>
                  <a:pt x="0" y="467295"/>
                  <a:pt x="0" y="301037"/>
                </a:cubicBezTo>
                <a:lnTo>
                  <a:pt x="0" y="301037"/>
                </a:lnTo>
                <a:cubicBezTo>
                  <a:pt x="0" y="134779"/>
                  <a:pt x="134779" y="0"/>
                  <a:pt x="301037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4" name="Shape 21"/>
          <p:cNvSpPr/>
          <p:nvPr/>
        </p:nvSpPr>
        <p:spPr>
          <a:xfrm>
            <a:off x="6627519" y="2201333"/>
            <a:ext cx="254000" cy="225778"/>
          </a:xfrm>
          <a:custGeom>
            <a:avLst/>
            <a:gdLst/>
            <a:ahLst/>
            <a:cxnLst/>
            <a:rect l="l" t="t" r="r" b="b"/>
            <a:pathLst>
              <a:path w="254000" h="225778">
                <a:moveTo>
                  <a:pt x="176918" y="17242"/>
                </a:moveTo>
                <a:lnTo>
                  <a:pt x="242270" y="83520"/>
                </a:lnTo>
                <a:cubicBezTo>
                  <a:pt x="254485" y="95911"/>
                  <a:pt x="254485" y="115755"/>
                  <a:pt x="242270" y="128147"/>
                </a:cubicBezTo>
                <a:lnTo>
                  <a:pt x="173302" y="197952"/>
                </a:lnTo>
                <a:cubicBezTo>
                  <a:pt x="169201" y="202098"/>
                  <a:pt x="162498" y="202142"/>
                  <a:pt x="158353" y="198041"/>
                </a:cubicBezTo>
                <a:cubicBezTo>
                  <a:pt x="154208" y="193940"/>
                  <a:pt x="154164" y="187237"/>
                  <a:pt x="158265" y="183092"/>
                </a:cubicBezTo>
                <a:lnTo>
                  <a:pt x="227233" y="113242"/>
                </a:lnTo>
                <a:cubicBezTo>
                  <a:pt x="231290" y="109141"/>
                  <a:pt x="231290" y="102482"/>
                  <a:pt x="227233" y="98381"/>
                </a:cubicBezTo>
                <a:lnTo>
                  <a:pt x="161837" y="32147"/>
                </a:lnTo>
                <a:cubicBezTo>
                  <a:pt x="157736" y="28002"/>
                  <a:pt x="157780" y="21299"/>
                  <a:pt x="161925" y="17198"/>
                </a:cubicBezTo>
                <a:cubicBezTo>
                  <a:pt x="166070" y="13097"/>
                  <a:pt x="172773" y="13141"/>
                  <a:pt x="176874" y="17286"/>
                </a:cubicBezTo>
                <a:close/>
                <a:moveTo>
                  <a:pt x="14155" y="101203"/>
                </a:moveTo>
                <a:lnTo>
                  <a:pt x="14155" y="42333"/>
                </a:lnTo>
                <a:cubicBezTo>
                  <a:pt x="14155" y="26767"/>
                  <a:pt x="26811" y="14111"/>
                  <a:pt x="42377" y="14111"/>
                </a:cubicBezTo>
                <a:lnTo>
                  <a:pt x="101247" y="14111"/>
                </a:lnTo>
                <a:cubicBezTo>
                  <a:pt x="108744" y="14111"/>
                  <a:pt x="115932" y="17066"/>
                  <a:pt x="121223" y="22357"/>
                </a:cubicBezTo>
                <a:lnTo>
                  <a:pt x="184723" y="85857"/>
                </a:lnTo>
                <a:cubicBezTo>
                  <a:pt x="195748" y="96882"/>
                  <a:pt x="195748" y="114741"/>
                  <a:pt x="184723" y="125765"/>
                </a:cubicBezTo>
                <a:lnTo>
                  <a:pt x="125853" y="184635"/>
                </a:lnTo>
                <a:cubicBezTo>
                  <a:pt x="114829" y="195659"/>
                  <a:pt x="96970" y="195659"/>
                  <a:pt x="85945" y="184635"/>
                </a:cubicBezTo>
                <a:lnTo>
                  <a:pt x="22445" y="121135"/>
                </a:lnTo>
                <a:cubicBezTo>
                  <a:pt x="17154" y="115843"/>
                  <a:pt x="14199" y="108656"/>
                  <a:pt x="14199" y="101159"/>
                </a:cubicBezTo>
                <a:close/>
                <a:moveTo>
                  <a:pt x="77655" y="63500"/>
                </a:moveTo>
                <a:cubicBezTo>
                  <a:pt x="77655" y="55712"/>
                  <a:pt x="71332" y="49389"/>
                  <a:pt x="63544" y="49389"/>
                </a:cubicBezTo>
                <a:cubicBezTo>
                  <a:pt x="55756" y="49389"/>
                  <a:pt x="49433" y="55712"/>
                  <a:pt x="49433" y="63500"/>
                </a:cubicBezTo>
                <a:cubicBezTo>
                  <a:pt x="49433" y="71288"/>
                  <a:pt x="55756" y="77611"/>
                  <a:pt x="63544" y="77611"/>
                </a:cubicBezTo>
                <a:cubicBezTo>
                  <a:pt x="71332" y="77611"/>
                  <a:pt x="77655" y="71288"/>
                  <a:pt x="77655" y="63500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5" name="Text 22"/>
          <p:cNvSpPr/>
          <p:nvPr/>
        </p:nvSpPr>
        <p:spPr>
          <a:xfrm>
            <a:off x="7206074" y="2163704"/>
            <a:ext cx="2624667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Classification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53481" y="2765778"/>
            <a:ext cx="5202296" cy="555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provides </a:t>
            </a:r>
            <a:pPr>
              <a:lnSpc>
                <a:spcPct val="140000"/>
              </a:lnSpc>
            </a:pPr>
            <a:r>
              <a:rPr lang="en-US" sz="1333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instant automated temperature checks</a:t>
            </a:r>
            <a:pPr>
              <a:lnSpc>
                <a:spcPct val="140000"/>
              </a:lnSpc>
            </a:pPr>
            <a:r>
              <a:rPr lang="en-US" sz="1333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high-volume streams with sentiment polarity classification.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53481" y="3466630"/>
            <a:ext cx="5192889" cy="48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Categorizes articles into Politics, Business, and Tech domains with </a:t>
            </a:r>
            <a:pPr>
              <a:lnSpc>
                <a:spcPct val="140000"/>
              </a:lnSpc>
            </a:pPr>
            <a:r>
              <a:rPr lang="en-US" sz="1185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mathematical accuracy</a:t>
            </a:r>
            <a:pPr>
              <a:lnSpc>
                <a:spcPct val="140000"/>
              </a:lnSpc>
            </a:pPr>
            <a:r>
              <a:rPr lang="en-US" sz="118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53481" y="4106333"/>
            <a:ext cx="2483556" cy="921926"/>
          </a:xfrm>
          <a:custGeom>
            <a:avLst/>
            <a:gdLst/>
            <a:ahLst/>
            <a:cxnLst/>
            <a:rect l="l" t="t" r="r" b="b"/>
            <a:pathLst>
              <a:path w="2483556" h="921926">
                <a:moveTo>
                  <a:pt x="0" y="0"/>
                </a:moveTo>
                <a:lnTo>
                  <a:pt x="2483556" y="0"/>
                </a:lnTo>
                <a:lnTo>
                  <a:pt x="2483556" y="921926"/>
                </a:lnTo>
                <a:lnTo>
                  <a:pt x="0" y="921926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9" name="Shape 26"/>
          <p:cNvSpPr/>
          <p:nvPr/>
        </p:nvSpPr>
        <p:spPr>
          <a:xfrm>
            <a:off x="7556500" y="4256852"/>
            <a:ext cx="282222" cy="282222"/>
          </a:xfrm>
          <a:custGeom>
            <a:avLst/>
            <a:gdLst/>
            <a:ahLst/>
            <a:cxnLst/>
            <a:rect l="l" t="t" r="r" b="b"/>
            <a:pathLst>
              <a:path w="282222" h="282222">
                <a:moveTo>
                  <a:pt x="141111" y="282222"/>
                </a:moveTo>
                <a:cubicBezTo>
                  <a:pt x="218992" y="282222"/>
                  <a:pt x="282222" y="218992"/>
                  <a:pt x="282222" y="141111"/>
                </a:cubicBezTo>
                <a:cubicBezTo>
                  <a:pt x="282222" y="63230"/>
                  <a:pt x="218992" y="0"/>
                  <a:pt x="141111" y="0"/>
                </a:cubicBezTo>
                <a:cubicBezTo>
                  <a:pt x="63230" y="0"/>
                  <a:pt x="0" y="63230"/>
                  <a:pt x="0" y="141111"/>
                </a:cubicBezTo>
                <a:cubicBezTo>
                  <a:pt x="0" y="218992"/>
                  <a:pt x="63230" y="282222"/>
                  <a:pt x="141111" y="282222"/>
                </a:cubicBezTo>
                <a:close/>
                <a:moveTo>
                  <a:pt x="91171" y="177436"/>
                </a:moveTo>
                <a:cubicBezTo>
                  <a:pt x="102416" y="192870"/>
                  <a:pt x="120606" y="202847"/>
                  <a:pt x="141111" y="202847"/>
                </a:cubicBezTo>
                <a:cubicBezTo>
                  <a:pt x="161616" y="202847"/>
                  <a:pt x="179806" y="192870"/>
                  <a:pt x="191051" y="177436"/>
                </a:cubicBezTo>
                <a:cubicBezTo>
                  <a:pt x="195351" y="171538"/>
                  <a:pt x="203619" y="170215"/>
                  <a:pt x="209517" y="174515"/>
                </a:cubicBezTo>
                <a:cubicBezTo>
                  <a:pt x="215415" y="178814"/>
                  <a:pt x="216738" y="187082"/>
                  <a:pt x="212438" y="192980"/>
                </a:cubicBezTo>
                <a:cubicBezTo>
                  <a:pt x="196398" y="214974"/>
                  <a:pt x="170436" y="229306"/>
                  <a:pt x="141111" y="229306"/>
                </a:cubicBezTo>
                <a:cubicBezTo>
                  <a:pt x="111786" y="229306"/>
                  <a:pt x="85824" y="214974"/>
                  <a:pt x="69784" y="192980"/>
                </a:cubicBezTo>
                <a:cubicBezTo>
                  <a:pt x="65484" y="187082"/>
                  <a:pt x="66807" y="178814"/>
                  <a:pt x="72705" y="174515"/>
                </a:cubicBezTo>
                <a:cubicBezTo>
                  <a:pt x="78603" y="170215"/>
                  <a:pt x="86872" y="171538"/>
                  <a:pt x="91171" y="177436"/>
                </a:cubicBezTo>
                <a:close/>
                <a:moveTo>
                  <a:pt x="79375" y="114653"/>
                </a:moveTo>
                <a:cubicBezTo>
                  <a:pt x="79375" y="104918"/>
                  <a:pt x="87279" y="97014"/>
                  <a:pt x="97014" y="97014"/>
                </a:cubicBezTo>
                <a:cubicBezTo>
                  <a:pt x="106749" y="97014"/>
                  <a:pt x="114653" y="104918"/>
                  <a:pt x="114653" y="114653"/>
                </a:cubicBezTo>
                <a:cubicBezTo>
                  <a:pt x="114653" y="124388"/>
                  <a:pt x="106749" y="132292"/>
                  <a:pt x="97014" y="132292"/>
                </a:cubicBezTo>
                <a:cubicBezTo>
                  <a:pt x="87279" y="132292"/>
                  <a:pt x="79375" y="124388"/>
                  <a:pt x="79375" y="114653"/>
                </a:cubicBezTo>
                <a:close/>
                <a:moveTo>
                  <a:pt x="185208" y="97014"/>
                </a:moveTo>
                <a:cubicBezTo>
                  <a:pt x="194944" y="97014"/>
                  <a:pt x="202847" y="104918"/>
                  <a:pt x="202847" y="114653"/>
                </a:cubicBezTo>
                <a:cubicBezTo>
                  <a:pt x="202847" y="124388"/>
                  <a:pt x="194944" y="132292"/>
                  <a:pt x="185208" y="132292"/>
                </a:cubicBezTo>
                <a:cubicBezTo>
                  <a:pt x="175473" y="132292"/>
                  <a:pt x="167569" y="124388"/>
                  <a:pt x="167569" y="114653"/>
                </a:cubicBezTo>
                <a:cubicBezTo>
                  <a:pt x="167569" y="104918"/>
                  <a:pt x="175473" y="97014"/>
                  <a:pt x="185208" y="97014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30" name="Text 27"/>
          <p:cNvSpPr/>
          <p:nvPr/>
        </p:nvSpPr>
        <p:spPr>
          <a:xfrm>
            <a:off x="6415852" y="4614333"/>
            <a:ext cx="255881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Positive Sentiment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096963" y="4115741"/>
            <a:ext cx="2464741" cy="903111"/>
          </a:xfrm>
          <a:custGeom>
            <a:avLst/>
            <a:gdLst/>
            <a:ahLst/>
            <a:cxnLst/>
            <a:rect l="l" t="t" r="r" b="b"/>
            <a:pathLst>
              <a:path w="2464741" h="903111">
                <a:moveTo>
                  <a:pt x="0" y="0"/>
                </a:moveTo>
                <a:lnTo>
                  <a:pt x="2464741" y="0"/>
                </a:lnTo>
                <a:lnTo>
                  <a:pt x="2464741" y="903111"/>
                </a:lnTo>
                <a:lnTo>
                  <a:pt x="0" y="9031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90574" y="4275667"/>
            <a:ext cx="282222" cy="282222"/>
          </a:xfrm>
          <a:custGeom>
            <a:avLst/>
            <a:gdLst/>
            <a:ahLst/>
            <a:cxnLst/>
            <a:rect l="l" t="t" r="r" b="b"/>
            <a:pathLst>
              <a:path w="282222" h="282222">
                <a:moveTo>
                  <a:pt x="141111" y="282222"/>
                </a:moveTo>
                <a:cubicBezTo>
                  <a:pt x="218992" y="282222"/>
                  <a:pt x="282222" y="218992"/>
                  <a:pt x="282222" y="141111"/>
                </a:cubicBezTo>
                <a:cubicBezTo>
                  <a:pt x="282222" y="63230"/>
                  <a:pt x="218992" y="0"/>
                  <a:pt x="141111" y="0"/>
                </a:cubicBezTo>
                <a:cubicBezTo>
                  <a:pt x="63230" y="0"/>
                  <a:pt x="0" y="63230"/>
                  <a:pt x="0" y="141111"/>
                </a:cubicBezTo>
                <a:cubicBezTo>
                  <a:pt x="0" y="218992"/>
                  <a:pt x="63230" y="282222"/>
                  <a:pt x="141111" y="282222"/>
                </a:cubicBezTo>
                <a:close/>
                <a:moveTo>
                  <a:pt x="191051" y="219439"/>
                </a:moveTo>
                <a:cubicBezTo>
                  <a:pt x="179806" y="204005"/>
                  <a:pt x="161616" y="194028"/>
                  <a:pt x="141111" y="194028"/>
                </a:cubicBezTo>
                <a:cubicBezTo>
                  <a:pt x="120606" y="194028"/>
                  <a:pt x="102416" y="204005"/>
                  <a:pt x="91171" y="219439"/>
                </a:cubicBezTo>
                <a:cubicBezTo>
                  <a:pt x="86872" y="225337"/>
                  <a:pt x="78603" y="226660"/>
                  <a:pt x="72705" y="222360"/>
                </a:cubicBezTo>
                <a:cubicBezTo>
                  <a:pt x="66807" y="218061"/>
                  <a:pt x="65484" y="209793"/>
                  <a:pt x="69784" y="203895"/>
                </a:cubicBezTo>
                <a:cubicBezTo>
                  <a:pt x="85824" y="181901"/>
                  <a:pt x="111786" y="167569"/>
                  <a:pt x="141111" y="167569"/>
                </a:cubicBezTo>
                <a:cubicBezTo>
                  <a:pt x="170436" y="167569"/>
                  <a:pt x="196398" y="181901"/>
                  <a:pt x="212438" y="203895"/>
                </a:cubicBezTo>
                <a:cubicBezTo>
                  <a:pt x="216738" y="209793"/>
                  <a:pt x="215415" y="218061"/>
                  <a:pt x="209517" y="222360"/>
                </a:cubicBezTo>
                <a:cubicBezTo>
                  <a:pt x="203619" y="226660"/>
                  <a:pt x="195351" y="225337"/>
                  <a:pt x="191051" y="219439"/>
                </a:cubicBezTo>
                <a:close/>
                <a:moveTo>
                  <a:pt x="79375" y="114653"/>
                </a:moveTo>
                <a:cubicBezTo>
                  <a:pt x="79375" y="104918"/>
                  <a:pt x="87279" y="97014"/>
                  <a:pt x="97014" y="97014"/>
                </a:cubicBezTo>
                <a:cubicBezTo>
                  <a:pt x="106749" y="97014"/>
                  <a:pt x="114653" y="104918"/>
                  <a:pt x="114653" y="114653"/>
                </a:cubicBezTo>
                <a:cubicBezTo>
                  <a:pt x="114653" y="124388"/>
                  <a:pt x="106749" y="132292"/>
                  <a:pt x="97014" y="132292"/>
                </a:cubicBezTo>
                <a:cubicBezTo>
                  <a:pt x="87279" y="132292"/>
                  <a:pt x="79375" y="124388"/>
                  <a:pt x="79375" y="114653"/>
                </a:cubicBezTo>
                <a:close/>
                <a:moveTo>
                  <a:pt x="185208" y="97014"/>
                </a:moveTo>
                <a:cubicBezTo>
                  <a:pt x="194944" y="97014"/>
                  <a:pt x="202847" y="104918"/>
                  <a:pt x="202847" y="114653"/>
                </a:cubicBezTo>
                <a:cubicBezTo>
                  <a:pt x="202847" y="124388"/>
                  <a:pt x="194944" y="132292"/>
                  <a:pt x="185208" y="132292"/>
                </a:cubicBezTo>
                <a:cubicBezTo>
                  <a:pt x="175473" y="132292"/>
                  <a:pt x="167569" y="124388"/>
                  <a:pt x="167569" y="114653"/>
                </a:cubicBezTo>
                <a:cubicBezTo>
                  <a:pt x="167569" y="104918"/>
                  <a:pt x="175473" y="97014"/>
                  <a:pt x="185208" y="9701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3" name="Text 30"/>
          <p:cNvSpPr/>
          <p:nvPr/>
        </p:nvSpPr>
        <p:spPr>
          <a:xfrm>
            <a:off x="9068741" y="4633148"/>
            <a:ext cx="2521185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5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 Sentiment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95111" y="5686778"/>
            <a:ext cx="37630" cy="1166519"/>
          </a:xfrm>
          <a:custGeom>
            <a:avLst/>
            <a:gdLst/>
            <a:ahLst/>
            <a:cxnLst/>
            <a:rect l="l" t="t" r="r" b="b"/>
            <a:pathLst>
              <a:path w="37630" h="1166519">
                <a:moveTo>
                  <a:pt x="0" y="0"/>
                </a:moveTo>
                <a:lnTo>
                  <a:pt x="37630" y="0"/>
                </a:lnTo>
                <a:lnTo>
                  <a:pt x="37630" y="1166519"/>
                </a:lnTo>
                <a:lnTo>
                  <a:pt x="0" y="1166519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5" name="Shape 32"/>
          <p:cNvSpPr/>
          <p:nvPr/>
        </p:nvSpPr>
        <p:spPr>
          <a:xfrm>
            <a:off x="686741" y="5874926"/>
            <a:ext cx="141111" cy="188148"/>
          </a:xfrm>
          <a:custGeom>
            <a:avLst/>
            <a:gdLst/>
            <a:ahLst/>
            <a:cxnLst/>
            <a:rect l="l" t="t" r="r" b="b"/>
            <a:pathLst>
              <a:path w="141111" h="188148">
                <a:moveTo>
                  <a:pt x="107634" y="141111"/>
                </a:moveTo>
                <a:cubicBezTo>
                  <a:pt x="110317" y="132916"/>
                  <a:pt x="115682" y="125493"/>
                  <a:pt x="121745" y="119099"/>
                </a:cubicBezTo>
                <a:cubicBezTo>
                  <a:pt x="133762" y="106458"/>
                  <a:pt x="141111" y="89370"/>
                  <a:pt x="141111" y="70556"/>
                </a:cubicBezTo>
                <a:cubicBezTo>
                  <a:pt x="141111" y="31603"/>
                  <a:pt x="109508" y="0"/>
                  <a:pt x="70556" y="0"/>
                </a:cubicBezTo>
                <a:cubicBezTo>
                  <a:pt x="31603" y="0"/>
                  <a:pt x="0" y="31603"/>
                  <a:pt x="0" y="70556"/>
                </a:cubicBezTo>
                <a:cubicBezTo>
                  <a:pt x="0" y="89370"/>
                  <a:pt x="7350" y="106458"/>
                  <a:pt x="19366" y="119099"/>
                </a:cubicBezTo>
                <a:cubicBezTo>
                  <a:pt x="25429" y="125493"/>
                  <a:pt x="30831" y="132916"/>
                  <a:pt x="33477" y="141111"/>
                </a:cubicBezTo>
                <a:lnTo>
                  <a:pt x="107597" y="141111"/>
                </a:lnTo>
                <a:close/>
                <a:moveTo>
                  <a:pt x="105833" y="158750"/>
                </a:moveTo>
                <a:lnTo>
                  <a:pt x="35278" y="158750"/>
                </a:lnTo>
                <a:lnTo>
                  <a:pt x="35278" y="164630"/>
                </a:lnTo>
                <a:cubicBezTo>
                  <a:pt x="35278" y="180872"/>
                  <a:pt x="48433" y="194028"/>
                  <a:pt x="64676" y="194028"/>
                </a:cubicBezTo>
                <a:lnTo>
                  <a:pt x="76435" y="194028"/>
                </a:lnTo>
                <a:cubicBezTo>
                  <a:pt x="92678" y="194028"/>
                  <a:pt x="105833" y="180872"/>
                  <a:pt x="105833" y="164630"/>
                </a:cubicBezTo>
                <a:lnTo>
                  <a:pt x="105833" y="158750"/>
                </a:lnTo>
                <a:close/>
                <a:moveTo>
                  <a:pt x="67616" y="41157"/>
                </a:moveTo>
                <a:cubicBezTo>
                  <a:pt x="52990" y="41157"/>
                  <a:pt x="41157" y="52990"/>
                  <a:pt x="41157" y="67616"/>
                </a:cubicBezTo>
                <a:cubicBezTo>
                  <a:pt x="41157" y="72503"/>
                  <a:pt x="37225" y="76435"/>
                  <a:pt x="32338" y="76435"/>
                </a:cubicBezTo>
                <a:cubicBezTo>
                  <a:pt x="27451" y="76435"/>
                  <a:pt x="23519" y="72503"/>
                  <a:pt x="23519" y="67616"/>
                </a:cubicBezTo>
                <a:cubicBezTo>
                  <a:pt x="23519" y="43252"/>
                  <a:pt x="43252" y="23519"/>
                  <a:pt x="67616" y="23519"/>
                </a:cubicBezTo>
                <a:cubicBezTo>
                  <a:pt x="72503" y="23519"/>
                  <a:pt x="76435" y="27451"/>
                  <a:pt x="76435" y="32338"/>
                </a:cubicBezTo>
                <a:cubicBezTo>
                  <a:pt x="76435" y="37225"/>
                  <a:pt x="72503" y="41157"/>
                  <a:pt x="67616" y="41157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6" name="Text 33"/>
          <p:cNvSpPr/>
          <p:nvPr/>
        </p:nvSpPr>
        <p:spPr>
          <a:xfrm>
            <a:off x="874889" y="5837296"/>
            <a:ext cx="11034889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Innovation: Autonomous Story Separation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9704" y="6213593"/>
            <a:ext cx="11251259" cy="48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Density-based filtering </a:t>
            </a:r>
            <a:pPr>
              <a:lnSpc>
                <a:spcPct val="140000"/>
              </a:lnSpc>
            </a:pPr>
            <a:r>
              <a:rPr lang="en-US" sz="1185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autonomously separates developing stories from ephemeral noise</a:t>
            </a:r>
            <a:pPr>
              <a:lnSpc>
                <a:spcPct val="140000"/>
              </a:lnSpc>
            </a:pPr>
            <a:r>
              <a:rPr lang="en-US" sz="1185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allowing the system to prioritize high-impact narratives while filtering out transient background chatter. This creates a dynamic news landscape where significance is determined by algorithmic density rather than editorial judgment.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76" b="6077"/>
          <a:stretch/>
        </p:blipFill>
        <p:spPr>
          <a:xfrm>
            <a:off x="0" y="0"/>
            <a:ext cx="12192000" cy="686019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196"/>
          </a:xfrm>
          <a:custGeom>
            <a:avLst/>
            <a:gdLst/>
            <a:ahLst/>
            <a:cxnLst/>
            <a:rect l="l" t="t" r="r" b="b"/>
            <a:pathLst>
              <a:path w="12192000" h="6860196">
                <a:moveTo>
                  <a:pt x="0" y="0"/>
                </a:moveTo>
                <a:lnTo>
                  <a:pt x="12192000" y="0"/>
                </a:lnTo>
                <a:lnTo>
                  <a:pt x="12192000" y="6860196"/>
                </a:lnTo>
                <a:lnTo>
                  <a:pt x="0" y="686019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51354" y="351354"/>
            <a:ext cx="1155956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spc="332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VALIDATION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1354" y="632438"/>
            <a:ext cx="11700104" cy="42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2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Analytics &amp; Validation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1354" y="1124334"/>
            <a:ext cx="11577130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3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Architecture &amp; Explainable 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1354" y="1475689"/>
            <a:ext cx="702709" cy="35135"/>
          </a:xfrm>
          <a:custGeom>
            <a:avLst/>
            <a:gdLst/>
            <a:ahLst/>
            <a:cxnLst/>
            <a:rect l="l" t="t" r="r" b="b"/>
            <a:pathLst>
              <a:path w="702709" h="35135">
                <a:moveTo>
                  <a:pt x="0" y="0"/>
                </a:moveTo>
                <a:lnTo>
                  <a:pt x="702709" y="0"/>
                </a:lnTo>
                <a:lnTo>
                  <a:pt x="702709" y="35135"/>
                </a:lnTo>
                <a:lnTo>
                  <a:pt x="0" y="35135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Shape 5"/>
          <p:cNvSpPr/>
          <p:nvPr/>
        </p:nvSpPr>
        <p:spPr>
          <a:xfrm>
            <a:off x="368922" y="1651366"/>
            <a:ext cx="35135" cy="2529752"/>
          </a:xfrm>
          <a:custGeom>
            <a:avLst/>
            <a:gdLst/>
            <a:ahLst/>
            <a:cxnLst/>
            <a:rect l="l" t="t" r="r" b="b"/>
            <a:pathLst>
              <a:path w="35135" h="2529752">
                <a:moveTo>
                  <a:pt x="0" y="0"/>
                </a:moveTo>
                <a:lnTo>
                  <a:pt x="35135" y="0"/>
                </a:lnTo>
                <a:lnTo>
                  <a:pt x="35135" y="2529752"/>
                </a:lnTo>
                <a:lnTo>
                  <a:pt x="0" y="2529752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Shape 6"/>
          <p:cNvSpPr/>
          <p:nvPr/>
        </p:nvSpPr>
        <p:spPr>
          <a:xfrm>
            <a:off x="597303" y="1791908"/>
            <a:ext cx="491896" cy="491896"/>
          </a:xfrm>
          <a:custGeom>
            <a:avLst/>
            <a:gdLst/>
            <a:ahLst/>
            <a:cxnLst/>
            <a:rect l="l" t="t" r="r" b="b"/>
            <a:pathLst>
              <a:path w="491896" h="491896">
                <a:moveTo>
                  <a:pt x="245948" y="0"/>
                </a:moveTo>
                <a:lnTo>
                  <a:pt x="245948" y="0"/>
                </a:lnTo>
                <a:cubicBezTo>
                  <a:pt x="381691" y="0"/>
                  <a:pt x="491896" y="110206"/>
                  <a:pt x="491896" y="245948"/>
                </a:cubicBezTo>
                <a:lnTo>
                  <a:pt x="491896" y="245948"/>
                </a:lnTo>
                <a:cubicBezTo>
                  <a:pt x="491896" y="381691"/>
                  <a:pt x="381691" y="491896"/>
                  <a:pt x="245948" y="491896"/>
                </a:cubicBezTo>
                <a:lnTo>
                  <a:pt x="245948" y="491896"/>
                </a:lnTo>
                <a:cubicBezTo>
                  <a:pt x="110206" y="491896"/>
                  <a:pt x="0" y="381691"/>
                  <a:pt x="0" y="245948"/>
                </a:cubicBezTo>
                <a:lnTo>
                  <a:pt x="0" y="245948"/>
                </a:lnTo>
                <a:cubicBezTo>
                  <a:pt x="0" y="110206"/>
                  <a:pt x="110206" y="0"/>
                  <a:pt x="24594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Shape 7"/>
          <p:cNvSpPr/>
          <p:nvPr/>
        </p:nvSpPr>
        <p:spPr>
          <a:xfrm>
            <a:off x="744432" y="1950017"/>
            <a:ext cx="197637" cy="175677"/>
          </a:xfrm>
          <a:custGeom>
            <a:avLst/>
            <a:gdLst/>
            <a:ahLst/>
            <a:cxnLst/>
            <a:rect l="l" t="t" r="r" b="b"/>
            <a:pathLst>
              <a:path w="197637" h="175677">
                <a:moveTo>
                  <a:pt x="143939" y="32939"/>
                </a:moveTo>
                <a:cubicBezTo>
                  <a:pt x="138243" y="32939"/>
                  <a:pt x="132719" y="34484"/>
                  <a:pt x="127881" y="37297"/>
                </a:cubicBezTo>
                <a:cubicBezTo>
                  <a:pt x="122459" y="31807"/>
                  <a:pt x="116146" y="27209"/>
                  <a:pt x="109181" y="23744"/>
                </a:cubicBezTo>
                <a:cubicBezTo>
                  <a:pt x="118857" y="15509"/>
                  <a:pt x="131175" y="10980"/>
                  <a:pt x="143939" y="10980"/>
                </a:cubicBezTo>
                <a:cubicBezTo>
                  <a:pt x="173584" y="10980"/>
                  <a:pt x="197637" y="34998"/>
                  <a:pt x="197637" y="64678"/>
                </a:cubicBezTo>
                <a:cubicBezTo>
                  <a:pt x="197637" y="78918"/>
                  <a:pt x="191975" y="92574"/>
                  <a:pt x="181922" y="102627"/>
                </a:cubicBezTo>
                <a:lnTo>
                  <a:pt x="157526" y="127023"/>
                </a:lnTo>
                <a:cubicBezTo>
                  <a:pt x="147473" y="137076"/>
                  <a:pt x="133817" y="142738"/>
                  <a:pt x="119577" y="142738"/>
                </a:cubicBezTo>
                <a:cubicBezTo>
                  <a:pt x="89932" y="142738"/>
                  <a:pt x="65879" y="118719"/>
                  <a:pt x="65879" y="89040"/>
                </a:cubicBezTo>
                <a:cubicBezTo>
                  <a:pt x="65879" y="88525"/>
                  <a:pt x="65879" y="88010"/>
                  <a:pt x="65913" y="87495"/>
                </a:cubicBezTo>
                <a:cubicBezTo>
                  <a:pt x="66085" y="81422"/>
                  <a:pt x="71129" y="76653"/>
                  <a:pt x="77202" y="76824"/>
                </a:cubicBezTo>
                <a:cubicBezTo>
                  <a:pt x="83275" y="76996"/>
                  <a:pt x="88044" y="82040"/>
                  <a:pt x="87873" y="88113"/>
                </a:cubicBezTo>
                <a:cubicBezTo>
                  <a:pt x="87873" y="88422"/>
                  <a:pt x="87873" y="88731"/>
                  <a:pt x="87873" y="89005"/>
                </a:cubicBezTo>
                <a:cubicBezTo>
                  <a:pt x="87873" y="106539"/>
                  <a:pt x="102078" y="120744"/>
                  <a:pt x="119611" y="120744"/>
                </a:cubicBezTo>
                <a:cubicBezTo>
                  <a:pt x="128018" y="120744"/>
                  <a:pt x="136081" y="117416"/>
                  <a:pt x="142052" y="111445"/>
                </a:cubicBezTo>
                <a:lnTo>
                  <a:pt x="166447" y="87049"/>
                </a:lnTo>
                <a:cubicBezTo>
                  <a:pt x="172383" y="81113"/>
                  <a:pt x="175746" y="73016"/>
                  <a:pt x="175746" y="64609"/>
                </a:cubicBezTo>
                <a:cubicBezTo>
                  <a:pt x="175746" y="47076"/>
                  <a:pt x="161541" y="32871"/>
                  <a:pt x="144007" y="32871"/>
                </a:cubicBezTo>
                <a:close/>
                <a:moveTo>
                  <a:pt x="94427" y="59463"/>
                </a:moveTo>
                <a:cubicBezTo>
                  <a:pt x="93775" y="59188"/>
                  <a:pt x="93123" y="58811"/>
                  <a:pt x="92539" y="58399"/>
                </a:cubicBezTo>
                <a:cubicBezTo>
                  <a:pt x="88216" y="56169"/>
                  <a:pt x="83275" y="54899"/>
                  <a:pt x="78094" y="54899"/>
                </a:cubicBezTo>
                <a:cubicBezTo>
                  <a:pt x="69688" y="54899"/>
                  <a:pt x="61624" y="58227"/>
                  <a:pt x="55654" y="64198"/>
                </a:cubicBezTo>
                <a:lnTo>
                  <a:pt x="31258" y="88593"/>
                </a:lnTo>
                <a:cubicBezTo>
                  <a:pt x="25322" y="94529"/>
                  <a:pt x="21960" y="102627"/>
                  <a:pt x="21960" y="111034"/>
                </a:cubicBezTo>
                <a:cubicBezTo>
                  <a:pt x="21960" y="128567"/>
                  <a:pt x="36165" y="142772"/>
                  <a:pt x="53698" y="142772"/>
                </a:cubicBezTo>
                <a:cubicBezTo>
                  <a:pt x="59360" y="142772"/>
                  <a:pt x="64884" y="141262"/>
                  <a:pt x="69722" y="138449"/>
                </a:cubicBezTo>
                <a:cubicBezTo>
                  <a:pt x="75143" y="143939"/>
                  <a:pt x="81457" y="148536"/>
                  <a:pt x="88456" y="152002"/>
                </a:cubicBezTo>
                <a:cubicBezTo>
                  <a:pt x="78780" y="160203"/>
                  <a:pt x="66497" y="164766"/>
                  <a:pt x="53698" y="164766"/>
                </a:cubicBezTo>
                <a:cubicBezTo>
                  <a:pt x="24053" y="164766"/>
                  <a:pt x="0" y="140748"/>
                  <a:pt x="0" y="111068"/>
                </a:cubicBezTo>
                <a:cubicBezTo>
                  <a:pt x="0" y="96828"/>
                  <a:pt x="5661" y="83172"/>
                  <a:pt x="15715" y="73119"/>
                </a:cubicBezTo>
                <a:lnTo>
                  <a:pt x="40111" y="48723"/>
                </a:lnTo>
                <a:cubicBezTo>
                  <a:pt x="50164" y="38670"/>
                  <a:pt x="63820" y="33008"/>
                  <a:pt x="78060" y="33008"/>
                </a:cubicBezTo>
                <a:cubicBezTo>
                  <a:pt x="107774" y="33008"/>
                  <a:pt x="131758" y="57232"/>
                  <a:pt x="131758" y="86844"/>
                </a:cubicBezTo>
                <a:cubicBezTo>
                  <a:pt x="131758" y="87290"/>
                  <a:pt x="131758" y="87736"/>
                  <a:pt x="131758" y="88182"/>
                </a:cubicBezTo>
                <a:cubicBezTo>
                  <a:pt x="131621" y="94255"/>
                  <a:pt x="126577" y="99024"/>
                  <a:pt x="120504" y="98887"/>
                </a:cubicBezTo>
                <a:cubicBezTo>
                  <a:pt x="114430" y="98750"/>
                  <a:pt x="109661" y="93706"/>
                  <a:pt x="109798" y="87633"/>
                </a:cubicBezTo>
                <a:cubicBezTo>
                  <a:pt x="109798" y="87358"/>
                  <a:pt x="109798" y="87118"/>
                  <a:pt x="109798" y="86844"/>
                </a:cubicBezTo>
                <a:cubicBezTo>
                  <a:pt x="109798" y="75280"/>
                  <a:pt x="103622" y="65124"/>
                  <a:pt x="94427" y="59531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1" name="Text 8"/>
          <p:cNvSpPr/>
          <p:nvPr/>
        </p:nvSpPr>
        <p:spPr>
          <a:xfrm>
            <a:off x="1229741" y="1897314"/>
            <a:ext cx="2854755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Association Mining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7303" y="2389210"/>
            <a:ext cx="5463562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algorithm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discovers hidden relationships between entities and detecting sudden sentiment shifts across the corpus.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7303" y="2951378"/>
            <a:ext cx="5393291" cy="772980"/>
          </a:xfrm>
          <a:custGeom>
            <a:avLst/>
            <a:gdLst/>
            <a:ahLst/>
            <a:cxnLst/>
            <a:rect l="l" t="t" r="r" b="b"/>
            <a:pathLst>
              <a:path w="5393291" h="772980">
                <a:moveTo>
                  <a:pt x="0" y="0"/>
                </a:moveTo>
                <a:lnTo>
                  <a:pt x="5393291" y="0"/>
                </a:lnTo>
                <a:lnTo>
                  <a:pt x="5393291" y="772980"/>
                </a:lnTo>
                <a:lnTo>
                  <a:pt x="0" y="772980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Text 11"/>
          <p:cNvSpPr/>
          <p:nvPr/>
        </p:nvSpPr>
        <p:spPr>
          <a:xfrm>
            <a:off x="737844" y="3091919"/>
            <a:ext cx="5182478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Discovery: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7844" y="3373003"/>
            <a:ext cx="5182478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Entity A → Entity C → Entity B trajectory mapping with </a:t>
            </a:r>
            <a:pPr>
              <a:lnSpc>
                <a:spcPct val="130000"/>
              </a:lnSpc>
            </a:pPr>
            <a:r>
              <a:rPr lang="en-US" sz="1107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 confidence scoring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7303" y="3829764"/>
            <a:ext cx="546356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Outcome:</a:t>
            </a:r>
            <a:pPr>
              <a:lnSpc>
                <a:spcPct val="130000"/>
              </a:lnSpc>
            </a:pPr>
            <a:r>
              <a:rPr lang="en-US" sz="1107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Detecting entity trajectories and co-occurrence patterns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20896" y="1651366"/>
            <a:ext cx="35135" cy="2529752"/>
          </a:xfrm>
          <a:custGeom>
            <a:avLst/>
            <a:gdLst/>
            <a:ahLst/>
            <a:cxnLst/>
            <a:rect l="l" t="t" r="r" b="b"/>
            <a:pathLst>
              <a:path w="35135" h="2529752">
                <a:moveTo>
                  <a:pt x="0" y="0"/>
                </a:moveTo>
                <a:lnTo>
                  <a:pt x="35135" y="0"/>
                </a:lnTo>
                <a:lnTo>
                  <a:pt x="35135" y="2529752"/>
                </a:lnTo>
                <a:lnTo>
                  <a:pt x="0" y="2529752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8" name="Shape 15"/>
          <p:cNvSpPr/>
          <p:nvPr/>
        </p:nvSpPr>
        <p:spPr>
          <a:xfrm>
            <a:off x="6449276" y="1791908"/>
            <a:ext cx="491896" cy="491896"/>
          </a:xfrm>
          <a:custGeom>
            <a:avLst/>
            <a:gdLst/>
            <a:ahLst/>
            <a:cxnLst/>
            <a:rect l="l" t="t" r="r" b="b"/>
            <a:pathLst>
              <a:path w="491896" h="491896">
                <a:moveTo>
                  <a:pt x="245948" y="0"/>
                </a:moveTo>
                <a:lnTo>
                  <a:pt x="245948" y="0"/>
                </a:lnTo>
                <a:cubicBezTo>
                  <a:pt x="381691" y="0"/>
                  <a:pt x="491896" y="110206"/>
                  <a:pt x="491896" y="245948"/>
                </a:cubicBezTo>
                <a:lnTo>
                  <a:pt x="491896" y="245948"/>
                </a:lnTo>
                <a:cubicBezTo>
                  <a:pt x="491896" y="381691"/>
                  <a:pt x="381691" y="491896"/>
                  <a:pt x="245948" y="491896"/>
                </a:cubicBezTo>
                <a:lnTo>
                  <a:pt x="245948" y="491896"/>
                </a:lnTo>
                <a:cubicBezTo>
                  <a:pt x="110206" y="491896"/>
                  <a:pt x="0" y="381691"/>
                  <a:pt x="0" y="245948"/>
                </a:cubicBezTo>
                <a:lnTo>
                  <a:pt x="0" y="245948"/>
                </a:lnTo>
                <a:cubicBezTo>
                  <a:pt x="0" y="110206"/>
                  <a:pt x="110206" y="0"/>
                  <a:pt x="245948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9" name="Shape 16"/>
          <p:cNvSpPr/>
          <p:nvPr/>
        </p:nvSpPr>
        <p:spPr>
          <a:xfrm>
            <a:off x="6585426" y="1950017"/>
            <a:ext cx="219597" cy="175677"/>
          </a:xfrm>
          <a:custGeom>
            <a:avLst/>
            <a:gdLst/>
            <a:ahLst/>
            <a:cxnLst/>
            <a:rect l="l" t="t" r="r" b="b"/>
            <a:pathLst>
              <a:path w="219597" h="175677">
                <a:moveTo>
                  <a:pt x="131758" y="10980"/>
                </a:moveTo>
                <a:lnTo>
                  <a:pt x="175677" y="10980"/>
                </a:lnTo>
                <a:cubicBezTo>
                  <a:pt x="181750" y="10980"/>
                  <a:pt x="186657" y="15886"/>
                  <a:pt x="186657" y="21960"/>
                </a:cubicBezTo>
                <a:cubicBezTo>
                  <a:pt x="186657" y="28033"/>
                  <a:pt x="181750" y="32939"/>
                  <a:pt x="175677" y="32939"/>
                </a:cubicBezTo>
                <a:lnTo>
                  <a:pt x="136699" y="32939"/>
                </a:lnTo>
                <a:cubicBezTo>
                  <a:pt x="134915" y="41792"/>
                  <a:pt x="128841" y="49100"/>
                  <a:pt x="120778" y="52600"/>
                </a:cubicBezTo>
                <a:lnTo>
                  <a:pt x="120778" y="153718"/>
                </a:lnTo>
                <a:lnTo>
                  <a:pt x="175677" y="153718"/>
                </a:lnTo>
                <a:cubicBezTo>
                  <a:pt x="181750" y="153718"/>
                  <a:pt x="186657" y="158624"/>
                  <a:pt x="186657" y="164697"/>
                </a:cubicBezTo>
                <a:cubicBezTo>
                  <a:pt x="186657" y="170771"/>
                  <a:pt x="181750" y="175677"/>
                  <a:pt x="175677" y="175677"/>
                </a:cubicBezTo>
                <a:lnTo>
                  <a:pt x="43919" y="175677"/>
                </a:lnTo>
                <a:cubicBezTo>
                  <a:pt x="37846" y="175677"/>
                  <a:pt x="32939" y="170771"/>
                  <a:pt x="32939" y="164697"/>
                </a:cubicBezTo>
                <a:cubicBezTo>
                  <a:pt x="32939" y="158624"/>
                  <a:pt x="37846" y="153718"/>
                  <a:pt x="43919" y="153718"/>
                </a:cubicBezTo>
                <a:lnTo>
                  <a:pt x="98818" y="153718"/>
                </a:lnTo>
                <a:lnTo>
                  <a:pt x="98818" y="52600"/>
                </a:lnTo>
                <a:cubicBezTo>
                  <a:pt x="90755" y="49066"/>
                  <a:pt x="84682" y="41758"/>
                  <a:pt x="82898" y="32939"/>
                </a:cubicBezTo>
                <a:lnTo>
                  <a:pt x="43919" y="32939"/>
                </a:lnTo>
                <a:cubicBezTo>
                  <a:pt x="37846" y="32939"/>
                  <a:pt x="32939" y="28033"/>
                  <a:pt x="32939" y="21960"/>
                </a:cubicBezTo>
                <a:cubicBezTo>
                  <a:pt x="32939" y="15886"/>
                  <a:pt x="37846" y="10980"/>
                  <a:pt x="43919" y="10980"/>
                </a:cubicBezTo>
                <a:lnTo>
                  <a:pt x="87839" y="10980"/>
                </a:lnTo>
                <a:cubicBezTo>
                  <a:pt x="92848" y="4323"/>
                  <a:pt x="100809" y="0"/>
                  <a:pt x="109798" y="0"/>
                </a:cubicBezTo>
                <a:cubicBezTo>
                  <a:pt x="118788" y="0"/>
                  <a:pt x="126748" y="4323"/>
                  <a:pt x="131758" y="10980"/>
                </a:cubicBezTo>
                <a:close/>
                <a:moveTo>
                  <a:pt x="150835" y="109798"/>
                </a:moveTo>
                <a:lnTo>
                  <a:pt x="200519" y="109798"/>
                </a:lnTo>
                <a:lnTo>
                  <a:pt x="175677" y="67183"/>
                </a:lnTo>
                <a:lnTo>
                  <a:pt x="150835" y="109798"/>
                </a:lnTo>
                <a:close/>
                <a:moveTo>
                  <a:pt x="175677" y="142738"/>
                </a:moveTo>
                <a:cubicBezTo>
                  <a:pt x="154095" y="142738"/>
                  <a:pt x="136150" y="131072"/>
                  <a:pt x="132444" y="115666"/>
                </a:cubicBezTo>
                <a:cubicBezTo>
                  <a:pt x="131552" y="111891"/>
                  <a:pt x="132787" y="108014"/>
                  <a:pt x="134743" y="104651"/>
                </a:cubicBezTo>
                <a:lnTo>
                  <a:pt x="167408" y="48654"/>
                </a:lnTo>
                <a:cubicBezTo>
                  <a:pt x="169124" y="45704"/>
                  <a:pt x="172280" y="43919"/>
                  <a:pt x="175677" y="43919"/>
                </a:cubicBezTo>
                <a:cubicBezTo>
                  <a:pt x="179074" y="43919"/>
                  <a:pt x="182231" y="45738"/>
                  <a:pt x="183946" y="48654"/>
                </a:cubicBezTo>
                <a:lnTo>
                  <a:pt x="216611" y="104651"/>
                </a:lnTo>
                <a:cubicBezTo>
                  <a:pt x="218567" y="108014"/>
                  <a:pt x="219802" y="111891"/>
                  <a:pt x="218910" y="115666"/>
                </a:cubicBezTo>
                <a:cubicBezTo>
                  <a:pt x="215205" y="131037"/>
                  <a:pt x="197259" y="142738"/>
                  <a:pt x="175677" y="142738"/>
                </a:cubicBezTo>
                <a:close/>
                <a:moveTo>
                  <a:pt x="43508" y="67183"/>
                </a:moveTo>
                <a:lnTo>
                  <a:pt x="18666" y="109798"/>
                </a:lnTo>
                <a:lnTo>
                  <a:pt x="68384" y="109798"/>
                </a:lnTo>
                <a:lnTo>
                  <a:pt x="43508" y="67183"/>
                </a:lnTo>
                <a:close/>
                <a:moveTo>
                  <a:pt x="309" y="115666"/>
                </a:moveTo>
                <a:cubicBezTo>
                  <a:pt x="-583" y="111891"/>
                  <a:pt x="652" y="108014"/>
                  <a:pt x="2608" y="104651"/>
                </a:cubicBezTo>
                <a:lnTo>
                  <a:pt x="35273" y="48654"/>
                </a:lnTo>
                <a:cubicBezTo>
                  <a:pt x="36988" y="45704"/>
                  <a:pt x="40145" y="43919"/>
                  <a:pt x="43542" y="43919"/>
                </a:cubicBezTo>
                <a:cubicBezTo>
                  <a:pt x="46939" y="43919"/>
                  <a:pt x="50095" y="45738"/>
                  <a:pt x="51811" y="48654"/>
                </a:cubicBezTo>
                <a:lnTo>
                  <a:pt x="84476" y="104651"/>
                </a:lnTo>
                <a:cubicBezTo>
                  <a:pt x="86432" y="108014"/>
                  <a:pt x="87667" y="111891"/>
                  <a:pt x="86775" y="115666"/>
                </a:cubicBezTo>
                <a:cubicBezTo>
                  <a:pt x="83069" y="131037"/>
                  <a:pt x="65124" y="142738"/>
                  <a:pt x="43542" y="142738"/>
                </a:cubicBezTo>
                <a:cubicBezTo>
                  <a:pt x="21960" y="142738"/>
                  <a:pt x="4014" y="131072"/>
                  <a:pt x="309" y="11566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20" name="Text 17"/>
          <p:cNvSpPr/>
          <p:nvPr/>
        </p:nvSpPr>
        <p:spPr>
          <a:xfrm>
            <a:off x="7081714" y="1897314"/>
            <a:ext cx="3557464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Supervised Sentiment Categorization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49276" y="2389210"/>
            <a:ext cx="5463562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/ SVM</a:t>
            </a:r>
            <a:pPr>
              <a:lnSpc>
                <a:spcPct val="14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provides an instant, automated temperature check by classifying news by sentiment polarity with high mathematical accuracy.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49276" y="2951378"/>
            <a:ext cx="2643942" cy="737844"/>
          </a:xfrm>
          <a:custGeom>
            <a:avLst/>
            <a:gdLst/>
            <a:ahLst/>
            <a:cxnLst/>
            <a:rect l="l" t="t" r="r" b="b"/>
            <a:pathLst>
              <a:path w="2643942" h="737844">
                <a:moveTo>
                  <a:pt x="0" y="0"/>
                </a:moveTo>
                <a:lnTo>
                  <a:pt x="2643942" y="0"/>
                </a:lnTo>
                <a:lnTo>
                  <a:pt x="2643942" y="737844"/>
                </a:lnTo>
                <a:lnTo>
                  <a:pt x="0" y="737844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3" name="Text 20"/>
          <p:cNvSpPr/>
          <p:nvPr/>
        </p:nvSpPr>
        <p:spPr>
          <a:xfrm>
            <a:off x="6396573" y="3056784"/>
            <a:ext cx="2749349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0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87%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414140" y="3337867"/>
            <a:ext cx="2714213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208369" y="2960161"/>
            <a:ext cx="2626375" cy="720277"/>
          </a:xfrm>
          <a:custGeom>
            <a:avLst/>
            <a:gdLst/>
            <a:ahLst/>
            <a:cxnLst/>
            <a:rect l="l" t="t" r="r" b="b"/>
            <a:pathLst>
              <a:path w="2626375" h="720277">
                <a:moveTo>
                  <a:pt x="0" y="0"/>
                </a:moveTo>
                <a:lnTo>
                  <a:pt x="2626375" y="0"/>
                </a:lnTo>
                <a:lnTo>
                  <a:pt x="2626375" y="720277"/>
                </a:lnTo>
                <a:lnTo>
                  <a:pt x="0" y="72027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64450" y="3074352"/>
            <a:ext cx="2714213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0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82018" y="3355435"/>
            <a:ext cx="2679078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49276" y="3794628"/>
            <a:ext cx="546356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7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Outcome:</a:t>
            </a:r>
            <a:pPr>
              <a:lnSpc>
                <a:spcPct val="130000"/>
              </a:lnSpc>
            </a:pPr>
            <a:r>
              <a:rPr lang="en-US" sz="1107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Instant automated temperature checks across streams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60138" y="4330444"/>
            <a:ext cx="11471723" cy="2310156"/>
          </a:xfrm>
          <a:custGeom>
            <a:avLst/>
            <a:gdLst/>
            <a:ahLst/>
            <a:cxnLst/>
            <a:rect l="l" t="t" r="r" b="b"/>
            <a:pathLst>
              <a:path w="11471723" h="2310156">
                <a:moveTo>
                  <a:pt x="0" y="0"/>
                </a:moveTo>
                <a:lnTo>
                  <a:pt x="11471723" y="0"/>
                </a:lnTo>
                <a:lnTo>
                  <a:pt x="11471723" y="2310156"/>
                </a:lnTo>
                <a:lnTo>
                  <a:pt x="0" y="23101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4599" y="4514905"/>
            <a:ext cx="562167" cy="562167"/>
          </a:xfrm>
          <a:custGeom>
            <a:avLst/>
            <a:gdLst/>
            <a:ahLst/>
            <a:cxnLst/>
            <a:rect l="l" t="t" r="r" b="b"/>
            <a:pathLst>
              <a:path w="562167" h="562167">
                <a:moveTo>
                  <a:pt x="281084" y="0"/>
                </a:moveTo>
                <a:lnTo>
                  <a:pt x="281084" y="0"/>
                </a:lnTo>
                <a:cubicBezTo>
                  <a:pt x="436218" y="0"/>
                  <a:pt x="562167" y="125949"/>
                  <a:pt x="562167" y="281084"/>
                </a:cubicBezTo>
                <a:lnTo>
                  <a:pt x="562167" y="281084"/>
                </a:lnTo>
                <a:cubicBezTo>
                  <a:pt x="562167" y="436218"/>
                  <a:pt x="436218" y="562167"/>
                  <a:pt x="281084" y="562167"/>
                </a:cubicBezTo>
                <a:lnTo>
                  <a:pt x="281084" y="562167"/>
                </a:lnTo>
                <a:cubicBezTo>
                  <a:pt x="125949" y="562167"/>
                  <a:pt x="0" y="436218"/>
                  <a:pt x="0" y="281084"/>
                </a:cubicBezTo>
                <a:lnTo>
                  <a:pt x="0" y="281084"/>
                </a:lnTo>
                <a:cubicBezTo>
                  <a:pt x="0" y="125949"/>
                  <a:pt x="125949" y="0"/>
                  <a:pt x="281084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1" name="Shape 28"/>
          <p:cNvSpPr/>
          <p:nvPr/>
        </p:nvSpPr>
        <p:spPr>
          <a:xfrm>
            <a:off x="720277" y="4690582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105406" y="0"/>
                </a:moveTo>
                <a:cubicBezTo>
                  <a:pt x="107300" y="0"/>
                  <a:pt x="109194" y="412"/>
                  <a:pt x="110924" y="1194"/>
                </a:cubicBezTo>
                <a:lnTo>
                  <a:pt x="188496" y="34092"/>
                </a:lnTo>
                <a:cubicBezTo>
                  <a:pt x="197555" y="37922"/>
                  <a:pt x="204307" y="46856"/>
                  <a:pt x="204266" y="57644"/>
                </a:cubicBezTo>
                <a:cubicBezTo>
                  <a:pt x="204060" y="98489"/>
                  <a:pt x="187261" y="173220"/>
                  <a:pt x="116318" y="207189"/>
                </a:cubicBezTo>
                <a:cubicBezTo>
                  <a:pt x="109441" y="210483"/>
                  <a:pt x="101454" y="210483"/>
                  <a:pt x="94577" y="207189"/>
                </a:cubicBezTo>
                <a:cubicBezTo>
                  <a:pt x="23593" y="173220"/>
                  <a:pt x="6835" y="98489"/>
                  <a:pt x="6629" y="57644"/>
                </a:cubicBezTo>
                <a:cubicBezTo>
                  <a:pt x="6588" y="46856"/>
                  <a:pt x="13340" y="37922"/>
                  <a:pt x="22399" y="34092"/>
                </a:cubicBezTo>
                <a:lnTo>
                  <a:pt x="99930" y="1194"/>
                </a:lnTo>
                <a:cubicBezTo>
                  <a:pt x="101659" y="412"/>
                  <a:pt x="103512" y="0"/>
                  <a:pt x="105406" y="0"/>
                </a:cubicBezTo>
                <a:close/>
                <a:moveTo>
                  <a:pt x="105406" y="27504"/>
                </a:moveTo>
                <a:lnTo>
                  <a:pt x="105406" y="183185"/>
                </a:lnTo>
                <a:cubicBezTo>
                  <a:pt x="162227" y="155680"/>
                  <a:pt x="177503" y="94742"/>
                  <a:pt x="177873" y="58262"/>
                </a:cubicBezTo>
                <a:lnTo>
                  <a:pt x="105406" y="27546"/>
                </a:lnTo>
                <a:lnTo>
                  <a:pt x="105406" y="27546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32" name="Text 29"/>
          <p:cNvSpPr/>
          <p:nvPr/>
        </p:nvSpPr>
        <p:spPr>
          <a:xfrm>
            <a:off x="1282444" y="4514905"/>
            <a:ext cx="10470363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XAI Mandate: Continuous Mathematical Validation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282444" y="4901395"/>
            <a:ext cx="10444012" cy="518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5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Mining is only as reliable as the underlying Information Retrieval.</a:t>
            </a:r>
            <a:pPr>
              <a:lnSpc>
                <a:spcPct val="140000"/>
              </a:lnSpc>
            </a:pPr>
            <a:r>
              <a:rPr lang="en-US" sz="1245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Proving mathematical accuracy via continuous validation metrics against real and synthetic queries ensures integrity is locked in before complex algorithmic mining occurs.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282444" y="5529441"/>
            <a:ext cx="3364219" cy="17568"/>
          </a:xfrm>
          <a:custGeom>
            <a:avLst/>
            <a:gdLst/>
            <a:ahLst/>
            <a:cxnLst/>
            <a:rect l="l" t="t" r="r" b="b"/>
            <a:pathLst>
              <a:path w="3364219" h="17568">
                <a:moveTo>
                  <a:pt x="0" y="0"/>
                </a:moveTo>
                <a:lnTo>
                  <a:pt x="3364219" y="0"/>
                </a:lnTo>
                <a:lnTo>
                  <a:pt x="3364219" y="17568"/>
                </a:lnTo>
                <a:lnTo>
                  <a:pt x="0" y="17568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5" name="Shape 32"/>
          <p:cNvSpPr/>
          <p:nvPr/>
        </p:nvSpPr>
        <p:spPr>
          <a:xfrm>
            <a:off x="2884675" y="5643631"/>
            <a:ext cx="158110" cy="210813"/>
          </a:xfrm>
          <a:custGeom>
            <a:avLst/>
            <a:gdLst/>
            <a:ahLst/>
            <a:cxnLst/>
            <a:rect l="l" t="t" r="r" b="b"/>
            <a:pathLst>
              <a:path w="158110" h="210813">
                <a:moveTo>
                  <a:pt x="52703" y="39527"/>
                </a:moveTo>
                <a:lnTo>
                  <a:pt x="52703" y="65879"/>
                </a:lnTo>
                <a:lnTo>
                  <a:pt x="105406" y="65879"/>
                </a:lnTo>
                <a:lnTo>
                  <a:pt x="105406" y="39527"/>
                </a:lnTo>
                <a:cubicBezTo>
                  <a:pt x="105406" y="24993"/>
                  <a:pt x="93589" y="13176"/>
                  <a:pt x="79055" y="13176"/>
                </a:cubicBezTo>
                <a:cubicBezTo>
                  <a:pt x="64520" y="13176"/>
                  <a:pt x="52703" y="24993"/>
                  <a:pt x="52703" y="39527"/>
                </a:cubicBezTo>
                <a:close/>
                <a:moveTo>
                  <a:pt x="26352" y="65879"/>
                </a:moveTo>
                <a:lnTo>
                  <a:pt x="26352" y="39527"/>
                </a:lnTo>
                <a:cubicBezTo>
                  <a:pt x="26352" y="10417"/>
                  <a:pt x="49944" y="-13176"/>
                  <a:pt x="79055" y="-13176"/>
                </a:cubicBezTo>
                <a:cubicBezTo>
                  <a:pt x="108165" y="-13176"/>
                  <a:pt x="131758" y="10417"/>
                  <a:pt x="131758" y="39527"/>
                </a:cubicBezTo>
                <a:lnTo>
                  <a:pt x="131758" y="65879"/>
                </a:lnTo>
                <a:cubicBezTo>
                  <a:pt x="146292" y="65879"/>
                  <a:pt x="158110" y="77696"/>
                  <a:pt x="158110" y="92231"/>
                </a:cubicBezTo>
                <a:lnTo>
                  <a:pt x="158110" y="184461"/>
                </a:lnTo>
                <a:cubicBezTo>
                  <a:pt x="158110" y="198996"/>
                  <a:pt x="146292" y="210813"/>
                  <a:pt x="131758" y="210813"/>
                </a:cubicBezTo>
                <a:lnTo>
                  <a:pt x="26352" y="210813"/>
                </a:lnTo>
                <a:cubicBezTo>
                  <a:pt x="11817" y="210813"/>
                  <a:pt x="0" y="198996"/>
                  <a:pt x="0" y="184461"/>
                </a:cubicBezTo>
                <a:lnTo>
                  <a:pt x="0" y="92231"/>
                </a:lnTo>
                <a:cubicBezTo>
                  <a:pt x="0" y="77696"/>
                  <a:pt x="11817" y="65879"/>
                  <a:pt x="26352" y="65879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6" name="Text 33"/>
          <p:cNvSpPr/>
          <p:nvPr/>
        </p:nvSpPr>
        <p:spPr>
          <a:xfrm>
            <a:off x="1247308" y="5924715"/>
            <a:ext cx="343449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Isolated SLMs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247308" y="6135527"/>
            <a:ext cx="343449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external internet generation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785558" y="5529441"/>
            <a:ext cx="3364219" cy="17568"/>
          </a:xfrm>
          <a:custGeom>
            <a:avLst/>
            <a:gdLst/>
            <a:ahLst/>
            <a:cxnLst/>
            <a:rect l="l" t="t" r="r" b="b"/>
            <a:pathLst>
              <a:path w="3364219" h="17568">
                <a:moveTo>
                  <a:pt x="0" y="0"/>
                </a:moveTo>
                <a:lnTo>
                  <a:pt x="3364219" y="0"/>
                </a:lnTo>
                <a:lnTo>
                  <a:pt x="3364219" y="17568"/>
                </a:lnTo>
                <a:lnTo>
                  <a:pt x="0" y="17568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9" name="Shape 36"/>
          <p:cNvSpPr/>
          <p:nvPr/>
        </p:nvSpPr>
        <p:spPr>
          <a:xfrm>
            <a:off x="6361437" y="5643631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171285" y="85643"/>
                </a:moveTo>
                <a:cubicBezTo>
                  <a:pt x="171285" y="104542"/>
                  <a:pt x="165150" y="122000"/>
                  <a:pt x="154816" y="136164"/>
                </a:cubicBezTo>
                <a:lnTo>
                  <a:pt x="206942" y="188331"/>
                </a:lnTo>
                <a:cubicBezTo>
                  <a:pt x="212089" y="193478"/>
                  <a:pt x="212089" y="201837"/>
                  <a:pt x="206942" y="206983"/>
                </a:cubicBezTo>
                <a:cubicBezTo>
                  <a:pt x="201795" y="212130"/>
                  <a:pt x="193437" y="212130"/>
                  <a:pt x="188290" y="206983"/>
                </a:cubicBezTo>
                <a:lnTo>
                  <a:pt x="136164" y="154816"/>
                </a:lnTo>
                <a:cubicBezTo>
                  <a:pt x="122000" y="165150"/>
                  <a:pt x="104542" y="171285"/>
                  <a:pt x="85643" y="171285"/>
                </a:cubicBezTo>
                <a:cubicBezTo>
                  <a:pt x="38333" y="171285"/>
                  <a:pt x="0" y="132952"/>
                  <a:pt x="0" y="85643"/>
                </a:cubicBezTo>
                <a:cubicBezTo>
                  <a:pt x="0" y="38333"/>
                  <a:pt x="38333" y="0"/>
                  <a:pt x="85643" y="0"/>
                </a:cubicBezTo>
                <a:cubicBezTo>
                  <a:pt x="132952" y="0"/>
                  <a:pt x="171285" y="38333"/>
                  <a:pt x="171285" y="85643"/>
                </a:cubicBezTo>
                <a:close/>
                <a:moveTo>
                  <a:pt x="85643" y="144934"/>
                </a:moveTo>
                <a:cubicBezTo>
                  <a:pt x="118366" y="144934"/>
                  <a:pt x="144934" y="118366"/>
                  <a:pt x="144934" y="85643"/>
                </a:cubicBezTo>
                <a:cubicBezTo>
                  <a:pt x="144934" y="52919"/>
                  <a:pt x="118366" y="26352"/>
                  <a:pt x="85643" y="26352"/>
                </a:cubicBezTo>
                <a:cubicBezTo>
                  <a:pt x="52919" y="26352"/>
                  <a:pt x="26352" y="52919"/>
                  <a:pt x="26352" y="85643"/>
                </a:cubicBezTo>
                <a:cubicBezTo>
                  <a:pt x="26352" y="118366"/>
                  <a:pt x="52919" y="144934"/>
                  <a:pt x="85643" y="144934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0" name="Text 37"/>
          <p:cNvSpPr/>
          <p:nvPr/>
        </p:nvSpPr>
        <p:spPr>
          <a:xfrm>
            <a:off x="4750422" y="5924715"/>
            <a:ext cx="343449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Flow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750422" y="6135527"/>
            <a:ext cx="343449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Retrieval-Augmented Generation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288671" y="5529441"/>
            <a:ext cx="3364219" cy="17568"/>
          </a:xfrm>
          <a:custGeom>
            <a:avLst/>
            <a:gdLst/>
            <a:ahLst/>
            <a:cxnLst/>
            <a:rect l="l" t="t" r="r" b="b"/>
            <a:pathLst>
              <a:path w="3364219" h="17568">
                <a:moveTo>
                  <a:pt x="0" y="0"/>
                </a:moveTo>
                <a:lnTo>
                  <a:pt x="3364219" y="0"/>
                </a:lnTo>
                <a:lnTo>
                  <a:pt x="3364219" y="17568"/>
                </a:lnTo>
                <a:lnTo>
                  <a:pt x="0" y="17568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3" name="Shape 40"/>
          <p:cNvSpPr/>
          <p:nvPr/>
        </p:nvSpPr>
        <p:spPr>
          <a:xfrm>
            <a:off x="9864551" y="5643631"/>
            <a:ext cx="210813" cy="210813"/>
          </a:xfrm>
          <a:custGeom>
            <a:avLst/>
            <a:gdLst/>
            <a:ahLst/>
            <a:cxnLst/>
            <a:rect l="l" t="t" r="r" b="b"/>
            <a:pathLst>
              <a:path w="210813" h="210813">
                <a:moveTo>
                  <a:pt x="49409" y="23058"/>
                </a:moveTo>
                <a:cubicBezTo>
                  <a:pt x="49409" y="10335"/>
                  <a:pt x="59744" y="0"/>
                  <a:pt x="72467" y="0"/>
                </a:cubicBezTo>
                <a:lnTo>
                  <a:pt x="82349" y="0"/>
                </a:lnTo>
                <a:cubicBezTo>
                  <a:pt x="89637" y="0"/>
                  <a:pt x="95524" y="5888"/>
                  <a:pt x="95524" y="13176"/>
                </a:cubicBezTo>
                <a:lnTo>
                  <a:pt x="95524" y="197637"/>
                </a:lnTo>
                <a:cubicBezTo>
                  <a:pt x="95524" y="204925"/>
                  <a:pt x="89637" y="210813"/>
                  <a:pt x="82349" y="210813"/>
                </a:cubicBezTo>
                <a:lnTo>
                  <a:pt x="69173" y="210813"/>
                </a:lnTo>
                <a:cubicBezTo>
                  <a:pt x="56903" y="210813"/>
                  <a:pt x="46568" y="202413"/>
                  <a:pt x="43645" y="191049"/>
                </a:cubicBezTo>
                <a:cubicBezTo>
                  <a:pt x="43357" y="191049"/>
                  <a:pt x="43110" y="191049"/>
                  <a:pt x="42821" y="191049"/>
                </a:cubicBezTo>
                <a:cubicBezTo>
                  <a:pt x="24622" y="191049"/>
                  <a:pt x="9882" y="176309"/>
                  <a:pt x="9882" y="158110"/>
                </a:cubicBezTo>
                <a:cubicBezTo>
                  <a:pt x="9882" y="150698"/>
                  <a:pt x="12352" y="143863"/>
                  <a:pt x="16470" y="138346"/>
                </a:cubicBezTo>
                <a:cubicBezTo>
                  <a:pt x="8482" y="132334"/>
                  <a:pt x="3294" y="122782"/>
                  <a:pt x="3294" y="111994"/>
                </a:cubicBezTo>
                <a:cubicBezTo>
                  <a:pt x="3294" y="99271"/>
                  <a:pt x="10541" y="88195"/>
                  <a:pt x="21081" y="82719"/>
                </a:cubicBezTo>
                <a:cubicBezTo>
                  <a:pt x="18158" y="77778"/>
                  <a:pt x="16470" y="72014"/>
                  <a:pt x="16470" y="65879"/>
                </a:cubicBezTo>
                <a:cubicBezTo>
                  <a:pt x="16470" y="47680"/>
                  <a:pt x="31210" y="32939"/>
                  <a:pt x="49409" y="32939"/>
                </a:cubicBezTo>
                <a:lnTo>
                  <a:pt x="49409" y="23058"/>
                </a:lnTo>
                <a:close/>
                <a:moveTo>
                  <a:pt x="161403" y="23058"/>
                </a:moveTo>
                <a:lnTo>
                  <a:pt x="161403" y="32939"/>
                </a:lnTo>
                <a:cubicBezTo>
                  <a:pt x="179603" y="32939"/>
                  <a:pt x="194343" y="47680"/>
                  <a:pt x="194343" y="65879"/>
                </a:cubicBezTo>
                <a:cubicBezTo>
                  <a:pt x="194343" y="72055"/>
                  <a:pt x="192655" y="77820"/>
                  <a:pt x="189731" y="82719"/>
                </a:cubicBezTo>
                <a:cubicBezTo>
                  <a:pt x="200313" y="88195"/>
                  <a:pt x="207519" y="99230"/>
                  <a:pt x="207519" y="111994"/>
                </a:cubicBezTo>
                <a:cubicBezTo>
                  <a:pt x="207519" y="122782"/>
                  <a:pt x="202331" y="132334"/>
                  <a:pt x="194343" y="138346"/>
                </a:cubicBezTo>
                <a:cubicBezTo>
                  <a:pt x="198460" y="143863"/>
                  <a:pt x="200931" y="150698"/>
                  <a:pt x="200931" y="158110"/>
                </a:cubicBezTo>
                <a:cubicBezTo>
                  <a:pt x="200931" y="176309"/>
                  <a:pt x="186190" y="191049"/>
                  <a:pt x="167991" y="191049"/>
                </a:cubicBezTo>
                <a:cubicBezTo>
                  <a:pt x="167703" y="191049"/>
                  <a:pt x="167456" y="191049"/>
                  <a:pt x="167168" y="191049"/>
                </a:cubicBezTo>
                <a:cubicBezTo>
                  <a:pt x="164244" y="202413"/>
                  <a:pt x="153910" y="210813"/>
                  <a:pt x="141640" y="210813"/>
                </a:cubicBezTo>
                <a:lnTo>
                  <a:pt x="128464" y="210813"/>
                </a:lnTo>
                <a:cubicBezTo>
                  <a:pt x="121176" y="210813"/>
                  <a:pt x="115288" y="204925"/>
                  <a:pt x="115288" y="197637"/>
                </a:cubicBezTo>
                <a:lnTo>
                  <a:pt x="115288" y="13176"/>
                </a:lnTo>
                <a:cubicBezTo>
                  <a:pt x="115288" y="5888"/>
                  <a:pt x="121176" y="0"/>
                  <a:pt x="128464" y="0"/>
                </a:cubicBezTo>
                <a:lnTo>
                  <a:pt x="138346" y="0"/>
                </a:lnTo>
                <a:cubicBezTo>
                  <a:pt x="151069" y="0"/>
                  <a:pt x="161403" y="10335"/>
                  <a:pt x="161403" y="23058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4" name="Text 41"/>
          <p:cNvSpPr/>
          <p:nvPr/>
        </p:nvSpPr>
        <p:spPr>
          <a:xfrm>
            <a:off x="8253536" y="5924715"/>
            <a:ext cx="343449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253536" y="6135527"/>
            <a:ext cx="3434490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Transparent intelligence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1">
            <a:alphaModFix amt="3000"/>
          </a:blip>
          <a:srcRect l="0" r="0" t="6083" b="6083"/>
          <a:stretch/>
        </p:blipFill>
        <p:spPr>
          <a:xfrm>
            <a:off x="0" y="0"/>
            <a:ext cx="12192000" cy="685912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122"/>
          </a:xfrm>
          <a:custGeom>
            <a:avLst/>
            <a:gdLst/>
            <a:ahLst/>
            <a:cxnLst/>
            <a:rect l="l" t="t" r="r" b="b"/>
            <a:pathLst>
              <a:path w="12192000" h="6859122">
                <a:moveTo>
                  <a:pt x="0" y="0"/>
                </a:moveTo>
                <a:lnTo>
                  <a:pt x="12192000" y="0"/>
                </a:lnTo>
                <a:lnTo>
                  <a:pt x="12192000" y="6859122"/>
                </a:lnTo>
                <a:lnTo>
                  <a:pt x="0" y="68591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59116" y="359116"/>
            <a:ext cx="115455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spc="339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/ INTERFACE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9116" y="646409"/>
            <a:ext cx="11689237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3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 &amp; System Impact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9116" y="1149172"/>
            <a:ext cx="1156354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&amp; Democratizing Data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9116" y="1508289"/>
            <a:ext cx="718233" cy="35912"/>
          </a:xfrm>
          <a:custGeom>
            <a:avLst/>
            <a:gdLst/>
            <a:ahLst/>
            <a:cxnLst/>
            <a:rect l="l" t="t" r="r" b="b"/>
            <a:pathLst>
              <a:path w="718233" h="35912">
                <a:moveTo>
                  <a:pt x="0" y="0"/>
                </a:moveTo>
                <a:lnTo>
                  <a:pt x="718233" y="0"/>
                </a:lnTo>
                <a:lnTo>
                  <a:pt x="718233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8" name="Shape 5"/>
          <p:cNvSpPr/>
          <p:nvPr/>
        </p:nvSpPr>
        <p:spPr>
          <a:xfrm>
            <a:off x="377072" y="1687847"/>
            <a:ext cx="35912" cy="1005526"/>
          </a:xfrm>
          <a:custGeom>
            <a:avLst/>
            <a:gdLst/>
            <a:ahLst/>
            <a:cxnLst/>
            <a:rect l="l" t="t" r="r" b="b"/>
            <a:pathLst>
              <a:path w="35912" h="1005526">
                <a:moveTo>
                  <a:pt x="0" y="0"/>
                </a:moveTo>
                <a:lnTo>
                  <a:pt x="35912" y="0"/>
                </a:lnTo>
                <a:lnTo>
                  <a:pt x="35912" y="1005526"/>
                </a:lnTo>
                <a:lnTo>
                  <a:pt x="0" y="1005526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9" name="Shape 6"/>
          <p:cNvSpPr/>
          <p:nvPr/>
        </p:nvSpPr>
        <p:spPr>
          <a:xfrm>
            <a:off x="565608" y="181353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3467" y="13467"/>
                </a:moveTo>
                <a:cubicBezTo>
                  <a:pt x="20916" y="13467"/>
                  <a:pt x="26934" y="19485"/>
                  <a:pt x="26934" y="26934"/>
                </a:cubicBezTo>
                <a:lnTo>
                  <a:pt x="26934" y="168336"/>
                </a:lnTo>
                <a:cubicBezTo>
                  <a:pt x="26934" y="172039"/>
                  <a:pt x="29964" y="175069"/>
                  <a:pt x="33667" y="175069"/>
                </a:cubicBezTo>
                <a:lnTo>
                  <a:pt x="202003" y="175069"/>
                </a:lnTo>
                <a:cubicBezTo>
                  <a:pt x="209452" y="175069"/>
                  <a:pt x="215470" y="181087"/>
                  <a:pt x="215470" y="188536"/>
                </a:cubicBezTo>
                <a:cubicBezTo>
                  <a:pt x="215470" y="195985"/>
                  <a:pt x="209452" y="202003"/>
                  <a:pt x="202003" y="202003"/>
                </a:cubicBezTo>
                <a:lnTo>
                  <a:pt x="33667" y="202003"/>
                </a:lnTo>
                <a:cubicBezTo>
                  <a:pt x="15066" y="202003"/>
                  <a:pt x="0" y="186937"/>
                  <a:pt x="0" y="168336"/>
                </a:cubicBezTo>
                <a:lnTo>
                  <a:pt x="0" y="26934"/>
                </a:lnTo>
                <a:cubicBezTo>
                  <a:pt x="0" y="19485"/>
                  <a:pt x="6018" y="13467"/>
                  <a:pt x="13467" y="13467"/>
                </a:cubicBezTo>
                <a:close/>
                <a:moveTo>
                  <a:pt x="53867" y="40401"/>
                </a:moveTo>
                <a:cubicBezTo>
                  <a:pt x="53867" y="32952"/>
                  <a:pt x="59885" y="26934"/>
                  <a:pt x="67334" y="26934"/>
                </a:cubicBezTo>
                <a:lnTo>
                  <a:pt x="148135" y="26934"/>
                </a:lnTo>
                <a:cubicBezTo>
                  <a:pt x="155584" y="26934"/>
                  <a:pt x="161602" y="32952"/>
                  <a:pt x="161602" y="40401"/>
                </a:cubicBezTo>
                <a:cubicBezTo>
                  <a:pt x="161602" y="47849"/>
                  <a:pt x="155584" y="53867"/>
                  <a:pt x="148135" y="53867"/>
                </a:cubicBezTo>
                <a:lnTo>
                  <a:pt x="67334" y="53867"/>
                </a:lnTo>
                <a:cubicBezTo>
                  <a:pt x="59885" y="53867"/>
                  <a:pt x="53867" y="47849"/>
                  <a:pt x="53867" y="40401"/>
                </a:cubicBezTo>
                <a:close/>
                <a:moveTo>
                  <a:pt x="67334" y="74068"/>
                </a:moveTo>
                <a:lnTo>
                  <a:pt x="121202" y="74068"/>
                </a:lnTo>
                <a:cubicBezTo>
                  <a:pt x="128651" y="74068"/>
                  <a:pt x="134669" y="80086"/>
                  <a:pt x="134669" y="87535"/>
                </a:cubicBezTo>
                <a:cubicBezTo>
                  <a:pt x="134669" y="94983"/>
                  <a:pt x="128651" y="101001"/>
                  <a:pt x="121202" y="101001"/>
                </a:cubicBezTo>
                <a:lnTo>
                  <a:pt x="67334" y="101001"/>
                </a:lnTo>
                <a:cubicBezTo>
                  <a:pt x="59885" y="101001"/>
                  <a:pt x="53867" y="94983"/>
                  <a:pt x="53867" y="87535"/>
                </a:cubicBezTo>
                <a:cubicBezTo>
                  <a:pt x="53867" y="80086"/>
                  <a:pt x="59885" y="74068"/>
                  <a:pt x="67334" y="74068"/>
                </a:cubicBezTo>
                <a:close/>
                <a:moveTo>
                  <a:pt x="67334" y="121202"/>
                </a:moveTo>
                <a:lnTo>
                  <a:pt x="175069" y="121202"/>
                </a:lnTo>
                <a:cubicBezTo>
                  <a:pt x="182518" y="121202"/>
                  <a:pt x="188536" y="127220"/>
                  <a:pt x="188536" y="134669"/>
                </a:cubicBezTo>
                <a:cubicBezTo>
                  <a:pt x="188536" y="142117"/>
                  <a:pt x="182518" y="148135"/>
                  <a:pt x="175069" y="148135"/>
                </a:cubicBezTo>
                <a:lnTo>
                  <a:pt x="67334" y="148135"/>
                </a:lnTo>
                <a:cubicBezTo>
                  <a:pt x="59885" y="148135"/>
                  <a:pt x="53867" y="142117"/>
                  <a:pt x="53867" y="134669"/>
                </a:cubicBezTo>
                <a:cubicBezTo>
                  <a:pt x="53867" y="127220"/>
                  <a:pt x="59885" y="121202"/>
                  <a:pt x="67334" y="121202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0" name="Text 7"/>
          <p:cNvSpPr/>
          <p:nvPr/>
        </p:nvSpPr>
        <p:spPr>
          <a:xfrm>
            <a:off x="915747" y="1795582"/>
            <a:ext cx="181353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Keyword Frequency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8675" y="2118786"/>
            <a:ext cx="361809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Bar charts and word clouds displaying the most prevalent topics across the corpus.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50198" y="1687847"/>
            <a:ext cx="35912" cy="1005526"/>
          </a:xfrm>
          <a:custGeom>
            <a:avLst/>
            <a:gdLst/>
            <a:ahLst/>
            <a:cxnLst/>
            <a:rect l="l" t="t" r="r" b="b"/>
            <a:pathLst>
              <a:path w="35912" h="1005526">
                <a:moveTo>
                  <a:pt x="0" y="0"/>
                </a:moveTo>
                <a:lnTo>
                  <a:pt x="35912" y="0"/>
                </a:lnTo>
                <a:lnTo>
                  <a:pt x="35912" y="1005526"/>
                </a:lnTo>
                <a:lnTo>
                  <a:pt x="0" y="1005526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3" name="Shape 10"/>
          <p:cNvSpPr/>
          <p:nvPr/>
        </p:nvSpPr>
        <p:spPr>
          <a:xfrm>
            <a:off x="4425267" y="1813538"/>
            <a:ext cx="242404" cy="215470"/>
          </a:xfrm>
          <a:custGeom>
            <a:avLst/>
            <a:gdLst/>
            <a:ahLst/>
            <a:cxnLst/>
            <a:rect l="l" t="t" r="r" b="b"/>
            <a:pathLst>
              <a:path w="242404" h="215470">
                <a:moveTo>
                  <a:pt x="215638" y="101001"/>
                </a:moveTo>
                <a:lnTo>
                  <a:pt x="141570" y="101001"/>
                </a:lnTo>
                <a:cubicBezTo>
                  <a:pt x="134122" y="101001"/>
                  <a:pt x="128104" y="94983"/>
                  <a:pt x="128104" y="87535"/>
                </a:cubicBezTo>
                <a:lnTo>
                  <a:pt x="128104" y="13467"/>
                </a:lnTo>
                <a:cubicBezTo>
                  <a:pt x="128104" y="6018"/>
                  <a:pt x="134164" y="-84"/>
                  <a:pt x="141528" y="884"/>
                </a:cubicBezTo>
                <a:cubicBezTo>
                  <a:pt x="186558" y="6860"/>
                  <a:pt x="222245" y="42547"/>
                  <a:pt x="228221" y="87577"/>
                </a:cubicBezTo>
                <a:cubicBezTo>
                  <a:pt x="229189" y="94941"/>
                  <a:pt x="223087" y="101001"/>
                  <a:pt x="215638" y="101001"/>
                </a:cubicBezTo>
                <a:close/>
                <a:moveTo>
                  <a:pt x="93679" y="15655"/>
                </a:moveTo>
                <a:cubicBezTo>
                  <a:pt x="101296" y="14056"/>
                  <a:pt x="107903" y="20284"/>
                  <a:pt x="107903" y="28070"/>
                </a:cubicBezTo>
                <a:lnTo>
                  <a:pt x="107903" y="111102"/>
                </a:lnTo>
                <a:cubicBezTo>
                  <a:pt x="107903" y="113458"/>
                  <a:pt x="108745" y="115731"/>
                  <a:pt x="110218" y="117540"/>
                </a:cubicBezTo>
                <a:lnTo>
                  <a:pt x="165811" y="184622"/>
                </a:lnTo>
                <a:cubicBezTo>
                  <a:pt x="170735" y="190556"/>
                  <a:pt x="169682" y="199520"/>
                  <a:pt x="162907" y="203181"/>
                </a:cubicBezTo>
                <a:cubicBezTo>
                  <a:pt x="148556" y="211009"/>
                  <a:pt x="132102" y="215470"/>
                  <a:pt x="114637" y="215470"/>
                </a:cubicBezTo>
                <a:cubicBezTo>
                  <a:pt x="58875" y="215470"/>
                  <a:pt x="13635" y="170230"/>
                  <a:pt x="13635" y="114468"/>
                </a:cubicBezTo>
                <a:cubicBezTo>
                  <a:pt x="13635" y="65861"/>
                  <a:pt x="47934" y="25292"/>
                  <a:pt x="93679" y="15655"/>
                </a:cubicBezTo>
                <a:close/>
                <a:moveTo>
                  <a:pt x="201077" y="121202"/>
                </a:moveTo>
                <a:lnTo>
                  <a:pt x="228011" y="121202"/>
                </a:lnTo>
                <a:cubicBezTo>
                  <a:pt x="235796" y="121202"/>
                  <a:pt x="242025" y="127809"/>
                  <a:pt x="240426" y="135426"/>
                </a:cubicBezTo>
                <a:cubicBezTo>
                  <a:pt x="236133" y="155795"/>
                  <a:pt x="225696" y="173891"/>
                  <a:pt x="211135" y="187694"/>
                </a:cubicBezTo>
                <a:cubicBezTo>
                  <a:pt x="205959" y="192618"/>
                  <a:pt x="197837" y="191566"/>
                  <a:pt x="193292" y="186053"/>
                </a:cubicBezTo>
                <a:lnTo>
                  <a:pt x="157773" y="143254"/>
                </a:lnTo>
                <a:cubicBezTo>
                  <a:pt x="150492" y="134458"/>
                  <a:pt x="156763" y="121202"/>
                  <a:pt x="168125" y="121202"/>
                </a:cubicBezTo>
                <a:lnTo>
                  <a:pt x="201035" y="121202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Text 11"/>
          <p:cNvSpPr/>
          <p:nvPr/>
        </p:nvSpPr>
        <p:spPr>
          <a:xfrm>
            <a:off x="4788873" y="1795582"/>
            <a:ext cx="160704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Distribution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11800" y="2118786"/>
            <a:ext cx="361809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Pie charts depicting the proportional spread of articles across news categories.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23324" y="1687847"/>
            <a:ext cx="35912" cy="1005526"/>
          </a:xfrm>
          <a:custGeom>
            <a:avLst/>
            <a:gdLst/>
            <a:ahLst/>
            <a:cxnLst/>
            <a:rect l="l" t="t" r="r" b="b"/>
            <a:pathLst>
              <a:path w="35912" h="1005526">
                <a:moveTo>
                  <a:pt x="0" y="0"/>
                </a:moveTo>
                <a:lnTo>
                  <a:pt x="35912" y="0"/>
                </a:lnTo>
                <a:lnTo>
                  <a:pt x="35912" y="1005526"/>
                </a:lnTo>
                <a:lnTo>
                  <a:pt x="0" y="1005526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7" name="Shape 14"/>
          <p:cNvSpPr/>
          <p:nvPr/>
        </p:nvSpPr>
        <p:spPr>
          <a:xfrm>
            <a:off x="8311860" y="181353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26934" y="26934"/>
                </a:moveTo>
                <a:cubicBezTo>
                  <a:pt x="26934" y="19485"/>
                  <a:pt x="20916" y="13467"/>
                  <a:pt x="13467" y="13467"/>
                </a:cubicBezTo>
                <a:cubicBezTo>
                  <a:pt x="6018" y="13467"/>
                  <a:pt x="0" y="19485"/>
                  <a:pt x="0" y="26934"/>
                </a:cubicBezTo>
                <a:lnTo>
                  <a:pt x="0" y="168336"/>
                </a:lnTo>
                <a:cubicBezTo>
                  <a:pt x="0" y="186937"/>
                  <a:pt x="15066" y="202003"/>
                  <a:pt x="33667" y="202003"/>
                </a:cubicBezTo>
                <a:lnTo>
                  <a:pt x="202003" y="202003"/>
                </a:lnTo>
                <a:cubicBezTo>
                  <a:pt x="209452" y="202003"/>
                  <a:pt x="215470" y="195985"/>
                  <a:pt x="215470" y="188536"/>
                </a:cubicBezTo>
                <a:cubicBezTo>
                  <a:pt x="215470" y="181087"/>
                  <a:pt x="209452" y="175069"/>
                  <a:pt x="202003" y="175069"/>
                </a:cubicBezTo>
                <a:lnTo>
                  <a:pt x="33667" y="175069"/>
                </a:lnTo>
                <a:cubicBezTo>
                  <a:pt x="29964" y="175069"/>
                  <a:pt x="26934" y="172039"/>
                  <a:pt x="26934" y="168336"/>
                </a:cubicBezTo>
                <a:lnTo>
                  <a:pt x="26934" y="26934"/>
                </a:lnTo>
                <a:close/>
                <a:moveTo>
                  <a:pt x="198047" y="63378"/>
                </a:moveTo>
                <a:cubicBezTo>
                  <a:pt x="203308" y="58118"/>
                  <a:pt x="203308" y="49575"/>
                  <a:pt x="198047" y="44314"/>
                </a:cubicBezTo>
                <a:cubicBezTo>
                  <a:pt x="192787" y="39054"/>
                  <a:pt x="184244" y="39054"/>
                  <a:pt x="178983" y="44314"/>
                </a:cubicBezTo>
                <a:lnTo>
                  <a:pt x="134669" y="88671"/>
                </a:lnTo>
                <a:lnTo>
                  <a:pt x="110512" y="64557"/>
                </a:lnTo>
                <a:cubicBezTo>
                  <a:pt x="105252" y="59296"/>
                  <a:pt x="96709" y="59296"/>
                  <a:pt x="91448" y="64557"/>
                </a:cubicBezTo>
                <a:lnTo>
                  <a:pt x="51048" y="104957"/>
                </a:lnTo>
                <a:cubicBezTo>
                  <a:pt x="45787" y="110218"/>
                  <a:pt x="45787" y="118761"/>
                  <a:pt x="51048" y="124021"/>
                </a:cubicBezTo>
                <a:cubicBezTo>
                  <a:pt x="56308" y="129282"/>
                  <a:pt x="64851" y="129282"/>
                  <a:pt x="70112" y="124021"/>
                </a:cubicBezTo>
                <a:lnTo>
                  <a:pt x="101001" y="93132"/>
                </a:lnTo>
                <a:lnTo>
                  <a:pt x="125158" y="117288"/>
                </a:lnTo>
                <a:cubicBezTo>
                  <a:pt x="130418" y="122548"/>
                  <a:pt x="138961" y="122548"/>
                  <a:pt x="144222" y="117288"/>
                </a:cubicBezTo>
                <a:lnTo>
                  <a:pt x="198089" y="63421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8" name="Text 15"/>
          <p:cNvSpPr/>
          <p:nvPr/>
        </p:nvSpPr>
        <p:spPr>
          <a:xfrm>
            <a:off x="8661999" y="1795582"/>
            <a:ext cx="184047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Trend Analysis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84926" y="2118786"/>
            <a:ext cx="3618097" cy="233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line graphs tracking article volume over time.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77072" y="2837019"/>
            <a:ext cx="35912" cy="1005526"/>
          </a:xfrm>
          <a:custGeom>
            <a:avLst/>
            <a:gdLst/>
            <a:ahLst/>
            <a:cxnLst/>
            <a:rect l="l" t="t" r="r" b="b"/>
            <a:pathLst>
              <a:path w="35912" h="1005526">
                <a:moveTo>
                  <a:pt x="0" y="0"/>
                </a:moveTo>
                <a:lnTo>
                  <a:pt x="35912" y="0"/>
                </a:lnTo>
                <a:lnTo>
                  <a:pt x="35912" y="1005526"/>
                </a:lnTo>
                <a:lnTo>
                  <a:pt x="0" y="1005526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1" name="Shape 18"/>
          <p:cNvSpPr/>
          <p:nvPr/>
        </p:nvSpPr>
        <p:spPr>
          <a:xfrm>
            <a:off x="565608" y="2962710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0" y="175069"/>
                </a:moveTo>
                <a:lnTo>
                  <a:pt x="0" y="50501"/>
                </a:lnTo>
                <a:cubicBezTo>
                  <a:pt x="0" y="44904"/>
                  <a:pt x="4503" y="40401"/>
                  <a:pt x="10100" y="40401"/>
                </a:cubicBezTo>
                <a:cubicBezTo>
                  <a:pt x="15697" y="40401"/>
                  <a:pt x="20200" y="44904"/>
                  <a:pt x="20200" y="50501"/>
                </a:cubicBezTo>
                <a:lnTo>
                  <a:pt x="20200" y="171703"/>
                </a:lnTo>
                <a:cubicBezTo>
                  <a:pt x="20200" y="177300"/>
                  <a:pt x="24703" y="181803"/>
                  <a:pt x="30300" y="181803"/>
                </a:cubicBezTo>
                <a:cubicBezTo>
                  <a:pt x="35898" y="181803"/>
                  <a:pt x="40401" y="177300"/>
                  <a:pt x="40401" y="171703"/>
                </a:cubicBezTo>
                <a:lnTo>
                  <a:pt x="40401" y="40401"/>
                </a:lnTo>
                <a:cubicBezTo>
                  <a:pt x="40401" y="25545"/>
                  <a:pt x="52479" y="13467"/>
                  <a:pt x="67334" y="13467"/>
                </a:cubicBezTo>
                <a:lnTo>
                  <a:pt x="188536" y="13467"/>
                </a:lnTo>
                <a:cubicBezTo>
                  <a:pt x="203392" y="13467"/>
                  <a:pt x="215470" y="25545"/>
                  <a:pt x="215470" y="40401"/>
                </a:cubicBezTo>
                <a:lnTo>
                  <a:pt x="215470" y="175069"/>
                </a:lnTo>
                <a:cubicBezTo>
                  <a:pt x="215470" y="189925"/>
                  <a:pt x="203392" y="202003"/>
                  <a:pt x="188536" y="202003"/>
                </a:cubicBezTo>
                <a:lnTo>
                  <a:pt x="26934" y="202003"/>
                </a:lnTo>
                <a:cubicBezTo>
                  <a:pt x="12078" y="202003"/>
                  <a:pt x="0" y="189925"/>
                  <a:pt x="0" y="175069"/>
                </a:cubicBezTo>
                <a:close/>
                <a:moveTo>
                  <a:pt x="67334" y="53867"/>
                </a:moveTo>
                <a:lnTo>
                  <a:pt x="67334" y="80801"/>
                </a:lnTo>
                <a:cubicBezTo>
                  <a:pt x="67334" y="88250"/>
                  <a:pt x="73352" y="94268"/>
                  <a:pt x="80801" y="94268"/>
                </a:cubicBezTo>
                <a:lnTo>
                  <a:pt x="107735" y="94268"/>
                </a:lnTo>
                <a:cubicBezTo>
                  <a:pt x="115184" y="94268"/>
                  <a:pt x="121202" y="88250"/>
                  <a:pt x="121202" y="80801"/>
                </a:cubicBezTo>
                <a:lnTo>
                  <a:pt x="121202" y="53867"/>
                </a:lnTo>
                <a:cubicBezTo>
                  <a:pt x="121202" y="46419"/>
                  <a:pt x="115184" y="40401"/>
                  <a:pt x="107735" y="40401"/>
                </a:cubicBezTo>
                <a:lnTo>
                  <a:pt x="80801" y="40401"/>
                </a:lnTo>
                <a:cubicBezTo>
                  <a:pt x="73352" y="40401"/>
                  <a:pt x="67334" y="46419"/>
                  <a:pt x="67334" y="53867"/>
                </a:cubicBezTo>
                <a:close/>
                <a:moveTo>
                  <a:pt x="77434" y="154869"/>
                </a:moveTo>
                <a:cubicBezTo>
                  <a:pt x="71837" y="154869"/>
                  <a:pt x="67334" y="159372"/>
                  <a:pt x="67334" y="164969"/>
                </a:cubicBezTo>
                <a:cubicBezTo>
                  <a:pt x="67334" y="170566"/>
                  <a:pt x="71837" y="175069"/>
                  <a:pt x="77434" y="175069"/>
                </a:cubicBezTo>
                <a:lnTo>
                  <a:pt x="178436" y="175069"/>
                </a:lnTo>
                <a:cubicBezTo>
                  <a:pt x="184033" y="175069"/>
                  <a:pt x="188536" y="170566"/>
                  <a:pt x="188536" y="164969"/>
                </a:cubicBezTo>
                <a:cubicBezTo>
                  <a:pt x="188536" y="159372"/>
                  <a:pt x="184033" y="154869"/>
                  <a:pt x="178436" y="154869"/>
                </a:cubicBezTo>
                <a:lnTo>
                  <a:pt x="77434" y="154869"/>
                </a:lnTo>
                <a:close/>
                <a:moveTo>
                  <a:pt x="67334" y="124568"/>
                </a:moveTo>
                <a:cubicBezTo>
                  <a:pt x="67334" y="130166"/>
                  <a:pt x="71837" y="134669"/>
                  <a:pt x="77434" y="134669"/>
                </a:cubicBezTo>
                <a:lnTo>
                  <a:pt x="178436" y="134669"/>
                </a:lnTo>
                <a:cubicBezTo>
                  <a:pt x="184033" y="134669"/>
                  <a:pt x="188536" y="130166"/>
                  <a:pt x="188536" y="124568"/>
                </a:cubicBezTo>
                <a:cubicBezTo>
                  <a:pt x="188536" y="118971"/>
                  <a:pt x="184033" y="114468"/>
                  <a:pt x="178436" y="114468"/>
                </a:cubicBezTo>
                <a:lnTo>
                  <a:pt x="77434" y="114468"/>
                </a:lnTo>
                <a:cubicBezTo>
                  <a:pt x="71837" y="114468"/>
                  <a:pt x="67334" y="118971"/>
                  <a:pt x="67334" y="124568"/>
                </a:cubicBezTo>
                <a:close/>
                <a:moveTo>
                  <a:pt x="151502" y="74068"/>
                </a:moveTo>
                <a:cubicBezTo>
                  <a:pt x="145905" y="74068"/>
                  <a:pt x="141402" y="78571"/>
                  <a:pt x="141402" y="84168"/>
                </a:cubicBezTo>
                <a:cubicBezTo>
                  <a:pt x="141402" y="89765"/>
                  <a:pt x="145905" y="94268"/>
                  <a:pt x="151502" y="94268"/>
                </a:cubicBezTo>
                <a:lnTo>
                  <a:pt x="178436" y="94268"/>
                </a:lnTo>
                <a:cubicBezTo>
                  <a:pt x="184033" y="94268"/>
                  <a:pt x="188536" y="89765"/>
                  <a:pt x="188536" y="84168"/>
                </a:cubicBezTo>
                <a:cubicBezTo>
                  <a:pt x="188536" y="78571"/>
                  <a:pt x="184033" y="74068"/>
                  <a:pt x="178436" y="74068"/>
                </a:cubicBezTo>
                <a:lnTo>
                  <a:pt x="151502" y="74068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2" name="Text 19"/>
          <p:cNvSpPr/>
          <p:nvPr/>
        </p:nvSpPr>
        <p:spPr>
          <a:xfrm>
            <a:off x="915747" y="2944754"/>
            <a:ext cx="184047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Source-wise Distribution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8675" y="3267959"/>
            <a:ext cx="361809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Comparative analytics illustrating publisher volume (Reuters vs AP vs Unknown).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250198" y="2837019"/>
            <a:ext cx="35912" cy="1005526"/>
          </a:xfrm>
          <a:custGeom>
            <a:avLst/>
            <a:gdLst/>
            <a:ahLst/>
            <a:cxnLst/>
            <a:rect l="l" t="t" r="r" b="b"/>
            <a:pathLst>
              <a:path w="35912" h="1005526">
                <a:moveTo>
                  <a:pt x="0" y="0"/>
                </a:moveTo>
                <a:lnTo>
                  <a:pt x="35912" y="0"/>
                </a:lnTo>
                <a:lnTo>
                  <a:pt x="35912" y="1005526"/>
                </a:lnTo>
                <a:lnTo>
                  <a:pt x="0" y="1005526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5" name="Shape 22"/>
          <p:cNvSpPr/>
          <p:nvPr/>
        </p:nvSpPr>
        <p:spPr>
          <a:xfrm>
            <a:off x="4438734" y="2962710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0" y="107735"/>
                </a:moveTo>
                <a:cubicBezTo>
                  <a:pt x="0" y="48274"/>
                  <a:pt x="48274" y="0"/>
                  <a:pt x="107735" y="0"/>
                </a:cubicBezTo>
                <a:cubicBezTo>
                  <a:pt x="167195" y="0"/>
                  <a:pt x="215470" y="48274"/>
                  <a:pt x="215470" y="107735"/>
                </a:cubicBezTo>
                <a:cubicBezTo>
                  <a:pt x="215470" y="167195"/>
                  <a:pt x="167195" y="215470"/>
                  <a:pt x="107735" y="215470"/>
                </a:cubicBezTo>
                <a:cubicBezTo>
                  <a:pt x="48274" y="215470"/>
                  <a:pt x="0" y="167195"/>
                  <a:pt x="0" y="107735"/>
                </a:cubicBezTo>
                <a:close/>
                <a:moveTo>
                  <a:pt x="79244" y="61905"/>
                </a:moveTo>
                <a:cubicBezTo>
                  <a:pt x="76046" y="63673"/>
                  <a:pt x="74068" y="67082"/>
                  <a:pt x="74068" y="70701"/>
                </a:cubicBezTo>
                <a:lnTo>
                  <a:pt x="74068" y="144769"/>
                </a:lnTo>
                <a:cubicBezTo>
                  <a:pt x="74068" y="148430"/>
                  <a:pt x="76046" y="151797"/>
                  <a:pt x="79244" y="153564"/>
                </a:cubicBezTo>
                <a:cubicBezTo>
                  <a:pt x="82442" y="155332"/>
                  <a:pt x="86314" y="155290"/>
                  <a:pt x="89470" y="153354"/>
                </a:cubicBezTo>
                <a:lnTo>
                  <a:pt x="150071" y="116320"/>
                </a:lnTo>
                <a:cubicBezTo>
                  <a:pt x="153059" y="114468"/>
                  <a:pt x="154911" y="111228"/>
                  <a:pt x="154911" y="107693"/>
                </a:cubicBezTo>
                <a:cubicBezTo>
                  <a:pt x="154911" y="104158"/>
                  <a:pt x="153059" y="100917"/>
                  <a:pt x="150071" y="99066"/>
                </a:cubicBezTo>
                <a:lnTo>
                  <a:pt x="89470" y="62032"/>
                </a:lnTo>
                <a:cubicBezTo>
                  <a:pt x="86356" y="60138"/>
                  <a:pt x="82442" y="60054"/>
                  <a:pt x="79244" y="61821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26" name="Text 23"/>
          <p:cNvSpPr/>
          <p:nvPr/>
        </p:nvSpPr>
        <p:spPr>
          <a:xfrm>
            <a:off x="4788873" y="2944754"/>
            <a:ext cx="119406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UI Triggers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411800" y="3267959"/>
            <a:ext cx="361809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UI triggers to run KMeans and Naive Bayes on the frozen dataset.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123324" y="2837019"/>
            <a:ext cx="35912" cy="1005526"/>
          </a:xfrm>
          <a:custGeom>
            <a:avLst/>
            <a:gdLst/>
            <a:ahLst/>
            <a:cxnLst/>
            <a:rect l="l" t="t" r="r" b="b"/>
            <a:pathLst>
              <a:path w="35912" h="1005526">
                <a:moveTo>
                  <a:pt x="0" y="0"/>
                </a:moveTo>
                <a:lnTo>
                  <a:pt x="35912" y="0"/>
                </a:lnTo>
                <a:lnTo>
                  <a:pt x="35912" y="1005526"/>
                </a:lnTo>
                <a:lnTo>
                  <a:pt x="0" y="1005526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9" name="Shape 26"/>
          <p:cNvSpPr/>
          <p:nvPr/>
        </p:nvSpPr>
        <p:spPr>
          <a:xfrm>
            <a:off x="8311860" y="2962710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88536" y="107735"/>
                </a:moveTo>
                <a:cubicBezTo>
                  <a:pt x="188536" y="63140"/>
                  <a:pt x="152330" y="26934"/>
                  <a:pt x="107735" y="26934"/>
                </a:cubicBezTo>
                <a:cubicBezTo>
                  <a:pt x="63140" y="26934"/>
                  <a:pt x="26934" y="63140"/>
                  <a:pt x="26934" y="107735"/>
                </a:cubicBezTo>
                <a:cubicBezTo>
                  <a:pt x="26934" y="152330"/>
                  <a:pt x="63140" y="188536"/>
                  <a:pt x="107735" y="188536"/>
                </a:cubicBezTo>
                <a:cubicBezTo>
                  <a:pt x="152330" y="188536"/>
                  <a:pt x="188536" y="152330"/>
                  <a:pt x="188536" y="107735"/>
                </a:cubicBezTo>
                <a:close/>
                <a:moveTo>
                  <a:pt x="0" y="107735"/>
                </a:moveTo>
                <a:cubicBezTo>
                  <a:pt x="0" y="48274"/>
                  <a:pt x="48274" y="0"/>
                  <a:pt x="107735" y="0"/>
                </a:cubicBezTo>
                <a:cubicBezTo>
                  <a:pt x="167195" y="0"/>
                  <a:pt x="215470" y="48274"/>
                  <a:pt x="215470" y="107735"/>
                </a:cubicBezTo>
                <a:cubicBezTo>
                  <a:pt x="215470" y="167195"/>
                  <a:pt x="167195" y="215470"/>
                  <a:pt x="107735" y="215470"/>
                </a:cubicBezTo>
                <a:cubicBezTo>
                  <a:pt x="48274" y="215470"/>
                  <a:pt x="0" y="167195"/>
                  <a:pt x="0" y="107735"/>
                </a:cubicBezTo>
                <a:close/>
                <a:moveTo>
                  <a:pt x="107735" y="141402"/>
                </a:moveTo>
                <a:cubicBezTo>
                  <a:pt x="126316" y="141402"/>
                  <a:pt x="141402" y="126316"/>
                  <a:pt x="141402" y="107735"/>
                </a:cubicBezTo>
                <a:cubicBezTo>
                  <a:pt x="141402" y="89153"/>
                  <a:pt x="126316" y="74068"/>
                  <a:pt x="107735" y="74068"/>
                </a:cubicBezTo>
                <a:cubicBezTo>
                  <a:pt x="89153" y="74068"/>
                  <a:pt x="74068" y="89153"/>
                  <a:pt x="74068" y="107735"/>
                </a:cubicBezTo>
                <a:cubicBezTo>
                  <a:pt x="74068" y="126316"/>
                  <a:pt x="89153" y="141402"/>
                  <a:pt x="107735" y="141402"/>
                </a:cubicBezTo>
                <a:close/>
                <a:moveTo>
                  <a:pt x="107735" y="47134"/>
                </a:moveTo>
                <a:cubicBezTo>
                  <a:pt x="141181" y="47134"/>
                  <a:pt x="168336" y="74288"/>
                  <a:pt x="168336" y="107735"/>
                </a:cubicBezTo>
                <a:cubicBezTo>
                  <a:pt x="168336" y="141181"/>
                  <a:pt x="141181" y="168336"/>
                  <a:pt x="107735" y="168336"/>
                </a:cubicBezTo>
                <a:cubicBezTo>
                  <a:pt x="74288" y="168336"/>
                  <a:pt x="47134" y="141181"/>
                  <a:pt x="47134" y="107735"/>
                </a:cubicBezTo>
                <a:cubicBezTo>
                  <a:pt x="47134" y="74288"/>
                  <a:pt x="74288" y="47134"/>
                  <a:pt x="107735" y="47134"/>
                </a:cubicBezTo>
                <a:close/>
                <a:moveTo>
                  <a:pt x="94268" y="107735"/>
                </a:moveTo>
                <a:cubicBezTo>
                  <a:pt x="94268" y="100302"/>
                  <a:pt x="100302" y="94268"/>
                  <a:pt x="107735" y="94268"/>
                </a:cubicBezTo>
                <a:cubicBezTo>
                  <a:pt x="115167" y="94268"/>
                  <a:pt x="121202" y="100302"/>
                  <a:pt x="121202" y="107735"/>
                </a:cubicBezTo>
                <a:cubicBezTo>
                  <a:pt x="121202" y="115167"/>
                  <a:pt x="115167" y="121202"/>
                  <a:pt x="107735" y="121202"/>
                </a:cubicBezTo>
                <a:cubicBezTo>
                  <a:pt x="100302" y="121202"/>
                  <a:pt x="94268" y="115167"/>
                  <a:pt x="94268" y="107735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30" name="Text 27"/>
          <p:cNvSpPr/>
          <p:nvPr/>
        </p:nvSpPr>
        <p:spPr>
          <a:xfrm>
            <a:off x="8661999" y="2944754"/>
            <a:ext cx="1678869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Philosophy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284926" y="3267959"/>
            <a:ext cx="3618097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Democratize access to insights for non-technical stakeholders.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68094" y="3995169"/>
            <a:ext cx="11455811" cy="1777626"/>
          </a:xfrm>
          <a:custGeom>
            <a:avLst/>
            <a:gdLst/>
            <a:ahLst/>
            <a:cxnLst/>
            <a:rect l="l" t="t" r="r" b="b"/>
            <a:pathLst>
              <a:path w="11455811" h="1777626">
                <a:moveTo>
                  <a:pt x="0" y="0"/>
                </a:moveTo>
                <a:lnTo>
                  <a:pt x="11455811" y="0"/>
                </a:lnTo>
                <a:lnTo>
                  <a:pt x="11455811" y="1777626"/>
                </a:lnTo>
                <a:lnTo>
                  <a:pt x="0" y="17776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70097" y="4219617"/>
            <a:ext cx="242404" cy="215470"/>
          </a:xfrm>
          <a:custGeom>
            <a:avLst/>
            <a:gdLst/>
            <a:ahLst/>
            <a:cxnLst/>
            <a:rect l="l" t="t" r="r" b="b"/>
            <a:pathLst>
              <a:path w="242404" h="215470">
                <a:moveTo>
                  <a:pt x="130250" y="-7954"/>
                </a:moveTo>
                <a:cubicBezTo>
                  <a:pt x="128524" y="-11321"/>
                  <a:pt x="125031" y="-13467"/>
                  <a:pt x="121244" y="-13467"/>
                </a:cubicBezTo>
                <a:cubicBezTo>
                  <a:pt x="117456" y="-13467"/>
                  <a:pt x="113963" y="-11321"/>
                  <a:pt x="112238" y="-7954"/>
                </a:cubicBezTo>
                <a:lnTo>
                  <a:pt x="81264" y="52731"/>
                </a:lnTo>
                <a:lnTo>
                  <a:pt x="13972" y="63421"/>
                </a:lnTo>
                <a:cubicBezTo>
                  <a:pt x="10226" y="64010"/>
                  <a:pt x="7112" y="66661"/>
                  <a:pt x="5934" y="70280"/>
                </a:cubicBezTo>
                <a:cubicBezTo>
                  <a:pt x="4755" y="73899"/>
                  <a:pt x="5723" y="77855"/>
                  <a:pt x="8375" y="80549"/>
                </a:cubicBezTo>
                <a:lnTo>
                  <a:pt x="56519" y="128735"/>
                </a:lnTo>
                <a:lnTo>
                  <a:pt x="45914" y="196027"/>
                </a:lnTo>
                <a:cubicBezTo>
                  <a:pt x="45324" y="199772"/>
                  <a:pt x="46882" y="203560"/>
                  <a:pt x="49954" y="205791"/>
                </a:cubicBezTo>
                <a:cubicBezTo>
                  <a:pt x="53026" y="208021"/>
                  <a:pt x="57066" y="208358"/>
                  <a:pt x="60475" y="206632"/>
                </a:cubicBezTo>
                <a:lnTo>
                  <a:pt x="121244" y="175743"/>
                </a:lnTo>
                <a:lnTo>
                  <a:pt x="181971" y="206632"/>
                </a:lnTo>
                <a:cubicBezTo>
                  <a:pt x="185338" y="208358"/>
                  <a:pt x="189420" y="208021"/>
                  <a:pt x="192492" y="205791"/>
                </a:cubicBezTo>
                <a:cubicBezTo>
                  <a:pt x="195564" y="203560"/>
                  <a:pt x="197121" y="199815"/>
                  <a:pt x="196532" y="196027"/>
                </a:cubicBezTo>
                <a:lnTo>
                  <a:pt x="185885" y="128735"/>
                </a:lnTo>
                <a:lnTo>
                  <a:pt x="234029" y="80549"/>
                </a:lnTo>
                <a:cubicBezTo>
                  <a:pt x="236722" y="77855"/>
                  <a:pt x="237648" y="73899"/>
                  <a:pt x="236470" y="70280"/>
                </a:cubicBezTo>
                <a:cubicBezTo>
                  <a:pt x="235291" y="66661"/>
                  <a:pt x="232219" y="64010"/>
                  <a:pt x="228432" y="63421"/>
                </a:cubicBezTo>
                <a:lnTo>
                  <a:pt x="161182" y="52731"/>
                </a:lnTo>
                <a:lnTo>
                  <a:pt x="130250" y="-7954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4" name="Text 31"/>
          <p:cNvSpPr/>
          <p:nvPr/>
        </p:nvSpPr>
        <p:spPr>
          <a:xfrm>
            <a:off x="825968" y="4183705"/>
            <a:ext cx="1091713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Impact &amp; Innovation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56630" y="4614645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179558" y="0"/>
                </a:moveTo>
                <a:lnTo>
                  <a:pt x="179558" y="0"/>
                </a:lnTo>
                <a:cubicBezTo>
                  <a:pt x="278725" y="0"/>
                  <a:pt x="359116" y="80391"/>
                  <a:pt x="359116" y="179558"/>
                </a:cubicBezTo>
                <a:lnTo>
                  <a:pt x="359116" y="179558"/>
                </a:lnTo>
                <a:cubicBezTo>
                  <a:pt x="359116" y="278725"/>
                  <a:pt x="278725" y="359116"/>
                  <a:pt x="179558" y="359116"/>
                </a:cubicBezTo>
                <a:lnTo>
                  <a:pt x="179558" y="359116"/>
                </a:lnTo>
                <a:cubicBezTo>
                  <a:pt x="80391" y="359116"/>
                  <a:pt x="0" y="278725"/>
                  <a:pt x="0" y="179558"/>
                </a:cubicBezTo>
                <a:lnTo>
                  <a:pt x="0" y="179558"/>
                </a:lnTo>
                <a:cubicBezTo>
                  <a:pt x="0" y="80391"/>
                  <a:pt x="80391" y="0"/>
                  <a:pt x="17955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36" name="Shape 33"/>
          <p:cNvSpPr/>
          <p:nvPr/>
        </p:nvSpPr>
        <p:spPr>
          <a:xfrm>
            <a:off x="682321" y="4722380"/>
            <a:ext cx="107735" cy="143647"/>
          </a:xfrm>
          <a:custGeom>
            <a:avLst/>
            <a:gdLst/>
            <a:ahLst/>
            <a:cxnLst/>
            <a:rect l="l" t="t" r="r" b="b"/>
            <a:pathLst>
              <a:path w="107735" h="143647">
                <a:moveTo>
                  <a:pt x="17956" y="0"/>
                </a:moveTo>
                <a:cubicBezTo>
                  <a:pt x="8052" y="0"/>
                  <a:pt x="0" y="8052"/>
                  <a:pt x="0" y="17956"/>
                </a:cubicBezTo>
                <a:lnTo>
                  <a:pt x="0" y="125691"/>
                </a:lnTo>
                <a:cubicBezTo>
                  <a:pt x="0" y="135594"/>
                  <a:pt x="8052" y="143647"/>
                  <a:pt x="17956" y="143647"/>
                </a:cubicBezTo>
                <a:lnTo>
                  <a:pt x="89779" y="143647"/>
                </a:lnTo>
                <a:cubicBezTo>
                  <a:pt x="99683" y="143647"/>
                  <a:pt x="107735" y="135594"/>
                  <a:pt x="107735" y="125691"/>
                </a:cubicBezTo>
                <a:lnTo>
                  <a:pt x="107735" y="17956"/>
                </a:lnTo>
                <a:cubicBezTo>
                  <a:pt x="107735" y="8052"/>
                  <a:pt x="99683" y="0"/>
                  <a:pt x="89779" y="0"/>
                </a:cubicBezTo>
                <a:lnTo>
                  <a:pt x="17956" y="0"/>
                </a:lnTo>
                <a:close/>
                <a:moveTo>
                  <a:pt x="26934" y="17956"/>
                </a:moveTo>
                <a:lnTo>
                  <a:pt x="80801" y="17956"/>
                </a:lnTo>
                <a:cubicBezTo>
                  <a:pt x="85767" y="17956"/>
                  <a:pt x="89779" y="21968"/>
                  <a:pt x="89779" y="26934"/>
                </a:cubicBezTo>
                <a:lnTo>
                  <a:pt x="89779" y="35912"/>
                </a:lnTo>
                <a:cubicBezTo>
                  <a:pt x="89779" y="40878"/>
                  <a:pt x="85767" y="44890"/>
                  <a:pt x="80801" y="44890"/>
                </a:cubicBezTo>
                <a:lnTo>
                  <a:pt x="26934" y="44890"/>
                </a:lnTo>
                <a:cubicBezTo>
                  <a:pt x="21968" y="44890"/>
                  <a:pt x="17956" y="40878"/>
                  <a:pt x="17956" y="35912"/>
                </a:cubicBezTo>
                <a:lnTo>
                  <a:pt x="17956" y="26934"/>
                </a:lnTo>
                <a:cubicBezTo>
                  <a:pt x="17956" y="21968"/>
                  <a:pt x="21968" y="17956"/>
                  <a:pt x="26934" y="17956"/>
                </a:cubicBezTo>
                <a:close/>
                <a:moveTo>
                  <a:pt x="31423" y="65090"/>
                </a:moveTo>
                <a:cubicBezTo>
                  <a:pt x="31423" y="68806"/>
                  <a:pt x="28406" y="71823"/>
                  <a:pt x="24689" y="71823"/>
                </a:cubicBezTo>
                <a:cubicBezTo>
                  <a:pt x="20973" y="71823"/>
                  <a:pt x="17956" y="68806"/>
                  <a:pt x="17956" y="65090"/>
                </a:cubicBezTo>
                <a:cubicBezTo>
                  <a:pt x="17956" y="61374"/>
                  <a:pt x="20973" y="58356"/>
                  <a:pt x="24689" y="58356"/>
                </a:cubicBezTo>
                <a:cubicBezTo>
                  <a:pt x="28406" y="58356"/>
                  <a:pt x="31423" y="61374"/>
                  <a:pt x="31423" y="65090"/>
                </a:cubicBezTo>
                <a:close/>
                <a:moveTo>
                  <a:pt x="53867" y="71823"/>
                </a:moveTo>
                <a:cubicBezTo>
                  <a:pt x="50151" y="71823"/>
                  <a:pt x="47134" y="68806"/>
                  <a:pt x="47134" y="65090"/>
                </a:cubicBezTo>
                <a:cubicBezTo>
                  <a:pt x="47134" y="61374"/>
                  <a:pt x="50151" y="58356"/>
                  <a:pt x="53867" y="58356"/>
                </a:cubicBezTo>
                <a:cubicBezTo>
                  <a:pt x="57584" y="58356"/>
                  <a:pt x="60601" y="61374"/>
                  <a:pt x="60601" y="65090"/>
                </a:cubicBezTo>
                <a:cubicBezTo>
                  <a:pt x="60601" y="68806"/>
                  <a:pt x="57584" y="71823"/>
                  <a:pt x="53867" y="71823"/>
                </a:cubicBezTo>
                <a:close/>
                <a:moveTo>
                  <a:pt x="89779" y="65090"/>
                </a:moveTo>
                <a:cubicBezTo>
                  <a:pt x="89779" y="68806"/>
                  <a:pt x="86762" y="71823"/>
                  <a:pt x="83046" y="71823"/>
                </a:cubicBezTo>
                <a:cubicBezTo>
                  <a:pt x="79329" y="71823"/>
                  <a:pt x="76312" y="68806"/>
                  <a:pt x="76312" y="65090"/>
                </a:cubicBezTo>
                <a:cubicBezTo>
                  <a:pt x="76312" y="61374"/>
                  <a:pt x="79329" y="58356"/>
                  <a:pt x="83046" y="58356"/>
                </a:cubicBezTo>
                <a:cubicBezTo>
                  <a:pt x="86762" y="58356"/>
                  <a:pt x="89779" y="61374"/>
                  <a:pt x="89779" y="65090"/>
                </a:cubicBezTo>
                <a:close/>
                <a:moveTo>
                  <a:pt x="24689" y="98757"/>
                </a:moveTo>
                <a:cubicBezTo>
                  <a:pt x="20973" y="98757"/>
                  <a:pt x="17956" y="95740"/>
                  <a:pt x="17956" y="92024"/>
                </a:cubicBezTo>
                <a:cubicBezTo>
                  <a:pt x="17956" y="88307"/>
                  <a:pt x="20973" y="85290"/>
                  <a:pt x="24689" y="85290"/>
                </a:cubicBezTo>
                <a:cubicBezTo>
                  <a:pt x="28406" y="85290"/>
                  <a:pt x="31423" y="88307"/>
                  <a:pt x="31423" y="92024"/>
                </a:cubicBezTo>
                <a:cubicBezTo>
                  <a:pt x="31423" y="95740"/>
                  <a:pt x="28406" y="98757"/>
                  <a:pt x="24689" y="98757"/>
                </a:cubicBezTo>
                <a:close/>
                <a:moveTo>
                  <a:pt x="60601" y="92024"/>
                </a:moveTo>
                <a:cubicBezTo>
                  <a:pt x="60601" y="95740"/>
                  <a:pt x="57584" y="98757"/>
                  <a:pt x="53867" y="98757"/>
                </a:cubicBezTo>
                <a:cubicBezTo>
                  <a:pt x="50151" y="98757"/>
                  <a:pt x="47134" y="95740"/>
                  <a:pt x="47134" y="92024"/>
                </a:cubicBezTo>
                <a:cubicBezTo>
                  <a:pt x="47134" y="88307"/>
                  <a:pt x="50151" y="85290"/>
                  <a:pt x="53867" y="85290"/>
                </a:cubicBezTo>
                <a:cubicBezTo>
                  <a:pt x="57584" y="85290"/>
                  <a:pt x="60601" y="88307"/>
                  <a:pt x="60601" y="92024"/>
                </a:cubicBezTo>
                <a:close/>
                <a:moveTo>
                  <a:pt x="83046" y="98757"/>
                </a:moveTo>
                <a:cubicBezTo>
                  <a:pt x="79329" y="98757"/>
                  <a:pt x="76312" y="95740"/>
                  <a:pt x="76312" y="92024"/>
                </a:cubicBezTo>
                <a:cubicBezTo>
                  <a:pt x="76312" y="88307"/>
                  <a:pt x="79329" y="85290"/>
                  <a:pt x="83046" y="85290"/>
                </a:cubicBezTo>
                <a:cubicBezTo>
                  <a:pt x="86762" y="85290"/>
                  <a:pt x="89779" y="88307"/>
                  <a:pt x="89779" y="92024"/>
                </a:cubicBezTo>
                <a:cubicBezTo>
                  <a:pt x="89779" y="95740"/>
                  <a:pt x="86762" y="98757"/>
                  <a:pt x="83046" y="98757"/>
                </a:cubicBezTo>
                <a:close/>
                <a:moveTo>
                  <a:pt x="17956" y="118957"/>
                </a:moveTo>
                <a:cubicBezTo>
                  <a:pt x="17956" y="115226"/>
                  <a:pt x="20958" y="112224"/>
                  <a:pt x="24689" y="112224"/>
                </a:cubicBezTo>
                <a:lnTo>
                  <a:pt x="56112" y="112224"/>
                </a:lnTo>
                <a:cubicBezTo>
                  <a:pt x="59843" y="112224"/>
                  <a:pt x="62845" y="115226"/>
                  <a:pt x="62845" y="118957"/>
                </a:cubicBezTo>
                <a:cubicBezTo>
                  <a:pt x="62845" y="122689"/>
                  <a:pt x="59843" y="125691"/>
                  <a:pt x="56112" y="125691"/>
                </a:cubicBezTo>
                <a:lnTo>
                  <a:pt x="24689" y="125691"/>
                </a:lnTo>
                <a:cubicBezTo>
                  <a:pt x="20958" y="125691"/>
                  <a:pt x="17956" y="122689"/>
                  <a:pt x="17956" y="118957"/>
                </a:cubicBezTo>
                <a:close/>
                <a:moveTo>
                  <a:pt x="83046" y="112224"/>
                </a:moveTo>
                <a:cubicBezTo>
                  <a:pt x="86777" y="112224"/>
                  <a:pt x="89779" y="115226"/>
                  <a:pt x="89779" y="118957"/>
                </a:cubicBezTo>
                <a:cubicBezTo>
                  <a:pt x="89779" y="122689"/>
                  <a:pt x="86777" y="125691"/>
                  <a:pt x="83046" y="125691"/>
                </a:cubicBezTo>
                <a:cubicBezTo>
                  <a:pt x="79314" y="125691"/>
                  <a:pt x="76312" y="122689"/>
                  <a:pt x="76312" y="118957"/>
                </a:cubicBezTo>
                <a:cubicBezTo>
                  <a:pt x="76312" y="115226"/>
                  <a:pt x="79314" y="112224"/>
                  <a:pt x="83046" y="112224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37" name="Text 34"/>
          <p:cNvSpPr/>
          <p:nvPr/>
        </p:nvSpPr>
        <p:spPr>
          <a:xfrm>
            <a:off x="1023482" y="4614645"/>
            <a:ext cx="341160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Mathematical Weighting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23482" y="4830115"/>
            <a:ext cx="341160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Multiplier (1.2×) and Source Authority (0.91)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204717" y="4614645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179558" y="0"/>
                </a:moveTo>
                <a:lnTo>
                  <a:pt x="179558" y="0"/>
                </a:lnTo>
                <a:cubicBezTo>
                  <a:pt x="278725" y="0"/>
                  <a:pt x="359116" y="80391"/>
                  <a:pt x="359116" y="179558"/>
                </a:cubicBezTo>
                <a:lnTo>
                  <a:pt x="359116" y="179558"/>
                </a:lnTo>
                <a:cubicBezTo>
                  <a:pt x="359116" y="278725"/>
                  <a:pt x="278725" y="359116"/>
                  <a:pt x="179558" y="359116"/>
                </a:cubicBezTo>
                <a:lnTo>
                  <a:pt x="179558" y="359116"/>
                </a:lnTo>
                <a:cubicBezTo>
                  <a:pt x="80391" y="359116"/>
                  <a:pt x="0" y="278725"/>
                  <a:pt x="0" y="179558"/>
                </a:cubicBezTo>
                <a:lnTo>
                  <a:pt x="0" y="179558"/>
                </a:lnTo>
                <a:cubicBezTo>
                  <a:pt x="0" y="80391"/>
                  <a:pt x="80391" y="0"/>
                  <a:pt x="179558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0" name="Shape 37"/>
          <p:cNvSpPr/>
          <p:nvPr/>
        </p:nvSpPr>
        <p:spPr>
          <a:xfrm>
            <a:off x="6321430" y="4722380"/>
            <a:ext cx="125691" cy="143647"/>
          </a:xfrm>
          <a:custGeom>
            <a:avLst/>
            <a:gdLst/>
            <a:ahLst/>
            <a:cxnLst/>
            <a:rect l="l" t="t" r="r" b="b"/>
            <a:pathLst>
              <a:path w="125691" h="143647">
                <a:moveTo>
                  <a:pt x="17956" y="8978"/>
                </a:moveTo>
                <a:cubicBezTo>
                  <a:pt x="8052" y="8978"/>
                  <a:pt x="0" y="17030"/>
                  <a:pt x="0" y="26934"/>
                </a:cubicBezTo>
                <a:lnTo>
                  <a:pt x="0" y="44890"/>
                </a:lnTo>
                <a:cubicBezTo>
                  <a:pt x="0" y="54793"/>
                  <a:pt x="8052" y="62845"/>
                  <a:pt x="17956" y="62845"/>
                </a:cubicBezTo>
                <a:lnTo>
                  <a:pt x="107735" y="62845"/>
                </a:lnTo>
                <a:cubicBezTo>
                  <a:pt x="117639" y="62845"/>
                  <a:pt x="125691" y="54793"/>
                  <a:pt x="125691" y="44890"/>
                </a:cubicBezTo>
                <a:lnTo>
                  <a:pt x="125691" y="26934"/>
                </a:lnTo>
                <a:cubicBezTo>
                  <a:pt x="125691" y="17030"/>
                  <a:pt x="117639" y="8978"/>
                  <a:pt x="107735" y="8978"/>
                </a:cubicBezTo>
                <a:lnTo>
                  <a:pt x="17956" y="8978"/>
                </a:lnTo>
                <a:close/>
                <a:moveTo>
                  <a:pt x="78557" y="29178"/>
                </a:moveTo>
                <a:cubicBezTo>
                  <a:pt x="82273" y="29178"/>
                  <a:pt x="85290" y="32195"/>
                  <a:pt x="85290" y="35912"/>
                </a:cubicBezTo>
                <a:cubicBezTo>
                  <a:pt x="85290" y="39628"/>
                  <a:pt x="82273" y="42645"/>
                  <a:pt x="78557" y="42645"/>
                </a:cubicBezTo>
                <a:cubicBezTo>
                  <a:pt x="74840" y="42645"/>
                  <a:pt x="71823" y="39628"/>
                  <a:pt x="71823" y="35912"/>
                </a:cubicBezTo>
                <a:cubicBezTo>
                  <a:pt x="71823" y="32195"/>
                  <a:pt x="74840" y="29178"/>
                  <a:pt x="78557" y="29178"/>
                </a:cubicBezTo>
                <a:close/>
                <a:moveTo>
                  <a:pt x="94268" y="35912"/>
                </a:moveTo>
                <a:cubicBezTo>
                  <a:pt x="94268" y="32195"/>
                  <a:pt x="97285" y="29178"/>
                  <a:pt x="101001" y="29178"/>
                </a:cubicBezTo>
                <a:cubicBezTo>
                  <a:pt x="104718" y="29178"/>
                  <a:pt x="107735" y="32195"/>
                  <a:pt x="107735" y="35912"/>
                </a:cubicBezTo>
                <a:cubicBezTo>
                  <a:pt x="107735" y="39628"/>
                  <a:pt x="104718" y="42645"/>
                  <a:pt x="101001" y="42645"/>
                </a:cubicBezTo>
                <a:cubicBezTo>
                  <a:pt x="97285" y="42645"/>
                  <a:pt x="94268" y="39628"/>
                  <a:pt x="94268" y="35912"/>
                </a:cubicBezTo>
                <a:close/>
                <a:moveTo>
                  <a:pt x="17956" y="80801"/>
                </a:moveTo>
                <a:cubicBezTo>
                  <a:pt x="8052" y="80801"/>
                  <a:pt x="0" y="88853"/>
                  <a:pt x="0" y="98757"/>
                </a:cubicBezTo>
                <a:lnTo>
                  <a:pt x="0" y="116713"/>
                </a:lnTo>
                <a:cubicBezTo>
                  <a:pt x="0" y="126617"/>
                  <a:pt x="8052" y="134669"/>
                  <a:pt x="17956" y="134669"/>
                </a:cubicBezTo>
                <a:lnTo>
                  <a:pt x="107735" y="134669"/>
                </a:lnTo>
                <a:cubicBezTo>
                  <a:pt x="117639" y="134669"/>
                  <a:pt x="125691" y="126617"/>
                  <a:pt x="125691" y="116713"/>
                </a:cubicBezTo>
                <a:lnTo>
                  <a:pt x="125691" y="98757"/>
                </a:lnTo>
                <a:cubicBezTo>
                  <a:pt x="125691" y="88853"/>
                  <a:pt x="117639" y="80801"/>
                  <a:pt x="107735" y="80801"/>
                </a:cubicBezTo>
                <a:lnTo>
                  <a:pt x="17956" y="80801"/>
                </a:lnTo>
                <a:close/>
                <a:moveTo>
                  <a:pt x="78557" y="101001"/>
                </a:moveTo>
                <a:cubicBezTo>
                  <a:pt x="82273" y="101001"/>
                  <a:pt x="85290" y="104019"/>
                  <a:pt x="85290" y="107735"/>
                </a:cubicBezTo>
                <a:cubicBezTo>
                  <a:pt x="85290" y="111451"/>
                  <a:pt x="82273" y="114468"/>
                  <a:pt x="78557" y="114468"/>
                </a:cubicBezTo>
                <a:cubicBezTo>
                  <a:pt x="74840" y="114468"/>
                  <a:pt x="71823" y="111451"/>
                  <a:pt x="71823" y="107735"/>
                </a:cubicBezTo>
                <a:cubicBezTo>
                  <a:pt x="71823" y="104019"/>
                  <a:pt x="74840" y="101001"/>
                  <a:pt x="78557" y="101001"/>
                </a:cubicBezTo>
                <a:close/>
                <a:moveTo>
                  <a:pt x="94268" y="107735"/>
                </a:moveTo>
                <a:cubicBezTo>
                  <a:pt x="94268" y="104019"/>
                  <a:pt x="97285" y="101001"/>
                  <a:pt x="101001" y="101001"/>
                </a:cubicBezTo>
                <a:cubicBezTo>
                  <a:pt x="104718" y="101001"/>
                  <a:pt x="107735" y="104019"/>
                  <a:pt x="107735" y="107735"/>
                </a:cubicBezTo>
                <a:cubicBezTo>
                  <a:pt x="107735" y="111451"/>
                  <a:pt x="104718" y="114468"/>
                  <a:pt x="101001" y="114468"/>
                </a:cubicBezTo>
                <a:cubicBezTo>
                  <a:pt x="97285" y="114468"/>
                  <a:pt x="94268" y="111451"/>
                  <a:pt x="94268" y="107735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41" name="Text 38"/>
          <p:cNvSpPr/>
          <p:nvPr/>
        </p:nvSpPr>
        <p:spPr>
          <a:xfrm>
            <a:off x="6671568" y="4614645"/>
            <a:ext cx="267541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Standalone Offline-First Architecture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671568" y="4830115"/>
            <a:ext cx="267541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Eliminates cloud dependency and latency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56630" y="5153320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179558" y="0"/>
                </a:moveTo>
                <a:lnTo>
                  <a:pt x="179558" y="0"/>
                </a:lnTo>
                <a:cubicBezTo>
                  <a:pt x="278725" y="0"/>
                  <a:pt x="359116" y="80391"/>
                  <a:pt x="359116" y="179558"/>
                </a:cubicBezTo>
                <a:lnTo>
                  <a:pt x="359116" y="179558"/>
                </a:lnTo>
                <a:cubicBezTo>
                  <a:pt x="359116" y="278725"/>
                  <a:pt x="278725" y="359116"/>
                  <a:pt x="179558" y="359116"/>
                </a:cubicBezTo>
                <a:lnTo>
                  <a:pt x="179558" y="359116"/>
                </a:lnTo>
                <a:cubicBezTo>
                  <a:pt x="80391" y="359116"/>
                  <a:pt x="0" y="278725"/>
                  <a:pt x="0" y="179558"/>
                </a:cubicBezTo>
                <a:lnTo>
                  <a:pt x="0" y="179558"/>
                </a:lnTo>
                <a:cubicBezTo>
                  <a:pt x="0" y="80391"/>
                  <a:pt x="80391" y="0"/>
                  <a:pt x="17955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44" name="Shape 41"/>
          <p:cNvSpPr/>
          <p:nvPr/>
        </p:nvSpPr>
        <p:spPr>
          <a:xfrm>
            <a:off x="664365" y="5261054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0" y="22445"/>
                </a:moveTo>
                <a:cubicBezTo>
                  <a:pt x="0" y="15010"/>
                  <a:pt x="6032" y="8978"/>
                  <a:pt x="13467" y="8978"/>
                </a:cubicBezTo>
                <a:lnTo>
                  <a:pt x="40401" y="8978"/>
                </a:lnTo>
                <a:cubicBezTo>
                  <a:pt x="47835" y="8978"/>
                  <a:pt x="53867" y="15010"/>
                  <a:pt x="53867" y="22445"/>
                </a:cubicBezTo>
                <a:lnTo>
                  <a:pt x="53867" y="26934"/>
                </a:lnTo>
                <a:lnTo>
                  <a:pt x="89779" y="26934"/>
                </a:lnTo>
                <a:lnTo>
                  <a:pt x="89779" y="22445"/>
                </a:lnTo>
                <a:cubicBezTo>
                  <a:pt x="89779" y="15010"/>
                  <a:pt x="95811" y="8978"/>
                  <a:pt x="103246" y="8978"/>
                </a:cubicBezTo>
                <a:lnTo>
                  <a:pt x="130180" y="8978"/>
                </a:lnTo>
                <a:cubicBezTo>
                  <a:pt x="137615" y="8978"/>
                  <a:pt x="143647" y="15010"/>
                  <a:pt x="143647" y="22445"/>
                </a:cubicBezTo>
                <a:lnTo>
                  <a:pt x="143647" y="49378"/>
                </a:lnTo>
                <a:cubicBezTo>
                  <a:pt x="143647" y="56813"/>
                  <a:pt x="137615" y="62845"/>
                  <a:pt x="130180" y="62845"/>
                </a:cubicBezTo>
                <a:lnTo>
                  <a:pt x="103246" y="62845"/>
                </a:lnTo>
                <a:cubicBezTo>
                  <a:pt x="95811" y="62845"/>
                  <a:pt x="89779" y="56813"/>
                  <a:pt x="89779" y="49378"/>
                </a:cubicBezTo>
                <a:lnTo>
                  <a:pt x="89779" y="44890"/>
                </a:lnTo>
                <a:lnTo>
                  <a:pt x="53867" y="44890"/>
                </a:lnTo>
                <a:lnTo>
                  <a:pt x="53867" y="49378"/>
                </a:lnTo>
                <a:cubicBezTo>
                  <a:pt x="53867" y="51427"/>
                  <a:pt x="53391" y="53391"/>
                  <a:pt x="52577" y="55130"/>
                </a:cubicBezTo>
                <a:lnTo>
                  <a:pt x="71823" y="80801"/>
                </a:lnTo>
                <a:lnTo>
                  <a:pt x="94268" y="80801"/>
                </a:lnTo>
                <a:cubicBezTo>
                  <a:pt x="101703" y="80801"/>
                  <a:pt x="107735" y="86833"/>
                  <a:pt x="107735" y="94268"/>
                </a:cubicBezTo>
                <a:lnTo>
                  <a:pt x="107735" y="121202"/>
                </a:lnTo>
                <a:cubicBezTo>
                  <a:pt x="107735" y="128637"/>
                  <a:pt x="101703" y="134669"/>
                  <a:pt x="94268" y="134669"/>
                </a:cubicBezTo>
                <a:lnTo>
                  <a:pt x="67334" y="134669"/>
                </a:lnTo>
                <a:cubicBezTo>
                  <a:pt x="59899" y="134669"/>
                  <a:pt x="53867" y="128637"/>
                  <a:pt x="53867" y="121202"/>
                </a:cubicBezTo>
                <a:lnTo>
                  <a:pt x="53867" y="94268"/>
                </a:lnTo>
                <a:cubicBezTo>
                  <a:pt x="53867" y="92220"/>
                  <a:pt x="54344" y="90256"/>
                  <a:pt x="55158" y="88517"/>
                </a:cubicBezTo>
                <a:lnTo>
                  <a:pt x="35912" y="62845"/>
                </a:lnTo>
                <a:lnTo>
                  <a:pt x="13467" y="62845"/>
                </a:lnTo>
                <a:cubicBezTo>
                  <a:pt x="6032" y="62845"/>
                  <a:pt x="0" y="56813"/>
                  <a:pt x="0" y="49378"/>
                </a:cubicBezTo>
                <a:lnTo>
                  <a:pt x="0" y="22445"/>
                </a:ln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45" name="Text 42"/>
          <p:cNvSpPr/>
          <p:nvPr/>
        </p:nvSpPr>
        <p:spPr>
          <a:xfrm>
            <a:off x="1023482" y="5153320"/>
            <a:ext cx="266643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Multi-Algorithm Approach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023482" y="5368789"/>
            <a:ext cx="266643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TF-IDF, Apriori, Random Forest, DBSCAN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204717" y="5153320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179558" y="0"/>
                </a:moveTo>
                <a:lnTo>
                  <a:pt x="179558" y="0"/>
                </a:lnTo>
                <a:cubicBezTo>
                  <a:pt x="278725" y="0"/>
                  <a:pt x="359116" y="80391"/>
                  <a:pt x="359116" y="179558"/>
                </a:cubicBezTo>
                <a:lnTo>
                  <a:pt x="359116" y="179558"/>
                </a:lnTo>
                <a:cubicBezTo>
                  <a:pt x="359116" y="278725"/>
                  <a:pt x="278725" y="359116"/>
                  <a:pt x="179558" y="359116"/>
                </a:cubicBezTo>
                <a:lnTo>
                  <a:pt x="179558" y="359116"/>
                </a:lnTo>
                <a:cubicBezTo>
                  <a:pt x="80391" y="359116"/>
                  <a:pt x="0" y="278725"/>
                  <a:pt x="0" y="179558"/>
                </a:cubicBezTo>
                <a:lnTo>
                  <a:pt x="0" y="179558"/>
                </a:lnTo>
                <a:cubicBezTo>
                  <a:pt x="0" y="80391"/>
                  <a:pt x="80391" y="0"/>
                  <a:pt x="179558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48" name="Shape 45"/>
          <p:cNvSpPr/>
          <p:nvPr/>
        </p:nvSpPr>
        <p:spPr>
          <a:xfrm>
            <a:off x="6312452" y="5261054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33667" y="15711"/>
                </a:moveTo>
                <a:cubicBezTo>
                  <a:pt x="33667" y="7042"/>
                  <a:pt x="40709" y="0"/>
                  <a:pt x="49378" y="0"/>
                </a:cubicBezTo>
                <a:lnTo>
                  <a:pt x="56112" y="0"/>
                </a:lnTo>
                <a:cubicBezTo>
                  <a:pt x="61078" y="0"/>
                  <a:pt x="65090" y="4012"/>
                  <a:pt x="65090" y="8978"/>
                </a:cubicBezTo>
                <a:lnTo>
                  <a:pt x="65090" y="134669"/>
                </a:lnTo>
                <a:cubicBezTo>
                  <a:pt x="65090" y="139635"/>
                  <a:pt x="61078" y="143647"/>
                  <a:pt x="56112" y="143647"/>
                </a:cubicBezTo>
                <a:lnTo>
                  <a:pt x="47134" y="143647"/>
                </a:lnTo>
                <a:cubicBezTo>
                  <a:pt x="38773" y="143647"/>
                  <a:pt x="31731" y="137923"/>
                  <a:pt x="29739" y="130180"/>
                </a:cubicBezTo>
                <a:cubicBezTo>
                  <a:pt x="29543" y="130180"/>
                  <a:pt x="29375" y="130180"/>
                  <a:pt x="29178" y="130180"/>
                </a:cubicBezTo>
                <a:cubicBezTo>
                  <a:pt x="16777" y="130180"/>
                  <a:pt x="6733" y="120136"/>
                  <a:pt x="6733" y="107735"/>
                </a:cubicBezTo>
                <a:cubicBezTo>
                  <a:pt x="6733" y="102685"/>
                  <a:pt x="8417" y="98028"/>
                  <a:pt x="11222" y="94268"/>
                </a:cubicBezTo>
                <a:cubicBezTo>
                  <a:pt x="5780" y="90172"/>
                  <a:pt x="2244" y="83663"/>
                  <a:pt x="2244" y="76312"/>
                </a:cubicBezTo>
                <a:cubicBezTo>
                  <a:pt x="2244" y="67643"/>
                  <a:pt x="7182" y="60096"/>
                  <a:pt x="14365" y="56364"/>
                </a:cubicBezTo>
                <a:cubicBezTo>
                  <a:pt x="12373" y="52998"/>
                  <a:pt x="11222" y="49070"/>
                  <a:pt x="11222" y="44890"/>
                </a:cubicBezTo>
                <a:cubicBezTo>
                  <a:pt x="11222" y="32489"/>
                  <a:pt x="21266" y="22445"/>
                  <a:pt x="33667" y="22445"/>
                </a:cubicBezTo>
                <a:lnTo>
                  <a:pt x="33667" y="15711"/>
                </a:lnTo>
                <a:close/>
                <a:moveTo>
                  <a:pt x="109979" y="15711"/>
                </a:moveTo>
                <a:lnTo>
                  <a:pt x="109979" y="22445"/>
                </a:lnTo>
                <a:cubicBezTo>
                  <a:pt x="122380" y="22445"/>
                  <a:pt x="132424" y="32489"/>
                  <a:pt x="132424" y="44890"/>
                </a:cubicBezTo>
                <a:cubicBezTo>
                  <a:pt x="132424" y="49098"/>
                  <a:pt x="131274" y="53026"/>
                  <a:pt x="129282" y="56364"/>
                </a:cubicBezTo>
                <a:cubicBezTo>
                  <a:pt x="136492" y="60096"/>
                  <a:pt x="141402" y="67615"/>
                  <a:pt x="141402" y="76312"/>
                </a:cubicBezTo>
                <a:cubicBezTo>
                  <a:pt x="141402" y="83663"/>
                  <a:pt x="137867" y="90172"/>
                  <a:pt x="132424" y="94268"/>
                </a:cubicBezTo>
                <a:cubicBezTo>
                  <a:pt x="135230" y="98028"/>
                  <a:pt x="136913" y="102685"/>
                  <a:pt x="136913" y="107735"/>
                </a:cubicBezTo>
                <a:cubicBezTo>
                  <a:pt x="136913" y="120136"/>
                  <a:pt x="126869" y="130180"/>
                  <a:pt x="114468" y="130180"/>
                </a:cubicBezTo>
                <a:cubicBezTo>
                  <a:pt x="114272" y="130180"/>
                  <a:pt x="114104" y="130180"/>
                  <a:pt x="113907" y="130180"/>
                </a:cubicBezTo>
                <a:cubicBezTo>
                  <a:pt x="111915" y="137923"/>
                  <a:pt x="104873" y="143647"/>
                  <a:pt x="96513" y="143647"/>
                </a:cubicBezTo>
                <a:lnTo>
                  <a:pt x="87535" y="143647"/>
                </a:lnTo>
                <a:cubicBezTo>
                  <a:pt x="82569" y="143647"/>
                  <a:pt x="78557" y="139635"/>
                  <a:pt x="78557" y="134669"/>
                </a:cubicBezTo>
                <a:lnTo>
                  <a:pt x="78557" y="8978"/>
                </a:lnTo>
                <a:cubicBezTo>
                  <a:pt x="78557" y="4012"/>
                  <a:pt x="82569" y="0"/>
                  <a:pt x="87535" y="0"/>
                </a:cubicBezTo>
                <a:lnTo>
                  <a:pt x="94268" y="0"/>
                </a:lnTo>
                <a:cubicBezTo>
                  <a:pt x="102937" y="0"/>
                  <a:pt x="109979" y="7042"/>
                  <a:pt x="109979" y="15711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49" name="Text 46"/>
          <p:cNvSpPr/>
          <p:nvPr/>
        </p:nvSpPr>
        <p:spPr>
          <a:xfrm>
            <a:off x="6671568" y="5153320"/>
            <a:ext cx="205594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 Integration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671568" y="5368789"/>
            <a:ext cx="205594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SLMs via Ollama and LM Studio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68094" y="5934398"/>
            <a:ext cx="2747240" cy="915747"/>
          </a:xfrm>
          <a:custGeom>
            <a:avLst/>
            <a:gdLst/>
            <a:ahLst/>
            <a:cxnLst/>
            <a:rect l="l" t="t" r="r" b="b"/>
            <a:pathLst>
              <a:path w="2747240" h="915747">
                <a:moveTo>
                  <a:pt x="0" y="0"/>
                </a:moveTo>
                <a:lnTo>
                  <a:pt x="2747240" y="0"/>
                </a:lnTo>
                <a:lnTo>
                  <a:pt x="2747240" y="915747"/>
                </a:lnTo>
                <a:lnTo>
                  <a:pt x="0" y="9157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96271" y="6087022"/>
            <a:ext cx="2890887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45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120K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341161" y="6482050"/>
            <a:ext cx="280110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Articles Processed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3272869" y="5934398"/>
            <a:ext cx="2747240" cy="915747"/>
          </a:xfrm>
          <a:custGeom>
            <a:avLst/>
            <a:gdLst/>
            <a:ahLst/>
            <a:cxnLst/>
            <a:rect l="l" t="t" r="r" b="b"/>
            <a:pathLst>
              <a:path w="2747240" h="915747">
                <a:moveTo>
                  <a:pt x="0" y="0"/>
                </a:moveTo>
                <a:lnTo>
                  <a:pt x="2747240" y="0"/>
                </a:lnTo>
                <a:lnTo>
                  <a:pt x="2747240" y="915747"/>
                </a:lnTo>
                <a:lnTo>
                  <a:pt x="0" y="9157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4B7A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1045" y="6087022"/>
            <a:ext cx="2890887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45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3245935" y="6482050"/>
            <a:ext cx="280110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Algorithms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177783" y="5934398"/>
            <a:ext cx="2747240" cy="915747"/>
          </a:xfrm>
          <a:custGeom>
            <a:avLst/>
            <a:gdLst/>
            <a:ahLst/>
            <a:cxnLst/>
            <a:rect l="l" t="t" r="r" b="b"/>
            <a:pathLst>
              <a:path w="2747240" h="915747">
                <a:moveTo>
                  <a:pt x="0" y="0"/>
                </a:moveTo>
                <a:lnTo>
                  <a:pt x="2747240" y="0"/>
                </a:lnTo>
                <a:lnTo>
                  <a:pt x="2747240" y="915747"/>
                </a:lnTo>
                <a:lnTo>
                  <a:pt x="0" y="91574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05960" y="6087022"/>
            <a:ext cx="2890887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45" b="1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0ms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6150849" y="6482050"/>
            <a:ext cx="280110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Latency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9073580" y="5925420"/>
            <a:ext cx="2765196" cy="933703"/>
          </a:xfrm>
          <a:custGeom>
            <a:avLst/>
            <a:gdLst/>
            <a:ahLst/>
            <a:cxnLst/>
            <a:rect l="l" t="t" r="r" b="b"/>
            <a:pathLst>
              <a:path w="2765196" h="933703">
                <a:moveTo>
                  <a:pt x="0" y="0"/>
                </a:moveTo>
                <a:lnTo>
                  <a:pt x="2765196" y="0"/>
                </a:lnTo>
                <a:lnTo>
                  <a:pt x="2765196" y="933703"/>
                </a:lnTo>
                <a:lnTo>
                  <a:pt x="0" y="933703"/>
                </a:lnTo>
                <a:lnTo>
                  <a:pt x="0" y="0"/>
                </a:ln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61" name="Text 58"/>
          <p:cNvSpPr/>
          <p:nvPr/>
        </p:nvSpPr>
        <p:spPr>
          <a:xfrm>
            <a:off x="8992778" y="6069066"/>
            <a:ext cx="2926798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45" b="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87%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9037668" y="6464094"/>
            <a:ext cx="283701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FAF9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F1-Score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f658c9198f76721290fa8b1fc3fd4485f8be011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21870" b="21870"/>
          <a:stretch/>
        </p:blipFill>
        <p:spPr>
          <a:xfrm>
            <a:off x="0" y="0"/>
            <a:ext cx="12192000" cy="6859178"/>
          </a:xfrm>
          <a:prstGeom prst="roundRect">
            <a:avLst>
              <a:gd name="adj" fmla="val 0"/>
            </a:avLst>
          </a:prstGeom>
        </p:spPr>
      </p:pic>
      <p:pic>
        <p:nvPicPr>
          <p:cNvPr id="3" name="Image 1" descr="https://kimi-web-img.moonshot.cn/img/media.istockphoto.com/9a03ac2882866d259ae53204c1f854bca635c80c.jpg">    </p:cNvPr>
          <p:cNvPicPr>
            <a:picLocks noChangeAspect="1"/>
          </p:cNvPicPr>
          <p:nvPr/>
        </p:nvPicPr>
        <p:blipFill>
          <a:blip r:embed="rId2">
            <a:alphaModFix amt="3000"/>
          </a:blip>
          <a:srcRect l="0" r="0" t="6083" b="6083"/>
          <a:stretch/>
        </p:blipFill>
        <p:spPr>
          <a:xfrm>
            <a:off x="0" y="0"/>
            <a:ext cx="12192000" cy="6859178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859178"/>
          </a:xfrm>
          <a:custGeom>
            <a:avLst/>
            <a:gdLst/>
            <a:ahLst/>
            <a:cxnLst/>
            <a:rect l="l" t="t" r="r" b="b"/>
            <a:pathLst>
              <a:path w="12192000" h="6859178">
                <a:moveTo>
                  <a:pt x="0" y="0"/>
                </a:moveTo>
                <a:lnTo>
                  <a:pt x="12192000" y="0"/>
                </a:lnTo>
                <a:lnTo>
                  <a:pt x="12192000" y="6859178"/>
                </a:lnTo>
                <a:lnTo>
                  <a:pt x="0" y="68591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5060616" y="-23555"/>
            <a:ext cx="2072828" cy="508785"/>
          </a:xfrm>
          <a:custGeom>
            <a:avLst/>
            <a:gdLst/>
            <a:ahLst/>
            <a:cxnLst/>
            <a:rect l="l" t="t" r="r" b="b"/>
            <a:pathLst>
              <a:path w="2072828" h="508785">
                <a:moveTo>
                  <a:pt x="0" y="0"/>
                </a:moveTo>
                <a:lnTo>
                  <a:pt x="2072828" y="0"/>
                </a:lnTo>
                <a:lnTo>
                  <a:pt x="2072828" y="508785"/>
                </a:lnTo>
                <a:lnTo>
                  <a:pt x="0" y="5087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B86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253766" y="98930"/>
            <a:ext cx="168652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b="1" spc="401" kern="0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734669" y="720779"/>
            <a:ext cx="8724723" cy="1413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5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Noise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451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Knowledge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94026" y="2360198"/>
            <a:ext cx="1206009" cy="37688"/>
          </a:xfrm>
          <a:custGeom>
            <a:avLst/>
            <a:gdLst/>
            <a:ahLst/>
            <a:cxnLst/>
            <a:rect l="l" t="t" r="r" b="b"/>
            <a:pathLst>
              <a:path w="1206009" h="37688">
                <a:moveTo>
                  <a:pt x="0" y="0"/>
                </a:moveTo>
                <a:lnTo>
                  <a:pt x="1206009" y="0"/>
                </a:lnTo>
                <a:lnTo>
                  <a:pt x="1206009" y="37688"/>
                </a:lnTo>
                <a:lnTo>
                  <a:pt x="0" y="37688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9" name="Text 5"/>
          <p:cNvSpPr/>
          <p:nvPr/>
        </p:nvSpPr>
        <p:spPr>
          <a:xfrm>
            <a:off x="1819466" y="2699388"/>
            <a:ext cx="8555128" cy="146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transforms overwhelming unstructured news data into </a:t>
            </a:r>
            <a:pPr algn="ctr">
              <a:lnSpc>
                <a:spcPct val="140000"/>
              </a:lnSpc>
            </a:pPr>
            <a:r>
              <a:rPr lang="en-US" sz="1781" b="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actionable, mathematically grounded intelligence</a:t>
            </a:r>
            <a:pPr algn="ctr">
              <a:lnSpc>
                <a:spcPct val="140000"/>
              </a:lnSpc>
            </a:pPr>
            <a:r>
              <a:rPr lang="en-US" sz="1781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—enabling journalism analytics, brand monitoring, and real-time event tracking with complete offline reliability and transparent explainability.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207783" y="4470714"/>
            <a:ext cx="753756" cy="753756"/>
          </a:xfrm>
          <a:custGeom>
            <a:avLst/>
            <a:gdLst/>
            <a:ahLst/>
            <a:cxnLst/>
            <a:rect l="l" t="t" r="r" b="b"/>
            <a:pathLst>
              <a:path w="753756" h="753756">
                <a:moveTo>
                  <a:pt x="376878" y="0"/>
                </a:moveTo>
                <a:lnTo>
                  <a:pt x="376878" y="0"/>
                </a:lnTo>
                <a:cubicBezTo>
                  <a:pt x="585022" y="0"/>
                  <a:pt x="753756" y="168734"/>
                  <a:pt x="753756" y="376878"/>
                </a:cubicBezTo>
                <a:lnTo>
                  <a:pt x="753756" y="376878"/>
                </a:lnTo>
                <a:cubicBezTo>
                  <a:pt x="753756" y="585022"/>
                  <a:pt x="585022" y="753756"/>
                  <a:pt x="376878" y="753756"/>
                </a:cubicBezTo>
                <a:lnTo>
                  <a:pt x="376878" y="753756"/>
                </a:lnTo>
                <a:cubicBezTo>
                  <a:pt x="168734" y="753756"/>
                  <a:pt x="0" y="585022"/>
                  <a:pt x="0" y="376878"/>
                </a:cubicBezTo>
                <a:lnTo>
                  <a:pt x="0" y="376878"/>
                </a:lnTo>
                <a:cubicBezTo>
                  <a:pt x="0" y="168734"/>
                  <a:pt x="168734" y="0"/>
                  <a:pt x="37687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1" name="Shape 7"/>
          <p:cNvSpPr/>
          <p:nvPr/>
        </p:nvSpPr>
        <p:spPr>
          <a:xfrm>
            <a:off x="4428021" y="4706263"/>
            <a:ext cx="317991" cy="282658"/>
          </a:xfrm>
          <a:custGeom>
            <a:avLst/>
            <a:gdLst/>
            <a:ahLst/>
            <a:cxnLst/>
            <a:rect l="l" t="t" r="r" b="b"/>
            <a:pathLst>
              <a:path w="317991" h="282658">
                <a:moveTo>
                  <a:pt x="158995" y="52998"/>
                </a:moveTo>
                <a:cubicBezTo>
                  <a:pt x="108812" y="52998"/>
                  <a:pt x="63377" y="72873"/>
                  <a:pt x="29977" y="105224"/>
                </a:cubicBezTo>
                <a:cubicBezTo>
                  <a:pt x="22966" y="112014"/>
                  <a:pt x="11759" y="111849"/>
                  <a:pt x="5024" y="104838"/>
                </a:cubicBezTo>
                <a:cubicBezTo>
                  <a:pt x="-1711" y="97826"/>
                  <a:pt x="-1601" y="86619"/>
                  <a:pt x="5410" y="79884"/>
                </a:cubicBezTo>
                <a:cubicBezTo>
                  <a:pt x="45104" y="41350"/>
                  <a:pt x="99317" y="17666"/>
                  <a:pt x="158995" y="17666"/>
                </a:cubicBezTo>
                <a:cubicBezTo>
                  <a:pt x="218674" y="17666"/>
                  <a:pt x="272887" y="41350"/>
                  <a:pt x="312636" y="79884"/>
                </a:cubicBezTo>
                <a:cubicBezTo>
                  <a:pt x="319647" y="86675"/>
                  <a:pt x="319813" y="97882"/>
                  <a:pt x="313022" y="104838"/>
                </a:cubicBezTo>
                <a:cubicBezTo>
                  <a:pt x="306232" y="111794"/>
                  <a:pt x="295025" y="112014"/>
                  <a:pt x="288069" y="105224"/>
                </a:cubicBezTo>
                <a:cubicBezTo>
                  <a:pt x="254613" y="72873"/>
                  <a:pt x="209178" y="52998"/>
                  <a:pt x="158995" y="52998"/>
                </a:cubicBezTo>
                <a:close/>
                <a:moveTo>
                  <a:pt x="132496" y="238493"/>
                </a:moveTo>
                <a:cubicBezTo>
                  <a:pt x="132496" y="223868"/>
                  <a:pt x="144370" y="211994"/>
                  <a:pt x="158995" y="211994"/>
                </a:cubicBezTo>
                <a:cubicBezTo>
                  <a:pt x="173621" y="211994"/>
                  <a:pt x="185495" y="223868"/>
                  <a:pt x="185495" y="238493"/>
                </a:cubicBezTo>
                <a:cubicBezTo>
                  <a:pt x="185495" y="253118"/>
                  <a:pt x="173621" y="264992"/>
                  <a:pt x="158995" y="264992"/>
                </a:cubicBezTo>
                <a:cubicBezTo>
                  <a:pt x="144370" y="264992"/>
                  <a:pt x="132496" y="253118"/>
                  <a:pt x="132496" y="238493"/>
                </a:cubicBezTo>
                <a:close/>
                <a:moveTo>
                  <a:pt x="92747" y="180084"/>
                </a:moveTo>
                <a:cubicBezTo>
                  <a:pt x="86288" y="187427"/>
                  <a:pt x="75136" y="188089"/>
                  <a:pt x="67794" y="181630"/>
                </a:cubicBezTo>
                <a:cubicBezTo>
                  <a:pt x="60451" y="175171"/>
                  <a:pt x="59789" y="164019"/>
                  <a:pt x="66248" y="156677"/>
                </a:cubicBezTo>
                <a:cubicBezTo>
                  <a:pt x="88883" y="131061"/>
                  <a:pt x="122062" y="114830"/>
                  <a:pt x="158995" y="114830"/>
                </a:cubicBezTo>
                <a:cubicBezTo>
                  <a:pt x="195929" y="114830"/>
                  <a:pt x="229108" y="131061"/>
                  <a:pt x="251743" y="156677"/>
                </a:cubicBezTo>
                <a:cubicBezTo>
                  <a:pt x="258202" y="164019"/>
                  <a:pt x="257484" y="175171"/>
                  <a:pt x="250197" y="181630"/>
                </a:cubicBezTo>
                <a:cubicBezTo>
                  <a:pt x="242910" y="188089"/>
                  <a:pt x="231703" y="187372"/>
                  <a:pt x="225243" y="180084"/>
                </a:cubicBezTo>
                <a:cubicBezTo>
                  <a:pt x="209013" y="161700"/>
                  <a:pt x="185384" y="150162"/>
                  <a:pt x="158995" y="150162"/>
                </a:cubicBezTo>
                <a:cubicBezTo>
                  <a:pt x="132607" y="150162"/>
                  <a:pt x="108978" y="161700"/>
                  <a:pt x="92747" y="180084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2" name="Text 8"/>
          <p:cNvSpPr/>
          <p:nvPr/>
        </p:nvSpPr>
        <p:spPr>
          <a:xfrm>
            <a:off x="4031563" y="5337533"/>
            <a:ext cx="1102368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Offline-First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673337" y="4470714"/>
            <a:ext cx="753756" cy="753756"/>
          </a:xfrm>
          <a:custGeom>
            <a:avLst/>
            <a:gdLst/>
            <a:ahLst/>
            <a:cxnLst/>
            <a:rect l="l" t="t" r="r" b="b"/>
            <a:pathLst>
              <a:path w="753756" h="753756">
                <a:moveTo>
                  <a:pt x="376878" y="0"/>
                </a:moveTo>
                <a:lnTo>
                  <a:pt x="376878" y="0"/>
                </a:lnTo>
                <a:cubicBezTo>
                  <a:pt x="585022" y="0"/>
                  <a:pt x="753756" y="168734"/>
                  <a:pt x="753756" y="376878"/>
                </a:cubicBezTo>
                <a:lnTo>
                  <a:pt x="753756" y="376878"/>
                </a:lnTo>
                <a:cubicBezTo>
                  <a:pt x="753756" y="585022"/>
                  <a:pt x="585022" y="753756"/>
                  <a:pt x="376878" y="753756"/>
                </a:cubicBezTo>
                <a:lnTo>
                  <a:pt x="376878" y="753756"/>
                </a:lnTo>
                <a:cubicBezTo>
                  <a:pt x="168734" y="753756"/>
                  <a:pt x="0" y="585022"/>
                  <a:pt x="0" y="376878"/>
                </a:cubicBezTo>
                <a:lnTo>
                  <a:pt x="0" y="376878"/>
                </a:lnTo>
                <a:cubicBezTo>
                  <a:pt x="0" y="168734"/>
                  <a:pt x="168734" y="0"/>
                  <a:pt x="376878" y="0"/>
                </a:cubicBez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14" name="Shape 10"/>
          <p:cNvSpPr/>
          <p:nvPr/>
        </p:nvSpPr>
        <p:spPr>
          <a:xfrm>
            <a:off x="5911241" y="4706263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66248" y="30916"/>
                </a:moveTo>
                <a:cubicBezTo>
                  <a:pt x="66248" y="13857"/>
                  <a:pt x="80105" y="0"/>
                  <a:pt x="97164" y="0"/>
                </a:cubicBezTo>
                <a:lnTo>
                  <a:pt x="110413" y="0"/>
                </a:lnTo>
                <a:cubicBezTo>
                  <a:pt x="120185" y="0"/>
                  <a:pt x="128080" y="7895"/>
                  <a:pt x="128080" y="17666"/>
                </a:cubicBezTo>
                <a:lnTo>
                  <a:pt x="128080" y="264992"/>
                </a:lnTo>
                <a:cubicBezTo>
                  <a:pt x="128080" y="274764"/>
                  <a:pt x="120185" y="282658"/>
                  <a:pt x="110413" y="282658"/>
                </a:cubicBezTo>
                <a:lnTo>
                  <a:pt x="92747" y="282658"/>
                </a:lnTo>
                <a:cubicBezTo>
                  <a:pt x="76296" y="282658"/>
                  <a:pt x="62439" y="271396"/>
                  <a:pt x="58519" y="256159"/>
                </a:cubicBezTo>
                <a:cubicBezTo>
                  <a:pt x="58133" y="256159"/>
                  <a:pt x="57801" y="256159"/>
                  <a:pt x="57415" y="256159"/>
                </a:cubicBezTo>
                <a:cubicBezTo>
                  <a:pt x="33014" y="256159"/>
                  <a:pt x="13250" y="236395"/>
                  <a:pt x="13250" y="211994"/>
                </a:cubicBezTo>
                <a:cubicBezTo>
                  <a:pt x="13250" y="202057"/>
                  <a:pt x="16562" y="192892"/>
                  <a:pt x="22083" y="185495"/>
                </a:cubicBezTo>
                <a:cubicBezTo>
                  <a:pt x="11373" y="177434"/>
                  <a:pt x="4417" y="164626"/>
                  <a:pt x="4417" y="150162"/>
                </a:cubicBezTo>
                <a:cubicBezTo>
                  <a:pt x="4417" y="133103"/>
                  <a:pt x="14133" y="118253"/>
                  <a:pt x="28266" y="110910"/>
                </a:cubicBezTo>
                <a:cubicBezTo>
                  <a:pt x="24346" y="104286"/>
                  <a:pt x="22083" y="96557"/>
                  <a:pt x="22083" y="88331"/>
                </a:cubicBezTo>
                <a:cubicBezTo>
                  <a:pt x="22083" y="63929"/>
                  <a:pt x="41847" y="44165"/>
                  <a:pt x="66248" y="44165"/>
                </a:cubicBezTo>
                <a:lnTo>
                  <a:pt x="66248" y="30916"/>
                </a:lnTo>
                <a:close/>
                <a:moveTo>
                  <a:pt x="216410" y="30916"/>
                </a:moveTo>
                <a:lnTo>
                  <a:pt x="216410" y="44165"/>
                </a:lnTo>
                <a:cubicBezTo>
                  <a:pt x="240812" y="44165"/>
                  <a:pt x="260576" y="63929"/>
                  <a:pt x="260576" y="88331"/>
                </a:cubicBezTo>
                <a:cubicBezTo>
                  <a:pt x="260576" y="96612"/>
                  <a:pt x="258312" y="104341"/>
                  <a:pt x="254393" y="110910"/>
                </a:cubicBezTo>
                <a:cubicBezTo>
                  <a:pt x="268581" y="118253"/>
                  <a:pt x="278242" y="133048"/>
                  <a:pt x="278242" y="150162"/>
                </a:cubicBezTo>
                <a:cubicBezTo>
                  <a:pt x="278242" y="164626"/>
                  <a:pt x="271286" y="177434"/>
                  <a:pt x="260576" y="185495"/>
                </a:cubicBezTo>
                <a:cubicBezTo>
                  <a:pt x="266096" y="192892"/>
                  <a:pt x="269409" y="202057"/>
                  <a:pt x="269409" y="211994"/>
                </a:cubicBezTo>
                <a:cubicBezTo>
                  <a:pt x="269409" y="236395"/>
                  <a:pt x="249645" y="256159"/>
                  <a:pt x="225243" y="256159"/>
                </a:cubicBezTo>
                <a:cubicBezTo>
                  <a:pt x="224857" y="256159"/>
                  <a:pt x="224526" y="256159"/>
                  <a:pt x="224139" y="256159"/>
                </a:cubicBezTo>
                <a:cubicBezTo>
                  <a:pt x="220220" y="271396"/>
                  <a:pt x="206363" y="282658"/>
                  <a:pt x="189911" y="282658"/>
                </a:cubicBezTo>
                <a:lnTo>
                  <a:pt x="172245" y="282658"/>
                </a:lnTo>
                <a:cubicBezTo>
                  <a:pt x="162473" y="282658"/>
                  <a:pt x="154579" y="274764"/>
                  <a:pt x="154579" y="264992"/>
                </a:cubicBezTo>
                <a:lnTo>
                  <a:pt x="154579" y="17666"/>
                </a:lnTo>
                <a:cubicBezTo>
                  <a:pt x="154579" y="7895"/>
                  <a:pt x="162473" y="0"/>
                  <a:pt x="172245" y="0"/>
                </a:cubicBezTo>
                <a:lnTo>
                  <a:pt x="185495" y="0"/>
                </a:lnTo>
                <a:cubicBezTo>
                  <a:pt x="202553" y="0"/>
                  <a:pt x="216410" y="13857"/>
                  <a:pt x="216410" y="30916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5" name="Text 11"/>
          <p:cNvSpPr/>
          <p:nvPr/>
        </p:nvSpPr>
        <p:spPr>
          <a:xfrm>
            <a:off x="5420417" y="5337533"/>
            <a:ext cx="1262541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185707" y="4470714"/>
            <a:ext cx="753756" cy="753756"/>
          </a:xfrm>
          <a:custGeom>
            <a:avLst/>
            <a:gdLst/>
            <a:ahLst/>
            <a:cxnLst/>
            <a:rect l="l" t="t" r="r" b="b"/>
            <a:pathLst>
              <a:path w="753756" h="753756">
                <a:moveTo>
                  <a:pt x="376878" y="0"/>
                </a:moveTo>
                <a:lnTo>
                  <a:pt x="376878" y="0"/>
                </a:lnTo>
                <a:cubicBezTo>
                  <a:pt x="585022" y="0"/>
                  <a:pt x="753756" y="168734"/>
                  <a:pt x="753756" y="376878"/>
                </a:cubicBezTo>
                <a:lnTo>
                  <a:pt x="753756" y="376878"/>
                </a:lnTo>
                <a:cubicBezTo>
                  <a:pt x="753756" y="585022"/>
                  <a:pt x="585022" y="753756"/>
                  <a:pt x="376878" y="753756"/>
                </a:cubicBezTo>
                <a:lnTo>
                  <a:pt x="376878" y="753756"/>
                </a:lnTo>
                <a:cubicBezTo>
                  <a:pt x="168734" y="753756"/>
                  <a:pt x="0" y="585022"/>
                  <a:pt x="0" y="376878"/>
                </a:cubicBezTo>
                <a:lnTo>
                  <a:pt x="0" y="376878"/>
                </a:lnTo>
                <a:cubicBezTo>
                  <a:pt x="0" y="168734"/>
                  <a:pt x="168734" y="0"/>
                  <a:pt x="376878" y="0"/>
                </a:cubicBezTo>
                <a:close/>
              </a:path>
            </a:pathLst>
          </a:custGeom>
          <a:solidFill>
            <a:srgbClr val="8B8680"/>
          </a:solidFill>
          <a:ln/>
        </p:spPr>
      </p:sp>
      <p:sp>
        <p:nvSpPr>
          <p:cNvPr id="17" name="Shape 13"/>
          <p:cNvSpPr/>
          <p:nvPr/>
        </p:nvSpPr>
        <p:spPr>
          <a:xfrm>
            <a:off x="7423611" y="4706263"/>
            <a:ext cx="282658" cy="282658"/>
          </a:xfrm>
          <a:custGeom>
            <a:avLst/>
            <a:gdLst/>
            <a:ahLst/>
            <a:cxnLst/>
            <a:rect l="l" t="t" r="r" b="b"/>
            <a:pathLst>
              <a:path w="282658" h="282658">
                <a:moveTo>
                  <a:pt x="241088" y="41239"/>
                </a:moveTo>
                <a:lnTo>
                  <a:pt x="247326" y="47147"/>
                </a:lnTo>
                <a:lnTo>
                  <a:pt x="247326" y="17666"/>
                </a:lnTo>
                <a:cubicBezTo>
                  <a:pt x="247326" y="7895"/>
                  <a:pt x="255221" y="0"/>
                  <a:pt x="264992" y="0"/>
                </a:cubicBezTo>
                <a:cubicBezTo>
                  <a:pt x="274764" y="0"/>
                  <a:pt x="282658" y="7895"/>
                  <a:pt x="282658" y="17666"/>
                </a:cubicBezTo>
                <a:lnTo>
                  <a:pt x="282658" y="88331"/>
                </a:lnTo>
                <a:cubicBezTo>
                  <a:pt x="282658" y="98102"/>
                  <a:pt x="274764" y="105997"/>
                  <a:pt x="264992" y="105997"/>
                </a:cubicBezTo>
                <a:lnTo>
                  <a:pt x="194328" y="105997"/>
                </a:lnTo>
                <a:cubicBezTo>
                  <a:pt x="184556" y="105997"/>
                  <a:pt x="176662" y="98102"/>
                  <a:pt x="176662" y="88331"/>
                </a:cubicBezTo>
                <a:cubicBezTo>
                  <a:pt x="176662" y="78559"/>
                  <a:pt x="184556" y="70665"/>
                  <a:pt x="194328" y="70665"/>
                </a:cubicBezTo>
                <a:lnTo>
                  <a:pt x="220772" y="70665"/>
                </a:lnTo>
                <a:lnTo>
                  <a:pt x="216576" y="66690"/>
                </a:lnTo>
                <a:cubicBezTo>
                  <a:pt x="216466" y="66579"/>
                  <a:pt x="216355" y="66469"/>
                  <a:pt x="216245" y="66358"/>
                </a:cubicBezTo>
                <a:cubicBezTo>
                  <a:pt x="174840" y="24953"/>
                  <a:pt x="107764" y="24953"/>
                  <a:pt x="66358" y="66358"/>
                </a:cubicBezTo>
                <a:cubicBezTo>
                  <a:pt x="24953" y="107764"/>
                  <a:pt x="24953" y="174840"/>
                  <a:pt x="66358" y="216245"/>
                </a:cubicBezTo>
                <a:cubicBezTo>
                  <a:pt x="107764" y="257650"/>
                  <a:pt x="174840" y="257650"/>
                  <a:pt x="216245" y="216245"/>
                </a:cubicBezTo>
                <a:cubicBezTo>
                  <a:pt x="220772" y="211718"/>
                  <a:pt x="224802" y="206915"/>
                  <a:pt x="228335" y="201836"/>
                </a:cubicBezTo>
                <a:cubicBezTo>
                  <a:pt x="233911" y="193831"/>
                  <a:pt x="244952" y="191899"/>
                  <a:pt x="252957" y="197474"/>
                </a:cubicBezTo>
                <a:cubicBezTo>
                  <a:pt x="260962" y="203050"/>
                  <a:pt x="262894" y="214092"/>
                  <a:pt x="257319" y="222097"/>
                </a:cubicBezTo>
                <a:cubicBezTo>
                  <a:pt x="252626" y="228832"/>
                  <a:pt x="247271" y="235236"/>
                  <a:pt x="241253" y="241253"/>
                </a:cubicBezTo>
                <a:cubicBezTo>
                  <a:pt x="186047" y="296460"/>
                  <a:pt x="96557" y="296460"/>
                  <a:pt x="41405" y="241253"/>
                </a:cubicBezTo>
                <a:cubicBezTo>
                  <a:pt x="-13746" y="186047"/>
                  <a:pt x="-13802" y="96612"/>
                  <a:pt x="41405" y="41405"/>
                </a:cubicBezTo>
                <a:cubicBezTo>
                  <a:pt x="96557" y="-13746"/>
                  <a:pt x="185881" y="-13802"/>
                  <a:pt x="241088" y="41239"/>
                </a:cubicBezTo>
                <a:close/>
              </a:path>
            </a:pathLst>
          </a:custGeom>
          <a:solidFill>
            <a:srgbClr val="FAF9F6"/>
          </a:solidFill>
          <a:ln/>
        </p:spPr>
      </p:sp>
      <p:sp>
        <p:nvSpPr>
          <p:cNvPr id="18" name="Text 14"/>
          <p:cNvSpPr/>
          <p:nvPr/>
        </p:nvSpPr>
        <p:spPr>
          <a:xfrm>
            <a:off x="6962819" y="5337533"/>
            <a:ext cx="1196587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Reproducible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2479003" y="5982937"/>
            <a:ext cx="7236056" cy="9422"/>
          </a:xfrm>
          <a:custGeom>
            <a:avLst/>
            <a:gdLst/>
            <a:ahLst/>
            <a:cxnLst/>
            <a:rect l="l" t="t" r="r" b="b"/>
            <a:pathLst>
              <a:path w="7236056" h="9422">
                <a:moveTo>
                  <a:pt x="0" y="0"/>
                </a:moveTo>
                <a:lnTo>
                  <a:pt x="7236056" y="0"/>
                </a:lnTo>
                <a:lnTo>
                  <a:pt x="7236056" y="9422"/>
                </a:lnTo>
                <a:lnTo>
                  <a:pt x="0" y="9422"/>
                </a:lnTo>
                <a:lnTo>
                  <a:pt x="0" y="0"/>
                </a:lnTo>
                <a:close/>
              </a:path>
            </a:pathLst>
          </a:custGeom>
          <a:solidFill>
            <a:srgbClr val="C4B7A6"/>
          </a:solidFill>
          <a:ln/>
        </p:spPr>
      </p:sp>
      <p:sp>
        <p:nvSpPr>
          <p:cNvPr id="20" name="Text 16"/>
          <p:cNvSpPr/>
          <p:nvPr/>
        </p:nvSpPr>
        <p:spPr>
          <a:xfrm>
            <a:off x="2431893" y="6289150"/>
            <a:ext cx="7330275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4" dirty="0">
                <a:solidFill>
                  <a:srgbClr val="3D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Data Mining and Pattern Discovery System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2436604" y="6628340"/>
            <a:ext cx="732085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35" dirty="0">
                <a:solidFill>
                  <a:srgbClr val="8B86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Unstructured News Corpora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Data Mining and Pattern Discovery System</dc:title>
  <dc:subject>Automated Data Mining and Pattern Discovery System</dc:subject>
  <dc:creator>Kimi</dc:creator>
  <cp:lastModifiedBy>Kimi</cp:lastModifiedBy>
  <cp:revision>1</cp:revision>
  <dcterms:created xsi:type="dcterms:W3CDTF">2026-03-14T07:35:24Z</dcterms:created>
  <dcterms:modified xsi:type="dcterms:W3CDTF">2026-03-14T07:35:24Z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{"Label":"Automated Data Mining and Pattern Discovery System","ContentProducer":"001191110108MACG2KBH8F10000","ProduceID":"19ceb40f-e032-8316-8000-00000ce9b6d7","ReservedCode1":"","ContentPropagator":"001191110108MACG2KBH8F20000","PropagateID":"19ceb40f-e032-8316-8000-00000ce9b6d7","ReservedCode2":""}</vt:lpwstr>
  </property>
</Properties>
</file>