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Quattrocento Sans" charset="-122" pitchFamily="34"/>
      <p:regular r:id="rId22"/>
    </p:embeddedFont>
    <p:embeddedFont>
      <p:font typeface="Oranienbaum" charset="-122" pitchFamily="34"/>
      <p:regular r:id="rId23"/>
    </p:embeddedFont>
    <p:embeddedFont>
      <p:font typeface="Mi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8a5eab363c75ce2189f038e3707c3f275785bab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1299" b="12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C92AC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6B7A8F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39228"/>
            <a:ext cx="2609850" cy="381000"/>
          </a:xfrm>
          <a:custGeom>
            <a:avLst/>
            <a:gdLst/>
            <a:ahLst/>
            <a:cxnLst/>
            <a:rect l="l" t="t" r="r" b="b"/>
            <a:pathLst>
              <a:path w="2609850" h="381000">
                <a:moveTo>
                  <a:pt x="38100" y="0"/>
                </a:moveTo>
                <a:lnTo>
                  <a:pt x="2571750" y="0"/>
                </a:lnTo>
                <a:cubicBezTo>
                  <a:pt x="2592778" y="0"/>
                  <a:pt x="2609850" y="17072"/>
                  <a:pt x="2609850" y="38100"/>
                </a:cubicBezTo>
                <a:lnTo>
                  <a:pt x="2609850" y="342900"/>
                </a:lnTo>
                <a:cubicBezTo>
                  <a:pt x="2609850" y="363928"/>
                  <a:pt x="2592778" y="381000"/>
                  <a:pt x="2571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14902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545908"/>
            <a:ext cx="238363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of Data Mining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77428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Automated Data Mining and Pattern Discovery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01097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53878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Unstructured News Corpora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873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C92A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1" name="Shape 8"/>
          <p:cNvSpPr/>
          <p:nvPr/>
        </p:nvSpPr>
        <p:spPr>
          <a:xfrm>
            <a:off x="526256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60388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Review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52500" y="62674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CDM Project Documentation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048762" y="61341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7640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764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" name="Text 6"/>
          <p:cNvSpPr/>
          <p:nvPr/>
        </p:nvSpPr>
        <p:spPr>
          <a:xfrm>
            <a:off x="600075" y="1905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90500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Introduction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286000"/>
            <a:ext cx="2628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Offline-first hybrid AI architecture with explainable intelligence capabilities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86250" y="167640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6250" y="16764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339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6275" y="1905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3500" y="190500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Dataset Foundation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3500" y="2286000"/>
            <a:ext cx="2628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 News corpus structure with 120K articles and frozen dataset methodology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72450" y="167640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2450" y="16764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01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0" name="Text 18"/>
          <p:cNvSpPr/>
          <p:nvPr/>
        </p:nvSpPr>
        <p:spPr>
          <a:xfrm>
            <a:off x="8372475" y="1905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9700" y="190500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29700" y="228600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Decoupled client-server paradigm with three-tier design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486150"/>
            <a:ext cx="3638550" cy="1333500"/>
          </a:xfrm>
          <a:custGeom>
            <a:avLst/>
            <a:gdLst/>
            <a:ahLst/>
            <a:cxnLst/>
            <a:rect l="l" t="t" r="r" b="b"/>
            <a:pathLst>
              <a:path w="3638550" h="1333500">
                <a:moveTo>
                  <a:pt x="38098" y="0"/>
                </a:moveTo>
                <a:lnTo>
                  <a:pt x="3600452" y="0"/>
                </a:lnTo>
                <a:cubicBezTo>
                  <a:pt x="3621493" y="0"/>
                  <a:pt x="3638550" y="17057"/>
                  <a:pt x="3638550" y="38098"/>
                </a:cubicBezTo>
                <a:lnTo>
                  <a:pt x="3638550" y="1295402"/>
                </a:lnTo>
                <a:cubicBezTo>
                  <a:pt x="3638550" y="1316443"/>
                  <a:pt x="3621493" y="1333500"/>
                  <a:pt x="3600452" y="1333500"/>
                </a:cubicBezTo>
                <a:lnTo>
                  <a:pt x="38098" y="1333500"/>
                </a:lnTo>
                <a:cubicBezTo>
                  <a:pt x="17057" y="1333500"/>
                  <a:pt x="0" y="1316443"/>
                  <a:pt x="0" y="12954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3486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" y="3714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6" name="Text 24"/>
          <p:cNvSpPr/>
          <p:nvPr/>
        </p:nvSpPr>
        <p:spPr>
          <a:xfrm>
            <a:off x="600075" y="3714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57300" y="37147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7300" y="409575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DuckDB OLAP-optimized warehouse with columnar storage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86250" y="3486150"/>
            <a:ext cx="3638550" cy="1333500"/>
          </a:xfrm>
          <a:custGeom>
            <a:avLst/>
            <a:gdLst/>
            <a:ahLst/>
            <a:cxnLst/>
            <a:rect l="l" t="t" r="r" b="b"/>
            <a:pathLst>
              <a:path w="3638550" h="1333500">
                <a:moveTo>
                  <a:pt x="38098" y="0"/>
                </a:moveTo>
                <a:lnTo>
                  <a:pt x="3600452" y="0"/>
                </a:lnTo>
                <a:cubicBezTo>
                  <a:pt x="3621493" y="0"/>
                  <a:pt x="3638550" y="17057"/>
                  <a:pt x="3638550" y="38098"/>
                </a:cubicBezTo>
                <a:lnTo>
                  <a:pt x="3638550" y="1295402"/>
                </a:lnTo>
                <a:cubicBezTo>
                  <a:pt x="3638550" y="1316443"/>
                  <a:pt x="3621493" y="1333500"/>
                  <a:pt x="3600452" y="1333500"/>
                </a:cubicBezTo>
                <a:lnTo>
                  <a:pt x="38098" y="1333500"/>
                </a:lnTo>
                <a:cubicBezTo>
                  <a:pt x="17057" y="1333500"/>
                  <a:pt x="0" y="1316443"/>
                  <a:pt x="0" y="12954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6250" y="3486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33900" y="3714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2" name="Text 30"/>
          <p:cNvSpPr/>
          <p:nvPr/>
        </p:nvSpPr>
        <p:spPr>
          <a:xfrm>
            <a:off x="4486275" y="3714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43500" y="37147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43500" y="409575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normalization pipeline with 37.2% feature space reduction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72450" y="3486150"/>
            <a:ext cx="3638550" cy="1333500"/>
          </a:xfrm>
          <a:custGeom>
            <a:avLst/>
            <a:gdLst/>
            <a:ahLst/>
            <a:cxnLst/>
            <a:rect l="l" t="t" r="r" b="b"/>
            <a:pathLst>
              <a:path w="3638550" h="1333500">
                <a:moveTo>
                  <a:pt x="38098" y="0"/>
                </a:moveTo>
                <a:lnTo>
                  <a:pt x="3600452" y="0"/>
                </a:lnTo>
                <a:cubicBezTo>
                  <a:pt x="3621493" y="0"/>
                  <a:pt x="3638550" y="17057"/>
                  <a:pt x="3638550" y="38098"/>
                </a:cubicBezTo>
                <a:lnTo>
                  <a:pt x="3638550" y="1295402"/>
                </a:lnTo>
                <a:cubicBezTo>
                  <a:pt x="3638550" y="1316443"/>
                  <a:pt x="3621493" y="1333500"/>
                  <a:pt x="3600452" y="1333500"/>
                </a:cubicBezTo>
                <a:lnTo>
                  <a:pt x="38098" y="1333500"/>
                </a:lnTo>
                <a:cubicBezTo>
                  <a:pt x="17057" y="1333500"/>
                  <a:pt x="0" y="1316443"/>
                  <a:pt x="0" y="12954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6" name="Shape 34"/>
          <p:cNvSpPr/>
          <p:nvPr/>
        </p:nvSpPr>
        <p:spPr>
          <a:xfrm>
            <a:off x="8172450" y="3486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7" name="Shape 35"/>
          <p:cNvSpPr/>
          <p:nvPr/>
        </p:nvSpPr>
        <p:spPr>
          <a:xfrm>
            <a:off x="8420100" y="3714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8" name="Text 36"/>
          <p:cNvSpPr/>
          <p:nvPr/>
        </p:nvSpPr>
        <p:spPr>
          <a:xfrm>
            <a:off x="8372475" y="3714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29700" y="37147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29700" y="409575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TF-IDF and transformer embeddings with custom weighting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04825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0482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4" name="Text 42"/>
          <p:cNvSpPr/>
          <p:nvPr/>
        </p:nvSpPr>
        <p:spPr>
          <a:xfrm>
            <a:off x="6000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57300" y="52768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Mining Algorithms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57300" y="5657850"/>
            <a:ext cx="2628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K-Means, Apriori, and SVM implementations with performance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86250" y="504825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8" name="Shape 46"/>
          <p:cNvSpPr/>
          <p:nvPr/>
        </p:nvSpPr>
        <p:spPr>
          <a:xfrm>
            <a:off x="4286250" y="50482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9" name="Shape 47"/>
          <p:cNvSpPr/>
          <p:nvPr/>
        </p:nvSpPr>
        <p:spPr>
          <a:xfrm>
            <a:off x="45339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50" name="Text 48"/>
          <p:cNvSpPr/>
          <p:nvPr/>
        </p:nvSpPr>
        <p:spPr>
          <a:xfrm>
            <a:off x="44862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43500" y="52768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43500" y="565785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 with Chart.js and Tableau integration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72450" y="5048250"/>
            <a:ext cx="3638550" cy="1581150"/>
          </a:xfrm>
          <a:custGeom>
            <a:avLst/>
            <a:gdLst/>
            <a:ahLst/>
            <a:cxnLst/>
            <a:rect l="l" t="t" r="r" b="b"/>
            <a:pathLst>
              <a:path w="3638550" h="1581150">
                <a:moveTo>
                  <a:pt x="38100" y="0"/>
                </a:moveTo>
                <a:lnTo>
                  <a:pt x="3600444" y="0"/>
                </a:lnTo>
                <a:cubicBezTo>
                  <a:pt x="3621489" y="0"/>
                  <a:pt x="3638550" y="17061"/>
                  <a:pt x="3638550" y="38106"/>
                </a:cubicBezTo>
                <a:lnTo>
                  <a:pt x="3638550" y="1543044"/>
                </a:lnTo>
                <a:cubicBezTo>
                  <a:pt x="3638550" y="1564089"/>
                  <a:pt x="3621489" y="1581150"/>
                  <a:pt x="360044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54" name="Shape 52"/>
          <p:cNvSpPr/>
          <p:nvPr/>
        </p:nvSpPr>
        <p:spPr>
          <a:xfrm>
            <a:off x="8172450" y="50482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5" name="Shape 53"/>
          <p:cNvSpPr/>
          <p:nvPr/>
        </p:nvSpPr>
        <p:spPr>
          <a:xfrm>
            <a:off x="84201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6" name="Text 54"/>
          <p:cNvSpPr/>
          <p:nvPr/>
        </p:nvSpPr>
        <p:spPr>
          <a:xfrm>
            <a:off x="83724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029700" y="52768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29700" y="5657850"/>
            <a:ext cx="262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hurdles and engineering resolutions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System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Offline-First Hybrid AI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6762750" cy="2705100"/>
          </a:xfrm>
          <a:custGeom>
            <a:avLst/>
            <a:gdLst/>
            <a:ahLst/>
            <a:cxnLst/>
            <a:rect l="l" t="t" r="r" b="b"/>
            <a:pathLst>
              <a:path w="6762750" h="2705100">
                <a:moveTo>
                  <a:pt x="38088" y="0"/>
                </a:moveTo>
                <a:lnTo>
                  <a:pt x="6724662" y="0"/>
                </a:lnTo>
                <a:cubicBezTo>
                  <a:pt x="6745698" y="0"/>
                  <a:pt x="6762750" y="17052"/>
                  <a:pt x="6762750" y="38088"/>
                </a:cubicBezTo>
                <a:lnTo>
                  <a:pt x="6762750" y="2667012"/>
                </a:lnTo>
                <a:cubicBezTo>
                  <a:pt x="6762750" y="2688048"/>
                  <a:pt x="6745698" y="2705100"/>
                  <a:pt x="6724662" y="2705100"/>
                </a:cubicBezTo>
                <a:lnTo>
                  <a:pt x="38088" y="2705100"/>
                </a:lnTo>
                <a:cubicBezTo>
                  <a:pt x="17052" y="2705100"/>
                  <a:pt x="0" y="2688048"/>
                  <a:pt x="0" y="2667012"/>
                </a:cubicBezTo>
                <a:lnTo>
                  <a:pt x="0" y="38088"/>
                </a:lnTo>
                <a:cubicBezTo>
                  <a:pt x="0" y="17067"/>
                  <a:pt x="17067" y="0"/>
                  <a:pt x="3808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Shape 4"/>
          <p:cNvSpPr/>
          <p:nvPr/>
        </p:nvSpPr>
        <p:spPr>
          <a:xfrm>
            <a:off x="619125" y="1676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638300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057400"/>
            <a:ext cx="6457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standalone, offline-first hybrid AI system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to transform unstructured news corpora into mathematically-backed transparent intelligence. Unlike conventional cloud-dependent engines, this architecture ensures complete data sovereignty and eliminates latency concerns.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5310" y="2956560"/>
            <a:ext cx="3112770" cy="998220"/>
          </a:xfrm>
          <a:custGeom>
            <a:avLst/>
            <a:gdLst/>
            <a:ahLst/>
            <a:cxnLst/>
            <a:rect l="l" t="t" r="r" b="b"/>
            <a:pathLst>
              <a:path w="3112770" h="998220">
                <a:moveTo>
                  <a:pt x="38102" y="0"/>
                </a:moveTo>
                <a:lnTo>
                  <a:pt x="3074668" y="0"/>
                </a:lnTo>
                <a:cubicBezTo>
                  <a:pt x="3095711" y="0"/>
                  <a:pt x="3112770" y="17059"/>
                  <a:pt x="3112770" y="38102"/>
                </a:cubicBezTo>
                <a:lnTo>
                  <a:pt x="3112770" y="960118"/>
                </a:lnTo>
                <a:cubicBezTo>
                  <a:pt x="3112770" y="981161"/>
                  <a:pt x="3095711" y="998220"/>
                  <a:pt x="3074668" y="998220"/>
                </a:cubicBezTo>
                <a:lnTo>
                  <a:pt x="38102" y="998220"/>
                </a:lnTo>
                <a:cubicBezTo>
                  <a:pt x="17059" y="998220"/>
                  <a:pt x="0" y="981161"/>
                  <a:pt x="0" y="9601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0570" y="31508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1" name="Text 9"/>
          <p:cNvSpPr/>
          <p:nvPr/>
        </p:nvSpPr>
        <p:spPr>
          <a:xfrm>
            <a:off x="998220" y="311277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Sovereignty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17570"/>
            <a:ext cx="2867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local processing without cloud dependency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4290" y="2956560"/>
            <a:ext cx="3112770" cy="998220"/>
          </a:xfrm>
          <a:custGeom>
            <a:avLst/>
            <a:gdLst/>
            <a:ahLst/>
            <a:cxnLst/>
            <a:rect l="l" t="t" r="r" b="b"/>
            <a:pathLst>
              <a:path w="3112770" h="998220">
                <a:moveTo>
                  <a:pt x="38102" y="0"/>
                </a:moveTo>
                <a:lnTo>
                  <a:pt x="3074668" y="0"/>
                </a:lnTo>
                <a:cubicBezTo>
                  <a:pt x="3095711" y="0"/>
                  <a:pt x="3112770" y="17059"/>
                  <a:pt x="3112770" y="38102"/>
                </a:cubicBezTo>
                <a:lnTo>
                  <a:pt x="3112770" y="960118"/>
                </a:lnTo>
                <a:cubicBezTo>
                  <a:pt x="3112770" y="981161"/>
                  <a:pt x="3095711" y="998220"/>
                  <a:pt x="3074668" y="998220"/>
                </a:cubicBezTo>
                <a:lnTo>
                  <a:pt x="38102" y="998220"/>
                </a:lnTo>
                <a:cubicBezTo>
                  <a:pt x="17059" y="998220"/>
                  <a:pt x="0" y="981161"/>
                  <a:pt x="0" y="9601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9075" y="31508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5" name="Text 13"/>
          <p:cNvSpPr/>
          <p:nvPr/>
        </p:nvSpPr>
        <p:spPr>
          <a:xfrm>
            <a:off x="4267200" y="311277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Latency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00500" y="3417570"/>
            <a:ext cx="2867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Embedded processing eliminates network delays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339590"/>
            <a:ext cx="6762750" cy="2133600"/>
          </a:xfrm>
          <a:custGeom>
            <a:avLst/>
            <a:gdLst/>
            <a:ahLst/>
            <a:cxnLst/>
            <a:rect l="l" t="t" r="r" b="b"/>
            <a:pathLst>
              <a:path w="6762750" h="2133600">
                <a:moveTo>
                  <a:pt x="38106" y="0"/>
                </a:moveTo>
                <a:lnTo>
                  <a:pt x="6724644" y="0"/>
                </a:lnTo>
                <a:cubicBezTo>
                  <a:pt x="6745689" y="0"/>
                  <a:pt x="6762750" y="17061"/>
                  <a:pt x="6762750" y="38106"/>
                </a:cubicBezTo>
                <a:lnTo>
                  <a:pt x="6762750" y="2095494"/>
                </a:lnTo>
                <a:cubicBezTo>
                  <a:pt x="6762750" y="2116539"/>
                  <a:pt x="6745689" y="2133600"/>
                  <a:pt x="6724644" y="2133600"/>
                </a:cubicBezTo>
                <a:lnTo>
                  <a:pt x="38106" y="2133600"/>
                </a:lnTo>
                <a:cubicBezTo>
                  <a:pt x="17061" y="2133600"/>
                  <a:pt x="0" y="2116539"/>
                  <a:pt x="0" y="20954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456819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4530090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Engineering Baseline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49872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1" name="Text 19"/>
          <p:cNvSpPr/>
          <p:nvPr/>
        </p:nvSpPr>
        <p:spPr>
          <a:xfrm>
            <a:off x="533400" y="498729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" y="4949191"/>
            <a:ext cx="603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Embedded DuckDB Instance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5177791"/>
            <a:ext cx="6029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 OLAP database (news_corpus.duckdb) enabling high-speed local processing of heterogeneous text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7111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5" name="Text 23"/>
          <p:cNvSpPr/>
          <p:nvPr/>
        </p:nvSpPr>
        <p:spPr>
          <a:xfrm>
            <a:off x="533400" y="571119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5673091"/>
            <a:ext cx="603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Language Models Integration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0600" y="5901691"/>
            <a:ext cx="6029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Ollama and LM Studio for Explainable AI (XAI) — acting strictly as analytical interpreters without hallucination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76160" y="1447800"/>
            <a:ext cx="4438650" cy="2324100"/>
          </a:xfrm>
          <a:custGeom>
            <a:avLst/>
            <a:gdLst/>
            <a:ahLst/>
            <a:cxnLst/>
            <a:rect l="l" t="t" r="r" b="b"/>
            <a:pathLst>
              <a:path w="4438650" h="2324100">
                <a:moveTo>
                  <a:pt x="38092" y="0"/>
                </a:moveTo>
                <a:lnTo>
                  <a:pt x="4400558" y="0"/>
                </a:lnTo>
                <a:cubicBezTo>
                  <a:pt x="4421582" y="0"/>
                  <a:pt x="4438650" y="17068"/>
                  <a:pt x="4438650" y="38092"/>
                </a:cubicBezTo>
                <a:lnTo>
                  <a:pt x="4438650" y="2286008"/>
                </a:lnTo>
                <a:cubicBezTo>
                  <a:pt x="4438650" y="2307046"/>
                  <a:pt x="4421596" y="2324100"/>
                  <a:pt x="4400558" y="2324100"/>
                </a:cubicBezTo>
                <a:lnTo>
                  <a:pt x="38092" y="2324100"/>
                </a:lnTo>
                <a:cubicBezTo>
                  <a:pt x="17068" y="2324100"/>
                  <a:pt x="0" y="2307032"/>
                  <a:pt x="0" y="2286008"/>
                </a:cubicBezTo>
                <a:lnTo>
                  <a:pt x="0" y="38092"/>
                </a:lnTo>
                <a:cubicBezTo>
                  <a:pt x="0" y="17054"/>
                  <a:pt x="17054" y="0"/>
                  <a:pt x="38092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9" name="Text 27"/>
          <p:cNvSpPr/>
          <p:nvPr/>
        </p:nvSpPr>
        <p:spPr>
          <a:xfrm>
            <a:off x="7604760" y="1676400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4760" y="20955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33679" y="209550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04760" y="2400300"/>
            <a:ext cx="3981450" cy="76200"/>
          </a:xfrm>
          <a:custGeom>
            <a:avLst/>
            <a:gdLst/>
            <a:ahLst/>
            <a:cxnLst/>
            <a:rect l="l" t="t" r="r" b="b"/>
            <a:pathLst>
              <a:path w="3981450" h="76200">
                <a:moveTo>
                  <a:pt x="38100" y="0"/>
                </a:moveTo>
                <a:lnTo>
                  <a:pt x="3943350" y="0"/>
                </a:lnTo>
                <a:cubicBezTo>
                  <a:pt x="3964378" y="0"/>
                  <a:pt x="3981450" y="17072"/>
                  <a:pt x="3981450" y="38100"/>
                </a:cubicBezTo>
                <a:lnTo>
                  <a:pt x="3981450" y="38100"/>
                </a:lnTo>
                <a:cubicBezTo>
                  <a:pt x="3981450" y="59128"/>
                  <a:pt x="3964378" y="76200"/>
                  <a:pt x="3943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604760" y="2400300"/>
            <a:ext cx="3781425" cy="76200"/>
          </a:xfrm>
          <a:custGeom>
            <a:avLst/>
            <a:gdLst/>
            <a:ahLst/>
            <a:cxnLst/>
            <a:rect l="l" t="t" r="r" b="b"/>
            <a:pathLst>
              <a:path w="3781425" h="76200">
                <a:moveTo>
                  <a:pt x="38100" y="0"/>
                </a:moveTo>
                <a:lnTo>
                  <a:pt x="3743325" y="0"/>
                </a:lnTo>
                <a:cubicBezTo>
                  <a:pt x="3764353" y="0"/>
                  <a:pt x="3781425" y="17072"/>
                  <a:pt x="3781425" y="38100"/>
                </a:cubicBezTo>
                <a:lnTo>
                  <a:pt x="3781425" y="38100"/>
                </a:lnTo>
                <a:cubicBezTo>
                  <a:pt x="3781425" y="59128"/>
                  <a:pt x="3764353" y="76200"/>
                  <a:pt x="3743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604760" y="26289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11520" y="26289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04760" y="2933700"/>
            <a:ext cx="3981450" cy="76200"/>
          </a:xfrm>
          <a:custGeom>
            <a:avLst/>
            <a:gdLst/>
            <a:ahLst/>
            <a:cxnLst/>
            <a:rect l="l" t="t" r="r" b="b"/>
            <a:pathLst>
              <a:path w="3981450" h="76200">
                <a:moveTo>
                  <a:pt x="38100" y="0"/>
                </a:moveTo>
                <a:lnTo>
                  <a:pt x="3943350" y="0"/>
                </a:lnTo>
                <a:cubicBezTo>
                  <a:pt x="3964378" y="0"/>
                  <a:pt x="3981450" y="17072"/>
                  <a:pt x="3981450" y="38100"/>
                </a:cubicBezTo>
                <a:lnTo>
                  <a:pt x="3981450" y="38100"/>
                </a:lnTo>
                <a:cubicBezTo>
                  <a:pt x="3981450" y="59128"/>
                  <a:pt x="3964378" y="76200"/>
                  <a:pt x="3943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04760" y="2933700"/>
            <a:ext cx="3981450" cy="76200"/>
          </a:xfrm>
          <a:custGeom>
            <a:avLst/>
            <a:gdLst/>
            <a:ahLst/>
            <a:cxnLst/>
            <a:rect l="l" t="t" r="r" b="b"/>
            <a:pathLst>
              <a:path w="3981450" h="76200">
                <a:moveTo>
                  <a:pt x="38100" y="0"/>
                </a:moveTo>
                <a:lnTo>
                  <a:pt x="3943350" y="0"/>
                </a:lnTo>
                <a:cubicBezTo>
                  <a:pt x="3964378" y="0"/>
                  <a:pt x="3981450" y="17072"/>
                  <a:pt x="3981450" y="38100"/>
                </a:cubicBezTo>
                <a:lnTo>
                  <a:pt x="3981450" y="38100"/>
                </a:lnTo>
                <a:cubicBezTo>
                  <a:pt x="3981450" y="59128"/>
                  <a:pt x="3964378" y="76200"/>
                  <a:pt x="3943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604760" y="31623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344395" y="3162300"/>
            <a:ext cx="31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04760" y="3467100"/>
            <a:ext cx="3981450" cy="76200"/>
          </a:xfrm>
          <a:custGeom>
            <a:avLst/>
            <a:gdLst/>
            <a:ahLst/>
            <a:cxnLst/>
            <a:rect l="l" t="t" r="r" b="b"/>
            <a:pathLst>
              <a:path w="3981450" h="76200">
                <a:moveTo>
                  <a:pt x="38100" y="0"/>
                </a:moveTo>
                <a:lnTo>
                  <a:pt x="3943350" y="0"/>
                </a:lnTo>
                <a:cubicBezTo>
                  <a:pt x="3964378" y="0"/>
                  <a:pt x="3981450" y="17072"/>
                  <a:pt x="3981450" y="38100"/>
                </a:cubicBezTo>
                <a:lnTo>
                  <a:pt x="3981450" y="38100"/>
                </a:lnTo>
                <a:cubicBezTo>
                  <a:pt x="3981450" y="59128"/>
                  <a:pt x="3964378" y="76200"/>
                  <a:pt x="3943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04760" y="3467100"/>
            <a:ext cx="3581400" cy="76200"/>
          </a:xfrm>
          <a:custGeom>
            <a:avLst/>
            <a:gdLst/>
            <a:ahLst/>
            <a:cxnLst/>
            <a:rect l="l" t="t" r="r" b="b"/>
            <a:pathLst>
              <a:path w="3581400" h="762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cubicBezTo>
                  <a:pt x="3581400" y="59128"/>
                  <a:pt x="3564328" y="76200"/>
                  <a:pt x="3543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376160" y="3962400"/>
            <a:ext cx="4438650" cy="2667000"/>
          </a:xfrm>
          <a:custGeom>
            <a:avLst/>
            <a:gdLst/>
            <a:ahLst/>
            <a:cxnLst/>
            <a:rect l="l" t="t" r="r" b="b"/>
            <a:pathLst>
              <a:path w="4438650" h="2667000">
                <a:moveTo>
                  <a:pt x="38111" y="0"/>
                </a:moveTo>
                <a:lnTo>
                  <a:pt x="4400539" y="0"/>
                </a:lnTo>
                <a:cubicBezTo>
                  <a:pt x="4421587" y="0"/>
                  <a:pt x="4438650" y="17063"/>
                  <a:pt x="4438650" y="38111"/>
                </a:cubicBezTo>
                <a:lnTo>
                  <a:pt x="4438650" y="2628889"/>
                </a:lnTo>
                <a:cubicBezTo>
                  <a:pt x="4438650" y="2649937"/>
                  <a:pt x="4421587" y="2667000"/>
                  <a:pt x="4400539" y="2667000"/>
                </a:cubicBezTo>
                <a:lnTo>
                  <a:pt x="38111" y="2667000"/>
                </a:lnTo>
                <a:cubicBezTo>
                  <a:pt x="17063" y="2667000"/>
                  <a:pt x="0" y="2649937"/>
                  <a:pt x="0" y="2628889"/>
                </a:cubicBezTo>
                <a:lnTo>
                  <a:pt x="0" y="38111"/>
                </a:lnTo>
                <a:cubicBezTo>
                  <a:pt x="0" y="17077"/>
                  <a:pt x="17077" y="0"/>
                  <a:pt x="3811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3" name="Text 41"/>
          <p:cNvSpPr/>
          <p:nvPr/>
        </p:nvSpPr>
        <p:spPr>
          <a:xfrm>
            <a:off x="7566660" y="41529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Operational Flow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66660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C92A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90485" y="4686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9525"/>
                </a:moveTo>
                <a:cubicBezTo>
                  <a:pt x="76200" y="4256"/>
                  <a:pt x="71944" y="0"/>
                  <a:pt x="66675" y="0"/>
                </a:cubicBezTo>
                <a:cubicBezTo>
                  <a:pt x="61406" y="0"/>
                  <a:pt x="57150" y="4256"/>
                  <a:pt x="57150" y="9525"/>
                </a:cubicBezTo>
                <a:lnTo>
                  <a:pt x="57150" y="72241"/>
                </a:lnTo>
                <a:lnTo>
                  <a:pt x="44827" y="59918"/>
                </a:lnTo>
                <a:cubicBezTo>
                  <a:pt x="41106" y="56197"/>
                  <a:pt x="35064" y="56197"/>
                  <a:pt x="31343" y="59918"/>
                </a:cubicBezTo>
                <a:cubicBezTo>
                  <a:pt x="27622" y="63639"/>
                  <a:pt x="27622" y="69681"/>
                  <a:pt x="31343" y="73402"/>
                </a:cubicBezTo>
                <a:lnTo>
                  <a:pt x="59918" y="101977"/>
                </a:lnTo>
                <a:cubicBezTo>
                  <a:pt x="63639" y="105698"/>
                  <a:pt x="69681" y="105698"/>
                  <a:pt x="73402" y="101977"/>
                </a:cubicBezTo>
                <a:lnTo>
                  <a:pt x="101977" y="73402"/>
                </a:lnTo>
                <a:cubicBezTo>
                  <a:pt x="105698" y="69681"/>
                  <a:pt x="105698" y="63639"/>
                  <a:pt x="101977" y="59918"/>
                </a:cubicBezTo>
                <a:cubicBezTo>
                  <a:pt x="98256" y="56197"/>
                  <a:pt x="92214" y="56197"/>
                  <a:pt x="88493" y="59918"/>
                </a:cubicBezTo>
                <a:lnTo>
                  <a:pt x="76200" y="72241"/>
                </a:lnTo>
                <a:lnTo>
                  <a:pt x="76200" y="9525"/>
                </a:lnTo>
                <a:close/>
                <a:moveTo>
                  <a:pt x="19050" y="95250"/>
                </a:moveTo>
                <a:cubicBezTo>
                  <a:pt x="8543" y="95250"/>
                  <a:pt x="0" y="103793"/>
                  <a:pt x="0" y="114300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14300"/>
                </a:lnTo>
                <a:cubicBezTo>
                  <a:pt x="133350" y="103793"/>
                  <a:pt x="124807" y="95250"/>
                  <a:pt x="114300" y="95250"/>
                </a:cubicBezTo>
                <a:lnTo>
                  <a:pt x="100340" y="95250"/>
                </a:lnTo>
                <a:lnTo>
                  <a:pt x="83493" y="112097"/>
                </a:lnTo>
                <a:cubicBezTo>
                  <a:pt x="74206" y="121384"/>
                  <a:pt x="59115" y="121384"/>
                  <a:pt x="49828" y="112097"/>
                </a:cubicBezTo>
                <a:lnTo>
                  <a:pt x="33010" y="95250"/>
                </a:lnTo>
                <a:lnTo>
                  <a:pt x="19050" y="95250"/>
                </a:lnTo>
                <a:close/>
                <a:moveTo>
                  <a:pt x="109537" y="111919"/>
                </a:moveTo>
                <a:cubicBezTo>
                  <a:pt x="113480" y="111919"/>
                  <a:pt x="116681" y="115120"/>
                  <a:pt x="116681" y="119062"/>
                </a:cubicBezTo>
                <a:cubicBezTo>
                  <a:pt x="116681" y="123005"/>
                  <a:pt x="113480" y="126206"/>
                  <a:pt x="109537" y="126206"/>
                </a:cubicBezTo>
                <a:cubicBezTo>
                  <a:pt x="105595" y="126206"/>
                  <a:pt x="102394" y="123005"/>
                  <a:pt x="102394" y="119062"/>
                </a:cubicBezTo>
                <a:cubicBezTo>
                  <a:pt x="102394" y="115120"/>
                  <a:pt x="105595" y="111919"/>
                  <a:pt x="109537" y="111919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6" name="Text 44"/>
          <p:cNvSpPr/>
          <p:nvPr/>
        </p:nvSpPr>
        <p:spPr>
          <a:xfrm>
            <a:off x="8061960" y="46482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Ingestion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66660" y="506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0A59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80960" y="518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9" name="Text 47"/>
          <p:cNvSpPr/>
          <p:nvPr/>
        </p:nvSpPr>
        <p:spPr>
          <a:xfrm>
            <a:off x="8061960" y="51435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66660" y="556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80960" y="567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2" name="Text 50"/>
          <p:cNvSpPr/>
          <p:nvPr/>
        </p:nvSpPr>
        <p:spPr>
          <a:xfrm>
            <a:off x="8061960" y="56388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Mining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66660" y="605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C92AC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80960" y="617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5" name="Text 53"/>
          <p:cNvSpPr/>
          <p:nvPr/>
        </p:nvSpPr>
        <p:spPr>
          <a:xfrm>
            <a:off x="8061960" y="61341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spc="111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 News Corpus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095513"/>
            <a:ext cx="706783" cy="35339"/>
          </a:xfrm>
          <a:custGeom>
            <a:avLst/>
            <a:gdLst/>
            <a:ahLst/>
            <a:cxnLst/>
            <a:rect l="l" t="t" r="r" b="b"/>
            <a:pathLst>
              <a:path w="706783" h="35339">
                <a:moveTo>
                  <a:pt x="0" y="0"/>
                </a:moveTo>
                <a:lnTo>
                  <a:pt x="706783" y="0"/>
                </a:lnTo>
                <a:lnTo>
                  <a:pt x="706783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53391" y="1342887"/>
            <a:ext cx="5636591" cy="3436730"/>
          </a:xfrm>
          <a:custGeom>
            <a:avLst/>
            <a:gdLst/>
            <a:ahLst/>
            <a:cxnLst/>
            <a:rect l="l" t="t" r="r" b="b"/>
            <a:pathLst>
              <a:path w="5636591" h="3436730">
                <a:moveTo>
                  <a:pt x="35330" y="0"/>
                </a:moveTo>
                <a:lnTo>
                  <a:pt x="5601262" y="0"/>
                </a:lnTo>
                <a:cubicBezTo>
                  <a:pt x="5620774" y="0"/>
                  <a:pt x="5636591" y="15818"/>
                  <a:pt x="5636591" y="35330"/>
                </a:cubicBezTo>
                <a:lnTo>
                  <a:pt x="5636591" y="3401401"/>
                </a:lnTo>
                <a:cubicBezTo>
                  <a:pt x="5636591" y="3420913"/>
                  <a:pt x="5620774" y="3436730"/>
                  <a:pt x="5601262" y="3436730"/>
                </a:cubicBezTo>
                <a:lnTo>
                  <a:pt x="35330" y="3436730"/>
                </a:lnTo>
                <a:cubicBezTo>
                  <a:pt x="15818" y="3436730"/>
                  <a:pt x="0" y="3420913"/>
                  <a:pt x="0" y="3401401"/>
                </a:cubicBezTo>
                <a:lnTo>
                  <a:pt x="0" y="35330"/>
                </a:lnTo>
                <a:cubicBezTo>
                  <a:pt x="0" y="15831"/>
                  <a:pt x="15831" y="0"/>
                  <a:pt x="3533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530087" y="1519583"/>
            <a:ext cx="53715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087" y="1908313"/>
            <a:ext cx="5353878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empirical foundation utilizes the robust </a:t>
            </a:r>
            <a:pPr>
              <a:lnSpc>
                <a:spcPct val="14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 News Dataset</a:t>
            </a:r>
            <a:pPr>
              <a:lnSpc>
                <a:spcPct val="140000"/>
              </a:lnSpc>
            </a:pPr>
            <a:r>
              <a:rPr lang="en-US" sz="1113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sourced via Hugging Face repository, representing a diverse aggregate of journalistic sources, topic categories, and publication timelines.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621" y="2742317"/>
            <a:ext cx="2560320" cy="855207"/>
          </a:xfrm>
          <a:custGeom>
            <a:avLst/>
            <a:gdLst/>
            <a:ahLst/>
            <a:cxnLst/>
            <a:rect l="l" t="t" r="r" b="b"/>
            <a:pathLst>
              <a:path w="2560320" h="855207">
                <a:moveTo>
                  <a:pt x="35337" y="0"/>
                </a:moveTo>
                <a:lnTo>
                  <a:pt x="2524983" y="0"/>
                </a:lnTo>
                <a:cubicBezTo>
                  <a:pt x="2544499" y="0"/>
                  <a:pt x="2560320" y="15821"/>
                  <a:pt x="2560320" y="35337"/>
                </a:cubicBezTo>
                <a:lnTo>
                  <a:pt x="2560320" y="819870"/>
                </a:lnTo>
                <a:cubicBezTo>
                  <a:pt x="2560320" y="839386"/>
                  <a:pt x="2544499" y="855207"/>
                  <a:pt x="2524983" y="855207"/>
                </a:cubicBezTo>
                <a:lnTo>
                  <a:pt x="35337" y="855207"/>
                </a:lnTo>
                <a:cubicBezTo>
                  <a:pt x="15821" y="855207"/>
                  <a:pt x="0" y="839386"/>
                  <a:pt x="0" y="819870"/>
                </a:cubicBezTo>
                <a:lnTo>
                  <a:pt x="0" y="35337"/>
                </a:lnTo>
                <a:cubicBezTo>
                  <a:pt x="0" y="15834"/>
                  <a:pt x="15834" y="0"/>
                  <a:pt x="353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98" y="2887207"/>
            <a:ext cx="2429565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8C92A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120K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590" y="3275938"/>
            <a:ext cx="2332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Articles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4905" y="2742317"/>
            <a:ext cx="2560320" cy="855207"/>
          </a:xfrm>
          <a:custGeom>
            <a:avLst/>
            <a:gdLst/>
            <a:ahLst/>
            <a:cxnLst/>
            <a:rect l="l" t="t" r="r" b="b"/>
            <a:pathLst>
              <a:path w="2560320" h="855207">
                <a:moveTo>
                  <a:pt x="35337" y="0"/>
                </a:moveTo>
                <a:lnTo>
                  <a:pt x="2524983" y="0"/>
                </a:lnTo>
                <a:cubicBezTo>
                  <a:pt x="2544499" y="0"/>
                  <a:pt x="2560320" y="15821"/>
                  <a:pt x="2560320" y="35337"/>
                </a:cubicBezTo>
                <a:lnTo>
                  <a:pt x="2560320" y="819870"/>
                </a:lnTo>
                <a:cubicBezTo>
                  <a:pt x="2560320" y="839386"/>
                  <a:pt x="2544499" y="855207"/>
                  <a:pt x="2524983" y="855207"/>
                </a:cubicBezTo>
                <a:lnTo>
                  <a:pt x="35337" y="855207"/>
                </a:lnTo>
                <a:cubicBezTo>
                  <a:pt x="15821" y="855207"/>
                  <a:pt x="0" y="839386"/>
                  <a:pt x="0" y="819870"/>
                </a:cubicBezTo>
                <a:lnTo>
                  <a:pt x="0" y="35337"/>
                </a:lnTo>
                <a:cubicBezTo>
                  <a:pt x="0" y="15834"/>
                  <a:pt x="15834" y="0"/>
                  <a:pt x="353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283" y="2887207"/>
            <a:ext cx="2429565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B0A59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8874" y="3275938"/>
            <a:ext cx="2332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621" y="3745949"/>
            <a:ext cx="2560320" cy="855207"/>
          </a:xfrm>
          <a:custGeom>
            <a:avLst/>
            <a:gdLst/>
            <a:ahLst/>
            <a:cxnLst/>
            <a:rect l="l" t="t" r="r" b="b"/>
            <a:pathLst>
              <a:path w="2560320" h="855207">
                <a:moveTo>
                  <a:pt x="35337" y="0"/>
                </a:moveTo>
                <a:lnTo>
                  <a:pt x="2524983" y="0"/>
                </a:lnTo>
                <a:cubicBezTo>
                  <a:pt x="2544499" y="0"/>
                  <a:pt x="2560320" y="15821"/>
                  <a:pt x="2560320" y="35337"/>
                </a:cubicBezTo>
                <a:lnTo>
                  <a:pt x="2560320" y="819870"/>
                </a:lnTo>
                <a:cubicBezTo>
                  <a:pt x="2560320" y="839386"/>
                  <a:pt x="2544499" y="855207"/>
                  <a:pt x="2524983" y="855207"/>
                </a:cubicBezTo>
                <a:lnTo>
                  <a:pt x="35337" y="855207"/>
                </a:lnTo>
                <a:cubicBezTo>
                  <a:pt x="15821" y="855207"/>
                  <a:pt x="0" y="839386"/>
                  <a:pt x="0" y="819870"/>
                </a:cubicBezTo>
                <a:lnTo>
                  <a:pt x="0" y="35337"/>
                </a:lnTo>
                <a:cubicBezTo>
                  <a:pt x="0" y="15834"/>
                  <a:pt x="15834" y="0"/>
                  <a:pt x="353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98" y="3890840"/>
            <a:ext cx="2429565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6B7A8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30K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590" y="4279570"/>
            <a:ext cx="2332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Category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4905" y="3745949"/>
            <a:ext cx="2560320" cy="855207"/>
          </a:xfrm>
          <a:custGeom>
            <a:avLst/>
            <a:gdLst/>
            <a:ahLst/>
            <a:cxnLst/>
            <a:rect l="l" t="t" r="r" b="b"/>
            <a:pathLst>
              <a:path w="2560320" h="855207">
                <a:moveTo>
                  <a:pt x="35337" y="0"/>
                </a:moveTo>
                <a:lnTo>
                  <a:pt x="2524983" y="0"/>
                </a:lnTo>
                <a:cubicBezTo>
                  <a:pt x="2544499" y="0"/>
                  <a:pt x="2560320" y="15821"/>
                  <a:pt x="2560320" y="35337"/>
                </a:cubicBezTo>
                <a:lnTo>
                  <a:pt x="2560320" y="819870"/>
                </a:lnTo>
                <a:cubicBezTo>
                  <a:pt x="2560320" y="839386"/>
                  <a:pt x="2544499" y="855207"/>
                  <a:pt x="2524983" y="855207"/>
                </a:cubicBezTo>
                <a:lnTo>
                  <a:pt x="35337" y="855207"/>
                </a:lnTo>
                <a:cubicBezTo>
                  <a:pt x="15821" y="855207"/>
                  <a:pt x="0" y="839386"/>
                  <a:pt x="0" y="819870"/>
                </a:cubicBezTo>
                <a:lnTo>
                  <a:pt x="0" y="35337"/>
                </a:lnTo>
                <a:cubicBezTo>
                  <a:pt x="0" y="15834"/>
                  <a:pt x="15834" y="0"/>
                  <a:pt x="353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283" y="3890840"/>
            <a:ext cx="2429565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04" b="1" dirty="0">
                <a:solidFill>
                  <a:srgbClr val="8C92A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58874" y="4279570"/>
            <a:ext cx="233238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(2018-24)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3391" y="4958080"/>
            <a:ext cx="5636591" cy="1660939"/>
          </a:xfrm>
          <a:custGeom>
            <a:avLst/>
            <a:gdLst/>
            <a:ahLst/>
            <a:cxnLst/>
            <a:rect l="l" t="t" r="r" b="b"/>
            <a:pathLst>
              <a:path w="5636591" h="1660939">
                <a:moveTo>
                  <a:pt x="35345" y="0"/>
                </a:moveTo>
                <a:lnTo>
                  <a:pt x="5601247" y="0"/>
                </a:lnTo>
                <a:cubicBezTo>
                  <a:pt x="5620767" y="0"/>
                  <a:pt x="5636591" y="15824"/>
                  <a:pt x="5636591" y="35345"/>
                </a:cubicBezTo>
                <a:lnTo>
                  <a:pt x="5636591" y="1625594"/>
                </a:lnTo>
                <a:cubicBezTo>
                  <a:pt x="5636591" y="1645115"/>
                  <a:pt x="5620767" y="1660939"/>
                  <a:pt x="5601247" y="1660939"/>
                </a:cubicBezTo>
                <a:lnTo>
                  <a:pt x="35345" y="1660939"/>
                </a:lnTo>
                <a:cubicBezTo>
                  <a:pt x="15824" y="1660939"/>
                  <a:pt x="0" y="1645115"/>
                  <a:pt x="0" y="1625594"/>
                </a:cubicBezTo>
                <a:lnTo>
                  <a:pt x="0" y="35345"/>
                </a:lnTo>
                <a:cubicBezTo>
                  <a:pt x="0" y="15837"/>
                  <a:pt x="15837" y="0"/>
                  <a:pt x="353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174" y="5170114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99460" y="0"/>
                </a:moveTo>
                <a:cubicBezTo>
                  <a:pt x="99460" y="-6108"/>
                  <a:pt x="94525" y="-11043"/>
                  <a:pt x="88417" y="-11043"/>
                </a:cubicBezTo>
                <a:cubicBezTo>
                  <a:pt x="82308" y="-11043"/>
                  <a:pt x="77373" y="-6108"/>
                  <a:pt x="77373" y="0"/>
                </a:cubicBezTo>
                <a:lnTo>
                  <a:pt x="77373" y="21431"/>
                </a:lnTo>
                <a:lnTo>
                  <a:pt x="72197" y="16255"/>
                </a:lnTo>
                <a:cubicBezTo>
                  <a:pt x="68953" y="13011"/>
                  <a:pt x="63707" y="13011"/>
                  <a:pt x="60498" y="16255"/>
                </a:cubicBezTo>
                <a:cubicBezTo>
                  <a:pt x="57288" y="19499"/>
                  <a:pt x="57254" y="24744"/>
                  <a:pt x="60498" y="27954"/>
                </a:cubicBezTo>
                <a:lnTo>
                  <a:pt x="77408" y="44864"/>
                </a:lnTo>
                <a:lnTo>
                  <a:pt x="77408" y="69229"/>
                </a:lnTo>
                <a:lnTo>
                  <a:pt x="56287" y="57046"/>
                </a:lnTo>
                <a:lnTo>
                  <a:pt x="50110" y="33959"/>
                </a:lnTo>
                <a:cubicBezTo>
                  <a:pt x="48936" y="29541"/>
                  <a:pt x="44381" y="26918"/>
                  <a:pt x="39964" y="28092"/>
                </a:cubicBezTo>
                <a:cubicBezTo>
                  <a:pt x="35546" y="29265"/>
                  <a:pt x="32889" y="33821"/>
                  <a:pt x="34062" y="38238"/>
                </a:cubicBezTo>
                <a:lnTo>
                  <a:pt x="35960" y="45313"/>
                </a:lnTo>
                <a:lnTo>
                  <a:pt x="17428" y="34614"/>
                </a:lnTo>
                <a:cubicBezTo>
                  <a:pt x="12148" y="31577"/>
                  <a:pt x="5384" y="33372"/>
                  <a:pt x="2347" y="38652"/>
                </a:cubicBezTo>
                <a:cubicBezTo>
                  <a:pt x="-690" y="43932"/>
                  <a:pt x="1104" y="50696"/>
                  <a:pt x="6385" y="53733"/>
                </a:cubicBezTo>
                <a:lnTo>
                  <a:pt x="24917" y="64432"/>
                </a:lnTo>
                <a:lnTo>
                  <a:pt x="17842" y="66330"/>
                </a:lnTo>
                <a:cubicBezTo>
                  <a:pt x="13425" y="67503"/>
                  <a:pt x="10802" y="72059"/>
                  <a:pt x="11975" y="76476"/>
                </a:cubicBezTo>
                <a:cubicBezTo>
                  <a:pt x="13149" y="80893"/>
                  <a:pt x="17704" y="83516"/>
                  <a:pt x="22121" y="82343"/>
                </a:cubicBezTo>
                <a:lnTo>
                  <a:pt x="45209" y="76165"/>
                </a:lnTo>
                <a:lnTo>
                  <a:pt x="66330" y="88348"/>
                </a:lnTo>
                <a:lnTo>
                  <a:pt x="45209" y="100530"/>
                </a:lnTo>
                <a:lnTo>
                  <a:pt x="22121" y="94353"/>
                </a:lnTo>
                <a:cubicBezTo>
                  <a:pt x="17704" y="93179"/>
                  <a:pt x="13149" y="95802"/>
                  <a:pt x="11975" y="100220"/>
                </a:cubicBezTo>
                <a:cubicBezTo>
                  <a:pt x="10802" y="104637"/>
                  <a:pt x="13425" y="109192"/>
                  <a:pt x="17842" y="110366"/>
                </a:cubicBezTo>
                <a:lnTo>
                  <a:pt x="24917" y="112264"/>
                </a:lnTo>
                <a:lnTo>
                  <a:pt x="6385" y="122962"/>
                </a:lnTo>
                <a:cubicBezTo>
                  <a:pt x="1104" y="125999"/>
                  <a:pt x="-690" y="132763"/>
                  <a:pt x="2347" y="138043"/>
                </a:cubicBezTo>
                <a:cubicBezTo>
                  <a:pt x="5384" y="143324"/>
                  <a:pt x="12148" y="145153"/>
                  <a:pt x="17428" y="142081"/>
                </a:cubicBezTo>
                <a:lnTo>
                  <a:pt x="35960" y="131383"/>
                </a:lnTo>
                <a:lnTo>
                  <a:pt x="34062" y="138458"/>
                </a:lnTo>
                <a:cubicBezTo>
                  <a:pt x="32889" y="142875"/>
                  <a:pt x="35512" y="147430"/>
                  <a:pt x="39929" y="148604"/>
                </a:cubicBezTo>
                <a:cubicBezTo>
                  <a:pt x="44346" y="149777"/>
                  <a:pt x="48902" y="147154"/>
                  <a:pt x="50075" y="142737"/>
                </a:cubicBezTo>
                <a:lnTo>
                  <a:pt x="56253" y="119649"/>
                </a:lnTo>
                <a:lnTo>
                  <a:pt x="77373" y="107467"/>
                </a:lnTo>
                <a:lnTo>
                  <a:pt x="77373" y="131832"/>
                </a:lnTo>
                <a:lnTo>
                  <a:pt x="60463" y="148742"/>
                </a:lnTo>
                <a:cubicBezTo>
                  <a:pt x="57219" y="151986"/>
                  <a:pt x="57219" y="157232"/>
                  <a:pt x="60463" y="160441"/>
                </a:cubicBezTo>
                <a:cubicBezTo>
                  <a:pt x="63707" y="163651"/>
                  <a:pt x="68953" y="163685"/>
                  <a:pt x="72162" y="160441"/>
                </a:cubicBezTo>
                <a:lnTo>
                  <a:pt x="77339" y="155264"/>
                </a:lnTo>
                <a:lnTo>
                  <a:pt x="77339" y="176696"/>
                </a:lnTo>
                <a:cubicBezTo>
                  <a:pt x="77339" y="182804"/>
                  <a:pt x="82274" y="187739"/>
                  <a:pt x="88382" y="187739"/>
                </a:cubicBezTo>
                <a:cubicBezTo>
                  <a:pt x="94491" y="187739"/>
                  <a:pt x="99426" y="182804"/>
                  <a:pt x="99426" y="176696"/>
                </a:cubicBezTo>
                <a:lnTo>
                  <a:pt x="99426" y="155264"/>
                </a:lnTo>
                <a:lnTo>
                  <a:pt x="104602" y="160441"/>
                </a:lnTo>
                <a:cubicBezTo>
                  <a:pt x="107846" y="163685"/>
                  <a:pt x="113092" y="163685"/>
                  <a:pt x="116302" y="160441"/>
                </a:cubicBezTo>
                <a:cubicBezTo>
                  <a:pt x="119511" y="157197"/>
                  <a:pt x="119546" y="151951"/>
                  <a:pt x="116302" y="148742"/>
                </a:cubicBezTo>
                <a:lnTo>
                  <a:pt x="99391" y="131832"/>
                </a:lnTo>
                <a:lnTo>
                  <a:pt x="99391" y="107467"/>
                </a:lnTo>
                <a:lnTo>
                  <a:pt x="120512" y="119649"/>
                </a:lnTo>
                <a:lnTo>
                  <a:pt x="126689" y="142737"/>
                </a:lnTo>
                <a:cubicBezTo>
                  <a:pt x="127863" y="147154"/>
                  <a:pt x="132418" y="149777"/>
                  <a:pt x="136836" y="148604"/>
                </a:cubicBezTo>
                <a:cubicBezTo>
                  <a:pt x="141253" y="147430"/>
                  <a:pt x="143876" y="142875"/>
                  <a:pt x="142702" y="138458"/>
                </a:cubicBezTo>
                <a:lnTo>
                  <a:pt x="140804" y="131383"/>
                </a:lnTo>
                <a:lnTo>
                  <a:pt x="159337" y="142081"/>
                </a:lnTo>
                <a:cubicBezTo>
                  <a:pt x="164617" y="145118"/>
                  <a:pt x="171381" y="143324"/>
                  <a:pt x="174418" y="138043"/>
                </a:cubicBezTo>
                <a:cubicBezTo>
                  <a:pt x="177455" y="132763"/>
                  <a:pt x="175660" y="125999"/>
                  <a:pt x="170380" y="122962"/>
                </a:cubicBezTo>
                <a:lnTo>
                  <a:pt x="151848" y="112264"/>
                </a:lnTo>
                <a:lnTo>
                  <a:pt x="158923" y="110366"/>
                </a:lnTo>
                <a:cubicBezTo>
                  <a:pt x="163340" y="109192"/>
                  <a:pt x="165963" y="104637"/>
                  <a:pt x="164789" y="100220"/>
                </a:cubicBezTo>
                <a:cubicBezTo>
                  <a:pt x="163616" y="95802"/>
                  <a:pt x="159061" y="93179"/>
                  <a:pt x="154643" y="94353"/>
                </a:cubicBezTo>
                <a:lnTo>
                  <a:pt x="131555" y="100530"/>
                </a:lnTo>
                <a:lnTo>
                  <a:pt x="110435" y="88348"/>
                </a:lnTo>
                <a:lnTo>
                  <a:pt x="131555" y="76165"/>
                </a:lnTo>
                <a:lnTo>
                  <a:pt x="154643" y="82343"/>
                </a:lnTo>
                <a:cubicBezTo>
                  <a:pt x="159061" y="83516"/>
                  <a:pt x="163616" y="80893"/>
                  <a:pt x="164789" y="76476"/>
                </a:cubicBezTo>
                <a:cubicBezTo>
                  <a:pt x="165963" y="72059"/>
                  <a:pt x="163340" y="67503"/>
                  <a:pt x="158923" y="66330"/>
                </a:cubicBezTo>
                <a:lnTo>
                  <a:pt x="151848" y="64432"/>
                </a:lnTo>
                <a:lnTo>
                  <a:pt x="170380" y="53733"/>
                </a:lnTo>
                <a:cubicBezTo>
                  <a:pt x="175660" y="50696"/>
                  <a:pt x="177489" y="43932"/>
                  <a:pt x="174418" y="38652"/>
                </a:cubicBezTo>
                <a:cubicBezTo>
                  <a:pt x="171346" y="33372"/>
                  <a:pt x="164617" y="31577"/>
                  <a:pt x="159337" y="34614"/>
                </a:cubicBezTo>
                <a:lnTo>
                  <a:pt x="140804" y="45313"/>
                </a:lnTo>
                <a:lnTo>
                  <a:pt x="142702" y="38238"/>
                </a:lnTo>
                <a:cubicBezTo>
                  <a:pt x="143876" y="33821"/>
                  <a:pt x="141253" y="29265"/>
                  <a:pt x="136836" y="28092"/>
                </a:cubicBezTo>
                <a:cubicBezTo>
                  <a:pt x="132418" y="26918"/>
                  <a:pt x="127863" y="29541"/>
                  <a:pt x="126689" y="33959"/>
                </a:cubicBezTo>
                <a:lnTo>
                  <a:pt x="120512" y="57046"/>
                </a:lnTo>
                <a:lnTo>
                  <a:pt x="99391" y="69229"/>
                </a:lnTo>
                <a:lnTo>
                  <a:pt x="99391" y="44864"/>
                </a:lnTo>
                <a:lnTo>
                  <a:pt x="116302" y="27954"/>
                </a:lnTo>
                <a:cubicBezTo>
                  <a:pt x="119546" y="24710"/>
                  <a:pt x="119546" y="19464"/>
                  <a:pt x="116302" y="16255"/>
                </a:cubicBezTo>
                <a:cubicBezTo>
                  <a:pt x="113058" y="13045"/>
                  <a:pt x="107812" y="13011"/>
                  <a:pt x="104602" y="16255"/>
                </a:cubicBezTo>
                <a:lnTo>
                  <a:pt x="99426" y="21431"/>
                </a:lnTo>
                <a:lnTo>
                  <a:pt x="99426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2" name="Text 20"/>
          <p:cNvSpPr/>
          <p:nvPr/>
        </p:nvSpPr>
        <p:spPr>
          <a:xfrm>
            <a:off x="750957" y="5134775"/>
            <a:ext cx="51506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Frozen Corpus Methodology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087" y="5523506"/>
            <a:ext cx="5353878" cy="9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3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dataset has been completely isolated and frozen in a dedicated analytical warehouse. This ensures all downstream clustering, classification, and association rule mining algorithms produce </a:t>
            </a:r>
            <a:pPr>
              <a:lnSpc>
                <a:spcPct val="14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deterministic, repeatable, and academically verifiable results</a:t>
            </a:r>
            <a:pPr>
              <a:lnSpc>
                <a:spcPct val="140000"/>
              </a:lnSpc>
            </a:pPr>
            <a:r>
              <a:rPr lang="en-US" sz="1113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structural drift.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0030" y="1342887"/>
            <a:ext cx="5636591" cy="4523409"/>
          </a:xfrm>
          <a:custGeom>
            <a:avLst/>
            <a:gdLst/>
            <a:ahLst/>
            <a:cxnLst/>
            <a:rect l="l" t="t" r="r" b="b"/>
            <a:pathLst>
              <a:path w="5636591" h="4523409">
                <a:moveTo>
                  <a:pt x="35328" y="0"/>
                </a:moveTo>
                <a:lnTo>
                  <a:pt x="5601263" y="0"/>
                </a:lnTo>
                <a:cubicBezTo>
                  <a:pt x="5620774" y="0"/>
                  <a:pt x="5636591" y="15817"/>
                  <a:pt x="5636591" y="35328"/>
                </a:cubicBezTo>
                <a:lnTo>
                  <a:pt x="5636591" y="4488081"/>
                </a:lnTo>
                <a:cubicBezTo>
                  <a:pt x="5636591" y="4507592"/>
                  <a:pt x="5620774" y="4523409"/>
                  <a:pt x="5601263" y="4523409"/>
                </a:cubicBezTo>
                <a:lnTo>
                  <a:pt x="35328" y="4523409"/>
                </a:lnTo>
                <a:cubicBezTo>
                  <a:pt x="15817" y="4523409"/>
                  <a:pt x="0" y="4507592"/>
                  <a:pt x="0" y="4488081"/>
                </a:cubicBezTo>
                <a:lnTo>
                  <a:pt x="0" y="35328"/>
                </a:lnTo>
                <a:cubicBezTo>
                  <a:pt x="0" y="15817"/>
                  <a:pt x="15817" y="0"/>
                  <a:pt x="3532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6376725" y="1519583"/>
            <a:ext cx="537154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Schema Structure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4395" y="1908313"/>
            <a:ext cx="5265530" cy="671443"/>
          </a:xfrm>
          <a:custGeom>
            <a:avLst/>
            <a:gdLst/>
            <a:ahLst/>
            <a:cxnLst/>
            <a:rect l="l" t="t" r="r" b="b"/>
            <a:pathLst>
              <a:path w="5265530" h="671443">
                <a:moveTo>
                  <a:pt x="35338" y="0"/>
                </a:moveTo>
                <a:lnTo>
                  <a:pt x="5230192" y="0"/>
                </a:lnTo>
                <a:cubicBezTo>
                  <a:pt x="5249709" y="0"/>
                  <a:pt x="5265530" y="15821"/>
                  <a:pt x="5265530" y="35338"/>
                </a:cubicBezTo>
                <a:lnTo>
                  <a:pt x="5265530" y="636105"/>
                </a:lnTo>
                <a:cubicBezTo>
                  <a:pt x="5265530" y="655622"/>
                  <a:pt x="5249709" y="671443"/>
                  <a:pt x="5230192" y="671443"/>
                </a:cubicBezTo>
                <a:lnTo>
                  <a:pt x="35338" y="671443"/>
                </a:lnTo>
                <a:cubicBezTo>
                  <a:pt x="15821" y="671443"/>
                  <a:pt x="0" y="655622"/>
                  <a:pt x="0" y="636105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4395" y="1908313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8" name="Text 26"/>
          <p:cNvSpPr/>
          <p:nvPr/>
        </p:nvSpPr>
        <p:spPr>
          <a:xfrm>
            <a:off x="6518082" y="2032000"/>
            <a:ext cx="30038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58390" y="2014330"/>
            <a:ext cx="697948" cy="247374"/>
          </a:xfrm>
          <a:custGeom>
            <a:avLst/>
            <a:gdLst/>
            <a:ahLst/>
            <a:cxnLst/>
            <a:rect l="l" t="t" r="r" b="b"/>
            <a:pathLst>
              <a:path w="697948" h="247374">
                <a:moveTo>
                  <a:pt x="35340" y="0"/>
                </a:moveTo>
                <a:lnTo>
                  <a:pt x="662608" y="0"/>
                </a:lnTo>
                <a:cubicBezTo>
                  <a:pt x="682126" y="0"/>
                  <a:pt x="697948" y="15822"/>
                  <a:pt x="697948" y="35340"/>
                </a:cubicBezTo>
                <a:lnTo>
                  <a:pt x="697948" y="212034"/>
                </a:lnTo>
                <a:cubicBezTo>
                  <a:pt x="697948" y="231539"/>
                  <a:pt x="682113" y="247374"/>
                  <a:pt x="662608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858390" y="2014330"/>
            <a:ext cx="759791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18082" y="2297043"/>
            <a:ext cx="5097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Headline serving as concentrated summary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4395" y="2685774"/>
            <a:ext cx="5265530" cy="671443"/>
          </a:xfrm>
          <a:custGeom>
            <a:avLst/>
            <a:gdLst/>
            <a:ahLst/>
            <a:cxnLst/>
            <a:rect l="l" t="t" r="r" b="b"/>
            <a:pathLst>
              <a:path w="5265530" h="671443">
                <a:moveTo>
                  <a:pt x="35338" y="0"/>
                </a:moveTo>
                <a:lnTo>
                  <a:pt x="5230192" y="0"/>
                </a:lnTo>
                <a:cubicBezTo>
                  <a:pt x="5249709" y="0"/>
                  <a:pt x="5265530" y="15821"/>
                  <a:pt x="5265530" y="35338"/>
                </a:cubicBezTo>
                <a:lnTo>
                  <a:pt x="5265530" y="636105"/>
                </a:lnTo>
                <a:cubicBezTo>
                  <a:pt x="5265530" y="655622"/>
                  <a:pt x="5249709" y="671443"/>
                  <a:pt x="5230192" y="671443"/>
                </a:cubicBezTo>
                <a:lnTo>
                  <a:pt x="35338" y="671443"/>
                </a:lnTo>
                <a:cubicBezTo>
                  <a:pt x="15821" y="671443"/>
                  <a:pt x="0" y="655622"/>
                  <a:pt x="0" y="636105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94395" y="2685774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4" name="Text 32"/>
          <p:cNvSpPr/>
          <p:nvPr/>
        </p:nvSpPr>
        <p:spPr>
          <a:xfrm>
            <a:off x="6518082" y="2809461"/>
            <a:ext cx="538922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134146" y="2791791"/>
            <a:ext cx="415235" cy="247374"/>
          </a:xfrm>
          <a:custGeom>
            <a:avLst/>
            <a:gdLst/>
            <a:ahLst/>
            <a:cxnLst/>
            <a:rect l="l" t="t" r="r" b="b"/>
            <a:pathLst>
              <a:path w="415235" h="247374">
                <a:moveTo>
                  <a:pt x="35340" y="0"/>
                </a:moveTo>
                <a:lnTo>
                  <a:pt x="379895" y="0"/>
                </a:lnTo>
                <a:cubicBezTo>
                  <a:pt x="399413" y="0"/>
                  <a:pt x="415235" y="15822"/>
                  <a:pt x="415235" y="35340"/>
                </a:cubicBezTo>
                <a:lnTo>
                  <a:pt x="415235" y="212034"/>
                </a:lnTo>
                <a:cubicBezTo>
                  <a:pt x="415235" y="231552"/>
                  <a:pt x="399413" y="247374"/>
                  <a:pt x="379895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134146" y="2791791"/>
            <a:ext cx="477078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18082" y="3074504"/>
            <a:ext cx="5097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unstructured body with narrative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4395" y="3463235"/>
            <a:ext cx="5265530" cy="671443"/>
          </a:xfrm>
          <a:custGeom>
            <a:avLst/>
            <a:gdLst/>
            <a:ahLst/>
            <a:cxnLst/>
            <a:rect l="l" t="t" r="r" b="b"/>
            <a:pathLst>
              <a:path w="5265530" h="671443">
                <a:moveTo>
                  <a:pt x="35338" y="0"/>
                </a:moveTo>
                <a:lnTo>
                  <a:pt x="5230192" y="0"/>
                </a:lnTo>
                <a:cubicBezTo>
                  <a:pt x="5249709" y="0"/>
                  <a:pt x="5265530" y="15821"/>
                  <a:pt x="5265530" y="35338"/>
                </a:cubicBezTo>
                <a:lnTo>
                  <a:pt x="5265530" y="636105"/>
                </a:lnTo>
                <a:cubicBezTo>
                  <a:pt x="5265530" y="655622"/>
                  <a:pt x="5249709" y="671443"/>
                  <a:pt x="5230192" y="671443"/>
                </a:cubicBezTo>
                <a:lnTo>
                  <a:pt x="35338" y="671443"/>
                </a:lnTo>
                <a:cubicBezTo>
                  <a:pt x="15821" y="671443"/>
                  <a:pt x="0" y="655622"/>
                  <a:pt x="0" y="636105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394395" y="3463235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0" name="Text 38"/>
          <p:cNvSpPr/>
          <p:nvPr/>
        </p:nvSpPr>
        <p:spPr>
          <a:xfrm>
            <a:off x="6518082" y="3586922"/>
            <a:ext cx="85697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published_at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758778" y="3569252"/>
            <a:ext cx="795130" cy="247374"/>
          </a:xfrm>
          <a:custGeom>
            <a:avLst/>
            <a:gdLst/>
            <a:ahLst/>
            <a:cxnLst/>
            <a:rect l="l" t="t" r="r" b="b"/>
            <a:pathLst>
              <a:path w="795130" h="247374">
                <a:moveTo>
                  <a:pt x="35340" y="0"/>
                </a:moveTo>
                <a:lnTo>
                  <a:pt x="759791" y="0"/>
                </a:lnTo>
                <a:cubicBezTo>
                  <a:pt x="779308" y="0"/>
                  <a:pt x="795130" y="15822"/>
                  <a:pt x="795130" y="35340"/>
                </a:cubicBezTo>
                <a:lnTo>
                  <a:pt x="795130" y="212034"/>
                </a:lnTo>
                <a:cubicBezTo>
                  <a:pt x="795130" y="231539"/>
                  <a:pt x="779295" y="247374"/>
                  <a:pt x="759791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758778" y="3569252"/>
            <a:ext cx="856974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18082" y="3851965"/>
            <a:ext cx="5097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timestamp for time-series mining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4395" y="4240696"/>
            <a:ext cx="5265530" cy="671443"/>
          </a:xfrm>
          <a:custGeom>
            <a:avLst/>
            <a:gdLst/>
            <a:ahLst/>
            <a:cxnLst/>
            <a:rect l="l" t="t" r="r" b="b"/>
            <a:pathLst>
              <a:path w="5265530" h="671443">
                <a:moveTo>
                  <a:pt x="35338" y="0"/>
                </a:moveTo>
                <a:lnTo>
                  <a:pt x="5230192" y="0"/>
                </a:lnTo>
                <a:cubicBezTo>
                  <a:pt x="5249709" y="0"/>
                  <a:pt x="5265530" y="15821"/>
                  <a:pt x="5265530" y="35338"/>
                </a:cubicBezTo>
                <a:lnTo>
                  <a:pt x="5265530" y="636105"/>
                </a:lnTo>
                <a:cubicBezTo>
                  <a:pt x="5265530" y="655622"/>
                  <a:pt x="5249709" y="671443"/>
                  <a:pt x="5230192" y="671443"/>
                </a:cubicBezTo>
                <a:lnTo>
                  <a:pt x="35338" y="671443"/>
                </a:lnTo>
                <a:cubicBezTo>
                  <a:pt x="15821" y="671443"/>
                  <a:pt x="0" y="655622"/>
                  <a:pt x="0" y="636105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394395" y="4240696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6" name="Text 44"/>
          <p:cNvSpPr/>
          <p:nvPr/>
        </p:nvSpPr>
        <p:spPr>
          <a:xfrm>
            <a:off x="6518082" y="4364383"/>
            <a:ext cx="48591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858390" y="4346713"/>
            <a:ext cx="697948" cy="247374"/>
          </a:xfrm>
          <a:custGeom>
            <a:avLst/>
            <a:gdLst/>
            <a:ahLst/>
            <a:cxnLst/>
            <a:rect l="l" t="t" r="r" b="b"/>
            <a:pathLst>
              <a:path w="697948" h="247374">
                <a:moveTo>
                  <a:pt x="35340" y="0"/>
                </a:moveTo>
                <a:lnTo>
                  <a:pt x="662608" y="0"/>
                </a:lnTo>
                <a:cubicBezTo>
                  <a:pt x="682126" y="0"/>
                  <a:pt x="697948" y="15822"/>
                  <a:pt x="697948" y="35340"/>
                </a:cubicBezTo>
                <a:lnTo>
                  <a:pt x="697948" y="212034"/>
                </a:lnTo>
                <a:cubicBezTo>
                  <a:pt x="697948" y="231539"/>
                  <a:pt x="682113" y="247374"/>
                  <a:pt x="662608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858390" y="4346713"/>
            <a:ext cx="759791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18082" y="4629426"/>
            <a:ext cx="5097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Publisher entity (Reuters, AP, etc.)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4395" y="5018157"/>
            <a:ext cx="5265530" cy="671443"/>
          </a:xfrm>
          <a:custGeom>
            <a:avLst/>
            <a:gdLst/>
            <a:ahLst/>
            <a:cxnLst/>
            <a:rect l="l" t="t" r="r" b="b"/>
            <a:pathLst>
              <a:path w="5265530" h="671443">
                <a:moveTo>
                  <a:pt x="35338" y="0"/>
                </a:moveTo>
                <a:lnTo>
                  <a:pt x="5230192" y="0"/>
                </a:lnTo>
                <a:cubicBezTo>
                  <a:pt x="5249709" y="0"/>
                  <a:pt x="5265530" y="15821"/>
                  <a:pt x="5265530" y="35338"/>
                </a:cubicBezTo>
                <a:lnTo>
                  <a:pt x="5265530" y="636105"/>
                </a:lnTo>
                <a:cubicBezTo>
                  <a:pt x="5265530" y="655622"/>
                  <a:pt x="5249709" y="671443"/>
                  <a:pt x="5230192" y="671443"/>
                </a:cubicBezTo>
                <a:lnTo>
                  <a:pt x="35338" y="671443"/>
                </a:lnTo>
                <a:cubicBezTo>
                  <a:pt x="15821" y="671443"/>
                  <a:pt x="0" y="655622"/>
                  <a:pt x="0" y="636105"/>
                </a:cubicBezTo>
                <a:lnTo>
                  <a:pt x="0" y="35338"/>
                </a:lnTo>
                <a:cubicBezTo>
                  <a:pt x="0" y="15834"/>
                  <a:pt x="15834" y="0"/>
                  <a:pt x="3533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394395" y="5018157"/>
            <a:ext cx="35339" cy="671443"/>
          </a:xfrm>
          <a:custGeom>
            <a:avLst/>
            <a:gdLst/>
            <a:ahLst/>
            <a:cxnLst/>
            <a:rect l="l" t="t" r="r" b="b"/>
            <a:pathLst>
              <a:path w="35339" h="671443">
                <a:moveTo>
                  <a:pt x="35339" y="0"/>
                </a:moveTo>
                <a:lnTo>
                  <a:pt x="35339" y="0"/>
                </a:lnTo>
                <a:lnTo>
                  <a:pt x="35339" y="671443"/>
                </a:lnTo>
                <a:lnTo>
                  <a:pt x="35339" y="671443"/>
                </a:lnTo>
                <a:cubicBezTo>
                  <a:pt x="15822" y="671443"/>
                  <a:pt x="0" y="655622"/>
                  <a:pt x="0" y="636104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52" name="Text 50"/>
          <p:cNvSpPr/>
          <p:nvPr/>
        </p:nvSpPr>
        <p:spPr>
          <a:xfrm>
            <a:off x="6518082" y="5141843"/>
            <a:ext cx="60076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858390" y="5124174"/>
            <a:ext cx="697948" cy="247374"/>
          </a:xfrm>
          <a:custGeom>
            <a:avLst/>
            <a:gdLst/>
            <a:ahLst/>
            <a:cxnLst/>
            <a:rect l="l" t="t" r="r" b="b"/>
            <a:pathLst>
              <a:path w="697948" h="247374">
                <a:moveTo>
                  <a:pt x="35340" y="0"/>
                </a:moveTo>
                <a:lnTo>
                  <a:pt x="662608" y="0"/>
                </a:lnTo>
                <a:cubicBezTo>
                  <a:pt x="682126" y="0"/>
                  <a:pt x="697948" y="15822"/>
                  <a:pt x="697948" y="35340"/>
                </a:cubicBezTo>
                <a:lnTo>
                  <a:pt x="697948" y="212034"/>
                </a:lnTo>
                <a:cubicBezTo>
                  <a:pt x="697948" y="231539"/>
                  <a:pt x="682113" y="247374"/>
                  <a:pt x="662608" y="247374"/>
                </a:cubicBezTo>
                <a:lnTo>
                  <a:pt x="35340" y="247374"/>
                </a:lnTo>
                <a:cubicBezTo>
                  <a:pt x="15822" y="247374"/>
                  <a:pt x="0" y="231552"/>
                  <a:pt x="0" y="212034"/>
                </a:cubicBezTo>
                <a:lnTo>
                  <a:pt x="0" y="35340"/>
                </a:lnTo>
                <a:cubicBezTo>
                  <a:pt x="0" y="15835"/>
                  <a:pt x="15835" y="0"/>
                  <a:pt x="3534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858390" y="5124174"/>
            <a:ext cx="759791" cy="247374"/>
          </a:xfrm>
          <a:prstGeom prst="rect">
            <a:avLst/>
          </a:prstGeom>
          <a:noFill/>
          <a:ln/>
        </p:spPr>
        <p:txBody>
          <a:bodyPr wrap="square" lIns="70678" tIns="35339" rIns="70678" bIns="35339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18082" y="5406887"/>
            <a:ext cx="5097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classification label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00030" y="6042991"/>
            <a:ext cx="5636591" cy="812800"/>
          </a:xfrm>
          <a:custGeom>
            <a:avLst/>
            <a:gdLst/>
            <a:ahLst/>
            <a:cxnLst/>
            <a:rect l="l" t="t" r="r" b="b"/>
            <a:pathLst>
              <a:path w="5636591" h="812800">
                <a:moveTo>
                  <a:pt x="35341" y="0"/>
                </a:moveTo>
                <a:lnTo>
                  <a:pt x="5601251" y="0"/>
                </a:lnTo>
                <a:cubicBezTo>
                  <a:pt x="5620769" y="0"/>
                  <a:pt x="5636591" y="15823"/>
                  <a:pt x="5636591" y="35341"/>
                </a:cubicBezTo>
                <a:lnTo>
                  <a:pt x="5636591" y="777459"/>
                </a:lnTo>
                <a:cubicBezTo>
                  <a:pt x="5636591" y="796977"/>
                  <a:pt x="5620769" y="812800"/>
                  <a:pt x="5601251" y="812800"/>
                </a:cubicBezTo>
                <a:lnTo>
                  <a:pt x="35341" y="812800"/>
                </a:lnTo>
                <a:cubicBezTo>
                  <a:pt x="15823" y="812800"/>
                  <a:pt x="0" y="796977"/>
                  <a:pt x="0" y="777459"/>
                </a:cubicBezTo>
                <a:lnTo>
                  <a:pt x="0" y="35341"/>
                </a:lnTo>
                <a:cubicBezTo>
                  <a:pt x="0" y="15836"/>
                  <a:pt x="15836" y="0"/>
                  <a:pt x="35341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7" name="Text 55"/>
          <p:cNvSpPr/>
          <p:nvPr/>
        </p:nvSpPr>
        <p:spPr>
          <a:xfrm>
            <a:off x="6341386" y="6184348"/>
            <a:ext cx="1634435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Distribution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1386" y="6431722"/>
            <a:ext cx="1669774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Perfectly Balanced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822388" y="6272586"/>
            <a:ext cx="87464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· Sports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22388" y="6449281"/>
            <a:ext cx="87464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· Tech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High-Level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09700"/>
            <a:ext cx="11430000" cy="3009900"/>
          </a:xfrm>
          <a:custGeom>
            <a:avLst/>
            <a:gdLst/>
            <a:ahLst/>
            <a:cxnLst/>
            <a:rect l="l" t="t" r="r" b="b"/>
            <a:pathLst>
              <a:path w="11430000" h="3009900">
                <a:moveTo>
                  <a:pt x="38105" y="0"/>
                </a:moveTo>
                <a:lnTo>
                  <a:pt x="11391895" y="0"/>
                </a:lnTo>
                <a:cubicBezTo>
                  <a:pt x="11412940" y="0"/>
                  <a:pt x="11430000" y="17060"/>
                  <a:pt x="11430000" y="38105"/>
                </a:cubicBezTo>
                <a:lnTo>
                  <a:pt x="11430000" y="2971795"/>
                </a:lnTo>
                <a:cubicBezTo>
                  <a:pt x="11430000" y="2992840"/>
                  <a:pt x="11412940" y="3009900"/>
                  <a:pt x="11391895" y="3009900"/>
                </a:cubicBezTo>
                <a:lnTo>
                  <a:pt x="38105" y="3009900"/>
                </a:lnTo>
                <a:cubicBezTo>
                  <a:pt x="17060" y="3009900"/>
                  <a:pt x="0" y="2992840"/>
                  <a:pt x="0" y="2971795"/>
                </a:cubicBezTo>
                <a:lnTo>
                  <a:pt x="0" y="38105"/>
                </a:lnTo>
                <a:cubicBezTo>
                  <a:pt x="0" y="17074"/>
                  <a:pt x="17074" y="0"/>
                  <a:pt x="3810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00200"/>
            <a:ext cx="1112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architecture follows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decoupled client-server paradigm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for scalability, maintainability, and clear separation of concerns. This three-tier structure enables independent development and deployment of each component.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2266950"/>
            <a:ext cx="3581400" cy="1962150"/>
          </a:xfrm>
          <a:custGeom>
            <a:avLst/>
            <a:gdLst/>
            <a:ahLst/>
            <a:cxnLst/>
            <a:rect l="l" t="t" r="r" b="b"/>
            <a:pathLst>
              <a:path w="3581400" h="196215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1924045"/>
                </a:lnTo>
                <a:cubicBezTo>
                  <a:pt x="3581400" y="1945090"/>
                  <a:pt x="3564340" y="1962150"/>
                  <a:pt x="3543295" y="1962150"/>
                </a:cubicBezTo>
                <a:lnTo>
                  <a:pt x="38105" y="1962150"/>
                </a:lnTo>
                <a:cubicBezTo>
                  <a:pt x="17060" y="1962150"/>
                  <a:pt x="0" y="1945090"/>
                  <a:pt x="0" y="19240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22669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" y="2438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" y="257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253365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30099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HTML/Vanilla JS with Chart.js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1284" y="3381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4" name="Text 12"/>
          <p:cNvSpPr/>
          <p:nvPr/>
        </p:nvSpPr>
        <p:spPr>
          <a:xfrm>
            <a:off x="966788" y="33528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1284" y="3648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6" name="Text 14"/>
          <p:cNvSpPr/>
          <p:nvPr/>
        </p:nvSpPr>
        <p:spPr>
          <a:xfrm>
            <a:off x="966788" y="36195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Visualization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1284" y="3914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8" name="Text 16"/>
          <p:cNvSpPr/>
          <p:nvPr/>
        </p:nvSpPr>
        <p:spPr>
          <a:xfrm>
            <a:off x="966788" y="38862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Controls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05300" y="2266950"/>
            <a:ext cx="3581400" cy="1962150"/>
          </a:xfrm>
          <a:custGeom>
            <a:avLst/>
            <a:gdLst/>
            <a:ahLst/>
            <a:cxnLst/>
            <a:rect l="l" t="t" r="r" b="b"/>
            <a:pathLst>
              <a:path w="3581400" h="196215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1924045"/>
                </a:lnTo>
                <a:cubicBezTo>
                  <a:pt x="3581400" y="1945090"/>
                  <a:pt x="3564340" y="1962150"/>
                  <a:pt x="3543295" y="1962150"/>
                </a:cubicBezTo>
                <a:lnTo>
                  <a:pt x="38105" y="1962150"/>
                </a:lnTo>
                <a:cubicBezTo>
                  <a:pt x="17060" y="1962150"/>
                  <a:pt x="0" y="1945090"/>
                  <a:pt x="0" y="19240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5300" y="22669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7700" y="2438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02956" y="2571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5336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Server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7700" y="30099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REST API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5084" y="3381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588" y="33528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mining_engine.py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5084" y="3648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0588" y="36195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analytics_engine.py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5084" y="3914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0" name="Text 28"/>
          <p:cNvSpPr/>
          <p:nvPr/>
        </p:nvSpPr>
        <p:spPr>
          <a:xfrm>
            <a:off x="4700588" y="38862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39100" y="2266950"/>
            <a:ext cx="3581400" cy="1962150"/>
          </a:xfrm>
          <a:custGeom>
            <a:avLst/>
            <a:gdLst/>
            <a:ahLst/>
            <a:cxnLst/>
            <a:rect l="l" t="t" r="r" b="b"/>
            <a:pathLst>
              <a:path w="3581400" h="196215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1924045"/>
                </a:lnTo>
                <a:cubicBezTo>
                  <a:pt x="3581400" y="1945090"/>
                  <a:pt x="3564340" y="1962150"/>
                  <a:pt x="3543295" y="1962150"/>
                </a:cubicBezTo>
                <a:lnTo>
                  <a:pt x="38105" y="1962150"/>
                </a:lnTo>
                <a:cubicBezTo>
                  <a:pt x="17060" y="1962150"/>
                  <a:pt x="0" y="1945090"/>
                  <a:pt x="0" y="19240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039100" y="22669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3" name="Shape 31"/>
          <p:cNvSpPr/>
          <p:nvPr/>
        </p:nvSpPr>
        <p:spPr>
          <a:xfrm>
            <a:off x="8191500" y="2438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4" name="Shape 32"/>
          <p:cNvSpPr/>
          <p:nvPr/>
        </p:nvSpPr>
        <p:spPr>
          <a:xfrm>
            <a:off x="8336756" y="2571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763000" y="253365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Engine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91500" y="30099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DuckDB + ML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18884" y="3381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8" name="Text 36"/>
          <p:cNvSpPr/>
          <p:nvPr/>
        </p:nvSpPr>
        <p:spPr>
          <a:xfrm>
            <a:off x="8434388" y="33528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DuckDB OLAP Store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18884" y="3648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0" name="Text 38"/>
          <p:cNvSpPr/>
          <p:nvPr/>
        </p:nvSpPr>
        <p:spPr>
          <a:xfrm>
            <a:off x="8434388" y="36195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Integration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18884" y="39147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2" name="Text 40"/>
          <p:cNvSpPr/>
          <p:nvPr/>
        </p:nvSpPr>
        <p:spPr>
          <a:xfrm>
            <a:off x="8434388" y="38862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Models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4572000"/>
            <a:ext cx="6800850" cy="2286000"/>
          </a:xfrm>
          <a:custGeom>
            <a:avLst/>
            <a:gdLst/>
            <a:ahLst/>
            <a:cxnLst/>
            <a:rect l="l" t="t" r="r" b="b"/>
            <a:pathLst>
              <a:path w="6800850" h="2286000">
                <a:moveTo>
                  <a:pt x="38108" y="0"/>
                </a:moveTo>
                <a:lnTo>
                  <a:pt x="6762742" y="0"/>
                </a:lnTo>
                <a:cubicBezTo>
                  <a:pt x="6783789" y="0"/>
                  <a:pt x="6800850" y="17061"/>
                  <a:pt x="6800850" y="38108"/>
                </a:cubicBezTo>
                <a:lnTo>
                  <a:pt x="6800850" y="2247892"/>
                </a:lnTo>
                <a:cubicBezTo>
                  <a:pt x="6800850" y="2268939"/>
                  <a:pt x="6783789" y="2286000"/>
                  <a:pt x="6762742" y="2286000"/>
                </a:cubicBezTo>
                <a:lnTo>
                  <a:pt x="38108" y="2286000"/>
                </a:lnTo>
                <a:cubicBezTo>
                  <a:pt x="17061" y="2286000"/>
                  <a:pt x="0" y="2268939"/>
                  <a:pt x="0" y="2247892"/>
                </a:cubicBezTo>
                <a:lnTo>
                  <a:pt x="0" y="38108"/>
                </a:lnTo>
                <a:cubicBezTo>
                  <a:pt x="0" y="17075"/>
                  <a:pt x="17075" y="0"/>
                  <a:pt x="3810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" y="4762500"/>
            <a:ext cx="651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End-to-End Data Flow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1500" y="518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6" name="Shape 44"/>
          <p:cNvSpPr/>
          <p:nvPr/>
        </p:nvSpPr>
        <p:spPr>
          <a:xfrm>
            <a:off x="790575" y="5372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135731"/>
                </a:lnTo>
                <a:lnTo>
                  <a:pt x="81305" y="135731"/>
                </a:lnTo>
                <a:lnTo>
                  <a:pt x="67464" y="121890"/>
                </a:lnTo>
                <a:cubicBezTo>
                  <a:pt x="63267" y="117693"/>
                  <a:pt x="63267" y="110907"/>
                  <a:pt x="67464" y="106754"/>
                </a:cubicBezTo>
                <a:cubicBezTo>
                  <a:pt x="71661" y="102602"/>
                  <a:pt x="78447" y="102557"/>
                  <a:pt x="82600" y="106754"/>
                </a:cubicBezTo>
                <a:lnTo>
                  <a:pt x="114746" y="138901"/>
                </a:lnTo>
                <a:cubicBezTo>
                  <a:pt x="118943" y="143098"/>
                  <a:pt x="118943" y="149885"/>
                  <a:pt x="114746" y="154037"/>
                </a:cubicBezTo>
                <a:lnTo>
                  <a:pt x="82600" y="186184"/>
                </a:lnTo>
                <a:cubicBezTo>
                  <a:pt x="78403" y="190381"/>
                  <a:pt x="71616" y="190381"/>
                  <a:pt x="67464" y="186184"/>
                </a:cubicBezTo>
                <a:cubicBezTo>
                  <a:pt x="63311" y="181987"/>
                  <a:pt x="63267" y="175200"/>
                  <a:pt x="67464" y="171048"/>
                </a:cubicBezTo>
                <a:lnTo>
                  <a:pt x="81305" y="157207"/>
                </a:lnTo>
                <a:lnTo>
                  <a:pt x="0" y="157207"/>
                </a:lnTo>
                <a:lnTo>
                  <a:pt x="0" y="200070"/>
                </a:lnTo>
                <a:cubicBezTo>
                  <a:pt x="0" y="215831"/>
                  <a:pt x="12814" y="228645"/>
                  <a:pt x="28575" y="228645"/>
                </a:cubicBezTo>
                <a:lnTo>
                  <a:pt x="142875" y="228645"/>
                </a:lnTo>
                <a:cubicBezTo>
                  <a:pt x="158636" y="228645"/>
                  <a:pt x="171450" y="215831"/>
                  <a:pt x="171450" y="200070"/>
                </a:cubicBezTo>
                <a:lnTo>
                  <a:pt x="171450" y="76170"/>
                </a:lnTo>
                <a:cubicBezTo>
                  <a:pt x="171450" y="68580"/>
                  <a:pt x="168459" y="61302"/>
                  <a:pt x="163101" y="55944"/>
                </a:cubicBezTo>
                <a:lnTo>
                  <a:pt x="115506" y="8349"/>
                </a:lnTo>
                <a:cubicBezTo>
                  <a:pt x="110148" y="2991"/>
                  <a:pt x="102915" y="0"/>
                  <a:pt x="95324" y="0"/>
                </a:cubicBezTo>
                <a:lnTo>
                  <a:pt x="28575" y="0"/>
                </a:lnTo>
                <a:close/>
                <a:moveTo>
                  <a:pt x="145331" y="78581"/>
                </a:moveTo>
                <a:lnTo>
                  <a:pt x="103584" y="78581"/>
                </a:lnTo>
                <a:cubicBezTo>
                  <a:pt x="97646" y="78581"/>
                  <a:pt x="92869" y="73804"/>
                  <a:pt x="92869" y="67866"/>
                </a:cubicBezTo>
                <a:lnTo>
                  <a:pt x="92869" y="26119"/>
                </a:lnTo>
                <a:lnTo>
                  <a:pt x="145331" y="785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38163" y="58674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2925" y="605790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CSV/API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667232" y="5581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0" name="Shape 48"/>
          <p:cNvSpPr/>
          <p:nvPr/>
        </p:nvSpPr>
        <p:spPr>
          <a:xfrm>
            <a:off x="2457331" y="518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51" name="Shape 49"/>
          <p:cNvSpPr/>
          <p:nvPr/>
        </p:nvSpPr>
        <p:spPr>
          <a:xfrm>
            <a:off x="2647831" y="537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348508" y="58674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2353270" y="6057900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Clean/Tokenize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628549" y="5581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55" name="Shape 53"/>
          <p:cNvSpPr/>
          <p:nvPr/>
        </p:nvSpPr>
        <p:spPr>
          <a:xfrm>
            <a:off x="4455319" y="518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6" name="Shape 54"/>
          <p:cNvSpPr/>
          <p:nvPr/>
        </p:nvSpPr>
        <p:spPr>
          <a:xfrm>
            <a:off x="4645819" y="537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309824" y="58674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314587" y="6057900"/>
            <a:ext cx="89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K-Means/Apriori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63327" y="55815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60" name="Shape 58"/>
          <p:cNvSpPr/>
          <p:nvPr/>
        </p:nvSpPr>
        <p:spPr>
          <a:xfrm>
            <a:off x="6377940" y="518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1" name="Shape 59"/>
          <p:cNvSpPr/>
          <p:nvPr/>
        </p:nvSpPr>
        <p:spPr>
          <a:xfrm>
            <a:off x="6554153" y="537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344603" y="58674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49365" y="605790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30440" y="4572000"/>
            <a:ext cx="4476750" cy="2286000"/>
          </a:xfrm>
          <a:custGeom>
            <a:avLst/>
            <a:gdLst/>
            <a:ahLst/>
            <a:cxnLst/>
            <a:rect l="l" t="t" r="r" b="b"/>
            <a:pathLst>
              <a:path w="4476750" h="2286000">
                <a:moveTo>
                  <a:pt x="38108" y="0"/>
                </a:moveTo>
                <a:lnTo>
                  <a:pt x="4438642" y="0"/>
                </a:lnTo>
                <a:cubicBezTo>
                  <a:pt x="4459689" y="0"/>
                  <a:pt x="4476750" y="17061"/>
                  <a:pt x="4476750" y="38108"/>
                </a:cubicBezTo>
                <a:lnTo>
                  <a:pt x="4476750" y="2247892"/>
                </a:lnTo>
                <a:cubicBezTo>
                  <a:pt x="4476750" y="2268939"/>
                  <a:pt x="4459689" y="2286000"/>
                  <a:pt x="4438642" y="2286000"/>
                </a:cubicBezTo>
                <a:lnTo>
                  <a:pt x="38108" y="2286000"/>
                </a:lnTo>
                <a:cubicBezTo>
                  <a:pt x="17061" y="2286000"/>
                  <a:pt x="0" y="2268939"/>
                  <a:pt x="0" y="2247892"/>
                </a:cubicBezTo>
                <a:lnTo>
                  <a:pt x="0" y="38108"/>
                </a:lnTo>
                <a:cubicBezTo>
                  <a:pt x="0" y="17075"/>
                  <a:pt x="17075" y="0"/>
                  <a:pt x="38108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65" name="Text 63"/>
          <p:cNvSpPr/>
          <p:nvPr/>
        </p:nvSpPr>
        <p:spPr>
          <a:xfrm>
            <a:off x="7520940" y="47625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Architecture Benefits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39990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825740" y="518160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825740" y="54102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component scaling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49515" y="5753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7825740" y="57150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API-Driven Design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825740" y="59436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integration &amp; testing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4951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825740" y="62484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Scalability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825740" y="64770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workers as needed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Data Layer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 &amp; Warehouse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699125" cy="2960688"/>
          </a:xfrm>
          <a:custGeom>
            <a:avLst/>
            <a:gdLst/>
            <a:ahLst/>
            <a:cxnLst/>
            <a:rect l="l" t="t" r="r" b="b"/>
            <a:pathLst>
              <a:path w="5699125" h="2960688">
                <a:moveTo>
                  <a:pt x="31739" y="0"/>
                </a:moveTo>
                <a:lnTo>
                  <a:pt x="5667386" y="0"/>
                </a:lnTo>
                <a:cubicBezTo>
                  <a:pt x="5684915" y="0"/>
                  <a:pt x="5699125" y="14210"/>
                  <a:pt x="5699125" y="31739"/>
                </a:cubicBezTo>
                <a:lnTo>
                  <a:pt x="5699125" y="2928949"/>
                </a:lnTo>
                <a:cubicBezTo>
                  <a:pt x="5699125" y="2946478"/>
                  <a:pt x="5684915" y="2960688"/>
                  <a:pt x="5667386" y="2960688"/>
                </a:cubicBezTo>
                <a:lnTo>
                  <a:pt x="31739" y="2960688"/>
                </a:lnTo>
                <a:cubicBezTo>
                  <a:pt x="14210" y="2960688"/>
                  <a:pt x="0" y="2946478"/>
                  <a:pt x="0" y="2928949"/>
                </a:cubicBezTo>
                <a:lnTo>
                  <a:pt x="0" y="31739"/>
                </a:lnTo>
                <a:cubicBezTo>
                  <a:pt x="0" y="14222"/>
                  <a:pt x="14222" y="0"/>
                  <a:pt x="31739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pic>
        <p:nvPicPr>
          <p:cNvPr id="6" name="Image 0" descr="https://kimi-web-img.moonshot.cn/img/thumbs.dreamstime.com/3fa44f375f0750c7ab49c726c84c8b26028dcd5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333500"/>
            <a:ext cx="508000" cy="5080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111250" y="1365250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DuckDB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1250" y="1619151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OLAP-Optimized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6250" y="1968500"/>
            <a:ext cx="5445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DuckDB serves as the embedded transactional data store, specifically optimized for analytical workloads. Its columnar storage format dramatically improves query performance by reading only required columns.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9425" y="2717800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850" y="2816227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Format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7850" y="3006727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Columnar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17863" y="2717800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6288" y="2816227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Execution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16288" y="3006727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79425" y="3397251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850" y="3495674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7850" y="3686174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In-Memory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17863" y="3397251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16288" y="3495674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16288" y="3686174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17500" y="4264027"/>
            <a:ext cx="5699125" cy="1714500"/>
          </a:xfrm>
          <a:custGeom>
            <a:avLst/>
            <a:gdLst/>
            <a:ahLst/>
            <a:cxnLst/>
            <a:rect l="l" t="t" r="r" b="b"/>
            <a:pathLst>
              <a:path w="5699125" h="1714500">
                <a:moveTo>
                  <a:pt x="31753" y="0"/>
                </a:moveTo>
                <a:lnTo>
                  <a:pt x="5667372" y="0"/>
                </a:lnTo>
                <a:cubicBezTo>
                  <a:pt x="5684909" y="0"/>
                  <a:pt x="5699125" y="14216"/>
                  <a:pt x="5699125" y="31753"/>
                </a:cubicBezTo>
                <a:lnTo>
                  <a:pt x="5699125" y="1682747"/>
                </a:lnTo>
                <a:cubicBezTo>
                  <a:pt x="5699125" y="1700284"/>
                  <a:pt x="5684909" y="1714500"/>
                  <a:pt x="5667372" y="1714500"/>
                </a:cubicBezTo>
                <a:lnTo>
                  <a:pt x="31753" y="1714500"/>
                </a:lnTo>
                <a:cubicBezTo>
                  <a:pt x="14216" y="1714500"/>
                  <a:pt x="0" y="1700284"/>
                  <a:pt x="0" y="1682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3" name="Text 20"/>
          <p:cNvSpPr/>
          <p:nvPr/>
        </p:nvSpPr>
        <p:spPr>
          <a:xfrm>
            <a:off x="476250" y="4422777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DuckDB vs SQLite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6250" y="4772027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Query Speed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3728" y="4772027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10-100x faster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6250" y="4994277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76250" y="4994277"/>
            <a:ext cx="5111750" cy="63500"/>
          </a:xfrm>
          <a:custGeom>
            <a:avLst/>
            <a:gdLst/>
            <a:ahLst/>
            <a:cxnLst/>
            <a:rect l="l" t="t" r="r" b="b"/>
            <a:pathLst>
              <a:path w="5111750" h="63500">
                <a:moveTo>
                  <a:pt x="31750" y="0"/>
                </a:moveTo>
                <a:lnTo>
                  <a:pt x="5080000" y="0"/>
                </a:lnTo>
                <a:cubicBezTo>
                  <a:pt x="5097523" y="0"/>
                  <a:pt x="5111750" y="14227"/>
                  <a:pt x="5111750" y="31750"/>
                </a:cubicBezTo>
                <a:lnTo>
                  <a:pt x="5111750" y="31750"/>
                </a:lnTo>
                <a:cubicBezTo>
                  <a:pt x="5111750" y="49273"/>
                  <a:pt x="5097523" y="63500"/>
                  <a:pt x="50800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476250" y="5153027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Aggregation Performance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389463" y="5153027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76250" y="5375277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76250" y="5375277"/>
            <a:ext cx="4841875" cy="63500"/>
          </a:xfrm>
          <a:custGeom>
            <a:avLst/>
            <a:gdLst/>
            <a:ahLst/>
            <a:cxnLst/>
            <a:rect l="l" t="t" r="r" b="b"/>
            <a:pathLst>
              <a:path w="4841875" h="63500">
                <a:moveTo>
                  <a:pt x="31750" y="0"/>
                </a:moveTo>
                <a:lnTo>
                  <a:pt x="4810125" y="0"/>
                </a:lnTo>
                <a:cubicBezTo>
                  <a:pt x="4827648" y="0"/>
                  <a:pt x="4841875" y="14227"/>
                  <a:pt x="4841875" y="31750"/>
                </a:cubicBezTo>
                <a:lnTo>
                  <a:pt x="4841875" y="31750"/>
                </a:lnTo>
                <a:cubicBezTo>
                  <a:pt x="4841875" y="49273"/>
                  <a:pt x="4827648" y="63500"/>
                  <a:pt x="4810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476250" y="5534027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290939" y="5534027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76250" y="5756277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76250" y="5756277"/>
            <a:ext cx="4572000" cy="63500"/>
          </a:xfrm>
          <a:custGeom>
            <a:avLst/>
            <a:gdLst/>
            <a:ahLst/>
            <a:cxnLst/>
            <a:rect l="l" t="t" r="r" b="b"/>
            <a:pathLst>
              <a:path w="4572000" h="63500">
                <a:moveTo>
                  <a:pt x="31750" y="0"/>
                </a:moveTo>
                <a:lnTo>
                  <a:pt x="4540250" y="0"/>
                </a:lnTo>
                <a:cubicBezTo>
                  <a:pt x="4557773" y="0"/>
                  <a:pt x="4572000" y="14227"/>
                  <a:pt x="4572000" y="31750"/>
                </a:cubicBezTo>
                <a:lnTo>
                  <a:pt x="4572000" y="31750"/>
                </a:lnTo>
                <a:cubicBezTo>
                  <a:pt x="4572000" y="49273"/>
                  <a:pt x="4557773" y="63500"/>
                  <a:pt x="4540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175375" y="1174750"/>
            <a:ext cx="5699125" cy="4826000"/>
          </a:xfrm>
          <a:custGeom>
            <a:avLst/>
            <a:gdLst/>
            <a:ahLst/>
            <a:cxnLst/>
            <a:rect l="l" t="t" r="r" b="b"/>
            <a:pathLst>
              <a:path w="5699125" h="4826000">
                <a:moveTo>
                  <a:pt x="31755" y="0"/>
                </a:moveTo>
                <a:lnTo>
                  <a:pt x="5667370" y="0"/>
                </a:lnTo>
                <a:cubicBezTo>
                  <a:pt x="5684908" y="0"/>
                  <a:pt x="5699125" y="14217"/>
                  <a:pt x="5699125" y="31755"/>
                </a:cubicBezTo>
                <a:lnTo>
                  <a:pt x="5699125" y="4794245"/>
                </a:lnTo>
                <a:cubicBezTo>
                  <a:pt x="5699125" y="4811783"/>
                  <a:pt x="5684908" y="4826000"/>
                  <a:pt x="5667370" y="4826000"/>
                </a:cubicBezTo>
                <a:lnTo>
                  <a:pt x="31755" y="4826000"/>
                </a:lnTo>
                <a:cubicBezTo>
                  <a:pt x="14217" y="4826000"/>
                  <a:pt x="0" y="4811783"/>
                  <a:pt x="0" y="479424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7" name="Text 34"/>
          <p:cNvSpPr/>
          <p:nvPr/>
        </p:nvSpPr>
        <p:spPr>
          <a:xfrm>
            <a:off x="6334125" y="133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Primary Schema: news_articles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50000" y="168275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6350000" y="16827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0" name="Text 37"/>
          <p:cNvSpPr/>
          <p:nvPr/>
        </p:nvSpPr>
        <p:spPr>
          <a:xfrm>
            <a:off x="6461125" y="1778000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461125" y="1968500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997406" y="184150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0997406" y="184150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50000" y="228600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350000" y="228600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6" name="Text 43"/>
          <p:cNvSpPr/>
          <p:nvPr/>
        </p:nvSpPr>
        <p:spPr>
          <a:xfrm>
            <a:off x="6461125" y="23812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461125" y="2571750"/>
            <a:ext cx="80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headline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997406" y="244475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10997406" y="244475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50000" y="288925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6350000" y="28892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52" name="Text 49"/>
          <p:cNvSpPr/>
          <p:nvPr/>
        </p:nvSpPr>
        <p:spPr>
          <a:xfrm>
            <a:off x="6461125" y="29845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461125" y="3175000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article text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1245156" y="3048000"/>
            <a:ext cx="373063" cy="222250"/>
          </a:xfrm>
          <a:custGeom>
            <a:avLst/>
            <a:gdLst/>
            <a:ahLst/>
            <a:cxnLst/>
            <a:rect l="l" t="t" r="r" b="b"/>
            <a:pathLst>
              <a:path w="373063" h="222250">
                <a:moveTo>
                  <a:pt x="31751" y="0"/>
                </a:moveTo>
                <a:lnTo>
                  <a:pt x="341312" y="0"/>
                </a:lnTo>
                <a:cubicBezTo>
                  <a:pt x="358847" y="0"/>
                  <a:pt x="373063" y="14215"/>
                  <a:pt x="373063" y="31751"/>
                </a:cubicBezTo>
                <a:lnTo>
                  <a:pt x="373063" y="190499"/>
                </a:lnTo>
                <a:cubicBezTo>
                  <a:pt x="373063" y="208035"/>
                  <a:pt x="358847" y="222250"/>
                  <a:pt x="341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1245156" y="3048000"/>
            <a:ext cx="428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50000" y="349250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Shape 54"/>
          <p:cNvSpPr/>
          <p:nvPr/>
        </p:nvSpPr>
        <p:spPr>
          <a:xfrm>
            <a:off x="6350000" y="349250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8" name="Text 55"/>
          <p:cNvSpPr/>
          <p:nvPr/>
        </p:nvSpPr>
        <p:spPr>
          <a:xfrm>
            <a:off x="6461125" y="3587750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61125" y="3778250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Publisher entity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0997406" y="365125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10997406" y="365125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350000" y="409575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6350000" y="40957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64" name="Text 61"/>
          <p:cNvSpPr/>
          <p:nvPr/>
        </p:nvSpPr>
        <p:spPr>
          <a:xfrm>
            <a:off x="6461125" y="419100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461125" y="4381500"/>
            <a:ext cx="754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Thematic label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10997406" y="425450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0997406" y="425450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350000" y="469900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Shape 66"/>
          <p:cNvSpPr/>
          <p:nvPr/>
        </p:nvSpPr>
        <p:spPr>
          <a:xfrm>
            <a:off x="6350000" y="469900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70" name="Text 67"/>
          <p:cNvSpPr/>
          <p:nvPr/>
        </p:nvSpPr>
        <p:spPr>
          <a:xfrm>
            <a:off x="6461125" y="4794250"/>
            <a:ext cx="76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published_at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461125" y="4984750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10907911" y="4857750"/>
            <a:ext cx="714375" cy="222250"/>
          </a:xfrm>
          <a:custGeom>
            <a:avLst/>
            <a:gdLst/>
            <a:ahLst/>
            <a:cxnLst/>
            <a:rect l="l" t="t" r="r" b="b"/>
            <a:pathLst>
              <a:path w="714375" h="222250">
                <a:moveTo>
                  <a:pt x="31751" y="0"/>
                </a:moveTo>
                <a:lnTo>
                  <a:pt x="682624" y="0"/>
                </a:lnTo>
                <a:cubicBezTo>
                  <a:pt x="700160" y="0"/>
                  <a:pt x="714375" y="14215"/>
                  <a:pt x="714375" y="31751"/>
                </a:cubicBezTo>
                <a:lnTo>
                  <a:pt x="714375" y="190499"/>
                </a:lnTo>
                <a:cubicBezTo>
                  <a:pt x="714375" y="208035"/>
                  <a:pt x="700160" y="222250"/>
                  <a:pt x="6826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10907911" y="4857750"/>
            <a:ext cx="7699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6350000" y="5302250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5" name="Shape 72"/>
          <p:cNvSpPr/>
          <p:nvPr/>
        </p:nvSpPr>
        <p:spPr>
          <a:xfrm>
            <a:off x="6350000" y="5302250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6" name="Text 73"/>
          <p:cNvSpPr/>
          <p:nvPr/>
        </p:nvSpPr>
        <p:spPr>
          <a:xfrm>
            <a:off x="6461125" y="5397500"/>
            <a:ext cx="59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6461125" y="5588000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link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10997406" y="546100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10997406" y="546100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6175375" y="6127750"/>
            <a:ext cx="5699125" cy="1190625"/>
          </a:xfrm>
          <a:custGeom>
            <a:avLst/>
            <a:gdLst/>
            <a:ahLst/>
            <a:cxnLst/>
            <a:rect l="l" t="t" r="r" b="b"/>
            <a:pathLst>
              <a:path w="5699125" h="1190625">
                <a:moveTo>
                  <a:pt x="31754" y="0"/>
                </a:moveTo>
                <a:lnTo>
                  <a:pt x="5667371" y="0"/>
                </a:lnTo>
                <a:cubicBezTo>
                  <a:pt x="5684908" y="0"/>
                  <a:pt x="5699125" y="14217"/>
                  <a:pt x="5699125" y="31754"/>
                </a:cubicBezTo>
                <a:lnTo>
                  <a:pt x="5699125" y="1158871"/>
                </a:lnTo>
                <a:cubicBezTo>
                  <a:pt x="5699125" y="1176408"/>
                  <a:pt x="5684908" y="1190625"/>
                  <a:pt x="5667371" y="1190625"/>
                </a:cubicBezTo>
                <a:lnTo>
                  <a:pt x="31754" y="1190625"/>
                </a:lnTo>
                <a:cubicBezTo>
                  <a:pt x="14217" y="1190625"/>
                  <a:pt x="0" y="1176408"/>
                  <a:pt x="0" y="1158871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81" name="Text 78"/>
          <p:cNvSpPr/>
          <p:nvPr/>
        </p:nvSpPr>
        <p:spPr>
          <a:xfrm>
            <a:off x="6302375" y="6254750"/>
            <a:ext cx="551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Ingestion Methods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6305550" y="6575425"/>
            <a:ext cx="2665413" cy="609600"/>
          </a:xfrm>
          <a:custGeom>
            <a:avLst/>
            <a:gdLst/>
            <a:ahLst/>
            <a:cxnLst/>
            <a:rect l="l" t="t" r="r" b="b"/>
            <a:pathLst>
              <a:path w="2665413" h="609600">
                <a:moveTo>
                  <a:pt x="31748" y="0"/>
                </a:moveTo>
                <a:lnTo>
                  <a:pt x="2633665" y="0"/>
                </a:lnTo>
                <a:cubicBezTo>
                  <a:pt x="2651198" y="0"/>
                  <a:pt x="2665413" y="14214"/>
                  <a:pt x="2665413" y="31748"/>
                </a:cubicBezTo>
                <a:lnTo>
                  <a:pt x="2665413" y="577852"/>
                </a:lnTo>
                <a:cubicBezTo>
                  <a:pt x="2665412" y="595386"/>
                  <a:pt x="2651198" y="609600"/>
                  <a:pt x="2633665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411912" y="67056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23812" y="0"/>
                </a:moveTo>
                <a:cubicBezTo>
                  <a:pt x="15056" y="0"/>
                  <a:pt x="7938" y="7119"/>
                  <a:pt x="7938" y="15875"/>
                </a:cubicBezTo>
                <a:lnTo>
                  <a:pt x="7938" y="111125"/>
                </a:lnTo>
                <a:cubicBezTo>
                  <a:pt x="7938" y="119881"/>
                  <a:pt x="15056" y="127000"/>
                  <a:pt x="23812" y="127000"/>
                </a:cubicBezTo>
                <a:lnTo>
                  <a:pt x="43656" y="127000"/>
                </a:lnTo>
                <a:lnTo>
                  <a:pt x="43656" y="99219"/>
                </a:lnTo>
                <a:cubicBezTo>
                  <a:pt x="43656" y="90463"/>
                  <a:pt x="50775" y="83344"/>
                  <a:pt x="59531" y="83344"/>
                </a:cubicBezTo>
                <a:lnTo>
                  <a:pt x="103188" y="83344"/>
                </a:lnTo>
                <a:lnTo>
                  <a:pt x="103188" y="42292"/>
                </a:lnTo>
                <a:cubicBezTo>
                  <a:pt x="103188" y="38075"/>
                  <a:pt x="101526" y="34032"/>
                  <a:pt x="98549" y="31055"/>
                </a:cubicBezTo>
                <a:lnTo>
                  <a:pt x="72107" y="4638"/>
                </a:lnTo>
                <a:cubicBezTo>
                  <a:pt x="69131" y="1662"/>
                  <a:pt x="65112" y="0"/>
                  <a:pt x="60896" y="0"/>
                </a:cubicBezTo>
                <a:lnTo>
                  <a:pt x="23812" y="0"/>
                </a:lnTo>
                <a:close/>
                <a:moveTo>
                  <a:pt x="88677" y="43656"/>
                </a:moveTo>
                <a:lnTo>
                  <a:pt x="65484" y="43656"/>
                </a:lnTo>
                <a:cubicBezTo>
                  <a:pt x="62185" y="43656"/>
                  <a:pt x="59531" y="41002"/>
                  <a:pt x="59531" y="37703"/>
                </a:cubicBezTo>
                <a:lnTo>
                  <a:pt x="59531" y="14511"/>
                </a:lnTo>
                <a:lnTo>
                  <a:pt x="88677" y="43656"/>
                </a:lnTo>
                <a:close/>
                <a:moveTo>
                  <a:pt x="65484" y="94258"/>
                </a:moveTo>
                <a:cubicBezTo>
                  <a:pt x="59457" y="94258"/>
                  <a:pt x="54570" y="99144"/>
                  <a:pt x="54570" y="105172"/>
                </a:cubicBezTo>
                <a:lnTo>
                  <a:pt x="54570" y="125016"/>
                </a:lnTo>
                <a:cubicBezTo>
                  <a:pt x="54570" y="131043"/>
                  <a:pt x="59457" y="135930"/>
                  <a:pt x="65484" y="135930"/>
                </a:cubicBezTo>
                <a:lnTo>
                  <a:pt x="69453" y="135930"/>
                </a:lnTo>
                <a:cubicBezTo>
                  <a:pt x="75481" y="135930"/>
                  <a:pt x="80367" y="131043"/>
                  <a:pt x="80367" y="125016"/>
                </a:cubicBezTo>
                <a:lnTo>
                  <a:pt x="80367" y="123031"/>
                </a:lnTo>
                <a:cubicBezTo>
                  <a:pt x="80367" y="120303"/>
                  <a:pt x="78135" y="118070"/>
                  <a:pt x="75406" y="118070"/>
                </a:cubicBezTo>
                <a:cubicBezTo>
                  <a:pt x="72678" y="118070"/>
                  <a:pt x="70445" y="120303"/>
                  <a:pt x="70445" y="123031"/>
                </a:cubicBezTo>
                <a:lnTo>
                  <a:pt x="70445" y="125016"/>
                </a:lnTo>
                <a:cubicBezTo>
                  <a:pt x="70445" y="125561"/>
                  <a:pt x="69999" y="126008"/>
                  <a:pt x="69453" y="126008"/>
                </a:cubicBezTo>
                <a:lnTo>
                  <a:pt x="65484" y="126008"/>
                </a:lnTo>
                <a:cubicBezTo>
                  <a:pt x="64939" y="126008"/>
                  <a:pt x="64492" y="125561"/>
                  <a:pt x="64492" y="125016"/>
                </a:cubicBezTo>
                <a:lnTo>
                  <a:pt x="64492" y="105172"/>
                </a:lnTo>
                <a:cubicBezTo>
                  <a:pt x="64492" y="104626"/>
                  <a:pt x="64939" y="104180"/>
                  <a:pt x="65484" y="104180"/>
                </a:cubicBezTo>
                <a:lnTo>
                  <a:pt x="69453" y="104180"/>
                </a:lnTo>
                <a:cubicBezTo>
                  <a:pt x="69999" y="104180"/>
                  <a:pt x="70445" y="104626"/>
                  <a:pt x="70445" y="105172"/>
                </a:cubicBezTo>
                <a:lnTo>
                  <a:pt x="70445" y="107156"/>
                </a:lnTo>
                <a:cubicBezTo>
                  <a:pt x="70445" y="109885"/>
                  <a:pt x="72678" y="112117"/>
                  <a:pt x="75406" y="112117"/>
                </a:cubicBezTo>
                <a:cubicBezTo>
                  <a:pt x="78135" y="112117"/>
                  <a:pt x="80367" y="109885"/>
                  <a:pt x="80367" y="107156"/>
                </a:cubicBezTo>
                <a:lnTo>
                  <a:pt x="80367" y="105172"/>
                </a:lnTo>
                <a:cubicBezTo>
                  <a:pt x="80367" y="99144"/>
                  <a:pt x="75481" y="94258"/>
                  <a:pt x="69453" y="94258"/>
                </a:cubicBezTo>
                <a:lnTo>
                  <a:pt x="65484" y="94258"/>
                </a:lnTo>
                <a:close/>
                <a:moveTo>
                  <a:pt x="99219" y="94258"/>
                </a:moveTo>
                <a:cubicBezTo>
                  <a:pt x="92100" y="94258"/>
                  <a:pt x="86320" y="100037"/>
                  <a:pt x="86320" y="107156"/>
                </a:cubicBezTo>
                <a:cubicBezTo>
                  <a:pt x="86320" y="114275"/>
                  <a:pt x="92100" y="120055"/>
                  <a:pt x="99219" y="120055"/>
                </a:cubicBezTo>
                <a:cubicBezTo>
                  <a:pt x="100856" y="120055"/>
                  <a:pt x="102195" y="121394"/>
                  <a:pt x="102195" y="123031"/>
                </a:cubicBezTo>
                <a:cubicBezTo>
                  <a:pt x="102195" y="124668"/>
                  <a:pt x="100856" y="126008"/>
                  <a:pt x="99219" y="126008"/>
                </a:cubicBezTo>
                <a:lnTo>
                  <a:pt x="91281" y="126008"/>
                </a:lnTo>
                <a:cubicBezTo>
                  <a:pt x="88553" y="126008"/>
                  <a:pt x="86320" y="128240"/>
                  <a:pt x="86320" y="130969"/>
                </a:cubicBezTo>
                <a:cubicBezTo>
                  <a:pt x="86320" y="133697"/>
                  <a:pt x="88553" y="135930"/>
                  <a:pt x="91281" y="135930"/>
                </a:cubicBezTo>
                <a:lnTo>
                  <a:pt x="99219" y="135930"/>
                </a:lnTo>
                <a:cubicBezTo>
                  <a:pt x="106338" y="135930"/>
                  <a:pt x="112117" y="130150"/>
                  <a:pt x="112117" y="123031"/>
                </a:cubicBezTo>
                <a:cubicBezTo>
                  <a:pt x="112117" y="115912"/>
                  <a:pt x="106338" y="110133"/>
                  <a:pt x="99219" y="110133"/>
                </a:cubicBezTo>
                <a:cubicBezTo>
                  <a:pt x="97582" y="110133"/>
                  <a:pt x="96242" y="108793"/>
                  <a:pt x="96242" y="107156"/>
                </a:cubicBezTo>
                <a:cubicBezTo>
                  <a:pt x="96242" y="105519"/>
                  <a:pt x="97582" y="104180"/>
                  <a:pt x="99219" y="104180"/>
                </a:cubicBezTo>
                <a:lnTo>
                  <a:pt x="105172" y="104180"/>
                </a:lnTo>
                <a:cubicBezTo>
                  <a:pt x="107900" y="104180"/>
                  <a:pt x="110133" y="101947"/>
                  <a:pt x="110133" y="99219"/>
                </a:cubicBezTo>
                <a:cubicBezTo>
                  <a:pt x="110133" y="96490"/>
                  <a:pt x="107900" y="94258"/>
                  <a:pt x="105172" y="94258"/>
                </a:cubicBezTo>
                <a:lnTo>
                  <a:pt x="99219" y="94258"/>
                </a:lnTo>
                <a:close/>
                <a:moveTo>
                  <a:pt x="123031" y="94258"/>
                </a:moveTo>
                <a:cubicBezTo>
                  <a:pt x="120303" y="94258"/>
                  <a:pt x="118070" y="96490"/>
                  <a:pt x="118070" y="99219"/>
                </a:cubicBezTo>
                <a:lnTo>
                  <a:pt x="118070" y="107057"/>
                </a:lnTo>
                <a:cubicBezTo>
                  <a:pt x="118070" y="115863"/>
                  <a:pt x="120675" y="124495"/>
                  <a:pt x="125561" y="131812"/>
                </a:cubicBezTo>
                <a:lnTo>
                  <a:pt x="126826" y="133722"/>
                </a:lnTo>
                <a:cubicBezTo>
                  <a:pt x="127744" y="135111"/>
                  <a:pt x="129307" y="135930"/>
                  <a:pt x="130944" y="135930"/>
                </a:cubicBezTo>
                <a:cubicBezTo>
                  <a:pt x="132581" y="135930"/>
                  <a:pt x="134144" y="135111"/>
                  <a:pt x="135062" y="133722"/>
                </a:cubicBezTo>
                <a:lnTo>
                  <a:pt x="136327" y="131812"/>
                </a:lnTo>
                <a:cubicBezTo>
                  <a:pt x="141213" y="124470"/>
                  <a:pt x="143818" y="115863"/>
                  <a:pt x="143818" y="107057"/>
                </a:cubicBezTo>
                <a:lnTo>
                  <a:pt x="143818" y="99219"/>
                </a:lnTo>
                <a:cubicBezTo>
                  <a:pt x="143818" y="96490"/>
                  <a:pt x="141585" y="94258"/>
                  <a:pt x="138857" y="94258"/>
                </a:cubicBezTo>
                <a:cubicBezTo>
                  <a:pt x="136128" y="94258"/>
                  <a:pt x="133896" y="96490"/>
                  <a:pt x="133896" y="99219"/>
                </a:cubicBezTo>
                <a:lnTo>
                  <a:pt x="133896" y="107057"/>
                </a:lnTo>
                <a:cubicBezTo>
                  <a:pt x="133896" y="111919"/>
                  <a:pt x="132879" y="116706"/>
                  <a:pt x="130919" y="121121"/>
                </a:cubicBezTo>
                <a:cubicBezTo>
                  <a:pt x="128960" y="116706"/>
                  <a:pt x="127943" y="111919"/>
                  <a:pt x="127943" y="107057"/>
                </a:cubicBezTo>
                <a:lnTo>
                  <a:pt x="127943" y="99219"/>
                </a:lnTo>
                <a:cubicBezTo>
                  <a:pt x="127943" y="96490"/>
                  <a:pt x="125710" y="94258"/>
                  <a:pt x="122982" y="94258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4" name="Text 81"/>
          <p:cNvSpPr/>
          <p:nvPr/>
        </p:nvSpPr>
        <p:spPr>
          <a:xfrm>
            <a:off x="6626225" y="6673852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Bulk Import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6403975" y="6927852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streams for batch loading</a:t>
            </a:r>
            <a:endParaRPr lang="en-US" sz="1600" dirty="0"/>
          </a:p>
        </p:txBody>
      </p:sp>
      <p:sp>
        <p:nvSpPr>
          <p:cNvPr id="86" name="Shape 83"/>
          <p:cNvSpPr/>
          <p:nvPr/>
        </p:nvSpPr>
        <p:spPr>
          <a:xfrm>
            <a:off x="9075738" y="6575425"/>
            <a:ext cx="2665413" cy="609600"/>
          </a:xfrm>
          <a:custGeom>
            <a:avLst/>
            <a:gdLst/>
            <a:ahLst/>
            <a:cxnLst/>
            <a:rect l="l" t="t" r="r" b="b"/>
            <a:pathLst>
              <a:path w="2665413" h="609600">
                <a:moveTo>
                  <a:pt x="31748" y="0"/>
                </a:moveTo>
                <a:lnTo>
                  <a:pt x="2633665" y="0"/>
                </a:lnTo>
                <a:cubicBezTo>
                  <a:pt x="2651198" y="0"/>
                  <a:pt x="2665413" y="14214"/>
                  <a:pt x="2665413" y="31748"/>
                </a:cubicBezTo>
                <a:lnTo>
                  <a:pt x="2665413" y="577852"/>
                </a:lnTo>
                <a:cubicBezTo>
                  <a:pt x="2665412" y="595386"/>
                  <a:pt x="2651198" y="609600"/>
                  <a:pt x="2633665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190038" y="67056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88" name="Text 85"/>
          <p:cNvSpPr/>
          <p:nvPr/>
        </p:nvSpPr>
        <p:spPr>
          <a:xfrm>
            <a:off x="9396413" y="6673852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Incremental</a:t>
            </a:r>
            <a:endParaRPr lang="en-US" sz="1600" dirty="0"/>
          </a:p>
        </p:txBody>
      </p:sp>
      <p:sp>
        <p:nvSpPr>
          <p:cNvPr id="89" name="Text 86"/>
          <p:cNvSpPr/>
          <p:nvPr/>
        </p:nvSpPr>
        <p:spPr>
          <a:xfrm>
            <a:off x="9174163" y="6927852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API updates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Pipeline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09700"/>
            <a:ext cx="11430000" cy="3124200"/>
          </a:xfrm>
          <a:custGeom>
            <a:avLst/>
            <a:gdLst/>
            <a:ahLst/>
            <a:cxnLst/>
            <a:rect l="l" t="t" r="r" b="b"/>
            <a:pathLst>
              <a:path w="11430000" h="3124200">
                <a:moveTo>
                  <a:pt x="38115" y="0"/>
                </a:moveTo>
                <a:lnTo>
                  <a:pt x="11391885" y="0"/>
                </a:lnTo>
                <a:cubicBezTo>
                  <a:pt x="11412935" y="0"/>
                  <a:pt x="11430000" y="17065"/>
                  <a:pt x="11430000" y="38115"/>
                </a:cubicBezTo>
                <a:lnTo>
                  <a:pt x="11430000" y="3086085"/>
                </a:lnTo>
                <a:cubicBezTo>
                  <a:pt x="11430000" y="3107135"/>
                  <a:pt x="11412935" y="3124200"/>
                  <a:pt x="11391885" y="3124200"/>
                </a:cubicBezTo>
                <a:lnTo>
                  <a:pt x="38115" y="3124200"/>
                </a:lnTo>
                <a:cubicBezTo>
                  <a:pt x="17065" y="3124200"/>
                  <a:pt x="0" y="3107135"/>
                  <a:pt x="0" y="3086085"/>
                </a:cubicBezTo>
                <a:lnTo>
                  <a:pt x="0" y="38115"/>
                </a:lnTo>
                <a:cubicBezTo>
                  <a:pt x="0" y="17079"/>
                  <a:pt x="17079" y="0"/>
                  <a:pt x="3811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00200"/>
            <a:ext cx="1112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rigorous custom preprocessing pipeline transforms raw news articles into normalized tokens suitable for feature extraction. This sequential workflow reduces dimensionality while isolating core semantic value, achieving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37.2% feature space reduction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2266950"/>
            <a:ext cx="2114550" cy="2076450"/>
          </a:xfrm>
          <a:custGeom>
            <a:avLst/>
            <a:gdLst/>
            <a:ahLst/>
            <a:cxnLst/>
            <a:rect l="l" t="t" r="r" b="b"/>
            <a:pathLst>
              <a:path w="2114550" h="207645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2038347"/>
                </a:lnTo>
                <a:cubicBezTo>
                  <a:pt x="2114550" y="2059391"/>
                  <a:pt x="2097491" y="2076450"/>
                  <a:pt x="207644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2266950"/>
            <a:ext cx="2114550" cy="38100"/>
          </a:xfrm>
          <a:custGeom>
            <a:avLst/>
            <a:gdLst/>
            <a:ahLst/>
            <a:cxnLst/>
            <a:rect l="l" t="t" r="r" b="b"/>
            <a:pathLst>
              <a:path w="2114550" h="381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9" name="Shape 7"/>
          <p:cNvSpPr/>
          <p:nvPr/>
        </p:nvSpPr>
        <p:spPr>
          <a:xfrm>
            <a:off x="1363980" y="2438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0" name="Text 8"/>
          <p:cNvSpPr/>
          <p:nvPr/>
        </p:nvSpPr>
        <p:spPr>
          <a:xfrm>
            <a:off x="1540312" y="2552700"/>
            <a:ext cx="180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038" y="3086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563" y="3429000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Lowercase, remove punctuation &amp; special chars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3886200"/>
            <a:ext cx="1809750" cy="304800"/>
          </a:xfrm>
          <a:custGeom>
            <a:avLst/>
            <a:gdLst/>
            <a:ahLst/>
            <a:cxnLst/>
            <a:rect l="l" t="t" r="r" b="b"/>
            <a:pathLst>
              <a:path w="1809750" h="3048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266700"/>
                </a:lnTo>
                <a:cubicBezTo>
                  <a:pt x="1809750" y="287728"/>
                  <a:pt x="1792678" y="304800"/>
                  <a:pt x="1771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3886200"/>
            <a:ext cx="186690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"Wall St. Bears" → "wall st bears"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04160" y="2266950"/>
            <a:ext cx="2114550" cy="2076450"/>
          </a:xfrm>
          <a:custGeom>
            <a:avLst/>
            <a:gdLst/>
            <a:ahLst/>
            <a:cxnLst/>
            <a:rect l="l" t="t" r="r" b="b"/>
            <a:pathLst>
              <a:path w="2114550" h="207645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2038347"/>
                </a:lnTo>
                <a:cubicBezTo>
                  <a:pt x="2114550" y="2059391"/>
                  <a:pt x="2097491" y="2076450"/>
                  <a:pt x="207644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804160" y="2266950"/>
            <a:ext cx="2114550" cy="38100"/>
          </a:xfrm>
          <a:custGeom>
            <a:avLst/>
            <a:gdLst/>
            <a:ahLst/>
            <a:cxnLst/>
            <a:rect l="l" t="t" r="r" b="b"/>
            <a:pathLst>
              <a:path w="2114550" h="381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6640" y="2438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8" name="Text 16"/>
          <p:cNvSpPr/>
          <p:nvPr/>
        </p:nvSpPr>
        <p:spPr>
          <a:xfrm>
            <a:off x="3751897" y="2552700"/>
            <a:ext cx="21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13697" y="3086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3222" y="34290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into meaningful units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56560" y="3695700"/>
            <a:ext cx="1809750" cy="304800"/>
          </a:xfrm>
          <a:custGeom>
            <a:avLst/>
            <a:gdLst/>
            <a:ahLst/>
            <a:cxnLst/>
            <a:rect l="l" t="t" r="r" b="b"/>
            <a:pathLst>
              <a:path w="1809750" h="3048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266700"/>
                </a:lnTo>
                <a:cubicBezTo>
                  <a:pt x="1809750" y="287728"/>
                  <a:pt x="1792678" y="304800"/>
                  <a:pt x="1771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927985" y="3695700"/>
            <a:ext cx="186690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["wall", "st", "bears"]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36820" y="2266950"/>
            <a:ext cx="2114550" cy="2076450"/>
          </a:xfrm>
          <a:custGeom>
            <a:avLst/>
            <a:gdLst/>
            <a:ahLst/>
            <a:cxnLst/>
            <a:rect l="l" t="t" r="r" b="b"/>
            <a:pathLst>
              <a:path w="2114550" h="207645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2038347"/>
                </a:lnTo>
                <a:cubicBezTo>
                  <a:pt x="2114550" y="2059391"/>
                  <a:pt x="2097491" y="2076450"/>
                  <a:pt x="207644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36820" y="2266950"/>
            <a:ext cx="2114550" cy="38100"/>
          </a:xfrm>
          <a:custGeom>
            <a:avLst/>
            <a:gdLst/>
            <a:ahLst/>
            <a:cxnLst/>
            <a:rect l="l" t="t" r="r" b="b"/>
            <a:pathLst>
              <a:path w="2114550" h="381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5" name="Shape 23"/>
          <p:cNvSpPr/>
          <p:nvPr/>
        </p:nvSpPr>
        <p:spPr>
          <a:xfrm>
            <a:off x="5829300" y="2438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6" name="Text 24"/>
          <p:cNvSpPr/>
          <p:nvPr/>
        </p:nvSpPr>
        <p:spPr>
          <a:xfrm>
            <a:off x="5983962" y="25527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6357" y="3086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Stopword Removal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55882" y="3429000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571 standard + domain terms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9220" y="3886200"/>
            <a:ext cx="1809750" cy="304800"/>
          </a:xfrm>
          <a:custGeom>
            <a:avLst/>
            <a:gdLst/>
            <a:ahLst/>
            <a:cxnLst/>
            <a:rect l="l" t="t" r="r" b="b"/>
            <a:pathLst>
              <a:path w="1809750" h="3048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266700"/>
                </a:lnTo>
                <a:cubicBezTo>
                  <a:pt x="1809750" y="287728"/>
                  <a:pt x="1792678" y="304800"/>
                  <a:pt x="1771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60645" y="3886200"/>
            <a:ext cx="186690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Remove: "the", "and", "in"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69480" y="2266950"/>
            <a:ext cx="2114550" cy="2076450"/>
          </a:xfrm>
          <a:custGeom>
            <a:avLst/>
            <a:gdLst/>
            <a:ahLst/>
            <a:cxnLst/>
            <a:rect l="l" t="t" r="r" b="b"/>
            <a:pathLst>
              <a:path w="2114550" h="207645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2038347"/>
                </a:lnTo>
                <a:cubicBezTo>
                  <a:pt x="2114550" y="2059391"/>
                  <a:pt x="2097491" y="2076450"/>
                  <a:pt x="207644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9480" y="2266950"/>
            <a:ext cx="2114550" cy="38100"/>
          </a:xfrm>
          <a:custGeom>
            <a:avLst/>
            <a:gdLst/>
            <a:ahLst/>
            <a:cxnLst/>
            <a:rect l="l" t="t" r="r" b="b"/>
            <a:pathLst>
              <a:path w="2114550" h="381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3" name="Shape 31"/>
          <p:cNvSpPr/>
          <p:nvPr/>
        </p:nvSpPr>
        <p:spPr>
          <a:xfrm>
            <a:off x="8061960" y="2438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503" y="255270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9018" y="3086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Lemmatization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88543" y="34290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WordNet morphy processor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21880" y="3695700"/>
            <a:ext cx="1809750" cy="304800"/>
          </a:xfrm>
          <a:custGeom>
            <a:avLst/>
            <a:gdLst/>
            <a:ahLst/>
            <a:cxnLst/>
            <a:rect l="l" t="t" r="r" b="b"/>
            <a:pathLst>
              <a:path w="1809750" h="3048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266700"/>
                </a:lnTo>
                <a:cubicBezTo>
                  <a:pt x="1809750" y="287728"/>
                  <a:pt x="1792678" y="304800"/>
                  <a:pt x="1771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393305" y="3695700"/>
            <a:ext cx="186690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"bears" → "bear"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02140" y="2266950"/>
            <a:ext cx="2114550" cy="2076450"/>
          </a:xfrm>
          <a:custGeom>
            <a:avLst/>
            <a:gdLst/>
            <a:ahLst/>
            <a:cxnLst/>
            <a:rect l="l" t="t" r="r" b="b"/>
            <a:pathLst>
              <a:path w="2114550" h="207645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2038347"/>
                </a:lnTo>
                <a:cubicBezTo>
                  <a:pt x="2114550" y="2059391"/>
                  <a:pt x="2097491" y="2076450"/>
                  <a:pt x="207644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502140" y="2266950"/>
            <a:ext cx="2114550" cy="38100"/>
          </a:xfrm>
          <a:custGeom>
            <a:avLst/>
            <a:gdLst/>
            <a:ahLst/>
            <a:cxnLst/>
            <a:rect l="l" t="t" r="r" b="b"/>
            <a:pathLst>
              <a:path w="2114550" h="38100">
                <a:moveTo>
                  <a:pt x="38100" y="0"/>
                </a:moveTo>
                <a:lnTo>
                  <a:pt x="2076450" y="0"/>
                </a:lnTo>
                <a:cubicBezTo>
                  <a:pt x="2097478" y="0"/>
                  <a:pt x="2114550" y="17072"/>
                  <a:pt x="2114550" y="38100"/>
                </a:cubicBezTo>
                <a:lnTo>
                  <a:pt x="21145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94620" y="2438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2" name="Text 40"/>
          <p:cNvSpPr/>
          <p:nvPr/>
        </p:nvSpPr>
        <p:spPr>
          <a:xfrm>
            <a:off x="10450354" y="2552700"/>
            <a:ext cx="21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11678" y="3086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N-gram Extraction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21203" y="34290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phrase patterns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54540" y="3695700"/>
            <a:ext cx="1809750" cy="304800"/>
          </a:xfrm>
          <a:custGeom>
            <a:avLst/>
            <a:gdLst/>
            <a:ahLst/>
            <a:cxnLst/>
            <a:rect l="l" t="t" r="r" b="b"/>
            <a:pathLst>
              <a:path w="1809750" h="304800">
                <a:moveTo>
                  <a:pt x="38100" y="0"/>
                </a:moveTo>
                <a:lnTo>
                  <a:pt x="1771650" y="0"/>
                </a:lnTo>
                <a:cubicBezTo>
                  <a:pt x="1792678" y="0"/>
                  <a:pt x="1809750" y="17072"/>
                  <a:pt x="1809750" y="38100"/>
                </a:cubicBezTo>
                <a:lnTo>
                  <a:pt x="1809750" y="266700"/>
                </a:lnTo>
                <a:cubicBezTo>
                  <a:pt x="1809750" y="287728"/>
                  <a:pt x="1792678" y="304800"/>
                  <a:pt x="1771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625965" y="3695700"/>
            <a:ext cx="186690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["wall_st", "st_bear"]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4686184"/>
            <a:ext cx="5638800" cy="1895475"/>
          </a:xfrm>
          <a:custGeom>
            <a:avLst/>
            <a:gdLst/>
            <a:ahLst/>
            <a:cxnLst/>
            <a:rect l="l" t="t" r="r" b="b"/>
            <a:pathLst>
              <a:path w="5638800" h="1895475">
                <a:moveTo>
                  <a:pt x="38099" y="0"/>
                </a:moveTo>
                <a:lnTo>
                  <a:pt x="5600701" y="0"/>
                </a:lnTo>
                <a:cubicBezTo>
                  <a:pt x="5621742" y="0"/>
                  <a:pt x="5638800" y="17058"/>
                  <a:pt x="5638800" y="38099"/>
                </a:cubicBezTo>
                <a:lnTo>
                  <a:pt x="5638800" y="1857376"/>
                </a:lnTo>
                <a:cubicBezTo>
                  <a:pt x="5638800" y="1878417"/>
                  <a:pt x="5621742" y="1895475"/>
                  <a:pt x="5600701" y="1895475"/>
                </a:cubicBezTo>
                <a:lnTo>
                  <a:pt x="38099" y="1895475"/>
                </a:lnTo>
                <a:cubicBezTo>
                  <a:pt x="17058" y="1895475"/>
                  <a:pt x="0" y="1878417"/>
                  <a:pt x="0" y="185737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125" y="491478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9" name="Text 47"/>
          <p:cNvSpPr/>
          <p:nvPr/>
        </p:nvSpPr>
        <p:spPr>
          <a:xfrm>
            <a:off x="809625" y="4876684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Raw Document Example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5310" y="5299594"/>
            <a:ext cx="5246370" cy="750570"/>
          </a:xfrm>
          <a:custGeom>
            <a:avLst/>
            <a:gdLst/>
            <a:ahLst/>
            <a:cxnLst/>
            <a:rect l="l" t="t" r="r" b="b"/>
            <a:pathLst>
              <a:path w="5246370" h="750570">
                <a:moveTo>
                  <a:pt x="38099" y="0"/>
                </a:moveTo>
                <a:lnTo>
                  <a:pt x="5208271" y="0"/>
                </a:lnTo>
                <a:cubicBezTo>
                  <a:pt x="5229313" y="0"/>
                  <a:pt x="5246370" y="17057"/>
                  <a:pt x="5246370" y="38099"/>
                </a:cubicBezTo>
                <a:lnTo>
                  <a:pt x="5246370" y="712471"/>
                </a:lnTo>
                <a:cubicBezTo>
                  <a:pt x="5246370" y="733513"/>
                  <a:pt x="5229313" y="750570"/>
                  <a:pt x="5208271" y="750570"/>
                </a:cubicBezTo>
                <a:lnTo>
                  <a:pt x="38099" y="750570"/>
                </a:lnTo>
                <a:cubicBezTo>
                  <a:pt x="17057" y="750570"/>
                  <a:pt x="0" y="733513"/>
                  <a:pt x="0" y="71247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455802"/>
            <a:ext cx="5000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"Wall St. Bears Claw Back Into the Black (Reuters) Reuters - Short-sellers, Wall Street's dwindling band of ultra-cynics, are seeing green again..."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71500" y="6182441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Issues: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34296" y="6163508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38101" y="0"/>
                </a:moveTo>
                <a:lnTo>
                  <a:pt x="695324" y="0"/>
                </a:lnTo>
                <a:cubicBezTo>
                  <a:pt x="716367" y="0"/>
                  <a:pt x="733425" y="17058"/>
                  <a:pt x="733425" y="38101"/>
                </a:cubicBezTo>
                <a:lnTo>
                  <a:pt x="733425" y="190499"/>
                </a:lnTo>
                <a:cubicBezTo>
                  <a:pt x="733425" y="211542"/>
                  <a:pt x="716367" y="228600"/>
                  <a:pt x="695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34296" y="6163508"/>
            <a:ext cx="790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Punctuation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847969" y="6163508"/>
            <a:ext cx="714375" cy="228600"/>
          </a:xfrm>
          <a:custGeom>
            <a:avLst/>
            <a:gdLst/>
            <a:ahLst/>
            <a:cxnLst/>
            <a:rect l="l" t="t" r="r" b="b"/>
            <a:pathLst>
              <a:path w="714375" h="2286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190499"/>
                </a:lnTo>
                <a:cubicBezTo>
                  <a:pt x="714375" y="211542"/>
                  <a:pt x="697317" y="228600"/>
                  <a:pt x="676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847969" y="6163508"/>
            <a:ext cx="771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case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634258" y="6163508"/>
            <a:ext cx="695325" cy="228600"/>
          </a:xfrm>
          <a:custGeom>
            <a:avLst/>
            <a:gdLst/>
            <a:ahLst/>
            <a:cxnLst/>
            <a:rect l="l" t="t" r="r" b="b"/>
            <a:pathLst>
              <a:path w="695325" h="228600">
                <a:moveTo>
                  <a:pt x="38101" y="0"/>
                </a:moveTo>
                <a:lnTo>
                  <a:pt x="657224" y="0"/>
                </a:lnTo>
                <a:cubicBezTo>
                  <a:pt x="678267" y="0"/>
                  <a:pt x="695325" y="17058"/>
                  <a:pt x="695325" y="38101"/>
                </a:cubicBezTo>
                <a:lnTo>
                  <a:pt x="695325" y="190499"/>
                </a:lnTo>
                <a:cubicBezTo>
                  <a:pt x="695325" y="211542"/>
                  <a:pt x="678267" y="228600"/>
                  <a:pt x="6572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634258" y="6163508"/>
            <a:ext cx="7524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Stopwords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2200" y="4686184"/>
            <a:ext cx="5638800" cy="1895475"/>
          </a:xfrm>
          <a:custGeom>
            <a:avLst/>
            <a:gdLst/>
            <a:ahLst/>
            <a:cxnLst/>
            <a:rect l="l" t="t" r="r" b="b"/>
            <a:pathLst>
              <a:path w="5638800" h="1895475">
                <a:moveTo>
                  <a:pt x="38099" y="0"/>
                </a:moveTo>
                <a:lnTo>
                  <a:pt x="5600701" y="0"/>
                </a:lnTo>
                <a:cubicBezTo>
                  <a:pt x="5621742" y="0"/>
                  <a:pt x="5638800" y="17058"/>
                  <a:pt x="5638800" y="38099"/>
                </a:cubicBezTo>
                <a:lnTo>
                  <a:pt x="5638800" y="1857376"/>
                </a:lnTo>
                <a:cubicBezTo>
                  <a:pt x="5638800" y="1878417"/>
                  <a:pt x="5621742" y="1895475"/>
                  <a:pt x="5600701" y="1895475"/>
                </a:cubicBezTo>
                <a:lnTo>
                  <a:pt x="38099" y="1895475"/>
                </a:lnTo>
                <a:cubicBezTo>
                  <a:pt x="17058" y="1895475"/>
                  <a:pt x="0" y="1878417"/>
                  <a:pt x="0" y="1857376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0" name="Shape 58"/>
          <p:cNvSpPr/>
          <p:nvPr/>
        </p:nvSpPr>
        <p:spPr>
          <a:xfrm>
            <a:off x="6386513" y="49147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61" name="Text 59"/>
          <p:cNvSpPr/>
          <p:nvPr/>
        </p:nvSpPr>
        <p:spPr>
          <a:xfrm>
            <a:off x="6600825" y="4876684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Cleaned Document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6510" y="5299594"/>
            <a:ext cx="5246370" cy="750570"/>
          </a:xfrm>
          <a:custGeom>
            <a:avLst/>
            <a:gdLst/>
            <a:ahLst/>
            <a:cxnLst/>
            <a:rect l="l" t="t" r="r" b="b"/>
            <a:pathLst>
              <a:path w="5246370" h="750570">
                <a:moveTo>
                  <a:pt x="38099" y="0"/>
                </a:moveTo>
                <a:lnTo>
                  <a:pt x="5208271" y="0"/>
                </a:lnTo>
                <a:cubicBezTo>
                  <a:pt x="5229313" y="0"/>
                  <a:pt x="5246370" y="17057"/>
                  <a:pt x="5246370" y="38099"/>
                </a:cubicBezTo>
                <a:lnTo>
                  <a:pt x="5246370" y="712471"/>
                </a:lnTo>
                <a:cubicBezTo>
                  <a:pt x="5246370" y="733513"/>
                  <a:pt x="5229313" y="750570"/>
                  <a:pt x="5208271" y="750570"/>
                </a:cubicBezTo>
                <a:lnTo>
                  <a:pt x="38099" y="750570"/>
                </a:lnTo>
                <a:cubicBezTo>
                  <a:pt x="17057" y="750570"/>
                  <a:pt x="0" y="733513"/>
                  <a:pt x="0" y="71247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22720" y="5455802"/>
            <a:ext cx="5000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["wall", "street", "bear", "claw", "back", "black", "reuters", "short", "seller", "street", "dwindle", "band", "ultra", "cynic", "see", "green"]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62700" y="6182441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824306" y="6163508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190499"/>
                </a:lnTo>
                <a:cubicBezTo>
                  <a:pt x="819150" y="211542"/>
                  <a:pt x="802092" y="228600"/>
                  <a:pt x="781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824306" y="6163508"/>
            <a:ext cx="876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tokens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718227" y="6163508"/>
            <a:ext cx="904875" cy="228600"/>
          </a:xfrm>
          <a:custGeom>
            <a:avLst/>
            <a:gdLst/>
            <a:ahLst/>
            <a:cxnLst/>
            <a:rect l="l" t="t" r="r" b="b"/>
            <a:pathLst>
              <a:path w="904875" h="228600">
                <a:moveTo>
                  <a:pt x="38101" y="0"/>
                </a:moveTo>
                <a:lnTo>
                  <a:pt x="866774" y="0"/>
                </a:lnTo>
                <a:cubicBezTo>
                  <a:pt x="887817" y="0"/>
                  <a:pt x="904875" y="17058"/>
                  <a:pt x="904875" y="38101"/>
                </a:cubicBezTo>
                <a:lnTo>
                  <a:pt x="904875" y="190499"/>
                </a:lnTo>
                <a:cubicBezTo>
                  <a:pt x="904875" y="211542"/>
                  <a:pt x="887817" y="228600"/>
                  <a:pt x="866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718227" y="6163508"/>
            <a:ext cx="9620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focus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701088" y="6163508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38101" y="0"/>
                </a:moveTo>
                <a:lnTo>
                  <a:pt x="838199" y="0"/>
                </a:lnTo>
                <a:cubicBezTo>
                  <a:pt x="859242" y="0"/>
                  <a:pt x="876300" y="17058"/>
                  <a:pt x="876300" y="38101"/>
                </a:cubicBezTo>
                <a:lnTo>
                  <a:pt x="876300" y="190499"/>
                </a:lnTo>
                <a:cubicBezTo>
                  <a:pt x="876300" y="211542"/>
                  <a:pt x="859242" y="228600"/>
                  <a:pt x="838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701088" y="6163508"/>
            <a:ext cx="933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noise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Extraction &amp; Selection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09700"/>
            <a:ext cx="6781800" cy="3181350"/>
          </a:xfrm>
          <a:custGeom>
            <a:avLst/>
            <a:gdLst/>
            <a:ahLst/>
            <a:cxnLst/>
            <a:rect l="l" t="t" r="r" b="b"/>
            <a:pathLst>
              <a:path w="6781800" h="3181350">
                <a:moveTo>
                  <a:pt x="38113" y="0"/>
                </a:moveTo>
                <a:lnTo>
                  <a:pt x="6743687" y="0"/>
                </a:lnTo>
                <a:cubicBezTo>
                  <a:pt x="6764736" y="0"/>
                  <a:pt x="6781800" y="17064"/>
                  <a:pt x="6781800" y="38113"/>
                </a:cubicBezTo>
                <a:lnTo>
                  <a:pt x="6781800" y="3143237"/>
                </a:lnTo>
                <a:cubicBezTo>
                  <a:pt x="6781800" y="3164286"/>
                  <a:pt x="6764736" y="3181350"/>
                  <a:pt x="6743687" y="3181350"/>
                </a:cubicBezTo>
                <a:lnTo>
                  <a:pt x="38113" y="3181350"/>
                </a:lnTo>
                <a:cubicBezTo>
                  <a:pt x="17064" y="3181350"/>
                  <a:pt x="0" y="3164286"/>
                  <a:pt x="0" y="3143237"/>
                </a:cubicBezTo>
                <a:lnTo>
                  <a:pt x="0" y="38113"/>
                </a:lnTo>
                <a:cubicBezTo>
                  <a:pt x="0" y="17064"/>
                  <a:pt x="17064" y="0"/>
                  <a:pt x="38113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00200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Hybrid Vectorization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2019300"/>
            <a:ext cx="6477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employs a hybrid approach combining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vectorization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 Transformers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dense embeddings, capturing both topical keywords and deep semantic context.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914650"/>
            <a:ext cx="3105150" cy="1485900"/>
          </a:xfrm>
          <a:custGeom>
            <a:avLst/>
            <a:gdLst/>
            <a:ahLst/>
            <a:cxnLst/>
            <a:rect l="l" t="t" r="r" b="b"/>
            <a:pathLst>
              <a:path w="3105150" h="1485900">
                <a:moveTo>
                  <a:pt x="38098" y="0"/>
                </a:moveTo>
                <a:lnTo>
                  <a:pt x="3067052" y="0"/>
                </a:lnTo>
                <a:cubicBezTo>
                  <a:pt x="3088093" y="0"/>
                  <a:pt x="3105150" y="17057"/>
                  <a:pt x="3105150" y="38098"/>
                </a:cubicBezTo>
                <a:lnTo>
                  <a:pt x="3105150" y="1447802"/>
                </a:lnTo>
                <a:cubicBezTo>
                  <a:pt x="3105150" y="1468843"/>
                  <a:pt x="3088093" y="1485900"/>
                  <a:pt x="3067052" y="1485900"/>
                </a:cubicBezTo>
                <a:lnTo>
                  <a:pt x="38098" y="1485900"/>
                </a:lnTo>
                <a:cubicBezTo>
                  <a:pt x="17057" y="1485900"/>
                  <a:pt x="0" y="1468843"/>
                  <a:pt x="0" y="14478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0550" y="291465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" y="3105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1" name="Text 9"/>
          <p:cNvSpPr/>
          <p:nvPr/>
        </p:nvSpPr>
        <p:spPr>
          <a:xfrm>
            <a:off x="1114425" y="3067050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TF-IDF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448050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 Frequency-Inverse Document Frequency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3431" y="373368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" y="371475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keyword frequencies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3431" y="392406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6" name="Text 14"/>
          <p:cNvSpPr/>
          <p:nvPr/>
        </p:nvSpPr>
        <p:spPr>
          <a:xfrm>
            <a:off x="981075" y="3905134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Sparse matrix output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3431" y="411444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8" name="Text 16"/>
          <p:cNvSpPr/>
          <p:nvPr/>
        </p:nvSpPr>
        <p:spPr>
          <a:xfrm>
            <a:off x="981075" y="4095513"/>
            <a:ext cx="1123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features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67150" y="2914650"/>
            <a:ext cx="3105150" cy="1485900"/>
          </a:xfrm>
          <a:custGeom>
            <a:avLst/>
            <a:gdLst/>
            <a:ahLst/>
            <a:cxnLst/>
            <a:rect l="l" t="t" r="r" b="b"/>
            <a:pathLst>
              <a:path w="3105150" h="1485900">
                <a:moveTo>
                  <a:pt x="38098" y="0"/>
                </a:moveTo>
                <a:lnTo>
                  <a:pt x="3067052" y="0"/>
                </a:lnTo>
                <a:cubicBezTo>
                  <a:pt x="3088093" y="0"/>
                  <a:pt x="3105150" y="17057"/>
                  <a:pt x="3105150" y="38098"/>
                </a:cubicBezTo>
                <a:lnTo>
                  <a:pt x="3105150" y="1447802"/>
                </a:lnTo>
                <a:cubicBezTo>
                  <a:pt x="3105150" y="1468843"/>
                  <a:pt x="3088093" y="1485900"/>
                  <a:pt x="3067052" y="1485900"/>
                </a:cubicBezTo>
                <a:lnTo>
                  <a:pt x="38098" y="1485900"/>
                </a:lnTo>
                <a:cubicBezTo>
                  <a:pt x="17057" y="1485900"/>
                  <a:pt x="0" y="1468843"/>
                  <a:pt x="0" y="14478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67150" y="291465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2412" y="3105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2" name="Text 20"/>
          <p:cNvSpPr/>
          <p:nvPr/>
        </p:nvSpPr>
        <p:spPr>
          <a:xfrm>
            <a:off x="4391025" y="306705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38600" y="3448050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Sentence Embeddings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60031" y="373368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5" name="Text 23"/>
          <p:cNvSpPr/>
          <p:nvPr/>
        </p:nvSpPr>
        <p:spPr>
          <a:xfrm>
            <a:off x="4257675" y="37147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context capture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60031" y="392406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7675" y="3905134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vector representation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60031" y="4114442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9" name="Text 27"/>
          <p:cNvSpPr/>
          <p:nvPr/>
        </p:nvSpPr>
        <p:spPr>
          <a:xfrm>
            <a:off x="4257675" y="4095513"/>
            <a:ext cx="1066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based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4743092"/>
            <a:ext cx="6781800" cy="1847850"/>
          </a:xfrm>
          <a:custGeom>
            <a:avLst/>
            <a:gdLst/>
            <a:ahLst/>
            <a:cxnLst/>
            <a:rect l="l" t="t" r="r" b="b"/>
            <a:pathLst>
              <a:path w="6781800" h="1847850">
                <a:moveTo>
                  <a:pt x="38103" y="0"/>
                </a:moveTo>
                <a:lnTo>
                  <a:pt x="6743697" y="0"/>
                </a:lnTo>
                <a:cubicBezTo>
                  <a:pt x="6764741" y="0"/>
                  <a:pt x="6781800" y="17059"/>
                  <a:pt x="6781800" y="38103"/>
                </a:cubicBezTo>
                <a:lnTo>
                  <a:pt x="6781800" y="1809747"/>
                </a:lnTo>
                <a:cubicBezTo>
                  <a:pt x="6781800" y="1830791"/>
                  <a:pt x="6764741" y="1847850"/>
                  <a:pt x="6743697" y="1847850"/>
                </a:cubicBezTo>
                <a:lnTo>
                  <a:pt x="38103" y="1847850"/>
                </a:lnTo>
                <a:cubicBezTo>
                  <a:pt x="17059" y="1847850"/>
                  <a:pt x="0" y="1830791"/>
                  <a:pt x="0" y="180974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4933592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 Mathematical Weighting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5310" y="5356502"/>
            <a:ext cx="3112770" cy="1036320"/>
          </a:xfrm>
          <a:custGeom>
            <a:avLst/>
            <a:gdLst/>
            <a:ahLst/>
            <a:cxnLst/>
            <a:rect l="l" t="t" r="r" b="b"/>
            <a:pathLst>
              <a:path w="3112770" h="1036320">
                <a:moveTo>
                  <a:pt x="38095" y="0"/>
                </a:moveTo>
                <a:lnTo>
                  <a:pt x="3074675" y="0"/>
                </a:lnTo>
                <a:cubicBezTo>
                  <a:pt x="3095714" y="0"/>
                  <a:pt x="3112770" y="17056"/>
                  <a:pt x="3112770" y="38095"/>
                </a:cubicBezTo>
                <a:lnTo>
                  <a:pt x="3112770" y="998225"/>
                </a:lnTo>
                <a:cubicBezTo>
                  <a:pt x="3112770" y="1019264"/>
                  <a:pt x="3095714" y="1036320"/>
                  <a:pt x="3074675" y="1036320"/>
                </a:cubicBezTo>
                <a:lnTo>
                  <a:pt x="38095" y="1036320"/>
                </a:lnTo>
                <a:cubicBezTo>
                  <a:pt x="17056" y="1036320"/>
                  <a:pt x="0" y="1019264"/>
                  <a:pt x="0" y="99822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53176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 Multiplier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35047" y="5512715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" y="5855615"/>
            <a:ext cx="2867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decay function amplifying newer articles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1910" y="5356502"/>
            <a:ext cx="3112770" cy="1036320"/>
          </a:xfrm>
          <a:custGeom>
            <a:avLst/>
            <a:gdLst/>
            <a:ahLst/>
            <a:cxnLst/>
            <a:rect l="l" t="t" r="r" b="b"/>
            <a:pathLst>
              <a:path w="3112770" h="1036320">
                <a:moveTo>
                  <a:pt x="38095" y="0"/>
                </a:moveTo>
                <a:lnTo>
                  <a:pt x="3074675" y="0"/>
                </a:lnTo>
                <a:cubicBezTo>
                  <a:pt x="3095714" y="0"/>
                  <a:pt x="3112770" y="17056"/>
                  <a:pt x="3112770" y="38095"/>
                </a:cubicBezTo>
                <a:lnTo>
                  <a:pt x="3112770" y="998225"/>
                </a:lnTo>
                <a:cubicBezTo>
                  <a:pt x="3112770" y="1019264"/>
                  <a:pt x="3095714" y="1036320"/>
                  <a:pt x="3074675" y="1036320"/>
                </a:cubicBezTo>
                <a:lnTo>
                  <a:pt x="38095" y="1036320"/>
                </a:lnTo>
                <a:cubicBezTo>
                  <a:pt x="17056" y="1036320"/>
                  <a:pt x="0" y="1019264"/>
                  <a:pt x="0" y="99822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8120" y="5531765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Authority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8310" y="551271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B0A5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008120" y="5855615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adjustment based on publisher reliability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53300" y="1409700"/>
            <a:ext cx="4457700" cy="2057400"/>
          </a:xfrm>
          <a:custGeom>
            <a:avLst/>
            <a:gdLst/>
            <a:ahLst/>
            <a:cxnLst/>
            <a:rect l="l" t="t" r="r" b="b"/>
            <a:pathLst>
              <a:path w="4457700" h="2057400">
                <a:moveTo>
                  <a:pt x="38103" y="0"/>
                </a:moveTo>
                <a:lnTo>
                  <a:pt x="4419597" y="0"/>
                </a:lnTo>
                <a:cubicBezTo>
                  <a:pt x="4440641" y="0"/>
                  <a:pt x="4457700" y="17059"/>
                  <a:pt x="4457700" y="38103"/>
                </a:cubicBezTo>
                <a:lnTo>
                  <a:pt x="4457700" y="2019297"/>
                </a:lnTo>
                <a:cubicBezTo>
                  <a:pt x="4457700" y="2040341"/>
                  <a:pt x="4440641" y="2057400"/>
                  <a:pt x="4419597" y="2057400"/>
                </a:cubicBezTo>
                <a:lnTo>
                  <a:pt x="38103" y="2057400"/>
                </a:lnTo>
                <a:cubicBezTo>
                  <a:pt x="17059" y="2057400"/>
                  <a:pt x="0" y="2040341"/>
                  <a:pt x="0" y="20192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160020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Matrix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43800" y="20193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Features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04734" y="20193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5,000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43800" y="22860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43800" y="22860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543800" y="24765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N-gram Range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25345" y="247650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(1, 2)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43800" y="27432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43800" y="2743200"/>
            <a:ext cx="3257550" cy="76200"/>
          </a:xfrm>
          <a:custGeom>
            <a:avLst/>
            <a:gdLst/>
            <a:ahLst/>
            <a:cxnLst/>
            <a:rect l="l" t="t" r="r" b="b"/>
            <a:pathLst>
              <a:path w="3257550" h="76200">
                <a:moveTo>
                  <a:pt x="38100" y="0"/>
                </a:moveTo>
                <a:lnTo>
                  <a:pt x="3219450" y="0"/>
                </a:lnTo>
                <a:cubicBezTo>
                  <a:pt x="3240478" y="0"/>
                  <a:pt x="3257550" y="17072"/>
                  <a:pt x="3257550" y="38100"/>
                </a:cubicBezTo>
                <a:lnTo>
                  <a:pt x="3257550" y="38100"/>
                </a:lnTo>
                <a:cubicBezTo>
                  <a:pt x="3257550" y="59128"/>
                  <a:pt x="3240478" y="76200"/>
                  <a:pt x="3219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543800" y="29337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Format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862667" y="29337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CSR Sparse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43800" y="32004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43800" y="3200400"/>
            <a:ext cx="3667125" cy="76200"/>
          </a:xfrm>
          <a:custGeom>
            <a:avLst/>
            <a:gdLst/>
            <a:ahLst/>
            <a:cxnLst/>
            <a:rect l="l" t="t" r="r" b="b"/>
            <a:pathLst>
              <a:path w="3667125" h="76200">
                <a:moveTo>
                  <a:pt x="38100" y="0"/>
                </a:moveTo>
                <a:lnTo>
                  <a:pt x="3629025" y="0"/>
                </a:lnTo>
                <a:cubicBezTo>
                  <a:pt x="3650053" y="0"/>
                  <a:pt x="3667125" y="17072"/>
                  <a:pt x="3667125" y="38100"/>
                </a:cubicBezTo>
                <a:lnTo>
                  <a:pt x="3667125" y="38100"/>
                </a:lnTo>
                <a:cubicBezTo>
                  <a:pt x="3667125" y="59128"/>
                  <a:pt x="3650053" y="76200"/>
                  <a:pt x="3629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7353300" y="3619500"/>
            <a:ext cx="4457700" cy="1905000"/>
          </a:xfrm>
          <a:custGeom>
            <a:avLst/>
            <a:gdLst/>
            <a:ahLst/>
            <a:cxnLst/>
            <a:rect l="l" t="t" r="r" b="b"/>
            <a:pathLst>
              <a:path w="4457700" h="19050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1866900"/>
                </a:lnTo>
                <a:cubicBezTo>
                  <a:pt x="4457700" y="1887928"/>
                  <a:pt x="4440628" y="1905000"/>
                  <a:pt x="441960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55" name="Text 53"/>
          <p:cNvSpPr/>
          <p:nvPr/>
        </p:nvSpPr>
        <p:spPr>
          <a:xfrm>
            <a:off x="7543800" y="38100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Examples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43800" y="4229100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Unigrams (1-word)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43800" y="4495800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190499"/>
                </a:lnTo>
                <a:cubicBezTo>
                  <a:pt x="457200" y="211542"/>
                  <a:pt x="440142" y="228600"/>
                  <a:pt x="4190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543800" y="4495800"/>
            <a:ext cx="5143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trump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075176" y="4495800"/>
            <a:ext cx="542925" cy="228600"/>
          </a:xfrm>
          <a:custGeom>
            <a:avLst/>
            <a:gdLst/>
            <a:ahLst/>
            <a:cxnLst/>
            <a:rect l="l" t="t" r="r" b="b"/>
            <a:pathLst>
              <a:path w="542925" h="2286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190499"/>
                </a:lnTo>
                <a:cubicBezTo>
                  <a:pt x="542925" y="211542"/>
                  <a:pt x="525867" y="228600"/>
                  <a:pt x="504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075176" y="4495800"/>
            <a:ext cx="600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694420" y="4495800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694420" y="4495800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522381" y="449580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522381" y="449580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543800" y="4838584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Bigrams (2-word)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43800" y="5105284"/>
            <a:ext cx="819150" cy="228600"/>
          </a:xfrm>
          <a:custGeom>
            <a:avLst/>
            <a:gdLst/>
            <a:ahLst/>
            <a:cxnLst/>
            <a:rect l="l" t="t" r="r" b="b"/>
            <a:pathLst>
              <a:path w="819150" h="2286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190499"/>
                </a:lnTo>
                <a:cubicBezTo>
                  <a:pt x="819150" y="211542"/>
                  <a:pt x="802092" y="228600"/>
                  <a:pt x="781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543800" y="5105284"/>
            <a:ext cx="876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stock_market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34983" y="5105284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190499"/>
                </a:lnTo>
                <a:cubicBezTo>
                  <a:pt x="781050" y="211542"/>
                  <a:pt x="763992" y="228600"/>
                  <a:pt x="742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434983" y="5105284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white_house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294614" y="5105284"/>
            <a:ext cx="1028700" cy="228600"/>
          </a:xfrm>
          <a:custGeom>
            <a:avLst/>
            <a:gdLst/>
            <a:ahLst/>
            <a:cxnLst/>
            <a:rect l="l" t="t" r="r" b="b"/>
            <a:pathLst>
              <a:path w="1028700" h="228600">
                <a:moveTo>
                  <a:pt x="38101" y="0"/>
                </a:moveTo>
                <a:lnTo>
                  <a:pt x="990599" y="0"/>
                </a:lnTo>
                <a:cubicBezTo>
                  <a:pt x="1011642" y="0"/>
                  <a:pt x="1028700" y="17058"/>
                  <a:pt x="1028700" y="38101"/>
                </a:cubicBezTo>
                <a:lnTo>
                  <a:pt x="1028700" y="190499"/>
                </a:lnTo>
                <a:cubicBezTo>
                  <a:pt x="1028700" y="211542"/>
                  <a:pt x="1011642" y="228600"/>
                  <a:pt x="990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294614" y="5105284"/>
            <a:ext cx="1085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economic_reform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353300" y="5676663"/>
            <a:ext cx="4457700" cy="952500"/>
          </a:xfrm>
          <a:custGeom>
            <a:avLst/>
            <a:gdLst/>
            <a:ahLst/>
            <a:cxnLst/>
            <a:rect l="l" t="t" r="r" b="b"/>
            <a:pathLst>
              <a:path w="4457700" h="9525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914400"/>
                </a:lnTo>
                <a:cubicBezTo>
                  <a:pt x="4457700" y="935428"/>
                  <a:pt x="4440628" y="952500"/>
                  <a:pt x="44196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73" name="Text 71"/>
          <p:cNvSpPr/>
          <p:nvPr/>
        </p:nvSpPr>
        <p:spPr>
          <a:xfrm>
            <a:off x="7467600" y="5829063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419975" y="6095763"/>
            <a:ext cx="432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98.5%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625" y="328625"/>
            <a:ext cx="11600474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spc="104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625" y="591526"/>
            <a:ext cx="11682631" cy="3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Mining Algorithms: K-Means Clustering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625" y="1018739"/>
            <a:ext cx="657251" cy="32863"/>
          </a:xfrm>
          <a:custGeom>
            <a:avLst/>
            <a:gdLst/>
            <a:ahLst/>
            <a:cxnLst/>
            <a:rect l="l" t="t" r="r" b="b"/>
            <a:pathLst>
              <a:path w="657251" h="32863">
                <a:moveTo>
                  <a:pt x="0" y="0"/>
                </a:moveTo>
                <a:lnTo>
                  <a:pt x="657251" y="0"/>
                </a:lnTo>
                <a:lnTo>
                  <a:pt x="657251" y="32863"/>
                </a:lnTo>
                <a:lnTo>
                  <a:pt x="0" y="32863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28625" y="1215914"/>
            <a:ext cx="5685218" cy="3327332"/>
          </a:xfrm>
          <a:custGeom>
            <a:avLst/>
            <a:gdLst/>
            <a:ahLst/>
            <a:cxnLst/>
            <a:rect l="l" t="t" r="r" b="b"/>
            <a:pathLst>
              <a:path w="5685218" h="3327332">
                <a:moveTo>
                  <a:pt x="32874" y="0"/>
                </a:moveTo>
                <a:lnTo>
                  <a:pt x="5652344" y="0"/>
                </a:lnTo>
                <a:cubicBezTo>
                  <a:pt x="5670500" y="0"/>
                  <a:pt x="5685218" y="14718"/>
                  <a:pt x="5685218" y="32874"/>
                </a:cubicBezTo>
                <a:lnTo>
                  <a:pt x="5685218" y="3294458"/>
                </a:lnTo>
                <a:cubicBezTo>
                  <a:pt x="5685218" y="3312613"/>
                  <a:pt x="5670500" y="3327332"/>
                  <a:pt x="5652344" y="3327332"/>
                </a:cubicBezTo>
                <a:lnTo>
                  <a:pt x="32874" y="3327332"/>
                </a:lnTo>
                <a:cubicBezTo>
                  <a:pt x="14718" y="3327332"/>
                  <a:pt x="0" y="3312613"/>
                  <a:pt x="0" y="3294458"/>
                </a:cubicBezTo>
                <a:lnTo>
                  <a:pt x="0" y="32874"/>
                </a:lnTo>
                <a:cubicBezTo>
                  <a:pt x="0" y="14730"/>
                  <a:pt x="14730" y="0"/>
                  <a:pt x="32874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492938" y="1380226"/>
            <a:ext cx="5438749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2938" y="1741714"/>
            <a:ext cx="5422318" cy="64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clustering is employed for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topic discovery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grouping similar news articles into coherent clusters based on their TF-IDF vector representations. The algorithm minimizes intra-cluster variance through iterative centroid updates.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6224" y="2517270"/>
            <a:ext cx="5354950" cy="1123899"/>
          </a:xfrm>
          <a:custGeom>
            <a:avLst/>
            <a:gdLst/>
            <a:ahLst/>
            <a:cxnLst/>
            <a:rect l="l" t="t" r="r" b="b"/>
            <a:pathLst>
              <a:path w="5354950" h="1123899">
                <a:moveTo>
                  <a:pt x="32863" y="0"/>
                </a:moveTo>
                <a:lnTo>
                  <a:pt x="5322087" y="0"/>
                </a:lnTo>
                <a:cubicBezTo>
                  <a:pt x="5340237" y="0"/>
                  <a:pt x="5354950" y="14713"/>
                  <a:pt x="5354950" y="32863"/>
                </a:cubicBezTo>
                <a:lnTo>
                  <a:pt x="5354950" y="1091036"/>
                </a:lnTo>
                <a:cubicBezTo>
                  <a:pt x="5354950" y="1109185"/>
                  <a:pt x="5340237" y="1123899"/>
                  <a:pt x="5322087" y="1123899"/>
                </a:cubicBezTo>
                <a:lnTo>
                  <a:pt x="32863" y="1123899"/>
                </a:lnTo>
                <a:cubicBezTo>
                  <a:pt x="14713" y="1123899"/>
                  <a:pt x="0" y="1109185"/>
                  <a:pt x="0" y="1091036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61" y="2652009"/>
            <a:ext cx="5142987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 Function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61" y="2882047"/>
            <a:ext cx="5085477" cy="394350"/>
          </a:xfrm>
          <a:custGeom>
            <a:avLst/>
            <a:gdLst/>
            <a:ahLst/>
            <a:cxnLst/>
            <a:rect l="l" t="t" r="r" b="b"/>
            <a:pathLst>
              <a:path w="5085477" h="394350">
                <a:moveTo>
                  <a:pt x="32861" y="0"/>
                </a:moveTo>
                <a:lnTo>
                  <a:pt x="5052616" y="0"/>
                </a:lnTo>
                <a:cubicBezTo>
                  <a:pt x="5070765" y="0"/>
                  <a:pt x="5085477" y="14712"/>
                  <a:pt x="5085477" y="32861"/>
                </a:cubicBezTo>
                <a:lnTo>
                  <a:pt x="5085477" y="361489"/>
                </a:lnTo>
                <a:cubicBezTo>
                  <a:pt x="5085477" y="379638"/>
                  <a:pt x="5070765" y="394350"/>
                  <a:pt x="5052616" y="394350"/>
                </a:cubicBezTo>
                <a:lnTo>
                  <a:pt x="32861" y="394350"/>
                </a:lnTo>
                <a:cubicBezTo>
                  <a:pt x="14712" y="394350"/>
                  <a:pt x="0" y="379638"/>
                  <a:pt x="0" y="361489"/>
                </a:cubicBezTo>
                <a:lnTo>
                  <a:pt x="0" y="32861"/>
                </a:lnTo>
                <a:cubicBezTo>
                  <a:pt x="0" y="14712"/>
                  <a:pt x="14712" y="0"/>
                  <a:pt x="3286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61" y="2882047"/>
            <a:ext cx="5151202" cy="394350"/>
          </a:xfrm>
          <a:prstGeom prst="rect">
            <a:avLst/>
          </a:prstGeom>
          <a:noFill/>
          <a:ln/>
        </p:spPr>
        <p:txBody>
          <a:bodyPr wrap="square" lIns="98588" tIns="98588" rIns="98588" bIns="98588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 = Σᵢ₌₁ᵏ Σⱼ₌₁ⁿ D(xⱼ, zᵢ)²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61" y="3342122"/>
            <a:ext cx="5142987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distance between points and cluster centroids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6224" y="3779192"/>
            <a:ext cx="2627360" cy="598098"/>
          </a:xfrm>
          <a:custGeom>
            <a:avLst/>
            <a:gdLst/>
            <a:ahLst/>
            <a:cxnLst/>
            <a:rect l="l" t="t" r="r" b="b"/>
            <a:pathLst>
              <a:path w="2627360" h="598098">
                <a:moveTo>
                  <a:pt x="32865" y="0"/>
                </a:moveTo>
                <a:lnTo>
                  <a:pt x="2594494" y="0"/>
                </a:lnTo>
                <a:cubicBezTo>
                  <a:pt x="2612645" y="0"/>
                  <a:pt x="2627360" y="14714"/>
                  <a:pt x="2627360" y="32865"/>
                </a:cubicBezTo>
                <a:lnTo>
                  <a:pt x="2627360" y="565233"/>
                </a:lnTo>
                <a:cubicBezTo>
                  <a:pt x="2627360" y="583384"/>
                  <a:pt x="2612645" y="598098"/>
                  <a:pt x="2594494" y="598098"/>
                </a:cubicBezTo>
                <a:lnTo>
                  <a:pt x="32865" y="598098"/>
                </a:lnTo>
                <a:cubicBezTo>
                  <a:pt x="14714" y="598098"/>
                  <a:pt x="0" y="583384"/>
                  <a:pt x="0" y="565233"/>
                </a:cubicBezTo>
                <a:lnTo>
                  <a:pt x="0" y="32865"/>
                </a:lnTo>
                <a:cubicBezTo>
                  <a:pt x="0" y="14727"/>
                  <a:pt x="14727" y="0"/>
                  <a:pt x="3286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343" y="3881064"/>
            <a:ext cx="248112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5236" y="4078240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24636" y="3779192"/>
            <a:ext cx="2627360" cy="598098"/>
          </a:xfrm>
          <a:custGeom>
            <a:avLst/>
            <a:gdLst/>
            <a:ahLst/>
            <a:cxnLst/>
            <a:rect l="l" t="t" r="r" b="b"/>
            <a:pathLst>
              <a:path w="2627360" h="598098">
                <a:moveTo>
                  <a:pt x="32865" y="0"/>
                </a:moveTo>
                <a:lnTo>
                  <a:pt x="2594494" y="0"/>
                </a:lnTo>
                <a:cubicBezTo>
                  <a:pt x="2612645" y="0"/>
                  <a:pt x="2627360" y="14714"/>
                  <a:pt x="2627360" y="32865"/>
                </a:cubicBezTo>
                <a:lnTo>
                  <a:pt x="2627360" y="565233"/>
                </a:lnTo>
                <a:cubicBezTo>
                  <a:pt x="2627360" y="583384"/>
                  <a:pt x="2612645" y="598098"/>
                  <a:pt x="2594494" y="598098"/>
                </a:cubicBezTo>
                <a:lnTo>
                  <a:pt x="32865" y="598098"/>
                </a:lnTo>
                <a:cubicBezTo>
                  <a:pt x="14714" y="598098"/>
                  <a:pt x="0" y="583384"/>
                  <a:pt x="0" y="565233"/>
                </a:cubicBezTo>
                <a:lnTo>
                  <a:pt x="0" y="32865"/>
                </a:lnTo>
                <a:cubicBezTo>
                  <a:pt x="0" y="14727"/>
                  <a:pt x="14727" y="0"/>
                  <a:pt x="3286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7755" y="3881064"/>
            <a:ext cx="248112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 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3647" y="4078240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Partition-based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8625" y="4676340"/>
            <a:ext cx="5685218" cy="1971752"/>
          </a:xfrm>
          <a:custGeom>
            <a:avLst/>
            <a:gdLst/>
            <a:ahLst/>
            <a:cxnLst/>
            <a:rect l="l" t="t" r="r" b="b"/>
            <a:pathLst>
              <a:path w="5685218" h="1971752">
                <a:moveTo>
                  <a:pt x="32869" y="0"/>
                </a:moveTo>
                <a:lnTo>
                  <a:pt x="5652349" y="0"/>
                </a:lnTo>
                <a:cubicBezTo>
                  <a:pt x="5670502" y="0"/>
                  <a:pt x="5685218" y="14716"/>
                  <a:pt x="5685218" y="32869"/>
                </a:cubicBezTo>
                <a:lnTo>
                  <a:pt x="5685218" y="1938883"/>
                </a:lnTo>
                <a:cubicBezTo>
                  <a:pt x="5685218" y="1957036"/>
                  <a:pt x="5670502" y="1971752"/>
                  <a:pt x="5652349" y="1971752"/>
                </a:cubicBezTo>
                <a:lnTo>
                  <a:pt x="32869" y="1971752"/>
                </a:lnTo>
                <a:cubicBezTo>
                  <a:pt x="14728" y="1971752"/>
                  <a:pt x="0" y="1957024"/>
                  <a:pt x="0" y="1938883"/>
                </a:cubicBezTo>
                <a:lnTo>
                  <a:pt x="0" y="32869"/>
                </a:lnTo>
                <a:cubicBezTo>
                  <a:pt x="0" y="14728"/>
                  <a:pt x="14728" y="0"/>
                  <a:pt x="32869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0" name="Text 18"/>
          <p:cNvSpPr/>
          <p:nvPr/>
        </p:nvSpPr>
        <p:spPr>
          <a:xfrm>
            <a:off x="492938" y="4840653"/>
            <a:ext cx="5438749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Implementation Parameters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938" y="5202141"/>
            <a:ext cx="262900" cy="262900"/>
          </a:xfrm>
          <a:custGeom>
            <a:avLst/>
            <a:gdLst/>
            <a:ahLst/>
            <a:cxnLst/>
            <a:rect l="l" t="t" r="r" b="b"/>
            <a:pathLst>
              <a:path w="262900" h="262900">
                <a:moveTo>
                  <a:pt x="131450" y="0"/>
                </a:moveTo>
                <a:lnTo>
                  <a:pt x="131450" y="0"/>
                </a:lnTo>
                <a:cubicBezTo>
                  <a:pt x="203999" y="0"/>
                  <a:pt x="262900" y="58901"/>
                  <a:pt x="262900" y="131450"/>
                </a:cubicBezTo>
                <a:lnTo>
                  <a:pt x="262900" y="131450"/>
                </a:lnTo>
                <a:cubicBezTo>
                  <a:pt x="262900" y="203999"/>
                  <a:pt x="203999" y="262900"/>
                  <a:pt x="131450" y="262900"/>
                </a:cubicBezTo>
                <a:lnTo>
                  <a:pt x="131450" y="262900"/>
                </a:lnTo>
                <a:cubicBezTo>
                  <a:pt x="58901" y="262900"/>
                  <a:pt x="0" y="203999"/>
                  <a:pt x="0" y="1314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2" name="Text 20"/>
          <p:cNvSpPr/>
          <p:nvPr/>
        </p:nvSpPr>
        <p:spPr>
          <a:xfrm>
            <a:off x="460075" y="5202141"/>
            <a:ext cx="328625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4426" y="5202141"/>
            <a:ext cx="280153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max_features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4426" y="5399316"/>
            <a:ext cx="279331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dimensionality constraints to limit feature space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2938" y="5662216"/>
            <a:ext cx="262900" cy="262900"/>
          </a:xfrm>
          <a:custGeom>
            <a:avLst/>
            <a:gdLst/>
            <a:ahLst/>
            <a:cxnLst/>
            <a:rect l="l" t="t" r="r" b="b"/>
            <a:pathLst>
              <a:path w="262900" h="262900">
                <a:moveTo>
                  <a:pt x="131450" y="0"/>
                </a:moveTo>
                <a:lnTo>
                  <a:pt x="131450" y="0"/>
                </a:lnTo>
                <a:cubicBezTo>
                  <a:pt x="203999" y="0"/>
                  <a:pt x="262900" y="58901"/>
                  <a:pt x="262900" y="131450"/>
                </a:cubicBezTo>
                <a:lnTo>
                  <a:pt x="262900" y="131450"/>
                </a:lnTo>
                <a:cubicBezTo>
                  <a:pt x="262900" y="203999"/>
                  <a:pt x="203999" y="262900"/>
                  <a:pt x="131450" y="262900"/>
                </a:cubicBezTo>
                <a:lnTo>
                  <a:pt x="131450" y="262900"/>
                </a:lnTo>
                <a:cubicBezTo>
                  <a:pt x="58901" y="262900"/>
                  <a:pt x="0" y="203999"/>
                  <a:pt x="0" y="1314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6" name="Text 24"/>
          <p:cNvSpPr/>
          <p:nvPr/>
        </p:nvSpPr>
        <p:spPr>
          <a:xfrm>
            <a:off x="460075" y="5662216"/>
            <a:ext cx="328625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426" y="5662216"/>
            <a:ext cx="282617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Frozen Corpus Pattern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426" y="5859391"/>
            <a:ext cx="2817962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reproducible, deterministic cluster assignments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2938" y="6122292"/>
            <a:ext cx="262900" cy="262900"/>
          </a:xfrm>
          <a:custGeom>
            <a:avLst/>
            <a:gdLst/>
            <a:ahLst/>
            <a:cxnLst/>
            <a:rect l="l" t="t" r="r" b="b"/>
            <a:pathLst>
              <a:path w="262900" h="262900">
                <a:moveTo>
                  <a:pt x="131450" y="0"/>
                </a:moveTo>
                <a:lnTo>
                  <a:pt x="131450" y="0"/>
                </a:lnTo>
                <a:cubicBezTo>
                  <a:pt x="203999" y="0"/>
                  <a:pt x="262900" y="58901"/>
                  <a:pt x="262900" y="131450"/>
                </a:cubicBezTo>
                <a:lnTo>
                  <a:pt x="262900" y="131450"/>
                </a:lnTo>
                <a:cubicBezTo>
                  <a:pt x="262900" y="203999"/>
                  <a:pt x="203999" y="262900"/>
                  <a:pt x="131450" y="262900"/>
                </a:cubicBezTo>
                <a:lnTo>
                  <a:pt x="131450" y="262900"/>
                </a:lnTo>
                <a:cubicBezTo>
                  <a:pt x="58901" y="262900"/>
                  <a:pt x="0" y="203999"/>
                  <a:pt x="0" y="131450"/>
                </a:cubicBezTo>
                <a:lnTo>
                  <a:pt x="0" y="131450"/>
                </a:lnTo>
                <a:cubicBezTo>
                  <a:pt x="0" y="58901"/>
                  <a:pt x="58901" y="0"/>
                  <a:pt x="1314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0" name="Text 28"/>
          <p:cNvSpPr/>
          <p:nvPr/>
        </p:nvSpPr>
        <p:spPr>
          <a:xfrm>
            <a:off x="460075" y="6122292"/>
            <a:ext cx="328625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4426" y="6122292"/>
            <a:ext cx="281796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PCA Visualization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4426" y="6319467"/>
            <a:ext cx="2809747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 for scatter plot representation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9902" y="1215914"/>
            <a:ext cx="5685218" cy="3524507"/>
          </a:xfrm>
          <a:custGeom>
            <a:avLst/>
            <a:gdLst/>
            <a:ahLst/>
            <a:cxnLst/>
            <a:rect l="l" t="t" r="r" b="b"/>
            <a:pathLst>
              <a:path w="5685218" h="3524507">
                <a:moveTo>
                  <a:pt x="32848" y="0"/>
                </a:moveTo>
                <a:lnTo>
                  <a:pt x="5652370" y="0"/>
                </a:lnTo>
                <a:cubicBezTo>
                  <a:pt x="5670512" y="0"/>
                  <a:pt x="5685218" y="14707"/>
                  <a:pt x="5685218" y="32848"/>
                </a:cubicBezTo>
                <a:lnTo>
                  <a:pt x="5685218" y="3491658"/>
                </a:lnTo>
                <a:cubicBezTo>
                  <a:pt x="5685218" y="3509800"/>
                  <a:pt x="5670512" y="3524507"/>
                  <a:pt x="5652370" y="3524507"/>
                </a:cubicBezTo>
                <a:lnTo>
                  <a:pt x="32848" y="3524507"/>
                </a:lnTo>
                <a:cubicBezTo>
                  <a:pt x="14707" y="3524507"/>
                  <a:pt x="0" y="3509800"/>
                  <a:pt x="0" y="3491658"/>
                </a:cubicBezTo>
                <a:lnTo>
                  <a:pt x="0" y="32848"/>
                </a:lnTo>
                <a:cubicBezTo>
                  <a:pt x="0" y="14719"/>
                  <a:pt x="14719" y="0"/>
                  <a:pt x="3284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4" name="Text 32"/>
          <p:cNvSpPr/>
          <p:nvPr/>
        </p:nvSpPr>
        <p:spPr>
          <a:xfrm>
            <a:off x="6344215" y="1380226"/>
            <a:ext cx="5438749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K-Means Process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4215" y="1830446"/>
            <a:ext cx="394350" cy="394350"/>
          </a:xfrm>
          <a:custGeom>
            <a:avLst/>
            <a:gdLst/>
            <a:ahLst/>
            <a:cxnLst/>
            <a:rect l="l" t="t" r="r" b="b"/>
            <a:pathLst>
              <a:path w="394350" h="394350">
                <a:moveTo>
                  <a:pt x="197175" y="0"/>
                </a:moveTo>
                <a:lnTo>
                  <a:pt x="197175" y="0"/>
                </a:lnTo>
                <a:cubicBezTo>
                  <a:pt x="306072" y="0"/>
                  <a:pt x="394350" y="88278"/>
                  <a:pt x="394350" y="197175"/>
                </a:cubicBezTo>
                <a:lnTo>
                  <a:pt x="394350" y="197175"/>
                </a:lnTo>
                <a:cubicBezTo>
                  <a:pt x="394350" y="306072"/>
                  <a:pt x="306072" y="394350"/>
                  <a:pt x="197175" y="394350"/>
                </a:cubicBezTo>
                <a:lnTo>
                  <a:pt x="197175" y="394350"/>
                </a:lnTo>
                <a:cubicBezTo>
                  <a:pt x="88278" y="394350"/>
                  <a:pt x="0" y="306072"/>
                  <a:pt x="0" y="197175"/>
                </a:cubicBezTo>
                <a:lnTo>
                  <a:pt x="0" y="197175"/>
                </a:lnTo>
                <a:cubicBezTo>
                  <a:pt x="0" y="88278"/>
                  <a:pt x="88278" y="0"/>
                  <a:pt x="197175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6" name="Text 34"/>
          <p:cNvSpPr/>
          <p:nvPr/>
        </p:nvSpPr>
        <p:spPr>
          <a:xfrm>
            <a:off x="6311352" y="1830446"/>
            <a:ext cx="46007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73302" y="1745001"/>
            <a:ext cx="4829149" cy="565236"/>
          </a:xfrm>
          <a:custGeom>
            <a:avLst/>
            <a:gdLst/>
            <a:ahLst/>
            <a:cxnLst/>
            <a:rect l="l" t="t" r="r" b="b"/>
            <a:pathLst>
              <a:path w="4829149" h="565236">
                <a:moveTo>
                  <a:pt x="32863" y="0"/>
                </a:moveTo>
                <a:lnTo>
                  <a:pt x="4796287" y="0"/>
                </a:lnTo>
                <a:cubicBezTo>
                  <a:pt x="4814436" y="0"/>
                  <a:pt x="4829149" y="14713"/>
                  <a:pt x="4829149" y="32863"/>
                </a:cubicBezTo>
                <a:lnTo>
                  <a:pt x="4829149" y="532373"/>
                </a:lnTo>
                <a:cubicBezTo>
                  <a:pt x="4829149" y="550522"/>
                  <a:pt x="4814436" y="565236"/>
                  <a:pt x="4796287" y="565236"/>
                </a:cubicBezTo>
                <a:lnTo>
                  <a:pt x="32863" y="565236"/>
                </a:lnTo>
                <a:cubicBezTo>
                  <a:pt x="14713" y="565236"/>
                  <a:pt x="0" y="550522"/>
                  <a:pt x="0" y="532373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75176" y="1846877"/>
            <a:ext cx="469112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Centroids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75176" y="2044052"/>
            <a:ext cx="468291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Randomly select K initial cluster centers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4215" y="2500838"/>
            <a:ext cx="394350" cy="394350"/>
          </a:xfrm>
          <a:custGeom>
            <a:avLst/>
            <a:gdLst/>
            <a:ahLst/>
            <a:cxnLst/>
            <a:rect l="l" t="t" r="r" b="b"/>
            <a:pathLst>
              <a:path w="394350" h="394350">
                <a:moveTo>
                  <a:pt x="197175" y="0"/>
                </a:moveTo>
                <a:lnTo>
                  <a:pt x="197175" y="0"/>
                </a:lnTo>
                <a:cubicBezTo>
                  <a:pt x="306072" y="0"/>
                  <a:pt x="394350" y="88278"/>
                  <a:pt x="394350" y="197175"/>
                </a:cubicBezTo>
                <a:lnTo>
                  <a:pt x="394350" y="197175"/>
                </a:lnTo>
                <a:cubicBezTo>
                  <a:pt x="394350" y="306072"/>
                  <a:pt x="306072" y="394350"/>
                  <a:pt x="197175" y="394350"/>
                </a:cubicBezTo>
                <a:lnTo>
                  <a:pt x="197175" y="394350"/>
                </a:lnTo>
                <a:cubicBezTo>
                  <a:pt x="88278" y="394350"/>
                  <a:pt x="0" y="306072"/>
                  <a:pt x="0" y="197175"/>
                </a:cubicBezTo>
                <a:lnTo>
                  <a:pt x="0" y="197175"/>
                </a:lnTo>
                <a:cubicBezTo>
                  <a:pt x="0" y="88278"/>
                  <a:pt x="88278" y="0"/>
                  <a:pt x="197175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41" name="Text 39"/>
          <p:cNvSpPr/>
          <p:nvPr/>
        </p:nvSpPr>
        <p:spPr>
          <a:xfrm>
            <a:off x="6311352" y="2500838"/>
            <a:ext cx="46007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73302" y="2415397"/>
            <a:ext cx="4829149" cy="565236"/>
          </a:xfrm>
          <a:custGeom>
            <a:avLst/>
            <a:gdLst/>
            <a:ahLst/>
            <a:cxnLst/>
            <a:rect l="l" t="t" r="r" b="b"/>
            <a:pathLst>
              <a:path w="4829149" h="565236">
                <a:moveTo>
                  <a:pt x="32863" y="0"/>
                </a:moveTo>
                <a:lnTo>
                  <a:pt x="4796287" y="0"/>
                </a:lnTo>
                <a:cubicBezTo>
                  <a:pt x="4814436" y="0"/>
                  <a:pt x="4829149" y="14713"/>
                  <a:pt x="4829149" y="32863"/>
                </a:cubicBezTo>
                <a:lnTo>
                  <a:pt x="4829149" y="532373"/>
                </a:lnTo>
                <a:cubicBezTo>
                  <a:pt x="4829149" y="550522"/>
                  <a:pt x="4814436" y="565236"/>
                  <a:pt x="4796287" y="565236"/>
                </a:cubicBezTo>
                <a:lnTo>
                  <a:pt x="32863" y="565236"/>
                </a:lnTo>
                <a:cubicBezTo>
                  <a:pt x="14713" y="565236"/>
                  <a:pt x="0" y="550522"/>
                  <a:pt x="0" y="532373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5176" y="2517269"/>
            <a:ext cx="469112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Points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75176" y="2714444"/>
            <a:ext cx="468291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distance, assign to nearest centroid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4215" y="3171235"/>
            <a:ext cx="394350" cy="394350"/>
          </a:xfrm>
          <a:custGeom>
            <a:avLst/>
            <a:gdLst/>
            <a:ahLst/>
            <a:cxnLst/>
            <a:rect l="l" t="t" r="r" b="b"/>
            <a:pathLst>
              <a:path w="394350" h="394350">
                <a:moveTo>
                  <a:pt x="197175" y="0"/>
                </a:moveTo>
                <a:lnTo>
                  <a:pt x="197175" y="0"/>
                </a:lnTo>
                <a:cubicBezTo>
                  <a:pt x="306072" y="0"/>
                  <a:pt x="394350" y="88278"/>
                  <a:pt x="394350" y="197175"/>
                </a:cubicBezTo>
                <a:lnTo>
                  <a:pt x="394350" y="197175"/>
                </a:lnTo>
                <a:cubicBezTo>
                  <a:pt x="394350" y="306072"/>
                  <a:pt x="306072" y="394350"/>
                  <a:pt x="197175" y="394350"/>
                </a:cubicBezTo>
                <a:lnTo>
                  <a:pt x="197175" y="394350"/>
                </a:lnTo>
                <a:cubicBezTo>
                  <a:pt x="88278" y="394350"/>
                  <a:pt x="0" y="306072"/>
                  <a:pt x="0" y="197175"/>
                </a:cubicBezTo>
                <a:lnTo>
                  <a:pt x="0" y="197175"/>
                </a:lnTo>
                <a:cubicBezTo>
                  <a:pt x="0" y="88278"/>
                  <a:pt x="88278" y="0"/>
                  <a:pt x="197175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6" name="Text 44"/>
          <p:cNvSpPr/>
          <p:nvPr/>
        </p:nvSpPr>
        <p:spPr>
          <a:xfrm>
            <a:off x="6311352" y="3171235"/>
            <a:ext cx="46007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73302" y="3085794"/>
            <a:ext cx="4829149" cy="565236"/>
          </a:xfrm>
          <a:custGeom>
            <a:avLst/>
            <a:gdLst/>
            <a:ahLst/>
            <a:cxnLst/>
            <a:rect l="l" t="t" r="r" b="b"/>
            <a:pathLst>
              <a:path w="4829149" h="565236">
                <a:moveTo>
                  <a:pt x="32863" y="0"/>
                </a:moveTo>
                <a:lnTo>
                  <a:pt x="4796287" y="0"/>
                </a:lnTo>
                <a:cubicBezTo>
                  <a:pt x="4814436" y="0"/>
                  <a:pt x="4829149" y="14713"/>
                  <a:pt x="4829149" y="32863"/>
                </a:cubicBezTo>
                <a:lnTo>
                  <a:pt x="4829149" y="532373"/>
                </a:lnTo>
                <a:cubicBezTo>
                  <a:pt x="4829149" y="550522"/>
                  <a:pt x="4814436" y="565236"/>
                  <a:pt x="4796287" y="565236"/>
                </a:cubicBezTo>
                <a:lnTo>
                  <a:pt x="32863" y="565236"/>
                </a:lnTo>
                <a:cubicBezTo>
                  <a:pt x="14713" y="565236"/>
                  <a:pt x="0" y="550522"/>
                  <a:pt x="0" y="532373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75176" y="3187666"/>
            <a:ext cx="469112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Centroids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75176" y="3384841"/>
            <a:ext cx="468291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Recalculate center as mean of assigned points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4215" y="3841631"/>
            <a:ext cx="394350" cy="394350"/>
          </a:xfrm>
          <a:custGeom>
            <a:avLst/>
            <a:gdLst/>
            <a:ahLst/>
            <a:cxnLst/>
            <a:rect l="l" t="t" r="r" b="b"/>
            <a:pathLst>
              <a:path w="394350" h="394350">
                <a:moveTo>
                  <a:pt x="197175" y="0"/>
                </a:moveTo>
                <a:lnTo>
                  <a:pt x="197175" y="0"/>
                </a:lnTo>
                <a:cubicBezTo>
                  <a:pt x="306072" y="0"/>
                  <a:pt x="394350" y="88278"/>
                  <a:pt x="394350" y="197175"/>
                </a:cubicBezTo>
                <a:lnTo>
                  <a:pt x="394350" y="197175"/>
                </a:lnTo>
                <a:cubicBezTo>
                  <a:pt x="394350" y="306072"/>
                  <a:pt x="306072" y="394350"/>
                  <a:pt x="197175" y="394350"/>
                </a:cubicBezTo>
                <a:lnTo>
                  <a:pt x="197175" y="394350"/>
                </a:lnTo>
                <a:cubicBezTo>
                  <a:pt x="88278" y="394350"/>
                  <a:pt x="0" y="306072"/>
                  <a:pt x="0" y="197175"/>
                </a:cubicBezTo>
                <a:lnTo>
                  <a:pt x="0" y="197175"/>
                </a:lnTo>
                <a:cubicBezTo>
                  <a:pt x="0" y="88278"/>
                  <a:pt x="88278" y="0"/>
                  <a:pt x="197175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1" name="Text 49"/>
          <p:cNvSpPr/>
          <p:nvPr/>
        </p:nvSpPr>
        <p:spPr>
          <a:xfrm>
            <a:off x="6311352" y="3841631"/>
            <a:ext cx="46007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73302" y="3756190"/>
            <a:ext cx="4829149" cy="565236"/>
          </a:xfrm>
          <a:custGeom>
            <a:avLst/>
            <a:gdLst/>
            <a:ahLst/>
            <a:cxnLst/>
            <a:rect l="l" t="t" r="r" b="b"/>
            <a:pathLst>
              <a:path w="4829149" h="565236">
                <a:moveTo>
                  <a:pt x="32863" y="0"/>
                </a:moveTo>
                <a:lnTo>
                  <a:pt x="4796287" y="0"/>
                </a:lnTo>
                <a:cubicBezTo>
                  <a:pt x="4814436" y="0"/>
                  <a:pt x="4829149" y="14713"/>
                  <a:pt x="4829149" y="32863"/>
                </a:cubicBezTo>
                <a:lnTo>
                  <a:pt x="4829149" y="532373"/>
                </a:lnTo>
                <a:cubicBezTo>
                  <a:pt x="4829149" y="550522"/>
                  <a:pt x="4814436" y="565236"/>
                  <a:pt x="4796287" y="565236"/>
                </a:cubicBezTo>
                <a:lnTo>
                  <a:pt x="32863" y="565236"/>
                </a:lnTo>
                <a:cubicBezTo>
                  <a:pt x="14713" y="565236"/>
                  <a:pt x="0" y="550522"/>
                  <a:pt x="0" y="532373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75176" y="3858062"/>
            <a:ext cx="469112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Check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75176" y="4055237"/>
            <a:ext cx="4682911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until centroids stabilize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9902" y="4873515"/>
            <a:ext cx="5685218" cy="1774577"/>
          </a:xfrm>
          <a:custGeom>
            <a:avLst/>
            <a:gdLst/>
            <a:ahLst/>
            <a:cxnLst/>
            <a:rect l="l" t="t" r="r" b="b"/>
            <a:pathLst>
              <a:path w="5685218" h="1774577">
                <a:moveTo>
                  <a:pt x="32865" y="0"/>
                </a:moveTo>
                <a:lnTo>
                  <a:pt x="5652353" y="0"/>
                </a:lnTo>
                <a:cubicBezTo>
                  <a:pt x="5670504" y="0"/>
                  <a:pt x="5685218" y="14714"/>
                  <a:pt x="5685218" y="32865"/>
                </a:cubicBezTo>
                <a:lnTo>
                  <a:pt x="5685218" y="1741712"/>
                </a:lnTo>
                <a:cubicBezTo>
                  <a:pt x="5685218" y="1759863"/>
                  <a:pt x="5670504" y="1774577"/>
                  <a:pt x="5652353" y="1774577"/>
                </a:cubicBezTo>
                <a:lnTo>
                  <a:pt x="32865" y="1774577"/>
                </a:lnTo>
                <a:cubicBezTo>
                  <a:pt x="14714" y="1774577"/>
                  <a:pt x="0" y="1759863"/>
                  <a:pt x="0" y="1741712"/>
                </a:cubicBezTo>
                <a:lnTo>
                  <a:pt x="0" y="32865"/>
                </a:lnTo>
                <a:cubicBezTo>
                  <a:pt x="0" y="14714"/>
                  <a:pt x="14714" y="0"/>
                  <a:pt x="32865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6" name="Text 54"/>
          <p:cNvSpPr/>
          <p:nvPr/>
        </p:nvSpPr>
        <p:spPr>
          <a:xfrm>
            <a:off x="6344215" y="5037828"/>
            <a:ext cx="5438749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44215" y="5399316"/>
            <a:ext cx="1306286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Optimization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740298" y="5399316"/>
            <a:ext cx="1026954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Bounds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4215" y="5629354"/>
            <a:ext cx="5356593" cy="65725"/>
          </a:xfrm>
          <a:custGeom>
            <a:avLst/>
            <a:gdLst/>
            <a:ahLst/>
            <a:cxnLst/>
            <a:rect l="l" t="t" r="r" b="b"/>
            <a:pathLst>
              <a:path w="5356593" h="65725">
                <a:moveTo>
                  <a:pt x="32863" y="0"/>
                </a:moveTo>
                <a:lnTo>
                  <a:pt x="5323730" y="0"/>
                </a:lnTo>
                <a:cubicBezTo>
                  <a:pt x="5341880" y="0"/>
                  <a:pt x="5356593" y="14713"/>
                  <a:pt x="5356593" y="32863"/>
                </a:cubicBezTo>
                <a:lnTo>
                  <a:pt x="5356593" y="32863"/>
                </a:lnTo>
                <a:cubicBezTo>
                  <a:pt x="5356593" y="51012"/>
                  <a:pt x="5341880" y="65725"/>
                  <a:pt x="5323730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44215" y="5629354"/>
            <a:ext cx="4822577" cy="65725"/>
          </a:xfrm>
          <a:custGeom>
            <a:avLst/>
            <a:gdLst/>
            <a:ahLst/>
            <a:cxnLst/>
            <a:rect l="l" t="t" r="r" b="b"/>
            <a:pathLst>
              <a:path w="4822577" h="65725">
                <a:moveTo>
                  <a:pt x="32863" y="0"/>
                </a:moveTo>
                <a:lnTo>
                  <a:pt x="4789714" y="0"/>
                </a:lnTo>
                <a:cubicBezTo>
                  <a:pt x="4807864" y="0"/>
                  <a:pt x="4822577" y="14713"/>
                  <a:pt x="4822577" y="32863"/>
                </a:cubicBezTo>
                <a:lnTo>
                  <a:pt x="4822577" y="32863"/>
                </a:lnTo>
                <a:cubicBezTo>
                  <a:pt x="4822577" y="51012"/>
                  <a:pt x="4807864" y="65725"/>
                  <a:pt x="4789714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44215" y="5793666"/>
            <a:ext cx="92836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82120" y="5793666"/>
            <a:ext cx="88728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Frozen Corpus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4215" y="6023704"/>
            <a:ext cx="5356593" cy="65725"/>
          </a:xfrm>
          <a:custGeom>
            <a:avLst/>
            <a:gdLst/>
            <a:ahLst/>
            <a:cxnLst/>
            <a:rect l="l" t="t" r="r" b="b"/>
            <a:pathLst>
              <a:path w="5356593" h="65725">
                <a:moveTo>
                  <a:pt x="32863" y="0"/>
                </a:moveTo>
                <a:lnTo>
                  <a:pt x="5323730" y="0"/>
                </a:lnTo>
                <a:cubicBezTo>
                  <a:pt x="5341880" y="0"/>
                  <a:pt x="5356593" y="14713"/>
                  <a:pt x="5356593" y="32863"/>
                </a:cubicBezTo>
                <a:lnTo>
                  <a:pt x="5356593" y="32863"/>
                </a:lnTo>
                <a:cubicBezTo>
                  <a:pt x="5356593" y="51012"/>
                  <a:pt x="5341880" y="65725"/>
                  <a:pt x="5323730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44215" y="6023704"/>
            <a:ext cx="5356593" cy="65725"/>
          </a:xfrm>
          <a:custGeom>
            <a:avLst/>
            <a:gdLst/>
            <a:ahLst/>
            <a:cxnLst/>
            <a:rect l="l" t="t" r="r" b="b"/>
            <a:pathLst>
              <a:path w="5356593" h="65725">
                <a:moveTo>
                  <a:pt x="32863" y="0"/>
                </a:moveTo>
                <a:lnTo>
                  <a:pt x="5323730" y="0"/>
                </a:lnTo>
                <a:cubicBezTo>
                  <a:pt x="5341880" y="0"/>
                  <a:pt x="5356593" y="14713"/>
                  <a:pt x="5356593" y="32863"/>
                </a:cubicBezTo>
                <a:lnTo>
                  <a:pt x="5356593" y="32863"/>
                </a:lnTo>
                <a:cubicBezTo>
                  <a:pt x="5356593" y="51012"/>
                  <a:pt x="5341880" y="65725"/>
                  <a:pt x="5323730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344215" y="6188017"/>
            <a:ext cx="772270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272670" y="6188017"/>
            <a:ext cx="49293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PCA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4215" y="6418054"/>
            <a:ext cx="5356593" cy="65725"/>
          </a:xfrm>
          <a:custGeom>
            <a:avLst/>
            <a:gdLst/>
            <a:ahLst/>
            <a:cxnLst/>
            <a:rect l="l" t="t" r="r" b="b"/>
            <a:pathLst>
              <a:path w="5356593" h="65725">
                <a:moveTo>
                  <a:pt x="32863" y="0"/>
                </a:moveTo>
                <a:lnTo>
                  <a:pt x="5323730" y="0"/>
                </a:lnTo>
                <a:cubicBezTo>
                  <a:pt x="5341880" y="0"/>
                  <a:pt x="5356593" y="14713"/>
                  <a:pt x="5356593" y="32863"/>
                </a:cubicBezTo>
                <a:lnTo>
                  <a:pt x="5356593" y="32863"/>
                </a:lnTo>
                <a:cubicBezTo>
                  <a:pt x="5356593" y="51012"/>
                  <a:pt x="5341880" y="65725"/>
                  <a:pt x="5323730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344215" y="6418054"/>
            <a:ext cx="4551461" cy="65725"/>
          </a:xfrm>
          <a:custGeom>
            <a:avLst/>
            <a:gdLst/>
            <a:ahLst/>
            <a:cxnLst/>
            <a:rect l="l" t="t" r="r" b="b"/>
            <a:pathLst>
              <a:path w="4551461" h="65725">
                <a:moveTo>
                  <a:pt x="32863" y="0"/>
                </a:moveTo>
                <a:lnTo>
                  <a:pt x="4518598" y="0"/>
                </a:lnTo>
                <a:cubicBezTo>
                  <a:pt x="4536748" y="0"/>
                  <a:pt x="4551461" y="14713"/>
                  <a:pt x="4551461" y="32863"/>
                </a:cubicBezTo>
                <a:lnTo>
                  <a:pt x="4551461" y="32863"/>
                </a:lnTo>
                <a:cubicBezTo>
                  <a:pt x="4551461" y="51012"/>
                  <a:pt x="4536748" y="65725"/>
                  <a:pt x="4518598" y="65725"/>
                </a:cubicBezTo>
                <a:lnTo>
                  <a:pt x="32863" y="65725"/>
                </a:lnTo>
                <a:cubicBezTo>
                  <a:pt x="14725" y="65725"/>
                  <a:pt x="0" y="51000"/>
                  <a:pt x="0" y="32863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Mining Algorithms: Apriori Association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6873875" cy="2143125"/>
          </a:xfrm>
          <a:custGeom>
            <a:avLst/>
            <a:gdLst/>
            <a:ahLst/>
            <a:cxnLst/>
            <a:rect l="l" t="t" r="r" b="b"/>
            <a:pathLst>
              <a:path w="6873875" h="2143125">
                <a:moveTo>
                  <a:pt x="31740" y="0"/>
                </a:moveTo>
                <a:lnTo>
                  <a:pt x="6842135" y="0"/>
                </a:lnTo>
                <a:cubicBezTo>
                  <a:pt x="6859665" y="0"/>
                  <a:pt x="6873875" y="14210"/>
                  <a:pt x="6873875" y="31740"/>
                </a:cubicBezTo>
                <a:lnTo>
                  <a:pt x="6873875" y="2111385"/>
                </a:lnTo>
                <a:cubicBezTo>
                  <a:pt x="6873875" y="2128915"/>
                  <a:pt x="6859665" y="2143125"/>
                  <a:pt x="6842135" y="2143125"/>
                </a:cubicBezTo>
                <a:lnTo>
                  <a:pt x="31740" y="2143125"/>
                </a:lnTo>
                <a:cubicBezTo>
                  <a:pt x="14210" y="2143125"/>
                  <a:pt x="0" y="2128915"/>
                  <a:pt x="0" y="2111385"/>
                </a:cubicBezTo>
                <a:lnTo>
                  <a:pt x="0" y="31740"/>
                </a:lnTo>
                <a:cubicBezTo>
                  <a:pt x="0" y="14222"/>
                  <a:pt x="14222" y="0"/>
                  <a:pt x="3174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33500"/>
            <a:ext cx="663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82750"/>
            <a:ext cx="661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Apriori algorithm discovers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latent relationships between entities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news text (e.g., "Economic Reform" → "Policy Shifts"). It employs a level-wise search approach to identify frequent itemsets and generate association rules.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9425" y="2225675"/>
            <a:ext cx="6546850" cy="927100"/>
          </a:xfrm>
          <a:custGeom>
            <a:avLst/>
            <a:gdLst/>
            <a:ahLst/>
            <a:cxnLst/>
            <a:rect l="l" t="t" r="r" b="b"/>
            <a:pathLst>
              <a:path w="6546850" h="927100">
                <a:moveTo>
                  <a:pt x="31753" y="0"/>
                </a:moveTo>
                <a:lnTo>
                  <a:pt x="6515097" y="0"/>
                </a:lnTo>
                <a:cubicBezTo>
                  <a:pt x="6532634" y="0"/>
                  <a:pt x="6546850" y="14216"/>
                  <a:pt x="6546850" y="31753"/>
                </a:cubicBezTo>
                <a:lnTo>
                  <a:pt x="6546850" y="895347"/>
                </a:lnTo>
                <a:cubicBezTo>
                  <a:pt x="6546850" y="912884"/>
                  <a:pt x="6532634" y="927100"/>
                  <a:pt x="6515097" y="927100"/>
                </a:cubicBezTo>
                <a:lnTo>
                  <a:pt x="31753" y="927100"/>
                </a:lnTo>
                <a:cubicBezTo>
                  <a:pt x="14216" y="927100"/>
                  <a:pt x="0" y="912884"/>
                  <a:pt x="0" y="8953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355852"/>
            <a:ext cx="634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Property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609852"/>
            <a:ext cx="6350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an itemset is frequent, all its subsets must also be frequent.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Conversely, if an itemset is infrequent, all its supersets are infrequent. This property enables efficient pruning.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7500" y="3441701"/>
            <a:ext cx="6873875" cy="2286000"/>
          </a:xfrm>
          <a:custGeom>
            <a:avLst/>
            <a:gdLst/>
            <a:ahLst/>
            <a:cxnLst/>
            <a:rect l="l" t="t" r="r" b="b"/>
            <a:pathLst>
              <a:path w="6873875" h="2286000">
                <a:moveTo>
                  <a:pt x="31753" y="0"/>
                </a:moveTo>
                <a:lnTo>
                  <a:pt x="6842122" y="0"/>
                </a:lnTo>
                <a:cubicBezTo>
                  <a:pt x="6859659" y="0"/>
                  <a:pt x="6873875" y="14216"/>
                  <a:pt x="6873875" y="31753"/>
                </a:cubicBezTo>
                <a:lnTo>
                  <a:pt x="6873875" y="2254247"/>
                </a:lnTo>
                <a:cubicBezTo>
                  <a:pt x="6873875" y="2271784"/>
                  <a:pt x="6859659" y="2286000"/>
                  <a:pt x="6842122" y="2286000"/>
                </a:cubicBezTo>
                <a:lnTo>
                  <a:pt x="31753" y="2286000"/>
                </a:lnTo>
                <a:cubicBezTo>
                  <a:pt x="14216" y="2286000"/>
                  <a:pt x="0" y="2271784"/>
                  <a:pt x="0" y="2254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3600451"/>
            <a:ext cx="663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Level-Wise Search 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" y="3965576"/>
            <a:ext cx="3230563" cy="746125"/>
          </a:xfrm>
          <a:custGeom>
            <a:avLst/>
            <a:gdLst/>
            <a:ahLst/>
            <a:cxnLst/>
            <a:rect l="l" t="t" r="r" b="b"/>
            <a:pathLst>
              <a:path w="3230563" h="746125">
                <a:moveTo>
                  <a:pt x="31748" y="0"/>
                </a:moveTo>
                <a:lnTo>
                  <a:pt x="3198815" y="0"/>
                </a:lnTo>
                <a:cubicBezTo>
                  <a:pt x="3216349" y="0"/>
                  <a:pt x="3230563" y="14214"/>
                  <a:pt x="3230563" y="31748"/>
                </a:cubicBezTo>
                <a:lnTo>
                  <a:pt x="3230563" y="714377"/>
                </a:lnTo>
                <a:cubicBezTo>
                  <a:pt x="3230563" y="731911"/>
                  <a:pt x="3216349" y="746125"/>
                  <a:pt x="3198815" y="746125"/>
                </a:cubicBezTo>
                <a:lnTo>
                  <a:pt x="31748" y="746125"/>
                </a:lnTo>
                <a:cubicBezTo>
                  <a:pt x="14214" y="746125"/>
                  <a:pt x="0" y="731911"/>
                  <a:pt x="0" y="714377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6250" y="3965576"/>
            <a:ext cx="3230563" cy="31750"/>
          </a:xfrm>
          <a:custGeom>
            <a:avLst/>
            <a:gdLst/>
            <a:ahLst/>
            <a:cxnLst/>
            <a:rect l="l" t="t" r="r" b="b"/>
            <a:pathLst>
              <a:path w="3230563" h="31750">
                <a:moveTo>
                  <a:pt x="31750" y="0"/>
                </a:moveTo>
                <a:lnTo>
                  <a:pt x="3198813" y="0"/>
                </a:lnTo>
                <a:cubicBezTo>
                  <a:pt x="3216336" y="0"/>
                  <a:pt x="3230563" y="14227"/>
                  <a:pt x="3230563" y="31750"/>
                </a:cubicBezTo>
                <a:lnTo>
                  <a:pt x="323056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250" y="41084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41084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0750" y="4140201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Join Step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" y="4425951"/>
            <a:ext cx="303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Lₖ₋₁ × Lₖ₋₁ → Cₖ (generate candidates)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0475" y="3965576"/>
            <a:ext cx="3230563" cy="746125"/>
          </a:xfrm>
          <a:custGeom>
            <a:avLst/>
            <a:gdLst/>
            <a:ahLst/>
            <a:cxnLst/>
            <a:rect l="l" t="t" r="r" b="b"/>
            <a:pathLst>
              <a:path w="3230563" h="746125">
                <a:moveTo>
                  <a:pt x="31748" y="0"/>
                </a:moveTo>
                <a:lnTo>
                  <a:pt x="3198815" y="0"/>
                </a:lnTo>
                <a:cubicBezTo>
                  <a:pt x="3216349" y="0"/>
                  <a:pt x="3230563" y="14214"/>
                  <a:pt x="3230563" y="31748"/>
                </a:cubicBezTo>
                <a:lnTo>
                  <a:pt x="3230563" y="714377"/>
                </a:lnTo>
                <a:cubicBezTo>
                  <a:pt x="3230563" y="731911"/>
                  <a:pt x="3216349" y="746125"/>
                  <a:pt x="3198815" y="746125"/>
                </a:cubicBezTo>
                <a:lnTo>
                  <a:pt x="31748" y="746125"/>
                </a:lnTo>
                <a:cubicBezTo>
                  <a:pt x="14214" y="746125"/>
                  <a:pt x="0" y="731911"/>
                  <a:pt x="0" y="714377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00475" y="3965576"/>
            <a:ext cx="3230563" cy="31750"/>
          </a:xfrm>
          <a:custGeom>
            <a:avLst/>
            <a:gdLst/>
            <a:ahLst/>
            <a:cxnLst/>
            <a:rect l="l" t="t" r="r" b="b"/>
            <a:pathLst>
              <a:path w="3230563" h="31750">
                <a:moveTo>
                  <a:pt x="31750" y="0"/>
                </a:moveTo>
                <a:lnTo>
                  <a:pt x="3198813" y="0"/>
                </a:lnTo>
                <a:cubicBezTo>
                  <a:pt x="3216336" y="0"/>
                  <a:pt x="3230563" y="14227"/>
                  <a:pt x="3230563" y="31750"/>
                </a:cubicBezTo>
                <a:lnTo>
                  <a:pt x="323056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27475" y="41084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2" name="Text 20"/>
          <p:cNvSpPr/>
          <p:nvPr/>
        </p:nvSpPr>
        <p:spPr>
          <a:xfrm>
            <a:off x="3895725" y="410845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44975" y="4140201"/>
            <a:ext cx="61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Prune Step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27475" y="4425951"/>
            <a:ext cx="303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candidates with infrequent subsets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822826"/>
            <a:ext cx="3230563" cy="746125"/>
          </a:xfrm>
          <a:custGeom>
            <a:avLst/>
            <a:gdLst/>
            <a:ahLst/>
            <a:cxnLst/>
            <a:rect l="l" t="t" r="r" b="b"/>
            <a:pathLst>
              <a:path w="3230563" h="746125">
                <a:moveTo>
                  <a:pt x="31748" y="0"/>
                </a:moveTo>
                <a:lnTo>
                  <a:pt x="3198815" y="0"/>
                </a:lnTo>
                <a:cubicBezTo>
                  <a:pt x="3216349" y="0"/>
                  <a:pt x="3230563" y="14214"/>
                  <a:pt x="3230563" y="31748"/>
                </a:cubicBezTo>
                <a:lnTo>
                  <a:pt x="3230563" y="714377"/>
                </a:lnTo>
                <a:cubicBezTo>
                  <a:pt x="3230563" y="731911"/>
                  <a:pt x="3216349" y="746125"/>
                  <a:pt x="3198815" y="746125"/>
                </a:cubicBezTo>
                <a:lnTo>
                  <a:pt x="31748" y="746125"/>
                </a:lnTo>
                <a:cubicBezTo>
                  <a:pt x="14214" y="746125"/>
                  <a:pt x="0" y="731911"/>
                  <a:pt x="0" y="714377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" y="4822826"/>
            <a:ext cx="3230563" cy="31750"/>
          </a:xfrm>
          <a:custGeom>
            <a:avLst/>
            <a:gdLst/>
            <a:ahLst/>
            <a:cxnLst/>
            <a:rect l="l" t="t" r="r" b="b"/>
            <a:pathLst>
              <a:path w="3230563" h="31750">
                <a:moveTo>
                  <a:pt x="31750" y="0"/>
                </a:moveTo>
                <a:lnTo>
                  <a:pt x="3198813" y="0"/>
                </a:lnTo>
                <a:cubicBezTo>
                  <a:pt x="3216336" y="0"/>
                  <a:pt x="3230563" y="14227"/>
                  <a:pt x="3230563" y="31750"/>
                </a:cubicBezTo>
                <a:lnTo>
                  <a:pt x="323056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250" y="49657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" y="496570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0750" y="4997451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Count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" y="5283201"/>
            <a:ext cx="303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database, count candidate frequency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00475" y="4822826"/>
            <a:ext cx="3230563" cy="746125"/>
          </a:xfrm>
          <a:custGeom>
            <a:avLst/>
            <a:gdLst/>
            <a:ahLst/>
            <a:cxnLst/>
            <a:rect l="l" t="t" r="r" b="b"/>
            <a:pathLst>
              <a:path w="3230563" h="746125">
                <a:moveTo>
                  <a:pt x="31748" y="0"/>
                </a:moveTo>
                <a:lnTo>
                  <a:pt x="3198815" y="0"/>
                </a:lnTo>
                <a:cubicBezTo>
                  <a:pt x="3216349" y="0"/>
                  <a:pt x="3230563" y="14214"/>
                  <a:pt x="3230563" y="31748"/>
                </a:cubicBezTo>
                <a:lnTo>
                  <a:pt x="3230563" y="714377"/>
                </a:lnTo>
                <a:cubicBezTo>
                  <a:pt x="3230563" y="731911"/>
                  <a:pt x="3216349" y="746125"/>
                  <a:pt x="3198815" y="746125"/>
                </a:cubicBezTo>
                <a:lnTo>
                  <a:pt x="31748" y="746125"/>
                </a:lnTo>
                <a:cubicBezTo>
                  <a:pt x="14214" y="746125"/>
                  <a:pt x="0" y="731911"/>
                  <a:pt x="0" y="714377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800475" y="4822826"/>
            <a:ext cx="3230563" cy="31750"/>
          </a:xfrm>
          <a:custGeom>
            <a:avLst/>
            <a:gdLst/>
            <a:ahLst/>
            <a:cxnLst/>
            <a:rect l="l" t="t" r="r" b="b"/>
            <a:pathLst>
              <a:path w="3230563" h="31750">
                <a:moveTo>
                  <a:pt x="31750" y="0"/>
                </a:moveTo>
                <a:lnTo>
                  <a:pt x="3198813" y="0"/>
                </a:lnTo>
                <a:cubicBezTo>
                  <a:pt x="3216336" y="0"/>
                  <a:pt x="3230563" y="14227"/>
                  <a:pt x="3230563" y="31750"/>
                </a:cubicBezTo>
                <a:lnTo>
                  <a:pt x="323056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3" name="Shape 31"/>
          <p:cNvSpPr/>
          <p:nvPr/>
        </p:nvSpPr>
        <p:spPr>
          <a:xfrm>
            <a:off x="3927475" y="49657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4" name="Text 32"/>
          <p:cNvSpPr/>
          <p:nvPr/>
        </p:nvSpPr>
        <p:spPr>
          <a:xfrm>
            <a:off x="3895725" y="4965701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44975" y="4997451"/>
            <a:ext cx="65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Generate Lₖ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27475" y="5283201"/>
            <a:ext cx="303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candidates meeting min_support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46950" y="1174750"/>
            <a:ext cx="4524375" cy="2635250"/>
          </a:xfrm>
          <a:custGeom>
            <a:avLst/>
            <a:gdLst/>
            <a:ahLst/>
            <a:cxnLst/>
            <a:rect l="l" t="t" r="r" b="b"/>
            <a:pathLst>
              <a:path w="4524375" h="2635250">
                <a:moveTo>
                  <a:pt x="31755" y="0"/>
                </a:moveTo>
                <a:lnTo>
                  <a:pt x="4492620" y="0"/>
                </a:lnTo>
                <a:cubicBezTo>
                  <a:pt x="4510158" y="0"/>
                  <a:pt x="4524375" y="14217"/>
                  <a:pt x="4524375" y="31755"/>
                </a:cubicBezTo>
                <a:lnTo>
                  <a:pt x="4524375" y="2603495"/>
                </a:lnTo>
                <a:cubicBezTo>
                  <a:pt x="4524375" y="2621033"/>
                  <a:pt x="4510158" y="2635250"/>
                  <a:pt x="4492620" y="2635250"/>
                </a:cubicBezTo>
                <a:lnTo>
                  <a:pt x="31755" y="2635250"/>
                </a:lnTo>
                <a:cubicBezTo>
                  <a:pt x="14217" y="2635250"/>
                  <a:pt x="0" y="2621033"/>
                  <a:pt x="0" y="260349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8" name="Text 36"/>
          <p:cNvSpPr/>
          <p:nvPr/>
        </p:nvSpPr>
        <p:spPr>
          <a:xfrm>
            <a:off x="7505700" y="1333500"/>
            <a:ext cx="428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Rule Metrics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05700" y="16827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600950" y="1778000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00950" y="20002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P(A ∪ B) — Frequency of itemset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05700" y="23812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600950" y="2476500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00950" y="26987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P(B|A) = P(A ∪ B) / P(A)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05700" y="30797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00950" y="3175000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00950" y="33972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P(B|A) / P(B) — Strength of association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46950" y="3937000"/>
            <a:ext cx="4524375" cy="2611438"/>
          </a:xfrm>
          <a:custGeom>
            <a:avLst/>
            <a:gdLst/>
            <a:ahLst/>
            <a:cxnLst/>
            <a:rect l="l" t="t" r="r" b="b"/>
            <a:pathLst>
              <a:path w="4524375" h="2611438">
                <a:moveTo>
                  <a:pt x="31755" y="0"/>
                </a:moveTo>
                <a:lnTo>
                  <a:pt x="4492620" y="0"/>
                </a:lnTo>
                <a:cubicBezTo>
                  <a:pt x="4510158" y="0"/>
                  <a:pt x="4524375" y="14217"/>
                  <a:pt x="4524375" y="31755"/>
                </a:cubicBezTo>
                <a:lnTo>
                  <a:pt x="4524375" y="2579682"/>
                </a:lnTo>
                <a:cubicBezTo>
                  <a:pt x="4524375" y="2597220"/>
                  <a:pt x="4510158" y="2611438"/>
                  <a:pt x="4492620" y="2611438"/>
                </a:cubicBezTo>
                <a:lnTo>
                  <a:pt x="31755" y="2611438"/>
                </a:lnTo>
                <a:cubicBezTo>
                  <a:pt x="14217" y="2611438"/>
                  <a:pt x="0" y="2597220"/>
                  <a:pt x="0" y="2579682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9" name="Text 47"/>
          <p:cNvSpPr/>
          <p:nvPr/>
        </p:nvSpPr>
        <p:spPr>
          <a:xfrm>
            <a:off x="7505700" y="4095750"/>
            <a:ext cx="427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Example Association Rules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08875" y="4448175"/>
            <a:ext cx="4205287" cy="577850"/>
          </a:xfrm>
          <a:custGeom>
            <a:avLst/>
            <a:gdLst/>
            <a:ahLst/>
            <a:cxnLst/>
            <a:rect l="l" t="t" r="r" b="b"/>
            <a:pathLst>
              <a:path w="4205287" h="577850">
                <a:moveTo>
                  <a:pt x="31753" y="0"/>
                </a:moveTo>
                <a:lnTo>
                  <a:pt x="4173535" y="0"/>
                </a:lnTo>
                <a:cubicBezTo>
                  <a:pt x="4191060" y="0"/>
                  <a:pt x="4205287" y="14228"/>
                  <a:pt x="4205287" y="31753"/>
                </a:cubicBezTo>
                <a:lnTo>
                  <a:pt x="4205287" y="546097"/>
                </a:lnTo>
                <a:cubicBezTo>
                  <a:pt x="4205287" y="563622"/>
                  <a:pt x="4191060" y="577850"/>
                  <a:pt x="4173535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07300" y="4546602"/>
            <a:ext cx="406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{economic} → {reform}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07300" y="4737102"/>
            <a:ext cx="531813" cy="190500"/>
          </a:xfrm>
          <a:custGeom>
            <a:avLst/>
            <a:gdLst/>
            <a:ahLst/>
            <a:cxnLst/>
            <a:rect l="l" t="t" r="r" b="b"/>
            <a:pathLst>
              <a:path w="531813" h="190500">
                <a:moveTo>
                  <a:pt x="31751" y="0"/>
                </a:moveTo>
                <a:lnTo>
                  <a:pt x="500062" y="0"/>
                </a:lnTo>
                <a:cubicBezTo>
                  <a:pt x="517597" y="0"/>
                  <a:pt x="531813" y="14215"/>
                  <a:pt x="531813" y="31751"/>
                </a:cubicBezTo>
                <a:lnTo>
                  <a:pt x="531813" y="158749"/>
                </a:lnTo>
                <a:cubicBezTo>
                  <a:pt x="531813" y="176285"/>
                  <a:pt x="517597" y="190500"/>
                  <a:pt x="5000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607300" y="4737102"/>
            <a:ext cx="5794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conf: 0.78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38233" y="4737102"/>
            <a:ext cx="396875" cy="190500"/>
          </a:xfrm>
          <a:custGeom>
            <a:avLst/>
            <a:gdLst/>
            <a:ahLst/>
            <a:cxnLst/>
            <a:rect l="l" t="t" r="r" b="b"/>
            <a:pathLst>
              <a:path w="396875" h="190500">
                <a:moveTo>
                  <a:pt x="31751" y="0"/>
                </a:moveTo>
                <a:lnTo>
                  <a:pt x="365124" y="0"/>
                </a:lnTo>
                <a:cubicBezTo>
                  <a:pt x="382660" y="0"/>
                  <a:pt x="396875" y="14215"/>
                  <a:pt x="396875" y="31751"/>
                </a:cubicBezTo>
                <a:lnTo>
                  <a:pt x="396875" y="158749"/>
                </a:lnTo>
                <a:cubicBezTo>
                  <a:pt x="396875" y="176285"/>
                  <a:pt x="382660" y="190500"/>
                  <a:pt x="3651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238233" y="4737102"/>
            <a:ext cx="4445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2.3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08875" y="5127525"/>
            <a:ext cx="4205287" cy="577850"/>
          </a:xfrm>
          <a:custGeom>
            <a:avLst/>
            <a:gdLst/>
            <a:ahLst/>
            <a:cxnLst/>
            <a:rect l="l" t="t" r="r" b="b"/>
            <a:pathLst>
              <a:path w="4205287" h="577850">
                <a:moveTo>
                  <a:pt x="31753" y="0"/>
                </a:moveTo>
                <a:lnTo>
                  <a:pt x="4173535" y="0"/>
                </a:lnTo>
                <a:cubicBezTo>
                  <a:pt x="4191060" y="0"/>
                  <a:pt x="4205287" y="14228"/>
                  <a:pt x="4205287" y="31753"/>
                </a:cubicBezTo>
                <a:lnTo>
                  <a:pt x="4205287" y="546097"/>
                </a:lnTo>
                <a:cubicBezTo>
                  <a:pt x="4205287" y="563622"/>
                  <a:pt x="4191060" y="577850"/>
                  <a:pt x="4173535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07300" y="5225952"/>
            <a:ext cx="406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{stock, market} → {trade}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607300" y="5416452"/>
            <a:ext cx="539750" cy="190500"/>
          </a:xfrm>
          <a:custGeom>
            <a:avLst/>
            <a:gdLst/>
            <a:ahLst/>
            <a:cxnLst/>
            <a:rect l="l" t="t" r="r" b="b"/>
            <a:pathLst>
              <a:path w="539750" h="190500">
                <a:moveTo>
                  <a:pt x="31751" y="0"/>
                </a:moveTo>
                <a:lnTo>
                  <a:pt x="507999" y="0"/>
                </a:lnTo>
                <a:cubicBezTo>
                  <a:pt x="525535" y="0"/>
                  <a:pt x="539750" y="14215"/>
                  <a:pt x="539750" y="31751"/>
                </a:cubicBezTo>
                <a:lnTo>
                  <a:pt x="539750" y="158749"/>
                </a:lnTo>
                <a:cubicBezTo>
                  <a:pt x="539750" y="176285"/>
                  <a:pt x="525535" y="190500"/>
                  <a:pt x="507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607300" y="5416452"/>
            <a:ext cx="587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conf: 0.82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43194" y="5416452"/>
            <a:ext cx="381000" cy="190500"/>
          </a:xfrm>
          <a:custGeom>
            <a:avLst/>
            <a:gdLst/>
            <a:ahLst/>
            <a:cxnLst/>
            <a:rect l="l" t="t" r="r" b="b"/>
            <a:pathLst>
              <a:path w="381000" h="190500">
                <a:moveTo>
                  <a:pt x="31751" y="0"/>
                </a:moveTo>
                <a:lnTo>
                  <a:pt x="349249" y="0"/>
                </a:lnTo>
                <a:cubicBezTo>
                  <a:pt x="366785" y="0"/>
                  <a:pt x="381000" y="14215"/>
                  <a:pt x="381000" y="31751"/>
                </a:cubicBezTo>
                <a:lnTo>
                  <a:pt x="381000" y="158749"/>
                </a:lnTo>
                <a:cubicBezTo>
                  <a:pt x="381000" y="176285"/>
                  <a:pt x="366785" y="190500"/>
                  <a:pt x="3492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243194" y="5416452"/>
            <a:ext cx="4286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1.9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508875" y="5806879"/>
            <a:ext cx="4205287" cy="577850"/>
          </a:xfrm>
          <a:custGeom>
            <a:avLst/>
            <a:gdLst/>
            <a:ahLst/>
            <a:cxnLst/>
            <a:rect l="l" t="t" r="r" b="b"/>
            <a:pathLst>
              <a:path w="4205287" h="577850">
                <a:moveTo>
                  <a:pt x="31753" y="0"/>
                </a:moveTo>
                <a:lnTo>
                  <a:pt x="4173535" y="0"/>
                </a:lnTo>
                <a:cubicBezTo>
                  <a:pt x="4191060" y="0"/>
                  <a:pt x="4205287" y="14228"/>
                  <a:pt x="4205287" y="31753"/>
                </a:cubicBezTo>
                <a:lnTo>
                  <a:pt x="4205287" y="546097"/>
                </a:lnTo>
                <a:cubicBezTo>
                  <a:pt x="4205287" y="563622"/>
                  <a:pt x="4191060" y="577850"/>
                  <a:pt x="4173535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07300" y="5905302"/>
            <a:ext cx="406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{policy} → {government}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607300" y="6095802"/>
            <a:ext cx="515938" cy="190500"/>
          </a:xfrm>
          <a:custGeom>
            <a:avLst/>
            <a:gdLst/>
            <a:ahLst/>
            <a:cxnLst/>
            <a:rect l="l" t="t" r="r" b="b"/>
            <a:pathLst>
              <a:path w="515938" h="190500">
                <a:moveTo>
                  <a:pt x="31751" y="0"/>
                </a:moveTo>
                <a:lnTo>
                  <a:pt x="484187" y="0"/>
                </a:lnTo>
                <a:cubicBezTo>
                  <a:pt x="501722" y="0"/>
                  <a:pt x="515938" y="14215"/>
                  <a:pt x="515938" y="31751"/>
                </a:cubicBezTo>
                <a:lnTo>
                  <a:pt x="515938" y="158749"/>
                </a:lnTo>
                <a:cubicBezTo>
                  <a:pt x="515938" y="176285"/>
                  <a:pt x="501722" y="190500"/>
                  <a:pt x="4841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607300" y="6095802"/>
            <a:ext cx="5635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conf: 0.71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15313" y="6095802"/>
            <a:ext cx="373063" cy="190500"/>
          </a:xfrm>
          <a:custGeom>
            <a:avLst/>
            <a:gdLst/>
            <a:ahLst/>
            <a:cxnLst/>
            <a:rect l="l" t="t" r="r" b="b"/>
            <a:pathLst>
              <a:path w="373063" h="190500">
                <a:moveTo>
                  <a:pt x="31751" y="0"/>
                </a:moveTo>
                <a:lnTo>
                  <a:pt x="341312" y="0"/>
                </a:lnTo>
                <a:cubicBezTo>
                  <a:pt x="358847" y="0"/>
                  <a:pt x="373063" y="14215"/>
                  <a:pt x="373063" y="31751"/>
                </a:cubicBezTo>
                <a:lnTo>
                  <a:pt x="373063" y="158749"/>
                </a:lnTo>
                <a:cubicBezTo>
                  <a:pt x="373063" y="176285"/>
                  <a:pt x="358847" y="190500"/>
                  <a:pt x="3413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215313" y="6095802"/>
            <a:ext cx="4206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1.7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46950" y="6673554"/>
            <a:ext cx="4524375" cy="730250"/>
          </a:xfrm>
          <a:custGeom>
            <a:avLst/>
            <a:gdLst/>
            <a:ahLst/>
            <a:cxnLst/>
            <a:rect l="l" t="t" r="r" b="b"/>
            <a:pathLst>
              <a:path w="4524375" h="730250">
                <a:moveTo>
                  <a:pt x="31751" y="0"/>
                </a:moveTo>
                <a:lnTo>
                  <a:pt x="4492624" y="0"/>
                </a:lnTo>
                <a:cubicBezTo>
                  <a:pt x="4510159" y="0"/>
                  <a:pt x="4524375" y="14216"/>
                  <a:pt x="4524375" y="31751"/>
                </a:cubicBezTo>
                <a:lnTo>
                  <a:pt x="4524375" y="698499"/>
                </a:lnTo>
                <a:cubicBezTo>
                  <a:pt x="4524375" y="716034"/>
                  <a:pt x="4510159" y="730250"/>
                  <a:pt x="4492624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69" name="Text 67"/>
          <p:cNvSpPr/>
          <p:nvPr/>
        </p:nvSpPr>
        <p:spPr>
          <a:xfrm>
            <a:off x="7442200" y="6800554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Display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26325" y="7022804"/>
            <a:ext cx="4365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Apriori Rules Table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Mining Algorithms: SVM Classification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699125" cy="3024188"/>
          </a:xfrm>
          <a:custGeom>
            <a:avLst/>
            <a:gdLst/>
            <a:ahLst/>
            <a:cxnLst/>
            <a:rect l="l" t="t" r="r" b="b"/>
            <a:pathLst>
              <a:path w="5699125" h="3024188">
                <a:moveTo>
                  <a:pt x="31754" y="0"/>
                </a:moveTo>
                <a:lnTo>
                  <a:pt x="5667371" y="0"/>
                </a:lnTo>
                <a:cubicBezTo>
                  <a:pt x="5684908" y="0"/>
                  <a:pt x="5699125" y="14217"/>
                  <a:pt x="5699125" y="31754"/>
                </a:cubicBezTo>
                <a:lnTo>
                  <a:pt x="5699125" y="2992434"/>
                </a:lnTo>
                <a:cubicBezTo>
                  <a:pt x="5699125" y="3009971"/>
                  <a:pt x="5684908" y="3024188"/>
                  <a:pt x="5667371" y="3024188"/>
                </a:cubicBezTo>
                <a:lnTo>
                  <a:pt x="31754" y="3024188"/>
                </a:lnTo>
                <a:cubicBezTo>
                  <a:pt x="14217" y="3024188"/>
                  <a:pt x="0" y="3009971"/>
                  <a:pt x="0" y="2992434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3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Algorithm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82750"/>
            <a:ext cx="5445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 Machine (SVM) is employed for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multi-class classification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categorizing news articles into predefined thematic classes. The algorithm finds an optimal hyperplane that maximizes the margin between different classes.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9425" y="2432050"/>
            <a:ext cx="5372100" cy="895350"/>
          </a:xfrm>
          <a:custGeom>
            <a:avLst/>
            <a:gdLst/>
            <a:ahLst/>
            <a:cxnLst/>
            <a:rect l="l" t="t" r="r" b="b"/>
            <a:pathLst>
              <a:path w="5372100" h="895350">
                <a:moveTo>
                  <a:pt x="31749" y="0"/>
                </a:moveTo>
                <a:lnTo>
                  <a:pt x="5340351" y="0"/>
                </a:lnTo>
                <a:cubicBezTo>
                  <a:pt x="5357885" y="0"/>
                  <a:pt x="5372100" y="14215"/>
                  <a:pt x="5372100" y="31749"/>
                </a:cubicBezTo>
                <a:lnTo>
                  <a:pt x="5372100" y="863601"/>
                </a:lnTo>
                <a:cubicBezTo>
                  <a:pt x="5372100" y="881135"/>
                  <a:pt x="5357885" y="895350"/>
                  <a:pt x="5340351" y="895350"/>
                </a:cubicBezTo>
                <a:lnTo>
                  <a:pt x="31749" y="895350"/>
                </a:lnTo>
                <a:cubicBezTo>
                  <a:pt x="14215" y="895350"/>
                  <a:pt x="0" y="881135"/>
                  <a:pt x="0" y="8636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562223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Kernel Configuration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784473"/>
            <a:ext cx="5175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linear kernel is selected for its computational efficiency and strong performance on high-dimensional text data. It finds the hyperplane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w·x + b = 0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best separates classes.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9425" y="3460755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069" y="355917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100" y="3749678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17863" y="3460755"/>
            <a:ext cx="2633662" cy="577850"/>
          </a:xfrm>
          <a:custGeom>
            <a:avLst/>
            <a:gdLst/>
            <a:ahLst/>
            <a:cxnLst/>
            <a:rect l="l" t="t" r="r" b="b"/>
            <a:pathLst>
              <a:path w="2633662" h="577850">
                <a:moveTo>
                  <a:pt x="31753" y="0"/>
                </a:moveTo>
                <a:lnTo>
                  <a:pt x="2601910" y="0"/>
                </a:lnTo>
                <a:cubicBezTo>
                  <a:pt x="2619435" y="0"/>
                  <a:pt x="2633662" y="14228"/>
                  <a:pt x="2633662" y="31753"/>
                </a:cubicBezTo>
                <a:lnTo>
                  <a:pt x="2633662" y="546097"/>
                </a:lnTo>
                <a:cubicBezTo>
                  <a:pt x="2633662" y="563622"/>
                  <a:pt x="2619435" y="577850"/>
                  <a:pt x="2601910" y="577850"/>
                </a:cubicBezTo>
                <a:lnTo>
                  <a:pt x="31753" y="577850"/>
                </a:lnTo>
                <a:cubicBezTo>
                  <a:pt x="14228" y="577850"/>
                  <a:pt x="0" y="563622"/>
                  <a:pt x="0" y="5460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8506" y="3559178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84538" y="3749678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7500" y="4327527"/>
            <a:ext cx="5699125" cy="1905000"/>
          </a:xfrm>
          <a:custGeom>
            <a:avLst/>
            <a:gdLst/>
            <a:ahLst/>
            <a:cxnLst/>
            <a:rect l="l" t="t" r="r" b="b"/>
            <a:pathLst>
              <a:path w="5699125" h="1905000">
                <a:moveTo>
                  <a:pt x="31756" y="0"/>
                </a:moveTo>
                <a:lnTo>
                  <a:pt x="5667369" y="0"/>
                </a:lnTo>
                <a:cubicBezTo>
                  <a:pt x="5684907" y="0"/>
                  <a:pt x="5699125" y="14218"/>
                  <a:pt x="5699125" y="31756"/>
                </a:cubicBezTo>
                <a:lnTo>
                  <a:pt x="5699125" y="1873244"/>
                </a:lnTo>
                <a:cubicBezTo>
                  <a:pt x="5699125" y="1890782"/>
                  <a:pt x="5684907" y="1905000"/>
                  <a:pt x="5667369" y="1905000"/>
                </a:cubicBezTo>
                <a:lnTo>
                  <a:pt x="31756" y="1905000"/>
                </a:lnTo>
                <a:cubicBezTo>
                  <a:pt x="14218" y="1905000"/>
                  <a:pt x="0" y="1890782"/>
                  <a:pt x="0" y="1873244"/>
                </a:cubicBezTo>
                <a:lnTo>
                  <a:pt x="0" y="31756"/>
                </a:lnTo>
                <a:cubicBezTo>
                  <a:pt x="0" y="14230"/>
                  <a:pt x="14230" y="0"/>
                  <a:pt x="31756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8" name="Text 16"/>
          <p:cNvSpPr/>
          <p:nvPr/>
        </p:nvSpPr>
        <p:spPr>
          <a:xfrm>
            <a:off x="476250" y="4486277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SVM Mechanism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6250" y="48355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49307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" y="4835527"/>
            <a:ext cx="291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Hyperplane Separation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5026027"/>
            <a:ext cx="290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optimal decision boundary in high-dimensional space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6250" y="52800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53752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100856"/>
                </a:moveTo>
                <a:lnTo>
                  <a:pt x="100856" y="124668"/>
                </a:lnTo>
                <a:cubicBezTo>
                  <a:pt x="98574" y="126950"/>
                  <a:pt x="95176" y="127620"/>
                  <a:pt x="92199" y="126380"/>
                </a:cubicBezTo>
                <a:cubicBezTo>
                  <a:pt x="89222" y="125140"/>
                  <a:pt x="87313" y="122262"/>
                  <a:pt x="87313" y="119063"/>
                </a:cubicBezTo>
                <a:lnTo>
                  <a:pt x="87313" y="103188"/>
                </a:ln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87313" y="87313"/>
                </a:lnTo>
                <a:lnTo>
                  <a:pt x="87313" y="71438"/>
                </a:lnTo>
                <a:cubicBezTo>
                  <a:pt x="87313" y="68238"/>
                  <a:pt x="89247" y="65336"/>
                  <a:pt x="92224" y="64095"/>
                </a:cubicBezTo>
                <a:cubicBezTo>
                  <a:pt x="95200" y="62855"/>
                  <a:pt x="98599" y="63550"/>
                  <a:pt x="100881" y="65807"/>
                </a:cubicBezTo>
                <a:lnTo>
                  <a:pt x="124693" y="89619"/>
                </a:lnTo>
                <a:cubicBezTo>
                  <a:pt x="127794" y="92720"/>
                  <a:pt x="127794" y="97755"/>
                  <a:pt x="124693" y="100856"/>
                </a:cubicBezTo>
                <a:close/>
                <a:moveTo>
                  <a:pt x="2332" y="37356"/>
                </a:moveTo>
                <a:cubicBezTo>
                  <a:pt x="-769" y="34255"/>
                  <a:pt x="-769" y="29220"/>
                  <a:pt x="2332" y="26119"/>
                </a:cubicBezTo>
                <a:lnTo>
                  <a:pt x="26144" y="2307"/>
                </a:lnTo>
                <a:cubicBezTo>
                  <a:pt x="28426" y="25"/>
                  <a:pt x="31824" y="-645"/>
                  <a:pt x="34801" y="595"/>
                </a:cubicBezTo>
                <a:cubicBezTo>
                  <a:pt x="37778" y="1836"/>
                  <a:pt x="39688" y="4738"/>
                  <a:pt x="39688" y="7938"/>
                </a:cubicBezTo>
                <a:lnTo>
                  <a:pt x="39688" y="23812"/>
                </a:lnTo>
                <a:lnTo>
                  <a:pt x="119063" y="23812"/>
                </a:lnTo>
                <a:cubicBezTo>
                  <a:pt x="123453" y="23812"/>
                  <a:pt x="127000" y="27360"/>
                  <a:pt x="127000" y="31750"/>
                </a:cubicBezTo>
                <a:cubicBezTo>
                  <a:pt x="127000" y="36140"/>
                  <a:pt x="123453" y="39688"/>
                  <a:pt x="119063" y="39688"/>
                </a:cubicBezTo>
                <a:lnTo>
                  <a:pt x="39688" y="39688"/>
                </a:lnTo>
                <a:lnTo>
                  <a:pt x="39688" y="55563"/>
                </a:lnTo>
                <a:cubicBezTo>
                  <a:pt x="39688" y="58762"/>
                  <a:pt x="37753" y="61664"/>
                  <a:pt x="34776" y="62905"/>
                </a:cubicBezTo>
                <a:cubicBezTo>
                  <a:pt x="31800" y="64145"/>
                  <a:pt x="28401" y="63450"/>
                  <a:pt x="26119" y="61193"/>
                </a:cubicBezTo>
                <a:lnTo>
                  <a:pt x="2307" y="373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" y="5280027"/>
            <a:ext cx="292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Maximization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000" y="5470527"/>
            <a:ext cx="292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Maximizes distance between hyperplane and nearest points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6250" y="572452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8" name="Shape 26"/>
          <p:cNvSpPr/>
          <p:nvPr/>
        </p:nvSpPr>
        <p:spPr>
          <a:xfrm>
            <a:off x="571500" y="58197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9688"/>
                </a:moveTo>
                <a:cubicBezTo>
                  <a:pt x="76642" y="39688"/>
                  <a:pt x="87313" y="50358"/>
                  <a:pt x="87313" y="63500"/>
                </a:cubicBezTo>
                <a:cubicBezTo>
                  <a:pt x="87313" y="76642"/>
                  <a:pt x="76642" y="87313"/>
                  <a:pt x="63500" y="87313"/>
                </a:cubicBezTo>
                <a:cubicBezTo>
                  <a:pt x="50358" y="87313"/>
                  <a:pt x="39688" y="76642"/>
                  <a:pt x="39688" y="63500"/>
                </a:cubicBezTo>
                <a:cubicBezTo>
                  <a:pt x="39688" y="50358"/>
                  <a:pt x="50358" y="39688"/>
                  <a:pt x="63500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89000" y="5724527"/>
            <a:ext cx="246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9000" y="5915027"/>
            <a:ext cx="245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data points defining the decision boundary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5375" y="1174750"/>
            <a:ext cx="5699125" cy="2444750"/>
          </a:xfrm>
          <a:custGeom>
            <a:avLst/>
            <a:gdLst/>
            <a:ahLst/>
            <a:cxnLst/>
            <a:rect l="l" t="t" r="r" b="b"/>
            <a:pathLst>
              <a:path w="5699125" h="2444750">
                <a:moveTo>
                  <a:pt x="31757" y="0"/>
                </a:moveTo>
                <a:lnTo>
                  <a:pt x="5667368" y="0"/>
                </a:lnTo>
                <a:cubicBezTo>
                  <a:pt x="5684907" y="0"/>
                  <a:pt x="5699125" y="14218"/>
                  <a:pt x="5699125" y="31757"/>
                </a:cubicBezTo>
                <a:lnTo>
                  <a:pt x="5699125" y="2412993"/>
                </a:lnTo>
                <a:cubicBezTo>
                  <a:pt x="5699125" y="2430532"/>
                  <a:pt x="5684907" y="2444750"/>
                  <a:pt x="5667368" y="2444750"/>
                </a:cubicBezTo>
                <a:lnTo>
                  <a:pt x="31757" y="2444750"/>
                </a:lnTo>
                <a:cubicBezTo>
                  <a:pt x="14218" y="2444750"/>
                  <a:pt x="0" y="2430532"/>
                  <a:pt x="0" y="2412993"/>
                </a:cubicBezTo>
                <a:lnTo>
                  <a:pt x="0" y="31757"/>
                </a:lnTo>
                <a:cubicBezTo>
                  <a:pt x="0" y="14230"/>
                  <a:pt x="14230" y="0"/>
                  <a:pt x="31757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2" name="Text 30"/>
          <p:cNvSpPr/>
          <p:nvPr/>
        </p:nvSpPr>
        <p:spPr>
          <a:xfrm>
            <a:off x="6334125" y="133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Performance by Vectorization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4125" y="1698625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 of Words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82462" y="1682750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99.81%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4125" y="1936750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34125" y="1936750"/>
            <a:ext cx="5373688" cy="63500"/>
          </a:xfrm>
          <a:custGeom>
            <a:avLst/>
            <a:gdLst/>
            <a:ahLst/>
            <a:cxnLst/>
            <a:rect l="l" t="t" r="r" b="b"/>
            <a:pathLst>
              <a:path w="5373688" h="63500">
                <a:moveTo>
                  <a:pt x="31750" y="0"/>
                </a:moveTo>
                <a:lnTo>
                  <a:pt x="5341938" y="0"/>
                </a:lnTo>
                <a:cubicBezTo>
                  <a:pt x="5359461" y="0"/>
                  <a:pt x="5373688" y="14227"/>
                  <a:pt x="5373688" y="31750"/>
                </a:cubicBezTo>
                <a:lnTo>
                  <a:pt x="5373688" y="31750"/>
                </a:lnTo>
                <a:cubicBezTo>
                  <a:pt x="5373688" y="49273"/>
                  <a:pt x="5359461" y="63500"/>
                  <a:pt x="5341938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334125" y="20320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F1-Score: 0.9980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4125" y="2333625"/>
            <a:ext cx="43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57955" y="2317750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99.52%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4125" y="2571750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34125" y="2571750"/>
            <a:ext cx="5357813" cy="63500"/>
          </a:xfrm>
          <a:custGeom>
            <a:avLst/>
            <a:gdLst/>
            <a:ahLst/>
            <a:cxnLst/>
            <a:rect l="l" t="t" r="r" b="b"/>
            <a:pathLst>
              <a:path w="5357813" h="63500">
                <a:moveTo>
                  <a:pt x="31750" y="0"/>
                </a:moveTo>
                <a:lnTo>
                  <a:pt x="5326063" y="0"/>
                </a:lnTo>
                <a:cubicBezTo>
                  <a:pt x="5343586" y="0"/>
                  <a:pt x="5357813" y="14227"/>
                  <a:pt x="5357813" y="31750"/>
                </a:cubicBezTo>
                <a:lnTo>
                  <a:pt x="5357813" y="31750"/>
                </a:lnTo>
                <a:cubicBezTo>
                  <a:pt x="5357813" y="49273"/>
                  <a:pt x="5343586" y="63500"/>
                  <a:pt x="532606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334125" y="26670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F1-Score: 0.9949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125" y="296862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Word2Vec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58253" y="2952750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96.54%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4125" y="3206750"/>
            <a:ext cx="5381625" cy="63500"/>
          </a:xfrm>
          <a:custGeom>
            <a:avLst/>
            <a:gdLst/>
            <a:ahLst/>
            <a:cxnLst/>
            <a:rect l="l" t="t" r="r" b="b"/>
            <a:pathLst>
              <a:path w="5381625" h="635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31750"/>
                </a:lnTo>
                <a:cubicBezTo>
                  <a:pt x="5381625" y="49273"/>
                  <a:pt x="5367398" y="63500"/>
                  <a:pt x="5349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34125" y="3206750"/>
            <a:ext cx="5199063" cy="63500"/>
          </a:xfrm>
          <a:custGeom>
            <a:avLst/>
            <a:gdLst/>
            <a:ahLst/>
            <a:cxnLst/>
            <a:rect l="l" t="t" r="r" b="b"/>
            <a:pathLst>
              <a:path w="5199063" h="63500">
                <a:moveTo>
                  <a:pt x="31750" y="0"/>
                </a:moveTo>
                <a:lnTo>
                  <a:pt x="5167313" y="0"/>
                </a:lnTo>
                <a:cubicBezTo>
                  <a:pt x="5184836" y="0"/>
                  <a:pt x="5199063" y="14227"/>
                  <a:pt x="5199063" y="31750"/>
                </a:cubicBezTo>
                <a:lnTo>
                  <a:pt x="5199063" y="31750"/>
                </a:lnTo>
                <a:cubicBezTo>
                  <a:pt x="5199063" y="49273"/>
                  <a:pt x="5184836" y="63500"/>
                  <a:pt x="516731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334125" y="33020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F1-Score: 0.9644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5375" y="3746500"/>
            <a:ext cx="5699125" cy="2524125"/>
          </a:xfrm>
          <a:custGeom>
            <a:avLst/>
            <a:gdLst/>
            <a:ahLst/>
            <a:cxnLst/>
            <a:rect l="l" t="t" r="r" b="b"/>
            <a:pathLst>
              <a:path w="5699125" h="2524125">
                <a:moveTo>
                  <a:pt x="31753" y="0"/>
                </a:moveTo>
                <a:lnTo>
                  <a:pt x="5667372" y="0"/>
                </a:lnTo>
                <a:cubicBezTo>
                  <a:pt x="5684908" y="0"/>
                  <a:pt x="5699125" y="14217"/>
                  <a:pt x="5699125" y="31753"/>
                </a:cubicBezTo>
                <a:lnTo>
                  <a:pt x="5699125" y="2492372"/>
                </a:lnTo>
                <a:cubicBezTo>
                  <a:pt x="5699125" y="2509908"/>
                  <a:pt x="5684908" y="2524125"/>
                  <a:pt x="5667372" y="2524125"/>
                </a:cubicBezTo>
                <a:lnTo>
                  <a:pt x="31753" y="2524125"/>
                </a:lnTo>
                <a:cubicBezTo>
                  <a:pt x="14217" y="2524125"/>
                  <a:pt x="0" y="2509908"/>
                  <a:pt x="0" y="2492372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9" name="Text 47"/>
          <p:cNvSpPr/>
          <p:nvPr/>
        </p:nvSpPr>
        <p:spPr>
          <a:xfrm>
            <a:off x="6334125" y="3905250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 Configuration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7300" y="4257675"/>
            <a:ext cx="5372100" cy="387350"/>
          </a:xfrm>
          <a:custGeom>
            <a:avLst/>
            <a:gdLst/>
            <a:ahLst/>
            <a:cxnLst/>
            <a:rect l="l" t="t" r="r" b="b"/>
            <a:pathLst>
              <a:path w="5372100" h="387350">
                <a:moveTo>
                  <a:pt x="31751" y="0"/>
                </a:moveTo>
                <a:lnTo>
                  <a:pt x="5340349" y="0"/>
                </a:lnTo>
                <a:cubicBezTo>
                  <a:pt x="5357885" y="0"/>
                  <a:pt x="5372100" y="14215"/>
                  <a:pt x="5372100" y="31751"/>
                </a:cubicBezTo>
                <a:lnTo>
                  <a:pt x="5372100" y="355599"/>
                </a:lnTo>
                <a:cubicBezTo>
                  <a:pt x="5372100" y="373135"/>
                  <a:pt x="5357885" y="387350"/>
                  <a:pt x="5340349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5725" y="4356098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13307" y="4356098"/>
            <a:ext cx="46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7300" y="4746630"/>
            <a:ext cx="5372100" cy="387350"/>
          </a:xfrm>
          <a:custGeom>
            <a:avLst/>
            <a:gdLst/>
            <a:ahLst/>
            <a:cxnLst/>
            <a:rect l="l" t="t" r="r" b="b"/>
            <a:pathLst>
              <a:path w="5372100" h="387350">
                <a:moveTo>
                  <a:pt x="31751" y="0"/>
                </a:moveTo>
                <a:lnTo>
                  <a:pt x="5340349" y="0"/>
                </a:lnTo>
                <a:cubicBezTo>
                  <a:pt x="5357885" y="0"/>
                  <a:pt x="5372100" y="14215"/>
                  <a:pt x="5372100" y="31751"/>
                </a:cubicBezTo>
                <a:lnTo>
                  <a:pt x="5372100" y="355599"/>
                </a:lnTo>
                <a:cubicBezTo>
                  <a:pt x="5372100" y="373135"/>
                  <a:pt x="5357885" y="387350"/>
                  <a:pt x="5340349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5725" y="4845053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Accuracy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88117" y="4845053"/>
            <a:ext cx="38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B0A5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85%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7300" y="5235577"/>
            <a:ext cx="5372100" cy="387350"/>
          </a:xfrm>
          <a:custGeom>
            <a:avLst/>
            <a:gdLst/>
            <a:ahLst/>
            <a:cxnLst/>
            <a:rect l="l" t="t" r="r" b="b"/>
            <a:pathLst>
              <a:path w="5372100" h="387350">
                <a:moveTo>
                  <a:pt x="31751" y="0"/>
                </a:moveTo>
                <a:lnTo>
                  <a:pt x="5340349" y="0"/>
                </a:lnTo>
                <a:cubicBezTo>
                  <a:pt x="5357885" y="0"/>
                  <a:pt x="5372100" y="14215"/>
                  <a:pt x="5372100" y="31751"/>
                </a:cubicBezTo>
                <a:lnTo>
                  <a:pt x="5372100" y="355599"/>
                </a:lnTo>
                <a:cubicBezTo>
                  <a:pt x="5372100" y="373135"/>
                  <a:pt x="5357885" y="387350"/>
                  <a:pt x="5340349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35725" y="5334000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Metric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66078" y="533400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7300" y="5724523"/>
            <a:ext cx="5372100" cy="387350"/>
          </a:xfrm>
          <a:custGeom>
            <a:avLst/>
            <a:gdLst/>
            <a:ahLst/>
            <a:cxnLst/>
            <a:rect l="l" t="t" r="r" b="b"/>
            <a:pathLst>
              <a:path w="5372100" h="387350">
                <a:moveTo>
                  <a:pt x="31751" y="0"/>
                </a:moveTo>
                <a:lnTo>
                  <a:pt x="5340349" y="0"/>
                </a:lnTo>
                <a:cubicBezTo>
                  <a:pt x="5357885" y="0"/>
                  <a:pt x="5372100" y="14215"/>
                  <a:pt x="5372100" y="31751"/>
                </a:cubicBezTo>
                <a:lnTo>
                  <a:pt x="5372100" y="355599"/>
                </a:lnTo>
                <a:cubicBezTo>
                  <a:pt x="5372100" y="373135"/>
                  <a:pt x="5357885" y="387350"/>
                  <a:pt x="5340349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5725" y="5822955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Type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80180" y="5822955"/>
            <a:ext cx="39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75375" y="6400803"/>
            <a:ext cx="5699125" cy="730250"/>
          </a:xfrm>
          <a:custGeom>
            <a:avLst/>
            <a:gdLst/>
            <a:ahLst/>
            <a:cxnLst/>
            <a:rect l="l" t="t" r="r" b="b"/>
            <a:pathLst>
              <a:path w="5699125" h="730250">
                <a:moveTo>
                  <a:pt x="31751" y="0"/>
                </a:moveTo>
                <a:lnTo>
                  <a:pt x="5667374" y="0"/>
                </a:lnTo>
                <a:cubicBezTo>
                  <a:pt x="5684909" y="0"/>
                  <a:pt x="5699125" y="14216"/>
                  <a:pt x="5699125" y="31751"/>
                </a:cubicBezTo>
                <a:lnTo>
                  <a:pt x="5699125" y="698499"/>
                </a:lnTo>
                <a:cubicBezTo>
                  <a:pt x="5699125" y="716034"/>
                  <a:pt x="5684909" y="730250"/>
                  <a:pt x="5667374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63" name="Text 61"/>
          <p:cNvSpPr/>
          <p:nvPr/>
        </p:nvSpPr>
        <p:spPr>
          <a:xfrm>
            <a:off x="6270625" y="6527803"/>
            <a:ext cx="550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Configuration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54750" y="6750053"/>
            <a:ext cx="5540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SVM + BoW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Visualization &amp; Dashboard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6873875" cy="2635250"/>
          </a:xfrm>
          <a:custGeom>
            <a:avLst/>
            <a:gdLst/>
            <a:ahLst/>
            <a:cxnLst/>
            <a:rect l="l" t="t" r="r" b="b"/>
            <a:pathLst>
              <a:path w="6873875" h="2635250">
                <a:moveTo>
                  <a:pt x="31755" y="0"/>
                </a:moveTo>
                <a:lnTo>
                  <a:pt x="6842120" y="0"/>
                </a:lnTo>
                <a:cubicBezTo>
                  <a:pt x="6859658" y="0"/>
                  <a:pt x="6873875" y="14217"/>
                  <a:pt x="6873875" y="31755"/>
                </a:cubicBezTo>
                <a:lnTo>
                  <a:pt x="6873875" y="2603495"/>
                </a:lnTo>
                <a:cubicBezTo>
                  <a:pt x="6873875" y="2621033"/>
                  <a:pt x="6859658" y="2635250"/>
                  <a:pt x="6842120" y="2635250"/>
                </a:cubicBezTo>
                <a:lnTo>
                  <a:pt x="31755" y="2635250"/>
                </a:lnTo>
                <a:cubicBezTo>
                  <a:pt x="14217" y="2635250"/>
                  <a:pt x="0" y="2621033"/>
                  <a:pt x="0" y="2603495"/>
                </a:cubicBezTo>
                <a:lnTo>
                  <a:pt x="0" y="31755"/>
                </a:lnTo>
                <a:cubicBezTo>
                  <a:pt x="0" y="14229"/>
                  <a:pt x="14229" y="0"/>
                  <a:pt x="3175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33500"/>
            <a:ext cx="663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Dashboard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82750"/>
            <a:ext cx="661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comprehensive, interactive analytics dashboard democratizes access to insights generated by the underlying data mining engine. Built with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integrated with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exploratory analysis.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125" y="2222500"/>
            <a:ext cx="3214688" cy="666750"/>
          </a:xfrm>
          <a:custGeom>
            <a:avLst/>
            <a:gdLst/>
            <a:ahLst/>
            <a:cxnLst/>
            <a:rect l="l" t="t" r="r" b="b"/>
            <a:pathLst>
              <a:path w="3214688" h="666750">
                <a:moveTo>
                  <a:pt x="31750" y="0"/>
                </a:moveTo>
                <a:lnTo>
                  <a:pt x="3182937" y="0"/>
                </a:lnTo>
                <a:cubicBezTo>
                  <a:pt x="3200472" y="0"/>
                  <a:pt x="3214688" y="14215"/>
                  <a:pt x="3214688" y="31751"/>
                </a:cubicBezTo>
                <a:lnTo>
                  <a:pt x="3214688" y="634999"/>
                </a:lnTo>
                <a:cubicBezTo>
                  <a:pt x="3214688" y="652535"/>
                  <a:pt x="3200472" y="666750"/>
                  <a:pt x="3182937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2125" y="2222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0" name="Shape 8"/>
          <p:cNvSpPr/>
          <p:nvPr/>
        </p:nvSpPr>
        <p:spPr>
          <a:xfrm>
            <a:off x="654844" y="2365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11" name="Text 9"/>
          <p:cNvSpPr/>
          <p:nvPr/>
        </p:nvSpPr>
        <p:spPr>
          <a:xfrm>
            <a:off x="928688" y="2349500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Bar Charts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" y="2603500"/>
            <a:ext cx="300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Distribution &amp; Keyword Frequency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6350" y="2222500"/>
            <a:ext cx="3214688" cy="666750"/>
          </a:xfrm>
          <a:custGeom>
            <a:avLst/>
            <a:gdLst/>
            <a:ahLst/>
            <a:cxnLst/>
            <a:rect l="l" t="t" r="r" b="b"/>
            <a:pathLst>
              <a:path w="3214688" h="666750">
                <a:moveTo>
                  <a:pt x="31750" y="0"/>
                </a:moveTo>
                <a:lnTo>
                  <a:pt x="3182937" y="0"/>
                </a:lnTo>
                <a:cubicBezTo>
                  <a:pt x="3200472" y="0"/>
                  <a:pt x="3214688" y="14215"/>
                  <a:pt x="3214688" y="31751"/>
                </a:cubicBezTo>
                <a:lnTo>
                  <a:pt x="3214688" y="634999"/>
                </a:lnTo>
                <a:cubicBezTo>
                  <a:pt x="3214688" y="652535"/>
                  <a:pt x="3200472" y="666750"/>
                  <a:pt x="3182937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6350" y="2222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8913" y="2365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24805" y="44648"/>
                </a:moveTo>
                <a:cubicBezTo>
                  <a:pt x="38495" y="44648"/>
                  <a:pt x="49609" y="33534"/>
                  <a:pt x="49609" y="19844"/>
                </a:cubicBezTo>
                <a:cubicBezTo>
                  <a:pt x="49609" y="6154"/>
                  <a:pt x="38495" y="-4961"/>
                  <a:pt x="24805" y="-4961"/>
                </a:cubicBezTo>
                <a:cubicBezTo>
                  <a:pt x="11115" y="-4961"/>
                  <a:pt x="0" y="6154"/>
                  <a:pt x="0" y="19844"/>
                </a:cubicBezTo>
                <a:cubicBezTo>
                  <a:pt x="0" y="33534"/>
                  <a:pt x="11115" y="44648"/>
                  <a:pt x="24805" y="44648"/>
                </a:cubicBezTo>
                <a:close/>
                <a:moveTo>
                  <a:pt x="24805" y="104180"/>
                </a:moveTo>
                <a:cubicBezTo>
                  <a:pt x="38495" y="104180"/>
                  <a:pt x="49609" y="93065"/>
                  <a:pt x="49609" y="79375"/>
                </a:cubicBezTo>
                <a:cubicBezTo>
                  <a:pt x="49609" y="65685"/>
                  <a:pt x="38495" y="54570"/>
                  <a:pt x="24805" y="54570"/>
                </a:cubicBezTo>
                <a:cubicBezTo>
                  <a:pt x="11115" y="54570"/>
                  <a:pt x="0" y="65685"/>
                  <a:pt x="0" y="79375"/>
                </a:cubicBezTo>
                <a:cubicBezTo>
                  <a:pt x="0" y="93065"/>
                  <a:pt x="11115" y="104180"/>
                  <a:pt x="24805" y="104180"/>
                </a:cubicBezTo>
                <a:close/>
                <a:moveTo>
                  <a:pt x="24805" y="146348"/>
                </a:moveTo>
                <a:cubicBezTo>
                  <a:pt x="20681" y="146348"/>
                  <a:pt x="17363" y="143030"/>
                  <a:pt x="17363" y="138906"/>
                </a:cubicBezTo>
                <a:cubicBezTo>
                  <a:pt x="17363" y="134782"/>
                  <a:pt x="20681" y="131465"/>
                  <a:pt x="24805" y="131465"/>
                </a:cubicBezTo>
                <a:cubicBezTo>
                  <a:pt x="28928" y="131465"/>
                  <a:pt x="32246" y="134782"/>
                  <a:pt x="32246" y="138906"/>
                </a:cubicBezTo>
                <a:cubicBezTo>
                  <a:pt x="32246" y="143030"/>
                  <a:pt x="28928" y="146348"/>
                  <a:pt x="24805" y="146348"/>
                </a:cubicBezTo>
                <a:close/>
                <a:moveTo>
                  <a:pt x="24805" y="163711"/>
                </a:moveTo>
                <a:cubicBezTo>
                  <a:pt x="38509" y="163711"/>
                  <a:pt x="49609" y="152611"/>
                  <a:pt x="49609" y="138906"/>
                </a:cubicBezTo>
                <a:cubicBezTo>
                  <a:pt x="49609" y="125202"/>
                  <a:pt x="38509" y="114102"/>
                  <a:pt x="24805" y="114102"/>
                </a:cubicBezTo>
                <a:cubicBezTo>
                  <a:pt x="11100" y="114102"/>
                  <a:pt x="0" y="125202"/>
                  <a:pt x="0" y="138906"/>
                </a:cubicBezTo>
                <a:cubicBezTo>
                  <a:pt x="0" y="152611"/>
                  <a:pt x="11100" y="163711"/>
                  <a:pt x="24805" y="163711"/>
                </a:cubicBezTo>
                <a:close/>
                <a:moveTo>
                  <a:pt x="101699" y="138906"/>
                </a:moveTo>
                <a:cubicBezTo>
                  <a:pt x="101699" y="143030"/>
                  <a:pt x="98382" y="146348"/>
                  <a:pt x="94258" y="146348"/>
                </a:cubicBezTo>
                <a:cubicBezTo>
                  <a:pt x="90134" y="146348"/>
                  <a:pt x="86816" y="143030"/>
                  <a:pt x="86816" y="138906"/>
                </a:cubicBezTo>
                <a:cubicBezTo>
                  <a:pt x="86816" y="134782"/>
                  <a:pt x="90134" y="131465"/>
                  <a:pt x="94258" y="131465"/>
                </a:cubicBezTo>
                <a:cubicBezTo>
                  <a:pt x="98382" y="131465"/>
                  <a:pt x="101699" y="134782"/>
                  <a:pt x="101699" y="138906"/>
                </a:cubicBezTo>
                <a:close/>
                <a:moveTo>
                  <a:pt x="119062" y="138906"/>
                </a:moveTo>
                <a:cubicBezTo>
                  <a:pt x="119062" y="125202"/>
                  <a:pt x="107962" y="114102"/>
                  <a:pt x="94258" y="114102"/>
                </a:cubicBezTo>
                <a:cubicBezTo>
                  <a:pt x="80553" y="114102"/>
                  <a:pt x="69453" y="125202"/>
                  <a:pt x="69453" y="138906"/>
                </a:cubicBezTo>
                <a:cubicBezTo>
                  <a:pt x="69453" y="152611"/>
                  <a:pt x="80553" y="163711"/>
                  <a:pt x="94258" y="163711"/>
                </a:cubicBezTo>
                <a:cubicBezTo>
                  <a:pt x="107962" y="163711"/>
                  <a:pt x="119062" y="152611"/>
                  <a:pt x="119062" y="138906"/>
                </a:cubicBezTo>
                <a:close/>
                <a:moveTo>
                  <a:pt x="94258" y="71934"/>
                </a:moveTo>
                <a:cubicBezTo>
                  <a:pt x="98365" y="71934"/>
                  <a:pt x="101699" y="75268"/>
                  <a:pt x="101699" y="79375"/>
                </a:cubicBezTo>
                <a:cubicBezTo>
                  <a:pt x="101699" y="83482"/>
                  <a:pt x="98365" y="86816"/>
                  <a:pt x="94258" y="86816"/>
                </a:cubicBezTo>
                <a:cubicBezTo>
                  <a:pt x="90151" y="86816"/>
                  <a:pt x="86816" y="83482"/>
                  <a:pt x="86816" y="79375"/>
                </a:cubicBezTo>
                <a:cubicBezTo>
                  <a:pt x="86816" y="75268"/>
                  <a:pt x="90151" y="71934"/>
                  <a:pt x="94258" y="71934"/>
                </a:cubicBezTo>
                <a:close/>
                <a:moveTo>
                  <a:pt x="94258" y="104180"/>
                </a:moveTo>
                <a:cubicBezTo>
                  <a:pt x="107948" y="104180"/>
                  <a:pt x="119062" y="93065"/>
                  <a:pt x="119062" y="79375"/>
                </a:cubicBezTo>
                <a:cubicBezTo>
                  <a:pt x="119062" y="65685"/>
                  <a:pt x="107948" y="54570"/>
                  <a:pt x="94258" y="54570"/>
                </a:cubicBezTo>
                <a:cubicBezTo>
                  <a:pt x="80568" y="54570"/>
                  <a:pt x="69453" y="65685"/>
                  <a:pt x="69453" y="79375"/>
                </a:cubicBezTo>
                <a:cubicBezTo>
                  <a:pt x="69453" y="93065"/>
                  <a:pt x="80568" y="104180"/>
                  <a:pt x="94258" y="104180"/>
                </a:cubicBezTo>
                <a:close/>
                <a:moveTo>
                  <a:pt x="94258" y="44648"/>
                </a:moveTo>
                <a:cubicBezTo>
                  <a:pt x="107948" y="44648"/>
                  <a:pt x="119062" y="33534"/>
                  <a:pt x="119062" y="19844"/>
                </a:cubicBezTo>
                <a:cubicBezTo>
                  <a:pt x="119062" y="6154"/>
                  <a:pt x="107948" y="-4961"/>
                  <a:pt x="94258" y="-4961"/>
                </a:cubicBezTo>
                <a:cubicBezTo>
                  <a:pt x="80568" y="-4961"/>
                  <a:pt x="69453" y="6154"/>
                  <a:pt x="69453" y="19844"/>
                </a:cubicBezTo>
                <a:cubicBezTo>
                  <a:pt x="69453" y="33534"/>
                  <a:pt x="80568" y="44648"/>
                  <a:pt x="94258" y="44648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6" name="Text 14"/>
          <p:cNvSpPr/>
          <p:nvPr/>
        </p:nvSpPr>
        <p:spPr>
          <a:xfrm>
            <a:off x="4252912" y="234950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Scatter Plots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59225" y="2603500"/>
            <a:ext cx="300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PCA K-Means Cluster Visualization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2125" y="2984500"/>
            <a:ext cx="3214688" cy="666750"/>
          </a:xfrm>
          <a:custGeom>
            <a:avLst/>
            <a:gdLst/>
            <a:ahLst/>
            <a:cxnLst/>
            <a:rect l="l" t="t" r="r" b="b"/>
            <a:pathLst>
              <a:path w="3214688" h="666750">
                <a:moveTo>
                  <a:pt x="31750" y="0"/>
                </a:moveTo>
                <a:lnTo>
                  <a:pt x="3182937" y="0"/>
                </a:lnTo>
                <a:cubicBezTo>
                  <a:pt x="3200472" y="0"/>
                  <a:pt x="3214688" y="14215"/>
                  <a:pt x="3214688" y="31751"/>
                </a:cubicBezTo>
                <a:lnTo>
                  <a:pt x="3214688" y="634999"/>
                </a:lnTo>
                <a:cubicBezTo>
                  <a:pt x="3214688" y="652535"/>
                  <a:pt x="3200472" y="666750"/>
                  <a:pt x="3182937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2125" y="2984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4844" y="3127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Text 19"/>
          <p:cNvSpPr/>
          <p:nvPr/>
        </p:nvSpPr>
        <p:spPr>
          <a:xfrm>
            <a:off x="928688" y="3111500"/>
            <a:ext cx="65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Line Graphs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000" y="3365500"/>
            <a:ext cx="300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Trending Volume Over Time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6350" y="2984500"/>
            <a:ext cx="3214688" cy="666750"/>
          </a:xfrm>
          <a:custGeom>
            <a:avLst/>
            <a:gdLst/>
            <a:ahLst/>
            <a:cxnLst/>
            <a:rect l="l" t="t" r="r" b="b"/>
            <a:pathLst>
              <a:path w="3214688" h="666750">
                <a:moveTo>
                  <a:pt x="31750" y="0"/>
                </a:moveTo>
                <a:lnTo>
                  <a:pt x="3182937" y="0"/>
                </a:lnTo>
                <a:cubicBezTo>
                  <a:pt x="3200472" y="0"/>
                  <a:pt x="3214688" y="14215"/>
                  <a:pt x="3214688" y="31751"/>
                </a:cubicBezTo>
                <a:lnTo>
                  <a:pt x="3214688" y="634999"/>
                </a:lnTo>
                <a:cubicBezTo>
                  <a:pt x="3214688" y="652535"/>
                  <a:pt x="3200472" y="666750"/>
                  <a:pt x="3182937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816350" y="2984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5" name="Shape 23"/>
          <p:cNvSpPr/>
          <p:nvPr/>
        </p:nvSpPr>
        <p:spPr>
          <a:xfrm>
            <a:off x="3988991" y="31273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6" name="Text 24"/>
          <p:cNvSpPr/>
          <p:nvPr/>
        </p:nvSpPr>
        <p:spPr>
          <a:xfrm>
            <a:off x="4252912" y="3111500"/>
            <a:ext cx="65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Tables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59225" y="3365500"/>
            <a:ext cx="300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Rules (Confidence, Support, Lift)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7500" y="3937000"/>
            <a:ext cx="6873875" cy="1992313"/>
          </a:xfrm>
          <a:custGeom>
            <a:avLst/>
            <a:gdLst/>
            <a:ahLst/>
            <a:cxnLst/>
            <a:rect l="l" t="t" r="r" b="b"/>
            <a:pathLst>
              <a:path w="6873875" h="1992313">
                <a:moveTo>
                  <a:pt x="31757" y="0"/>
                </a:moveTo>
                <a:lnTo>
                  <a:pt x="6842118" y="0"/>
                </a:lnTo>
                <a:cubicBezTo>
                  <a:pt x="6859657" y="0"/>
                  <a:pt x="6873875" y="14218"/>
                  <a:pt x="6873875" y="31757"/>
                </a:cubicBezTo>
                <a:lnTo>
                  <a:pt x="6873875" y="1960555"/>
                </a:lnTo>
                <a:cubicBezTo>
                  <a:pt x="6873875" y="1978094"/>
                  <a:pt x="6859657" y="1992313"/>
                  <a:pt x="6842118" y="1992313"/>
                </a:cubicBezTo>
                <a:lnTo>
                  <a:pt x="31757" y="1992313"/>
                </a:lnTo>
                <a:cubicBezTo>
                  <a:pt x="14218" y="1992313"/>
                  <a:pt x="0" y="1978094"/>
                  <a:pt x="0" y="1960555"/>
                </a:cubicBezTo>
                <a:lnTo>
                  <a:pt x="0" y="31757"/>
                </a:lnTo>
                <a:cubicBezTo>
                  <a:pt x="0" y="14230"/>
                  <a:pt x="14230" y="0"/>
                  <a:pt x="31757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9" name="Text 27"/>
          <p:cNvSpPr/>
          <p:nvPr/>
        </p:nvSpPr>
        <p:spPr>
          <a:xfrm>
            <a:off x="476250" y="4095750"/>
            <a:ext cx="663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UI Components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9425" y="4448175"/>
            <a:ext cx="3221038" cy="609600"/>
          </a:xfrm>
          <a:custGeom>
            <a:avLst/>
            <a:gdLst/>
            <a:ahLst/>
            <a:cxnLst/>
            <a:rect l="l" t="t" r="r" b="b"/>
            <a:pathLst>
              <a:path w="3221038" h="609600">
                <a:moveTo>
                  <a:pt x="31748" y="0"/>
                </a:moveTo>
                <a:lnTo>
                  <a:pt x="3189290" y="0"/>
                </a:lnTo>
                <a:cubicBezTo>
                  <a:pt x="3206823" y="0"/>
                  <a:pt x="3221038" y="14214"/>
                  <a:pt x="3221038" y="31748"/>
                </a:cubicBezTo>
                <a:lnTo>
                  <a:pt x="3221038" y="577852"/>
                </a:lnTo>
                <a:cubicBezTo>
                  <a:pt x="3221037" y="595386"/>
                  <a:pt x="3206823" y="609600"/>
                  <a:pt x="3189290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3725" y="45783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" y="454659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Search Bar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7850" y="4800598"/>
            <a:ext cx="307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Full-text corpus search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03650" y="4448175"/>
            <a:ext cx="3221038" cy="609600"/>
          </a:xfrm>
          <a:custGeom>
            <a:avLst/>
            <a:gdLst/>
            <a:ahLst/>
            <a:cxnLst/>
            <a:rect l="l" t="t" r="r" b="b"/>
            <a:pathLst>
              <a:path w="3221038" h="609600">
                <a:moveTo>
                  <a:pt x="31748" y="0"/>
                </a:moveTo>
                <a:lnTo>
                  <a:pt x="3189290" y="0"/>
                </a:lnTo>
                <a:cubicBezTo>
                  <a:pt x="3206823" y="0"/>
                  <a:pt x="3221038" y="14214"/>
                  <a:pt x="3221038" y="31748"/>
                </a:cubicBezTo>
                <a:lnTo>
                  <a:pt x="3221038" y="577852"/>
                </a:lnTo>
                <a:cubicBezTo>
                  <a:pt x="3221037" y="595386"/>
                  <a:pt x="3206823" y="609600"/>
                  <a:pt x="3189290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25888" y="457834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6" name="Text 34"/>
          <p:cNvSpPr/>
          <p:nvPr/>
        </p:nvSpPr>
        <p:spPr>
          <a:xfrm>
            <a:off x="4124325" y="4546598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Range Filters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02075" y="4800598"/>
            <a:ext cx="307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data selection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9425" y="5159380"/>
            <a:ext cx="3221038" cy="609600"/>
          </a:xfrm>
          <a:custGeom>
            <a:avLst/>
            <a:gdLst/>
            <a:ahLst/>
            <a:cxnLst/>
            <a:rect l="l" t="t" r="r" b="b"/>
            <a:pathLst>
              <a:path w="3221038" h="609600">
                <a:moveTo>
                  <a:pt x="31748" y="0"/>
                </a:moveTo>
                <a:lnTo>
                  <a:pt x="3189290" y="0"/>
                </a:lnTo>
                <a:cubicBezTo>
                  <a:pt x="3206823" y="0"/>
                  <a:pt x="3221038" y="14214"/>
                  <a:pt x="3221038" y="31748"/>
                </a:cubicBezTo>
                <a:lnTo>
                  <a:pt x="3221038" y="577852"/>
                </a:lnTo>
                <a:cubicBezTo>
                  <a:pt x="3221037" y="595386"/>
                  <a:pt x="3206823" y="609600"/>
                  <a:pt x="3189290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3725" y="528955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15875"/>
                </a:moveTo>
                <a:cubicBezTo>
                  <a:pt x="3547" y="15875"/>
                  <a:pt x="0" y="19422"/>
                  <a:pt x="0" y="23812"/>
                </a:cubicBezTo>
                <a:cubicBezTo>
                  <a:pt x="0" y="28203"/>
                  <a:pt x="3547" y="31750"/>
                  <a:pt x="7938" y="31750"/>
                </a:cubicBezTo>
                <a:lnTo>
                  <a:pt x="29443" y="31750"/>
                </a:lnTo>
                <a:cubicBezTo>
                  <a:pt x="32494" y="38770"/>
                  <a:pt x="39489" y="43656"/>
                  <a:pt x="47625" y="43656"/>
                </a:cubicBezTo>
                <a:cubicBezTo>
                  <a:pt x="55761" y="43656"/>
                  <a:pt x="62756" y="38770"/>
                  <a:pt x="65807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65807" y="15875"/>
                </a:lnTo>
                <a:cubicBezTo>
                  <a:pt x="62756" y="8855"/>
                  <a:pt x="55761" y="3969"/>
                  <a:pt x="47625" y="3969"/>
                </a:cubicBezTo>
                <a:cubicBezTo>
                  <a:pt x="39489" y="3969"/>
                  <a:pt x="32494" y="8855"/>
                  <a:pt x="29443" y="15875"/>
                </a:cubicBezTo>
                <a:lnTo>
                  <a:pt x="7938" y="15875"/>
                </a:lnTo>
                <a:close/>
                <a:moveTo>
                  <a:pt x="7938" y="55563"/>
                </a:move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69131" y="71438"/>
                </a:lnTo>
                <a:cubicBezTo>
                  <a:pt x="72182" y="78457"/>
                  <a:pt x="79177" y="83344"/>
                  <a:pt x="87313" y="83344"/>
                </a:cubicBezTo>
                <a:cubicBezTo>
                  <a:pt x="95448" y="83344"/>
                  <a:pt x="102443" y="78457"/>
                  <a:pt x="105494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105494" y="55563"/>
                </a:lnTo>
                <a:cubicBezTo>
                  <a:pt x="102443" y="48543"/>
                  <a:pt x="95448" y="43656"/>
                  <a:pt x="87313" y="43656"/>
                </a:cubicBezTo>
                <a:cubicBezTo>
                  <a:pt x="79177" y="43656"/>
                  <a:pt x="72182" y="48543"/>
                  <a:pt x="69131" y="55563"/>
                </a:cubicBezTo>
                <a:lnTo>
                  <a:pt x="7938" y="55563"/>
                </a:lnTo>
                <a:close/>
                <a:moveTo>
                  <a:pt x="7938" y="95250"/>
                </a:moveTo>
                <a:cubicBezTo>
                  <a:pt x="3547" y="95250"/>
                  <a:pt x="0" y="98797"/>
                  <a:pt x="0" y="103188"/>
                </a:cubicBezTo>
                <a:cubicBezTo>
                  <a:pt x="0" y="107578"/>
                  <a:pt x="3547" y="111125"/>
                  <a:pt x="7938" y="111125"/>
                </a:cubicBezTo>
                <a:lnTo>
                  <a:pt x="21506" y="111125"/>
                </a:lnTo>
                <a:cubicBezTo>
                  <a:pt x="24557" y="118145"/>
                  <a:pt x="31552" y="123031"/>
                  <a:pt x="39688" y="123031"/>
                </a:cubicBezTo>
                <a:cubicBezTo>
                  <a:pt x="47823" y="123031"/>
                  <a:pt x="54818" y="118145"/>
                  <a:pt x="57869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57869" y="95250"/>
                </a:lnTo>
                <a:cubicBezTo>
                  <a:pt x="54818" y="88230"/>
                  <a:pt x="47823" y="83344"/>
                  <a:pt x="39688" y="83344"/>
                </a:cubicBezTo>
                <a:cubicBezTo>
                  <a:pt x="31552" y="83344"/>
                  <a:pt x="24557" y="88230"/>
                  <a:pt x="21506" y="95250"/>
                </a:cubicBezTo>
                <a:lnTo>
                  <a:pt x="7938" y="9525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" y="5257803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Sliders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7850" y="5511803"/>
            <a:ext cx="307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K-clusters configuration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03650" y="5159380"/>
            <a:ext cx="3221038" cy="609600"/>
          </a:xfrm>
          <a:custGeom>
            <a:avLst/>
            <a:gdLst/>
            <a:ahLst/>
            <a:cxnLst/>
            <a:rect l="l" t="t" r="r" b="b"/>
            <a:pathLst>
              <a:path w="3221038" h="609600">
                <a:moveTo>
                  <a:pt x="31748" y="0"/>
                </a:moveTo>
                <a:lnTo>
                  <a:pt x="3189290" y="0"/>
                </a:lnTo>
                <a:cubicBezTo>
                  <a:pt x="3206823" y="0"/>
                  <a:pt x="3221038" y="14214"/>
                  <a:pt x="3221038" y="31748"/>
                </a:cubicBezTo>
                <a:lnTo>
                  <a:pt x="3221038" y="577852"/>
                </a:lnTo>
                <a:cubicBezTo>
                  <a:pt x="3221037" y="595386"/>
                  <a:pt x="3206823" y="609600"/>
                  <a:pt x="3189290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5888" y="528955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63500" y="27112"/>
                </a:moveTo>
                <a:lnTo>
                  <a:pt x="63500" y="79375"/>
                </a:lnTo>
                <a:cubicBezTo>
                  <a:pt x="63500" y="83765"/>
                  <a:pt x="59953" y="87313"/>
                  <a:pt x="55563" y="87313"/>
                </a:cubicBezTo>
                <a:cubicBezTo>
                  <a:pt x="51172" y="87313"/>
                  <a:pt x="47625" y="83765"/>
                  <a:pt x="47625" y="79375"/>
                </a:cubicBezTo>
                <a:lnTo>
                  <a:pt x="47625" y="27112"/>
                </a:lnTo>
                <a:lnTo>
                  <a:pt x="37356" y="37381"/>
                </a:lnTo>
                <a:cubicBezTo>
                  <a:pt x="34255" y="40481"/>
                  <a:pt x="29220" y="40481"/>
                  <a:pt x="26119" y="37381"/>
                </a:cubicBezTo>
                <a:cubicBezTo>
                  <a:pt x="23019" y="34280"/>
                  <a:pt x="23019" y="29245"/>
                  <a:pt x="26119" y="26144"/>
                </a:cubicBezTo>
                <a:lnTo>
                  <a:pt x="49932" y="2332"/>
                </a:lnTo>
                <a:cubicBezTo>
                  <a:pt x="53032" y="-769"/>
                  <a:pt x="58068" y="-769"/>
                  <a:pt x="61168" y="2332"/>
                </a:cubicBezTo>
                <a:lnTo>
                  <a:pt x="84981" y="26144"/>
                </a:lnTo>
                <a:cubicBezTo>
                  <a:pt x="88081" y="29245"/>
                  <a:pt x="88081" y="34280"/>
                  <a:pt x="84981" y="37381"/>
                </a:cubicBezTo>
                <a:cubicBezTo>
                  <a:pt x="81880" y="40481"/>
                  <a:pt x="76845" y="40481"/>
                  <a:pt x="73744" y="37381"/>
                </a:cubicBezTo>
                <a:lnTo>
                  <a:pt x="63500" y="27112"/>
                </a:lnTo>
                <a:close/>
                <a:moveTo>
                  <a:pt x="55563" y="99219"/>
                </a:moveTo>
                <a:cubicBezTo>
                  <a:pt x="66526" y="99219"/>
                  <a:pt x="75406" y="90339"/>
                  <a:pt x="75406" y="79375"/>
                </a:cubicBezTo>
                <a:lnTo>
                  <a:pt x="95250" y="79375"/>
                </a:lnTo>
                <a:cubicBezTo>
                  <a:pt x="104006" y="79375"/>
                  <a:pt x="111125" y="86494"/>
                  <a:pt x="111125" y="952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95250"/>
                </a:lnTo>
                <a:cubicBezTo>
                  <a:pt x="0" y="86494"/>
                  <a:pt x="7119" y="79375"/>
                  <a:pt x="15875" y="79375"/>
                </a:cubicBezTo>
                <a:lnTo>
                  <a:pt x="35719" y="79375"/>
                </a:lnTo>
                <a:cubicBezTo>
                  <a:pt x="35719" y="90339"/>
                  <a:pt x="44599" y="99219"/>
                  <a:pt x="55563" y="99219"/>
                </a:cubicBezTo>
                <a:close/>
                <a:moveTo>
                  <a:pt x="91281" y="105172"/>
                </a:moveTo>
                <a:cubicBezTo>
                  <a:pt x="94567" y="105172"/>
                  <a:pt x="97234" y="102504"/>
                  <a:pt x="97234" y="99219"/>
                </a:cubicBezTo>
                <a:cubicBezTo>
                  <a:pt x="97234" y="95933"/>
                  <a:pt x="94567" y="93266"/>
                  <a:pt x="91281" y="93266"/>
                </a:cubicBezTo>
                <a:cubicBezTo>
                  <a:pt x="87996" y="93266"/>
                  <a:pt x="85328" y="95933"/>
                  <a:pt x="85328" y="99219"/>
                </a:cubicBezTo>
                <a:cubicBezTo>
                  <a:pt x="85328" y="102504"/>
                  <a:pt x="87996" y="105172"/>
                  <a:pt x="91281" y="105172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4" name="Text 42"/>
          <p:cNvSpPr/>
          <p:nvPr/>
        </p:nvSpPr>
        <p:spPr>
          <a:xfrm>
            <a:off x="4124325" y="5257803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Upload Forms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902075" y="5511803"/>
            <a:ext cx="307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dataset ingestion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46950" y="1174750"/>
            <a:ext cx="4524375" cy="3905250"/>
          </a:xfrm>
          <a:custGeom>
            <a:avLst/>
            <a:gdLst/>
            <a:ahLst/>
            <a:cxnLst/>
            <a:rect l="l" t="t" r="r" b="b"/>
            <a:pathLst>
              <a:path w="4524375" h="3905250">
                <a:moveTo>
                  <a:pt x="31750" y="0"/>
                </a:moveTo>
                <a:lnTo>
                  <a:pt x="4492625" y="0"/>
                </a:lnTo>
                <a:cubicBezTo>
                  <a:pt x="4510160" y="0"/>
                  <a:pt x="4524375" y="14215"/>
                  <a:pt x="4524375" y="31750"/>
                </a:cubicBezTo>
                <a:lnTo>
                  <a:pt x="4524375" y="3873500"/>
                </a:lnTo>
                <a:cubicBezTo>
                  <a:pt x="4524375" y="3891035"/>
                  <a:pt x="4510160" y="3905250"/>
                  <a:pt x="4492625" y="3905250"/>
                </a:cubicBezTo>
                <a:lnTo>
                  <a:pt x="31750" y="3905250"/>
                </a:lnTo>
                <a:cubicBezTo>
                  <a:pt x="14215" y="3905250"/>
                  <a:pt x="0" y="3891035"/>
                  <a:pt x="0" y="3873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47" name="Text 45"/>
          <p:cNvSpPr/>
          <p:nvPr/>
        </p:nvSpPr>
        <p:spPr>
          <a:xfrm>
            <a:off x="7505700" y="1333500"/>
            <a:ext cx="428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Dashboard Modules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05700" y="16827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08888" y="1809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83344"/>
                </a:moveTo>
                <a:cubicBezTo>
                  <a:pt x="0" y="103063"/>
                  <a:pt x="15999" y="119063"/>
                  <a:pt x="35719" y="119063"/>
                </a:cubicBezTo>
                <a:lnTo>
                  <a:pt x="111125" y="119063"/>
                </a:lnTo>
                <a:cubicBezTo>
                  <a:pt x="128662" y="119063"/>
                  <a:pt x="142875" y="104849"/>
                  <a:pt x="142875" y="87313"/>
                </a:cubicBezTo>
                <a:cubicBezTo>
                  <a:pt x="142875" y="74513"/>
                  <a:pt x="135310" y="63475"/>
                  <a:pt x="124396" y="58465"/>
                </a:cubicBezTo>
                <a:cubicBezTo>
                  <a:pt x="126057" y="55215"/>
                  <a:pt x="127000" y="51519"/>
                  <a:pt x="127000" y="47625"/>
                </a:cubicBezTo>
                <a:cubicBezTo>
                  <a:pt x="127000" y="34479"/>
                  <a:pt x="116334" y="23812"/>
                  <a:pt x="103188" y="23812"/>
                </a:cubicBezTo>
                <a:cubicBezTo>
                  <a:pt x="98797" y="23812"/>
                  <a:pt x="94704" y="25003"/>
                  <a:pt x="91182" y="27062"/>
                </a:cubicBezTo>
                <a:cubicBezTo>
                  <a:pt x="85204" y="15701"/>
                  <a:pt x="73273" y="7938"/>
                  <a:pt x="59531" y="7938"/>
                </a:cubicBezTo>
                <a:cubicBezTo>
                  <a:pt x="39812" y="7938"/>
                  <a:pt x="23813" y="23937"/>
                  <a:pt x="23813" y="43656"/>
                </a:cubicBezTo>
                <a:cubicBezTo>
                  <a:pt x="23813" y="45641"/>
                  <a:pt x="23986" y="47600"/>
                  <a:pt x="24284" y="49485"/>
                </a:cubicBezTo>
                <a:cubicBezTo>
                  <a:pt x="10170" y="54248"/>
                  <a:pt x="0" y="67618"/>
                  <a:pt x="0" y="83344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823200" y="177800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Keywords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00950" y="20002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clouds &amp; frequency charts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05700" y="234950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08888" y="24765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823200" y="2444750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Spread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00950" y="266700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Pie charts showing distribution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05700" y="30162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16825" y="314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823200" y="311150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600950" y="33337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volume over time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05700" y="368300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16825" y="3810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03188"/>
                </a:moveTo>
                <a:lnTo>
                  <a:pt x="0" y="29766"/>
                </a:lnTo>
                <a:cubicBezTo>
                  <a:pt x="0" y="26467"/>
                  <a:pt x="2654" y="23812"/>
                  <a:pt x="5953" y="23812"/>
                </a:cubicBezTo>
                <a:cubicBezTo>
                  <a:pt x="9252" y="23812"/>
                  <a:pt x="11906" y="26467"/>
                  <a:pt x="11906" y="29766"/>
                </a:cubicBezTo>
                <a:lnTo>
                  <a:pt x="11906" y="101203"/>
                </a:lnTo>
                <a:cubicBezTo>
                  <a:pt x="11906" y="104502"/>
                  <a:pt x="14560" y="107156"/>
                  <a:pt x="17859" y="107156"/>
                </a:cubicBezTo>
                <a:cubicBezTo>
                  <a:pt x="21158" y="107156"/>
                  <a:pt x="23812" y="104502"/>
                  <a:pt x="23812" y="101203"/>
                </a:cubicBezTo>
                <a:lnTo>
                  <a:pt x="23812" y="23812"/>
                </a:lnTo>
                <a:cubicBezTo>
                  <a:pt x="23812" y="15056"/>
                  <a:pt x="30931" y="7938"/>
                  <a:pt x="39688" y="7938"/>
                </a:cubicBezTo>
                <a:lnTo>
                  <a:pt x="111125" y="7938"/>
                </a:lnTo>
                <a:cubicBezTo>
                  <a:pt x="119881" y="7938"/>
                  <a:pt x="127000" y="15056"/>
                  <a:pt x="127000" y="23812"/>
                </a:cubicBezTo>
                <a:lnTo>
                  <a:pt x="127000" y="103188"/>
                </a:lnTo>
                <a:cubicBezTo>
                  <a:pt x="127000" y="111944"/>
                  <a:pt x="119881" y="119063"/>
                  <a:pt x="111125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close/>
                <a:moveTo>
                  <a:pt x="39688" y="31750"/>
                </a:moveTo>
                <a:lnTo>
                  <a:pt x="39688" y="47625"/>
                </a:lnTo>
                <a:cubicBezTo>
                  <a:pt x="39688" y="52015"/>
                  <a:pt x="43235" y="55563"/>
                  <a:pt x="47625" y="55563"/>
                </a:cubicBezTo>
                <a:lnTo>
                  <a:pt x="63500" y="55563"/>
                </a:lnTo>
                <a:cubicBezTo>
                  <a:pt x="67890" y="55563"/>
                  <a:pt x="71438" y="52015"/>
                  <a:pt x="71438" y="47625"/>
                </a:cubicBezTo>
                <a:lnTo>
                  <a:pt x="71438" y="31750"/>
                </a:lnTo>
                <a:cubicBezTo>
                  <a:pt x="71438" y="27360"/>
                  <a:pt x="67890" y="23812"/>
                  <a:pt x="63500" y="23812"/>
                </a:cubicBezTo>
                <a:lnTo>
                  <a:pt x="47625" y="23812"/>
                </a:lnTo>
                <a:cubicBezTo>
                  <a:pt x="43235" y="23812"/>
                  <a:pt x="39688" y="27360"/>
                  <a:pt x="39688" y="31750"/>
                </a:cubicBezTo>
                <a:close/>
                <a:moveTo>
                  <a:pt x="45641" y="91281"/>
                </a:moveTo>
                <a:cubicBezTo>
                  <a:pt x="42342" y="91281"/>
                  <a:pt x="39688" y="93935"/>
                  <a:pt x="39688" y="97234"/>
                </a:cubicBezTo>
                <a:cubicBezTo>
                  <a:pt x="39688" y="100533"/>
                  <a:pt x="42342" y="103188"/>
                  <a:pt x="45641" y="103188"/>
                </a:cubicBezTo>
                <a:lnTo>
                  <a:pt x="105172" y="103188"/>
                </a:lnTo>
                <a:cubicBezTo>
                  <a:pt x="108471" y="103188"/>
                  <a:pt x="111125" y="100533"/>
                  <a:pt x="111125" y="97234"/>
                </a:cubicBezTo>
                <a:cubicBezTo>
                  <a:pt x="111125" y="93935"/>
                  <a:pt x="108471" y="91281"/>
                  <a:pt x="105172" y="91281"/>
                </a:cubicBezTo>
                <a:lnTo>
                  <a:pt x="45641" y="91281"/>
                </a:lnTo>
                <a:close/>
                <a:moveTo>
                  <a:pt x="39688" y="73422"/>
                </a:moveTo>
                <a:cubicBezTo>
                  <a:pt x="39688" y="76721"/>
                  <a:pt x="42342" y="79375"/>
                  <a:pt x="45641" y="79375"/>
                </a:cubicBezTo>
                <a:lnTo>
                  <a:pt x="105172" y="79375"/>
                </a:lnTo>
                <a:cubicBezTo>
                  <a:pt x="108471" y="79375"/>
                  <a:pt x="111125" y="76721"/>
                  <a:pt x="111125" y="73422"/>
                </a:cubicBezTo>
                <a:cubicBezTo>
                  <a:pt x="111125" y="70123"/>
                  <a:pt x="108471" y="67469"/>
                  <a:pt x="105172" y="67469"/>
                </a:cubicBezTo>
                <a:lnTo>
                  <a:pt x="45641" y="67469"/>
                </a:lnTo>
                <a:cubicBezTo>
                  <a:pt x="42342" y="67469"/>
                  <a:pt x="39688" y="70123"/>
                  <a:pt x="39688" y="73422"/>
                </a:cubicBezTo>
                <a:close/>
                <a:moveTo>
                  <a:pt x="89297" y="43656"/>
                </a:moveTo>
                <a:cubicBezTo>
                  <a:pt x="85998" y="43656"/>
                  <a:pt x="83344" y="46310"/>
                  <a:pt x="83344" y="49609"/>
                </a:cubicBezTo>
                <a:cubicBezTo>
                  <a:pt x="83344" y="52908"/>
                  <a:pt x="85998" y="55563"/>
                  <a:pt x="89297" y="55563"/>
                </a:cubicBezTo>
                <a:lnTo>
                  <a:pt x="105172" y="55563"/>
                </a:lnTo>
                <a:cubicBezTo>
                  <a:pt x="108471" y="55563"/>
                  <a:pt x="111125" y="52908"/>
                  <a:pt x="111125" y="49609"/>
                </a:cubicBezTo>
                <a:cubicBezTo>
                  <a:pt x="111125" y="46310"/>
                  <a:pt x="108471" y="43656"/>
                  <a:pt x="105172" y="43656"/>
                </a:cubicBezTo>
                <a:lnTo>
                  <a:pt x="89297" y="43656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823200" y="3778250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Analytics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600950" y="400050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Publisher volume comparison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05700" y="4349750"/>
            <a:ext cx="4206875" cy="571500"/>
          </a:xfrm>
          <a:custGeom>
            <a:avLst/>
            <a:gdLst/>
            <a:ahLst/>
            <a:cxnLst/>
            <a:rect l="l" t="t" r="r" b="b"/>
            <a:pathLst>
              <a:path w="4206875" h="571500">
                <a:moveTo>
                  <a:pt x="31753" y="0"/>
                </a:moveTo>
                <a:lnTo>
                  <a:pt x="4175122" y="0"/>
                </a:lnTo>
                <a:cubicBezTo>
                  <a:pt x="4192659" y="0"/>
                  <a:pt x="4206875" y="14216"/>
                  <a:pt x="4206875" y="31753"/>
                </a:cubicBezTo>
                <a:lnTo>
                  <a:pt x="4206875" y="539747"/>
                </a:lnTo>
                <a:cubicBezTo>
                  <a:pt x="4206875" y="557284"/>
                  <a:pt x="4192659" y="571500"/>
                  <a:pt x="41751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616825" y="447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46707" y="36488"/>
                </a:moveTo>
                <a:cubicBezTo>
                  <a:pt x="44822" y="37529"/>
                  <a:pt x="43656" y="39539"/>
                  <a:pt x="43656" y="41672"/>
                </a:cubicBezTo>
                <a:lnTo>
                  <a:pt x="43656" y="85328"/>
                </a:lnTo>
                <a:cubicBezTo>
                  <a:pt x="43656" y="87486"/>
                  <a:pt x="44822" y="89471"/>
                  <a:pt x="46707" y="90512"/>
                </a:cubicBezTo>
                <a:cubicBezTo>
                  <a:pt x="48592" y="91554"/>
                  <a:pt x="50874" y="91529"/>
                  <a:pt x="52735" y="90388"/>
                </a:cubicBezTo>
                <a:lnTo>
                  <a:pt x="88454" y="68560"/>
                </a:lnTo>
                <a:cubicBezTo>
                  <a:pt x="90215" y="67469"/>
                  <a:pt x="91306" y="65559"/>
                  <a:pt x="91306" y="63475"/>
                </a:cubicBezTo>
                <a:cubicBezTo>
                  <a:pt x="91306" y="61392"/>
                  <a:pt x="90215" y="59482"/>
                  <a:pt x="88454" y="58390"/>
                </a:cubicBezTo>
                <a:lnTo>
                  <a:pt x="52735" y="36562"/>
                </a:lnTo>
                <a:cubicBezTo>
                  <a:pt x="50899" y="35446"/>
                  <a:pt x="48592" y="35396"/>
                  <a:pt x="46707" y="3643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823200" y="4445000"/>
            <a:ext cx="70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600950" y="4667250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KMeans &amp; Naive Bayes triggers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46950" y="5207000"/>
            <a:ext cx="4524375" cy="936625"/>
          </a:xfrm>
          <a:custGeom>
            <a:avLst/>
            <a:gdLst/>
            <a:ahLst/>
            <a:cxnLst/>
            <a:rect l="l" t="t" r="r" b="b"/>
            <a:pathLst>
              <a:path w="4524375" h="936625">
                <a:moveTo>
                  <a:pt x="31752" y="0"/>
                </a:moveTo>
                <a:lnTo>
                  <a:pt x="4492623" y="0"/>
                </a:lnTo>
                <a:cubicBezTo>
                  <a:pt x="4510159" y="0"/>
                  <a:pt x="4524375" y="14216"/>
                  <a:pt x="4524375" y="31752"/>
                </a:cubicBezTo>
                <a:lnTo>
                  <a:pt x="4524375" y="904873"/>
                </a:lnTo>
                <a:cubicBezTo>
                  <a:pt x="4524375" y="922409"/>
                  <a:pt x="4510159" y="936625"/>
                  <a:pt x="4492623" y="936625"/>
                </a:cubicBezTo>
                <a:lnTo>
                  <a:pt x="31752" y="936625"/>
                </a:lnTo>
                <a:cubicBezTo>
                  <a:pt x="14216" y="936625"/>
                  <a:pt x="0" y="922409"/>
                  <a:pt x="0" y="904873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9" name="Text 67"/>
          <p:cNvSpPr/>
          <p:nvPr/>
        </p:nvSpPr>
        <p:spPr>
          <a:xfrm>
            <a:off x="7473950" y="5334000"/>
            <a:ext cx="434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Tableau Integration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73950" y="5651500"/>
            <a:ext cx="432593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visualizations created using Tableau against the 120,000-row frozen dataset provide insights into category distributions, publication trends, and source activity.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46950" y="6266656"/>
            <a:ext cx="4524375" cy="920750"/>
          </a:xfrm>
          <a:custGeom>
            <a:avLst/>
            <a:gdLst/>
            <a:ahLst/>
            <a:cxnLst/>
            <a:rect l="l" t="t" r="r" b="b"/>
            <a:pathLst>
              <a:path w="4524375" h="920750">
                <a:moveTo>
                  <a:pt x="31747" y="0"/>
                </a:moveTo>
                <a:lnTo>
                  <a:pt x="4492628" y="0"/>
                </a:lnTo>
                <a:cubicBezTo>
                  <a:pt x="4510161" y="0"/>
                  <a:pt x="4524375" y="14214"/>
                  <a:pt x="4524375" y="31747"/>
                </a:cubicBezTo>
                <a:lnTo>
                  <a:pt x="4524375" y="889003"/>
                </a:lnTo>
                <a:cubicBezTo>
                  <a:pt x="4524375" y="906536"/>
                  <a:pt x="4510161" y="920750"/>
                  <a:pt x="4492628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72" name="Text 70"/>
          <p:cNvSpPr/>
          <p:nvPr/>
        </p:nvSpPr>
        <p:spPr>
          <a:xfrm>
            <a:off x="7442200" y="6393656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Rendering Target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414419" y="6615906"/>
            <a:ext cx="4389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&lt; 2s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446169" y="6901656"/>
            <a:ext cx="432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5 charts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spc="117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67040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Technical Challenges &amp;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148790"/>
            <a:ext cx="741155" cy="37058"/>
          </a:xfrm>
          <a:custGeom>
            <a:avLst/>
            <a:gdLst/>
            <a:ahLst/>
            <a:cxn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89106" y="1371137"/>
            <a:ext cx="11432316" cy="2241994"/>
          </a:xfrm>
          <a:custGeom>
            <a:avLst/>
            <a:gdLst/>
            <a:ahLst/>
            <a:cxnLst/>
            <a:rect l="l" t="t" r="r" b="b"/>
            <a:pathLst>
              <a:path w="11432316" h="2241994">
                <a:moveTo>
                  <a:pt x="37058" y="0"/>
                </a:moveTo>
                <a:lnTo>
                  <a:pt x="11395256" y="0"/>
                </a:lnTo>
                <a:cubicBezTo>
                  <a:pt x="11415724" y="0"/>
                  <a:pt x="11432316" y="16592"/>
                  <a:pt x="11432316" y="37060"/>
                </a:cubicBezTo>
                <a:lnTo>
                  <a:pt x="11432316" y="2204934"/>
                </a:lnTo>
                <a:cubicBezTo>
                  <a:pt x="11432316" y="2225402"/>
                  <a:pt x="11415724" y="2241994"/>
                  <a:pt x="11395256" y="2241994"/>
                </a:cubicBezTo>
                <a:lnTo>
                  <a:pt x="37058" y="2241994"/>
                </a:lnTo>
                <a:cubicBezTo>
                  <a:pt x="16591" y="2241994"/>
                  <a:pt x="0" y="2225403"/>
                  <a:pt x="0" y="220493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Shape 4"/>
          <p:cNvSpPr/>
          <p:nvPr/>
        </p:nvSpPr>
        <p:spPr>
          <a:xfrm>
            <a:off x="389106" y="1371137"/>
            <a:ext cx="37058" cy="2241994"/>
          </a:xfrm>
          <a:custGeom>
            <a:avLst/>
            <a:gdLst/>
            <a:ahLst/>
            <a:cxnLst/>
            <a:rect l="l" t="t" r="r" b="b"/>
            <a:pathLst>
              <a:path w="37058" h="2241994">
                <a:moveTo>
                  <a:pt x="37058" y="0"/>
                </a:moveTo>
                <a:lnTo>
                  <a:pt x="37058" y="0"/>
                </a:lnTo>
                <a:lnTo>
                  <a:pt x="37058" y="2241994"/>
                </a:lnTo>
                <a:lnTo>
                  <a:pt x="37058" y="2241994"/>
                </a:lnTo>
                <a:cubicBezTo>
                  <a:pt x="16591" y="2241994"/>
                  <a:pt x="0" y="2225403"/>
                  <a:pt x="0" y="2204936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" name="Shape 5"/>
          <p:cNvSpPr/>
          <p:nvPr/>
        </p:nvSpPr>
        <p:spPr>
          <a:xfrm>
            <a:off x="592924" y="1556426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" name="Text 6"/>
          <p:cNvSpPr/>
          <p:nvPr/>
        </p:nvSpPr>
        <p:spPr>
          <a:xfrm>
            <a:off x="820019" y="1667599"/>
            <a:ext cx="176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9964" y="1556426"/>
            <a:ext cx="1046881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Massive Memory Overhead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9964" y="1889945"/>
            <a:ext cx="1045028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Running K-Means and Apriori on the entire 120,000-record dataset caused massive RAM consumption and timeouts.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3669" y="2227171"/>
            <a:ext cx="10365053" cy="1202524"/>
          </a:xfrm>
          <a:custGeom>
            <a:avLst/>
            <a:gdLst/>
            <a:ahLst/>
            <a:cxnLst/>
            <a:rect l="l" t="t" r="r" b="b"/>
            <a:pathLst>
              <a:path w="10365053" h="1202524">
                <a:moveTo>
                  <a:pt x="37062" y="0"/>
                </a:moveTo>
                <a:lnTo>
                  <a:pt x="10327991" y="0"/>
                </a:lnTo>
                <a:cubicBezTo>
                  <a:pt x="10348460" y="0"/>
                  <a:pt x="10365053" y="16593"/>
                  <a:pt x="10365053" y="37062"/>
                </a:cubicBezTo>
                <a:lnTo>
                  <a:pt x="10365053" y="1165462"/>
                </a:lnTo>
                <a:cubicBezTo>
                  <a:pt x="10365053" y="1185931"/>
                  <a:pt x="10348460" y="1202524"/>
                  <a:pt x="10327991" y="1202524"/>
                </a:cubicBezTo>
                <a:lnTo>
                  <a:pt x="37062" y="1202524"/>
                </a:lnTo>
                <a:cubicBezTo>
                  <a:pt x="16593" y="1202524"/>
                  <a:pt x="0" y="1185931"/>
                  <a:pt x="0" y="1165462"/>
                </a:cubicBezTo>
                <a:lnTo>
                  <a:pt x="0" y="37062"/>
                </a:lnTo>
                <a:cubicBezTo>
                  <a:pt x="0" y="16607"/>
                  <a:pt x="16607" y="0"/>
                  <a:pt x="3706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5606" y="2393934"/>
            <a:ext cx="68522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5606" y="2638510"/>
            <a:ext cx="101260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Implemented dynamic 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2C2C2C"/>
                </a:solidFill>
                <a:highlight>
                  <a:srgbClr val="F8F7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max_features 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 in TF-IDF for CDM pipeline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5606" y="2868275"/>
            <a:ext cx="1012603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Established "frozen_corpus" pattern for reproducible, fast review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5606" y="3090622"/>
            <a:ext cx="1012603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Limited dimensionality to prevent memory exhaustion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9106" y="3765071"/>
            <a:ext cx="5632778" cy="3094322"/>
          </a:xfrm>
          <a:custGeom>
            <a:avLst/>
            <a:gdLst/>
            <a:ahLst/>
            <a:cxnLst/>
            <a:rect l="l" t="t" r="r" b="b"/>
            <a:pathLst>
              <a:path w="5632778" h="3094322">
                <a:moveTo>
                  <a:pt x="37058" y="0"/>
                </a:moveTo>
                <a:lnTo>
                  <a:pt x="5595708" y="0"/>
                </a:lnTo>
                <a:cubicBezTo>
                  <a:pt x="5616181" y="0"/>
                  <a:pt x="5632778" y="16597"/>
                  <a:pt x="5632778" y="37070"/>
                </a:cubicBezTo>
                <a:lnTo>
                  <a:pt x="5632778" y="3057252"/>
                </a:lnTo>
                <a:cubicBezTo>
                  <a:pt x="5632778" y="3077725"/>
                  <a:pt x="5616181" y="3094322"/>
                  <a:pt x="5595708" y="3094322"/>
                </a:cubicBezTo>
                <a:lnTo>
                  <a:pt x="37058" y="3094322"/>
                </a:lnTo>
                <a:cubicBezTo>
                  <a:pt x="16591" y="3094322"/>
                  <a:pt x="0" y="3077731"/>
                  <a:pt x="0" y="305726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9106" y="3765071"/>
            <a:ext cx="37058" cy="3094322"/>
          </a:xfrm>
          <a:custGeom>
            <a:avLst/>
            <a:gdLst/>
            <a:ahLst/>
            <a:cxnLst/>
            <a:rect l="l" t="t" r="r" b="b"/>
            <a:pathLst>
              <a:path w="37058" h="3094322">
                <a:moveTo>
                  <a:pt x="37058" y="0"/>
                </a:moveTo>
                <a:lnTo>
                  <a:pt x="37058" y="0"/>
                </a:lnTo>
                <a:lnTo>
                  <a:pt x="37058" y="3094322"/>
                </a:lnTo>
                <a:lnTo>
                  <a:pt x="37058" y="3094322"/>
                </a:lnTo>
                <a:cubicBezTo>
                  <a:pt x="16591" y="3094322"/>
                  <a:pt x="0" y="3077731"/>
                  <a:pt x="0" y="305726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2924" y="3950360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9" name="Text 17"/>
          <p:cNvSpPr/>
          <p:nvPr/>
        </p:nvSpPr>
        <p:spPr>
          <a:xfrm>
            <a:off x="799521" y="4061533"/>
            <a:ext cx="21308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9964" y="3950360"/>
            <a:ext cx="466927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Index Rebuild Loops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9964" y="4283880"/>
            <a:ext cx="4641483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rebuilt entire index for 120k articles on restart, causing 1-hour startup delays.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63669" y="4769336"/>
            <a:ext cx="4565515" cy="1007971"/>
          </a:xfrm>
          <a:custGeom>
            <a:avLst/>
            <a:gdLst/>
            <a:ahLst/>
            <a:cxnLst/>
            <a:rect l="l" t="t" r="r" b="b"/>
            <a:pathLst>
              <a:path w="4565515" h="1007971">
                <a:moveTo>
                  <a:pt x="37053" y="0"/>
                </a:moveTo>
                <a:lnTo>
                  <a:pt x="4528462" y="0"/>
                </a:lnTo>
                <a:cubicBezTo>
                  <a:pt x="4548926" y="0"/>
                  <a:pt x="4565515" y="16589"/>
                  <a:pt x="4565515" y="37053"/>
                </a:cubicBezTo>
                <a:lnTo>
                  <a:pt x="4565515" y="970918"/>
                </a:lnTo>
                <a:cubicBezTo>
                  <a:pt x="4565515" y="991382"/>
                  <a:pt x="4548926" y="1007971"/>
                  <a:pt x="4528462" y="1007971"/>
                </a:cubicBezTo>
                <a:lnTo>
                  <a:pt x="37053" y="1007971"/>
                </a:lnTo>
                <a:cubicBezTo>
                  <a:pt x="16589" y="1007971"/>
                  <a:pt x="0" y="991382"/>
                  <a:pt x="0" y="970918"/>
                </a:cubicBezTo>
                <a:lnTo>
                  <a:pt x="0" y="37053"/>
                </a:lnTo>
                <a:cubicBezTo>
                  <a:pt x="0" y="16603"/>
                  <a:pt x="16603" y="0"/>
                  <a:pt x="370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8548" y="4899033"/>
            <a:ext cx="68522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8548" y="5143618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Developed </a:t>
            </a:r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highlight>
                  <a:srgbClr val="F8F7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update_index </a:t>
            </a:r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incremental methodology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8548" y="5328789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Compare DuckDB rowid counts to index_meta.json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8548" y="5513960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Encode only new articles, append to FAISS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9964" y="5891839"/>
            <a:ext cx="4576632" cy="778213"/>
          </a:xfrm>
          <a:custGeom>
            <a:avLst/>
            <a:gdLst/>
            <a:ahLst/>
            <a:cxnLst/>
            <a:rect l="l" t="t" r="r" b="b"/>
            <a:pathLst>
              <a:path w="4576632" h="778213">
                <a:moveTo>
                  <a:pt x="37058" y="0"/>
                </a:moveTo>
                <a:lnTo>
                  <a:pt x="4539574" y="0"/>
                </a:lnTo>
                <a:cubicBezTo>
                  <a:pt x="4560041" y="0"/>
                  <a:pt x="4576632" y="16592"/>
                  <a:pt x="4576632" y="37058"/>
                </a:cubicBezTo>
                <a:lnTo>
                  <a:pt x="4576632" y="741154"/>
                </a:lnTo>
                <a:cubicBezTo>
                  <a:pt x="4576632" y="761621"/>
                  <a:pt x="4560041" y="778213"/>
                  <a:pt x="4539574" y="778213"/>
                </a:cubicBezTo>
                <a:lnTo>
                  <a:pt x="37058" y="778213"/>
                </a:lnTo>
                <a:cubicBezTo>
                  <a:pt x="16592" y="778213"/>
                  <a:pt x="0" y="761621"/>
                  <a:pt x="0" y="741154"/>
                </a:cubicBezTo>
                <a:lnTo>
                  <a:pt x="0" y="37058"/>
                </a:lnTo>
                <a:cubicBezTo>
                  <a:pt x="0" y="16605"/>
                  <a:pt x="16605" y="0"/>
                  <a:pt x="37058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28" name="Text 26"/>
          <p:cNvSpPr/>
          <p:nvPr/>
        </p:nvSpPr>
        <p:spPr>
          <a:xfrm>
            <a:off x="1338711" y="6003012"/>
            <a:ext cx="441913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Improvement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1653" y="6225358"/>
            <a:ext cx="4493252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1h → &lt;5s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6560" y="3765071"/>
            <a:ext cx="5632778" cy="3094322"/>
          </a:xfrm>
          <a:custGeom>
            <a:avLst/>
            <a:gdLst/>
            <a:ahLst/>
            <a:cxnLst/>
            <a:rect l="l" t="t" r="r" b="b"/>
            <a:pathLst>
              <a:path w="5632778" h="3094322">
                <a:moveTo>
                  <a:pt x="37058" y="0"/>
                </a:moveTo>
                <a:lnTo>
                  <a:pt x="5595708" y="0"/>
                </a:lnTo>
                <a:cubicBezTo>
                  <a:pt x="5616181" y="0"/>
                  <a:pt x="5632778" y="16597"/>
                  <a:pt x="5632778" y="37070"/>
                </a:cubicBezTo>
                <a:lnTo>
                  <a:pt x="5632778" y="3057252"/>
                </a:lnTo>
                <a:cubicBezTo>
                  <a:pt x="5632778" y="3077725"/>
                  <a:pt x="5616181" y="3094322"/>
                  <a:pt x="5595708" y="3094322"/>
                </a:cubicBezTo>
                <a:lnTo>
                  <a:pt x="37058" y="3094322"/>
                </a:lnTo>
                <a:cubicBezTo>
                  <a:pt x="16591" y="3094322"/>
                  <a:pt x="0" y="3077731"/>
                  <a:pt x="0" y="305726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186560" y="3765071"/>
            <a:ext cx="37058" cy="3094322"/>
          </a:xfrm>
          <a:custGeom>
            <a:avLst/>
            <a:gdLst/>
            <a:ahLst/>
            <a:cxnLst/>
            <a:rect l="l" t="t" r="r" b="b"/>
            <a:pathLst>
              <a:path w="37058" h="3094322">
                <a:moveTo>
                  <a:pt x="37058" y="0"/>
                </a:moveTo>
                <a:lnTo>
                  <a:pt x="37058" y="0"/>
                </a:lnTo>
                <a:lnTo>
                  <a:pt x="37058" y="3094322"/>
                </a:lnTo>
                <a:lnTo>
                  <a:pt x="37058" y="3094322"/>
                </a:lnTo>
                <a:cubicBezTo>
                  <a:pt x="16591" y="3094322"/>
                  <a:pt x="0" y="3077731"/>
                  <a:pt x="0" y="305726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2" name="Shape 30"/>
          <p:cNvSpPr/>
          <p:nvPr/>
        </p:nvSpPr>
        <p:spPr>
          <a:xfrm>
            <a:off x="6390378" y="3950360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3" name="Text 31"/>
          <p:cNvSpPr/>
          <p:nvPr/>
        </p:nvSpPr>
        <p:spPr>
          <a:xfrm>
            <a:off x="6596396" y="4061533"/>
            <a:ext cx="222347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57417" y="3950360"/>
            <a:ext cx="466927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Import Failures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57417" y="4283880"/>
            <a:ext cx="4641483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20000"/>
              </a:lnSpc>
            </a:pPr>
            <a:r>
              <a:rPr lang="en-US" sz="102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Python's strict module pathing broke when separating backend APIs from analytics scripts.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61123" y="4769336"/>
            <a:ext cx="4565515" cy="1007971"/>
          </a:xfrm>
          <a:custGeom>
            <a:avLst/>
            <a:gdLst/>
            <a:ahLst/>
            <a:cxnLst/>
            <a:rect l="l" t="t" r="r" b="b"/>
            <a:pathLst>
              <a:path w="4565515" h="1007971">
                <a:moveTo>
                  <a:pt x="37053" y="0"/>
                </a:moveTo>
                <a:lnTo>
                  <a:pt x="4528462" y="0"/>
                </a:lnTo>
                <a:cubicBezTo>
                  <a:pt x="4548926" y="0"/>
                  <a:pt x="4565515" y="16589"/>
                  <a:pt x="4565515" y="37053"/>
                </a:cubicBezTo>
                <a:lnTo>
                  <a:pt x="4565515" y="970918"/>
                </a:lnTo>
                <a:cubicBezTo>
                  <a:pt x="4565515" y="991382"/>
                  <a:pt x="4548926" y="1007971"/>
                  <a:pt x="4528462" y="1007971"/>
                </a:cubicBezTo>
                <a:lnTo>
                  <a:pt x="37053" y="1007971"/>
                </a:lnTo>
                <a:cubicBezTo>
                  <a:pt x="16589" y="1007971"/>
                  <a:pt x="0" y="991382"/>
                  <a:pt x="0" y="970918"/>
                </a:cubicBezTo>
                <a:lnTo>
                  <a:pt x="0" y="37053"/>
                </a:lnTo>
                <a:cubicBezTo>
                  <a:pt x="0" y="16603"/>
                  <a:pt x="16603" y="0"/>
                  <a:pt x="3705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6002" y="4899033"/>
            <a:ext cx="685221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76002" y="5143618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Built absolute path resolution configuration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76002" y="5328789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</a:t>
            </a:r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highlight>
                  <a:srgbClr val="F8F7F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os.path.abspath(__file__)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76002" y="5513960"/>
            <a:ext cx="4391343" cy="1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Enable terminal execution from any directory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57417" y="5891839"/>
            <a:ext cx="4576632" cy="741155"/>
          </a:xfrm>
          <a:custGeom>
            <a:avLst/>
            <a:gdLst/>
            <a:ahLst/>
            <a:cxnLst/>
            <a:rect l="l" t="t" r="r" b="b"/>
            <a:pathLst>
              <a:path w="4576632" h="741155">
                <a:moveTo>
                  <a:pt x="37058" y="0"/>
                </a:moveTo>
                <a:lnTo>
                  <a:pt x="4539574" y="0"/>
                </a:lnTo>
                <a:cubicBezTo>
                  <a:pt x="4560041" y="0"/>
                  <a:pt x="4576632" y="16591"/>
                  <a:pt x="4576632" y="37058"/>
                </a:cubicBezTo>
                <a:lnTo>
                  <a:pt x="4576632" y="704097"/>
                </a:lnTo>
                <a:cubicBezTo>
                  <a:pt x="4576632" y="724564"/>
                  <a:pt x="4560041" y="741155"/>
                  <a:pt x="4539574" y="741155"/>
                </a:cubicBezTo>
                <a:lnTo>
                  <a:pt x="37058" y="741155"/>
                </a:lnTo>
                <a:cubicBezTo>
                  <a:pt x="16591" y="741155"/>
                  <a:pt x="0" y="724564"/>
                  <a:pt x="0" y="704097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2" name="Text 40"/>
          <p:cNvSpPr/>
          <p:nvPr/>
        </p:nvSpPr>
        <p:spPr>
          <a:xfrm>
            <a:off x="7136165" y="6003012"/>
            <a:ext cx="441913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Resolution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13004" y="6225358"/>
            <a:ext cx="4465459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Cross-Directory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Quality Assurance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Testing Framework &amp; Performance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699125" cy="2667000"/>
          </a:xfrm>
          <a:custGeom>
            <a:avLst/>
            <a:gdLst/>
            <a:ahLst/>
            <a:cxnLst/>
            <a:rect l="l" t="t" r="r" b="b"/>
            <a:pathLst>
              <a:path w="5699125" h="2667000">
                <a:moveTo>
                  <a:pt x="31737" y="0"/>
                </a:moveTo>
                <a:lnTo>
                  <a:pt x="5667388" y="0"/>
                </a:lnTo>
                <a:cubicBezTo>
                  <a:pt x="5684916" y="0"/>
                  <a:pt x="5699125" y="14209"/>
                  <a:pt x="5699125" y="31737"/>
                </a:cubicBezTo>
                <a:lnTo>
                  <a:pt x="5699125" y="2635263"/>
                </a:lnTo>
                <a:cubicBezTo>
                  <a:pt x="5699125" y="2652791"/>
                  <a:pt x="5684916" y="2667000"/>
                  <a:pt x="5667388" y="2667000"/>
                </a:cubicBezTo>
                <a:lnTo>
                  <a:pt x="31737" y="2667000"/>
                </a:lnTo>
                <a:cubicBezTo>
                  <a:pt x="14209" y="2667000"/>
                  <a:pt x="0" y="2652791"/>
                  <a:pt x="0" y="2635263"/>
                </a:cubicBezTo>
                <a:lnTo>
                  <a:pt x="0" y="31737"/>
                </a:lnTo>
                <a:cubicBezTo>
                  <a:pt x="0" y="14221"/>
                  <a:pt x="14221" y="0"/>
                  <a:pt x="31737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3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2125" y="1682750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31747" y="0"/>
                </a:moveTo>
                <a:lnTo>
                  <a:pt x="5334003" y="0"/>
                </a:lnTo>
                <a:cubicBezTo>
                  <a:pt x="5351536" y="0"/>
                  <a:pt x="5365750" y="14214"/>
                  <a:pt x="5365750" y="31747"/>
                </a:cubicBezTo>
                <a:lnTo>
                  <a:pt x="5365750" y="920753"/>
                </a:lnTo>
                <a:cubicBezTo>
                  <a:pt x="5365750" y="938286"/>
                  <a:pt x="5351536" y="952500"/>
                  <a:pt x="5334003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92125" y="1682750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9" name="Text 7"/>
          <p:cNvSpPr/>
          <p:nvPr/>
        </p:nvSpPr>
        <p:spPr>
          <a:xfrm>
            <a:off x="635000" y="1825625"/>
            <a:ext cx="96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frozen_corpus.csv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2103" y="1809750"/>
            <a:ext cx="500063" cy="222250"/>
          </a:xfrm>
          <a:custGeom>
            <a:avLst/>
            <a:gdLst/>
            <a:ahLst/>
            <a:cxnLst/>
            <a:rect l="l" t="t" r="r" b="b"/>
            <a:pathLst>
              <a:path w="500063" h="222250">
                <a:moveTo>
                  <a:pt x="31751" y="0"/>
                </a:moveTo>
                <a:lnTo>
                  <a:pt x="468312" y="0"/>
                </a:lnTo>
                <a:cubicBezTo>
                  <a:pt x="485847" y="0"/>
                  <a:pt x="500063" y="14215"/>
                  <a:pt x="500063" y="31751"/>
                </a:cubicBezTo>
                <a:lnTo>
                  <a:pt x="500063" y="190499"/>
                </a:lnTo>
                <a:cubicBezTo>
                  <a:pt x="500063" y="208035"/>
                  <a:pt x="485847" y="222250"/>
                  <a:pt x="468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32103" y="1809750"/>
            <a:ext cx="555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" y="2095500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~120,000 records from AG News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" y="2317750"/>
            <a:ext cx="674688" cy="190500"/>
          </a:xfrm>
          <a:custGeom>
            <a:avLst/>
            <a:gdLst/>
            <a:ahLst/>
            <a:cxnLst/>
            <a:rect l="l" t="t" r="r" b="b"/>
            <a:pathLst>
              <a:path w="674688" h="190500">
                <a:moveTo>
                  <a:pt x="31751" y="0"/>
                </a:moveTo>
                <a:lnTo>
                  <a:pt x="642937" y="0"/>
                </a:lnTo>
                <a:cubicBezTo>
                  <a:pt x="660472" y="0"/>
                  <a:pt x="674688" y="14215"/>
                  <a:pt x="674688" y="31751"/>
                </a:cubicBezTo>
                <a:lnTo>
                  <a:pt x="674688" y="158749"/>
                </a:lnTo>
                <a:cubicBezTo>
                  <a:pt x="674688" y="176285"/>
                  <a:pt x="660472" y="190500"/>
                  <a:pt x="642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" y="2317750"/>
            <a:ext cx="722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2691" y="2317750"/>
            <a:ext cx="674688" cy="190500"/>
          </a:xfrm>
          <a:custGeom>
            <a:avLst/>
            <a:gdLst/>
            <a:ahLst/>
            <a:cxnLst/>
            <a:rect l="l" t="t" r="r" b="b"/>
            <a:pathLst>
              <a:path w="674688" h="190500">
                <a:moveTo>
                  <a:pt x="31751" y="0"/>
                </a:moveTo>
                <a:lnTo>
                  <a:pt x="642937" y="0"/>
                </a:lnTo>
                <a:cubicBezTo>
                  <a:pt x="660472" y="0"/>
                  <a:pt x="674688" y="14215"/>
                  <a:pt x="674688" y="31751"/>
                </a:cubicBezTo>
                <a:lnTo>
                  <a:pt x="674688" y="158749"/>
                </a:lnTo>
                <a:cubicBezTo>
                  <a:pt x="674688" y="176285"/>
                  <a:pt x="660472" y="190500"/>
                  <a:pt x="642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6" name="Text 14"/>
          <p:cNvSpPr/>
          <p:nvPr/>
        </p:nvSpPr>
        <p:spPr>
          <a:xfrm>
            <a:off x="1372691" y="2317750"/>
            <a:ext cx="722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2125" y="2730399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31747" y="0"/>
                </a:moveTo>
                <a:lnTo>
                  <a:pt x="5334003" y="0"/>
                </a:lnTo>
                <a:cubicBezTo>
                  <a:pt x="5351536" y="0"/>
                  <a:pt x="5365750" y="14214"/>
                  <a:pt x="5365750" y="31747"/>
                </a:cubicBezTo>
                <a:lnTo>
                  <a:pt x="5365750" y="920753"/>
                </a:lnTo>
                <a:cubicBezTo>
                  <a:pt x="5365750" y="938286"/>
                  <a:pt x="5351536" y="952500"/>
                  <a:pt x="5334003" y="952500"/>
                </a:cubicBezTo>
                <a:lnTo>
                  <a:pt x="31747" y="952500"/>
                </a:lnTo>
                <a:cubicBezTo>
                  <a:pt x="14214" y="952500"/>
                  <a:pt x="0" y="938286"/>
                  <a:pt x="0" y="920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92125" y="2730399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00" y="2873274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Synthetic Edge Cases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3359" y="2857399"/>
            <a:ext cx="611188" cy="222250"/>
          </a:xfrm>
          <a:custGeom>
            <a:avLst/>
            <a:gdLst/>
            <a:ahLst/>
            <a:cxnLst/>
            <a:rect l="l" t="t" r="r" b="b"/>
            <a:pathLst>
              <a:path w="611188" h="222250">
                <a:moveTo>
                  <a:pt x="31751" y="0"/>
                </a:moveTo>
                <a:lnTo>
                  <a:pt x="579437" y="0"/>
                </a:lnTo>
                <a:cubicBezTo>
                  <a:pt x="596972" y="0"/>
                  <a:pt x="611188" y="14215"/>
                  <a:pt x="611188" y="31751"/>
                </a:cubicBezTo>
                <a:lnTo>
                  <a:pt x="611188" y="190499"/>
                </a:lnTo>
                <a:cubicBezTo>
                  <a:pt x="611188" y="208035"/>
                  <a:pt x="596972" y="222250"/>
                  <a:pt x="57943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23359" y="2857399"/>
            <a:ext cx="66675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0A5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000" y="3143149"/>
            <a:ext cx="515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 fields, malformed dates, special characters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3365399"/>
            <a:ext cx="603250" cy="190500"/>
          </a:xfrm>
          <a:custGeom>
            <a:avLst/>
            <a:gdLst/>
            <a:ahLst/>
            <a:cxnLst/>
            <a:rect l="l" t="t" r="r" b="b"/>
            <a:pathLst>
              <a:path w="603250" h="190500">
                <a:moveTo>
                  <a:pt x="31751" y="0"/>
                </a:moveTo>
                <a:lnTo>
                  <a:pt x="571499" y="0"/>
                </a:lnTo>
                <a:cubicBezTo>
                  <a:pt x="589035" y="0"/>
                  <a:pt x="603250" y="14215"/>
                  <a:pt x="603250" y="31751"/>
                </a:cubicBezTo>
                <a:lnTo>
                  <a:pt x="603250" y="158749"/>
                </a:lnTo>
                <a:cubicBezTo>
                  <a:pt x="603250" y="176285"/>
                  <a:pt x="589035" y="190500"/>
                  <a:pt x="5714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000" y="3365399"/>
            <a:ext cx="6508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99270" y="3365399"/>
            <a:ext cx="722313" cy="190500"/>
          </a:xfrm>
          <a:custGeom>
            <a:avLst/>
            <a:gdLst/>
            <a:ahLst/>
            <a:cxnLst/>
            <a:rect l="l" t="t" r="r" b="b"/>
            <a:pathLst>
              <a:path w="722313" h="190500">
                <a:moveTo>
                  <a:pt x="31751" y="0"/>
                </a:moveTo>
                <a:lnTo>
                  <a:pt x="690562" y="0"/>
                </a:lnTo>
                <a:cubicBezTo>
                  <a:pt x="708097" y="0"/>
                  <a:pt x="722313" y="14215"/>
                  <a:pt x="722313" y="31751"/>
                </a:cubicBezTo>
                <a:lnTo>
                  <a:pt x="722313" y="158749"/>
                </a:lnTo>
                <a:cubicBezTo>
                  <a:pt x="722313" y="176285"/>
                  <a:pt x="708097" y="190500"/>
                  <a:pt x="6905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6" name="Text 24"/>
          <p:cNvSpPr/>
          <p:nvPr/>
        </p:nvSpPr>
        <p:spPr>
          <a:xfrm>
            <a:off x="1299270" y="3365399"/>
            <a:ext cx="7699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7500" y="3968556"/>
            <a:ext cx="5699125" cy="3849688"/>
          </a:xfrm>
          <a:custGeom>
            <a:avLst/>
            <a:gdLst/>
            <a:ahLst/>
            <a:cxnLst/>
            <a:rect l="l" t="t" r="r" b="b"/>
            <a:pathLst>
              <a:path w="5699125" h="3849688">
                <a:moveTo>
                  <a:pt x="31760" y="0"/>
                </a:moveTo>
                <a:lnTo>
                  <a:pt x="5667365" y="0"/>
                </a:lnTo>
                <a:cubicBezTo>
                  <a:pt x="5684906" y="0"/>
                  <a:pt x="5699125" y="14219"/>
                  <a:pt x="5699125" y="31760"/>
                </a:cubicBezTo>
                <a:lnTo>
                  <a:pt x="5699125" y="3817928"/>
                </a:lnTo>
                <a:cubicBezTo>
                  <a:pt x="5699125" y="3835468"/>
                  <a:pt x="5684906" y="3849687"/>
                  <a:pt x="5667365" y="3849687"/>
                </a:cubicBezTo>
                <a:lnTo>
                  <a:pt x="31760" y="3849688"/>
                </a:lnTo>
                <a:cubicBezTo>
                  <a:pt x="14219" y="3849687"/>
                  <a:pt x="0" y="3835468"/>
                  <a:pt x="0" y="3817928"/>
                </a:cubicBezTo>
                <a:lnTo>
                  <a:pt x="0" y="31760"/>
                </a:lnTo>
                <a:cubicBezTo>
                  <a:pt x="0" y="14231"/>
                  <a:pt x="14231" y="0"/>
                  <a:pt x="31760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8" name="Text 26"/>
          <p:cNvSpPr/>
          <p:nvPr/>
        </p:nvSpPr>
        <p:spPr>
          <a:xfrm>
            <a:off x="476250" y="4127306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9425" y="4479731"/>
            <a:ext cx="5372100" cy="990600"/>
          </a:xfrm>
          <a:custGeom>
            <a:avLst/>
            <a:gdLst/>
            <a:ahLst/>
            <a:cxnLst/>
            <a:rect l="l" t="t" r="r" b="b"/>
            <a:pathLst>
              <a:path w="5372100" h="990600">
                <a:moveTo>
                  <a:pt x="31749" y="0"/>
                </a:moveTo>
                <a:lnTo>
                  <a:pt x="5340351" y="0"/>
                </a:lnTo>
                <a:cubicBezTo>
                  <a:pt x="5357886" y="0"/>
                  <a:pt x="5372100" y="14214"/>
                  <a:pt x="5372100" y="31749"/>
                </a:cubicBezTo>
                <a:lnTo>
                  <a:pt x="5372100" y="958851"/>
                </a:lnTo>
                <a:cubicBezTo>
                  <a:pt x="5372100" y="976386"/>
                  <a:pt x="5357886" y="990600"/>
                  <a:pt x="5340351" y="990600"/>
                </a:cubicBezTo>
                <a:lnTo>
                  <a:pt x="31749" y="990600"/>
                </a:lnTo>
                <a:cubicBezTo>
                  <a:pt x="14214" y="990600"/>
                  <a:pt x="0" y="976386"/>
                  <a:pt x="0" y="9588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600" y="46257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1" name="Text 29"/>
          <p:cNvSpPr/>
          <p:nvPr/>
        </p:nvSpPr>
        <p:spPr>
          <a:xfrm>
            <a:off x="577850" y="4625780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2350" y="4609905"/>
            <a:ext cx="159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Index Rebuild Performance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2350" y="4800405"/>
            <a:ext cx="158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Rebuilding with updated corpus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" y="5022655"/>
            <a:ext cx="5111750" cy="317500"/>
          </a:xfrm>
          <a:custGeom>
            <a:avLst/>
            <a:gdLst/>
            <a:ahLst/>
            <a:cxnLst/>
            <a:rect l="l" t="t" r="r" b="b"/>
            <a:pathLst>
              <a:path w="5111750" h="317500">
                <a:moveTo>
                  <a:pt x="31750" y="0"/>
                </a:moveTo>
                <a:lnTo>
                  <a:pt x="5080000" y="0"/>
                </a:lnTo>
                <a:cubicBezTo>
                  <a:pt x="5097523" y="0"/>
                  <a:pt x="5111750" y="14227"/>
                  <a:pt x="5111750" y="31750"/>
                </a:cubicBezTo>
                <a:lnTo>
                  <a:pt x="5111750" y="285750"/>
                </a:lnTo>
                <a:cubicBezTo>
                  <a:pt x="5111750" y="303273"/>
                  <a:pt x="5097523" y="317500"/>
                  <a:pt x="508000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AC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3100" y="5102030"/>
            <a:ext cx="50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83658" y="5086155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C9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15 seconds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9425" y="5571928"/>
            <a:ext cx="5372100" cy="990600"/>
          </a:xfrm>
          <a:custGeom>
            <a:avLst/>
            <a:gdLst/>
            <a:ahLst/>
            <a:cxnLst/>
            <a:rect l="l" t="t" r="r" b="b"/>
            <a:pathLst>
              <a:path w="5372100" h="990600">
                <a:moveTo>
                  <a:pt x="31749" y="0"/>
                </a:moveTo>
                <a:lnTo>
                  <a:pt x="5340351" y="0"/>
                </a:lnTo>
                <a:cubicBezTo>
                  <a:pt x="5357886" y="0"/>
                  <a:pt x="5372100" y="14214"/>
                  <a:pt x="5372100" y="31749"/>
                </a:cubicBezTo>
                <a:lnTo>
                  <a:pt x="5372100" y="958851"/>
                </a:lnTo>
                <a:cubicBezTo>
                  <a:pt x="5372100" y="976386"/>
                  <a:pt x="5357886" y="990600"/>
                  <a:pt x="5340351" y="990600"/>
                </a:cubicBezTo>
                <a:lnTo>
                  <a:pt x="31749" y="990600"/>
                </a:lnTo>
                <a:cubicBezTo>
                  <a:pt x="14214" y="990600"/>
                  <a:pt x="0" y="976386"/>
                  <a:pt x="0" y="9588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600" y="57179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39" name="Text 37"/>
          <p:cNvSpPr/>
          <p:nvPr/>
        </p:nvSpPr>
        <p:spPr>
          <a:xfrm>
            <a:off x="577850" y="5717977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2350" y="5702102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SVM Accuracy Validation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2350" y="5892602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 sample classification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9600" y="6114852"/>
            <a:ext cx="5111750" cy="317500"/>
          </a:xfrm>
          <a:custGeom>
            <a:avLst/>
            <a:gdLst/>
            <a:ahLst/>
            <a:cxnLst/>
            <a:rect l="l" t="t" r="r" b="b"/>
            <a:pathLst>
              <a:path w="5111750" h="317500">
                <a:moveTo>
                  <a:pt x="31750" y="0"/>
                </a:moveTo>
                <a:lnTo>
                  <a:pt x="5080000" y="0"/>
                </a:lnTo>
                <a:cubicBezTo>
                  <a:pt x="5097523" y="0"/>
                  <a:pt x="5111750" y="14227"/>
                  <a:pt x="5111750" y="31750"/>
                </a:cubicBezTo>
                <a:lnTo>
                  <a:pt x="5111750" y="285750"/>
                </a:lnTo>
                <a:cubicBezTo>
                  <a:pt x="5111750" y="303273"/>
                  <a:pt x="5097523" y="317500"/>
                  <a:pt x="508000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0A59A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3100" y="6194227"/>
            <a:ext cx="50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61607" y="6178352"/>
            <a:ext cx="96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B0A5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85% + F1 Score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9425" y="6664125"/>
            <a:ext cx="5372100" cy="990600"/>
          </a:xfrm>
          <a:custGeom>
            <a:avLst/>
            <a:gdLst/>
            <a:ahLst/>
            <a:cxnLst/>
            <a:rect l="l" t="t" r="r" b="b"/>
            <a:pathLst>
              <a:path w="5372100" h="990600">
                <a:moveTo>
                  <a:pt x="31749" y="0"/>
                </a:moveTo>
                <a:lnTo>
                  <a:pt x="5340351" y="0"/>
                </a:lnTo>
                <a:cubicBezTo>
                  <a:pt x="5357886" y="0"/>
                  <a:pt x="5372100" y="14214"/>
                  <a:pt x="5372100" y="31749"/>
                </a:cubicBezTo>
                <a:lnTo>
                  <a:pt x="5372100" y="958851"/>
                </a:lnTo>
                <a:cubicBezTo>
                  <a:pt x="5372100" y="976386"/>
                  <a:pt x="5357886" y="990600"/>
                  <a:pt x="5340351" y="990600"/>
                </a:cubicBezTo>
                <a:lnTo>
                  <a:pt x="31749" y="990600"/>
                </a:lnTo>
                <a:cubicBezTo>
                  <a:pt x="14214" y="990600"/>
                  <a:pt x="0" y="976386"/>
                  <a:pt x="0" y="9588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9600" y="681018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7" name="Text 45"/>
          <p:cNvSpPr/>
          <p:nvPr/>
        </p:nvSpPr>
        <p:spPr>
          <a:xfrm>
            <a:off x="577850" y="6810181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2350" y="6794306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Dashboard Rendering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2350" y="6984806"/>
            <a:ext cx="1262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 visualization load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09600" y="7207056"/>
            <a:ext cx="5111750" cy="317500"/>
          </a:xfrm>
          <a:custGeom>
            <a:avLst/>
            <a:gdLst/>
            <a:ahLst/>
            <a:cxnLst/>
            <a:rect l="l" t="t" r="r" b="b"/>
            <a:pathLst>
              <a:path w="5111750" h="317500">
                <a:moveTo>
                  <a:pt x="31750" y="0"/>
                </a:moveTo>
                <a:lnTo>
                  <a:pt x="5080000" y="0"/>
                </a:lnTo>
                <a:cubicBezTo>
                  <a:pt x="5097523" y="0"/>
                  <a:pt x="5111750" y="14227"/>
                  <a:pt x="5111750" y="31750"/>
                </a:cubicBezTo>
                <a:lnTo>
                  <a:pt x="5111750" y="285750"/>
                </a:lnTo>
                <a:cubicBezTo>
                  <a:pt x="5111750" y="303273"/>
                  <a:pt x="5097523" y="317500"/>
                  <a:pt x="508000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73100" y="7286431"/>
            <a:ext cx="508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89810" y="7270556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charts &lt; 2s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5375" y="1174750"/>
            <a:ext cx="5699125" cy="2952750"/>
          </a:xfrm>
          <a:custGeom>
            <a:avLst/>
            <a:gdLst/>
            <a:ahLst/>
            <a:cxnLst/>
            <a:rect l="l" t="t" r="r" b="b"/>
            <a:pathLst>
              <a:path w="5699125" h="2952750">
                <a:moveTo>
                  <a:pt x="31742" y="0"/>
                </a:moveTo>
                <a:lnTo>
                  <a:pt x="5667383" y="0"/>
                </a:lnTo>
                <a:cubicBezTo>
                  <a:pt x="5684914" y="0"/>
                  <a:pt x="5699125" y="14211"/>
                  <a:pt x="5699125" y="31742"/>
                </a:cubicBezTo>
                <a:lnTo>
                  <a:pt x="5699125" y="2921008"/>
                </a:lnTo>
                <a:cubicBezTo>
                  <a:pt x="5699125" y="2938539"/>
                  <a:pt x="5684914" y="2952750"/>
                  <a:pt x="5667383" y="2952750"/>
                </a:cubicBezTo>
                <a:lnTo>
                  <a:pt x="31742" y="2952750"/>
                </a:lnTo>
                <a:cubicBezTo>
                  <a:pt x="14211" y="2952750"/>
                  <a:pt x="0" y="2938539"/>
                  <a:pt x="0" y="2921008"/>
                </a:cubicBezTo>
                <a:lnTo>
                  <a:pt x="0" y="31742"/>
                </a:lnTo>
                <a:cubicBezTo>
                  <a:pt x="0" y="14223"/>
                  <a:pt x="14223" y="0"/>
                  <a:pt x="31742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54" name="Text 52"/>
          <p:cNvSpPr/>
          <p:nvPr/>
        </p:nvSpPr>
        <p:spPr>
          <a:xfrm>
            <a:off x="6334125" y="1333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Project Schedule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4125" y="168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61522" y="1762125"/>
            <a:ext cx="20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42125" y="1698625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Approval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42125" y="1889125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gathering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34125" y="215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46838" y="2238375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42125" y="2174875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Acquisition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42125" y="2365375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 design &amp; analysis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34125" y="263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446441" y="2714625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P3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42125" y="2651125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42125" y="2841625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design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4125" y="311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442869" y="3190875"/>
            <a:ext cx="24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P4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842125" y="3127375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Implementation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842125" y="3317875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 training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34125" y="3587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47234" y="3667125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P5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42125" y="3603625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&amp; Deployment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842125" y="3794125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&amp; system tuning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75375" y="4254500"/>
            <a:ext cx="5699125" cy="3563938"/>
          </a:xfrm>
          <a:custGeom>
            <a:avLst/>
            <a:gdLst/>
            <a:ahLst/>
            <a:cxnLst/>
            <a:rect l="l" t="t" r="r" b="b"/>
            <a:pathLst>
              <a:path w="5699125" h="3563938">
                <a:moveTo>
                  <a:pt x="31755" y="0"/>
                </a:moveTo>
                <a:lnTo>
                  <a:pt x="5667370" y="0"/>
                </a:lnTo>
                <a:cubicBezTo>
                  <a:pt x="5684908" y="0"/>
                  <a:pt x="5699125" y="14217"/>
                  <a:pt x="5699125" y="31755"/>
                </a:cubicBezTo>
                <a:lnTo>
                  <a:pt x="5699125" y="3532183"/>
                </a:lnTo>
                <a:cubicBezTo>
                  <a:pt x="5699125" y="3549720"/>
                  <a:pt x="5684908" y="3563938"/>
                  <a:pt x="5667370" y="3563938"/>
                </a:cubicBezTo>
                <a:lnTo>
                  <a:pt x="31755" y="3563938"/>
                </a:lnTo>
                <a:cubicBezTo>
                  <a:pt x="14217" y="3563938"/>
                  <a:pt x="0" y="3549720"/>
                  <a:pt x="0" y="3532183"/>
                </a:cubicBezTo>
                <a:lnTo>
                  <a:pt x="0" y="31755"/>
                </a:lnTo>
                <a:cubicBezTo>
                  <a:pt x="0" y="14217"/>
                  <a:pt x="14217" y="0"/>
                  <a:pt x="3175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76" name="Text 74"/>
          <p:cNvSpPr/>
          <p:nvPr/>
        </p:nvSpPr>
        <p:spPr>
          <a:xfrm>
            <a:off x="6334125" y="4413250"/>
            <a:ext cx="545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37300" y="4765675"/>
            <a:ext cx="5372100" cy="355600"/>
          </a:xfrm>
          <a:custGeom>
            <a:avLst/>
            <a:gdLst/>
            <a:ahLst/>
            <a:cxnLst/>
            <a:rect l="l" t="t" r="r" b="b"/>
            <a:pathLst>
              <a:path w="5372100" h="355600">
                <a:moveTo>
                  <a:pt x="31752" y="0"/>
                </a:moveTo>
                <a:lnTo>
                  <a:pt x="5340348" y="0"/>
                </a:lnTo>
                <a:cubicBezTo>
                  <a:pt x="5357884" y="0"/>
                  <a:pt x="5372100" y="14216"/>
                  <a:pt x="5372100" y="31752"/>
                </a:cubicBezTo>
                <a:lnTo>
                  <a:pt x="5372100" y="323848"/>
                </a:lnTo>
                <a:cubicBezTo>
                  <a:pt x="5372100" y="341384"/>
                  <a:pt x="5357884" y="355600"/>
                  <a:pt x="5340348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51600" y="487997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79" name="Text 77"/>
          <p:cNvSpPr/>
          <p:nvPr/>
        </p:nvSpPr>
        <p:spPr>
          <a:xfrm>
            <a:off x="6689725" y="4864098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Project Proposal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37300" y="5191130"/>
            <a:ext cx="5372100" cy="355600"/>
          </a:xfrm>
          <a:custGeom>
            <a:avLst/>
            <a:gdLst/>
            <a:ahLst/>
            <a:cxnLst/>
            <a:rect l="l" t="t" r="r" b="b"/>
            <a:pathLst>
              <a:path w="5372100" h="355600">
                <a:moveTo>
                  <a:pt x="31752" y="0"/>
                </a:moveTo>
                <a:lnTo>
                  <a:pt x="5340348" y="0"/>
                </a:lnTo>
                <a:cubicBezTo>
                  <a:pt x="5357884" y="0"/>
                  <a:pt x="5372100" y="14216"/>
                  <a:pt x="5372100" y="31752"/>
                </a:cubicBezTo>
                <a:lnTo>
                  <a:pt x="5372100" y="323848"/>
                </a:lnTo>
                <a:cubicBezTo>
                  <a:pt x="5372100" y="341384"/>
                  <a:pt x="5357884" y="355600"/>
                  <a:pt x="5340348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51600" y="530542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82" name="Text 80"/>
          <p:cNvSpPr/>
          <p:nvPr/>
        </p:nvSpPr>
        <p:spPr>
          <a:xfrm>
            <a:off x="6689725" y="5289553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Processed Dataset + Features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37300" y="5616577"/>
            <a:ext cx="5372100" cy="355600"/>
          </a:xfrm>
          <a:custGeom>
            <a:avLst/>
            <a:gdLst/>
            <a:ahLst/>
            <a:cxnLst/>
            <a:rect l="l" t="t" r="r" b="b"/>
            <a:pathLst>
              <a:path w="5372100" h="355600">
                <a:moveTo>
                  <a:pt x="31752" y="0"/>
                </a:moveTo>
                <a:lnTo>
                  <a:pt x="5340348" y="0"/>
                </a:lnTo>
                <a:cubicBezTo>
                  <a:pt x="5357884" y="0"/>
                  <a:pt x="5372100" y="14216"/>
                  <a:pt x="5372100" y="31752"/>
                </a:cubicBezTo>
                <a:lnTo>
                  <a:pt x="5372100" y="323848"/>
                </a:lnTo>
                <a:cubicBezTo>
                  <a:pt x="5372100" y="341384"/>
                  <a:pt x="5357884" y="355600"/>
                  <a:pt x="5340348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A8F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51600" y="5730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85" name="Text 83"/>
          <p:cNvSpPr/>
          <p:nvPr/>
        </p:nvSpPr>
        <p:spPr>
          <a:xfrm>
            <a:off x="6689725" y="5715000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Documentation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37300" y="6042023"/>
            <a:ext cx="5372100" cy="355600"/>
          </a:xfrm>
          <a:custGeom>
            <a:avLst/>
            <a:gdLst/>
            <a:ahLst/>
            <a:cxnLst/>
            <a:rect l="l" t="t" r="r" b="b"/>
            <a:pathLst>
              <a:path w="5372100" h="355600">
                <a:moveTo>
                  <a:pt x="31752" y="0"/>
                </a:moveTo>
                <a:lnTo>
                  <a:pt x="5340348" y="0"/>
                </a:lnTo>
                <a:cubicBezTo>
                  <a:pt x="5357884" y="0"/>
                  <a:pt x="5372100" y="14216"/>
                  <a:pt x="5372100" y="31752"/>
                </a:cubicBezTo>
                <a:lnTo>
                  <a:pt x="5372100" y="323848"/>
                </a:lnTo>
                <a:cubicBezTo>
                  <a:pt x="5372100" y="341384"/>
                  <a:pt x="5357884" y="355600"/>
                  <a:pt x="5340348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C92AC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51600" y="615633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8" name="Text 86"/>
          <p:cNvSpPr/>
          <p:nvPr/>
        </p:nvSpPr>
        <p:spPr>
          <a:xfrm>
            <a:off x="6689725" y="6140455"/>
            <a:ext cx="96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ML Models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37300" y="6467478"/>
            <a:ext cx="5372100" cy="355600"/>
          </a:xfrm>
          <a:custGeom>
            <a:avLst/>
            <a:gdLst/>
            <a:ahLst/>
            <a:cxnLst/>
            <a:rect l="l" t="t" r="r" b="b"/>
            <a:pathLst>
              <a:path w="5372100" h="355600">
                <a:moveTo>
                  <a:pt x="31752" y="0"/>
                </a:moveTo>
                <a:lnTo>
                  <a:pt x="5340348" y="0"/>
                </a:lnTo>
                <a:cubicBezTo>
                  <a:pt x="5357884" y="0"/>
                  <a:pt x="5372100" y="14216"/>
                  <a:pt x="5372100" y="31752"/>
                </a:cubicBezTo>
                <a:lnTo>
                  <a:pt x="5372100" y="323848"/>
                </a:lnTo>
                <a:cubicBezTo>
                  <a:pt x="5372100" y="341384"/>
                  <a:pt x="5357884" y="355600"/>
                  <a:pt x="5340348" y="355600"/>
                </a:cubicBezTo>
                <a:lnTo>
                  <a:pt x="31752" y="355600"/>
                </a:lnTo>
                <a:cubicBezTo>
                  <a:pt x="14216" y="355600"/>
                  <a:pt x="0" y="341384"/>
                  <a:pt x="0" y="323848"/>
                </a:cubicBezTo>
                <a:lnTo>
                  <a:pt x="0" y="31752"/>
                </a:lnTo>
                <a:cubicBezTo>
                  <a:pt x="0" y="14227"/>
                  <a:pt x="14227" y="0"/>
                  <a:pt x="3175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B0A59A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51600" y="65817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B0A59A"/>
          </a:solidFill>
          <a:ln/>
        </p:spPr>
      </p:sp>
      <p:sp>
        <p:nvSpPr>
          <p:cNvPr id="91" name="Text 89"/>
          <p:cNvSpPr/>
          <p:nvPr/>
        </p:nvSpPr>
        <p:spPr>
          <a:xfrm>
            <a:off x="6689725" y="6565902"/>
            <a:ext cx="118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springernature.com/5b750e5d3f6c3af0d1127005d7395d9cd7c15b90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4153" r="4153" t="0" b="0"/>
          <a:stretch/>
        </p:blipFill>
        <p:spPr>
          <a:xfrm>
            <a:off x="0" y="0"/>
            <a:ext cx="12192000" cy="685850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04"/>
          </a:xfrm>
          <a:custGeom>
            <a:avLst/>
            <a:gdLst/>
            <a:ahLst/>
            <a:cxnLst/>
            <a:rect l="l" t="t" r="r" b="b"/>
            <a:pathLst>
              <a:path w="12192000" h="6858504">
                <a:moveTo>
                  <a:pt x="0" y="0"/>
                </a:moveTo>
                <a:lnTo>
                  <a:pt x="12192000" y="0"/>
                </a:lnTo>
                <a:lnTo>
                  <a:pt x="12192000" y="6858504"/>
                </a:lnTo>
                <a:lnTo>
                  <a:pt x="0" y="685850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C92AC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6B7A8F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79690" y="322753"/>
            <a:ext cx="1436251" cy="419579"/>
          </a:xfrm>
          <a:custGeom>
            <a:avLst/>
            <a:gdLst/>
            <a:ahLst/>
            <a:cxnLst/>
            <a:rect l="l" t="t" r="r" b="b"/>
            <a:pathLst>
              <a:path w="1436251" h="419579">
                <a:moveTo>
                  <a:pt x="32274" y="0"/>
                </a:moveTo>
                <a:lnTo>
                  <a:pt x="1403977" y="0"/>
                </a:lnTo>
                <a:cubicBezTo>
                  <a:pt x="1421802" y="0"/>
                  <a:pt x="1436251" y="14450"/>
                  <a:pt x="1436251" y="32274"/>
                </a:cubicBezTo>
                <a:lnTo>
                  <a:pt x="1436251" y="387305"/>
                </a:lnTo>
                <a:cubicBezTo>
                  <a:pt x="1436251" y="405130"/>
                  <a:pt x="1421802" y="419579"/>
                  <a:pt x="1403977" y="419579"/>
                </a:cubicBezTo>
                <a:lnTo>
                  <a:pt x="32274" y="419579"/>
                </a:lnTo>
                <a:cubicBezTo>
                  <a:pt x="14462" y="419579"/>
                  <a:pt x="0" y="405118"/>
                  <a:pt x="0" y="387305"/>
                </a:cubicBezTo>
                <a:lnTo>
                  <a:pt x="0" y="32274"/>
                </a:lnTo>
                <a:cubicBezTo>
                  <a:pt x="0" y="14462"/>
                  <a:pt x="14462" y="0"/>
                  <a:pt x="32274" y="0"/>
                </a:cubicBezTo>
                <a:close/>
              </a:path>
            </a:pathLst>
          </a:custGeom>
          <a:solidFill>
            <a:srgbClr val="8C92AC">
              <a:alpha val="14902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537032" y="451854"/>
            <a:ext cx="1118642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4" spc="114" kern="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51477" y="1258737"/>
            <a:ext cx="6293686" cy="484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50" b="1" dirty="0">
                <a:solidFill>
                  <a:srgbClr val="2C2C2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System Capabilities &amp; Future Directions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9998" y="2001069"/>
            <a:ext cx="1032810" cy="32275"/>
          </a:xfrm>
          <a:custGeom>
            <a:avLst/>
            <a:gdLst/>
            <a:ahLst/>
            <a:cxnLst/>
            <a:rect l="l" t="t" r="r" b="b"/>
            <a:pathLst>
              <a:path w="1032810" h="32275">
                <a:moveTo>
                  <a:pt x="0" y="0"/>
                </a:moveTo>
                <a:lnTo>
                  <a:pt x="1032810" y="0"/>
                </a:lnTo>
                <a:lnTo>
                  <a:pt x="1032810" y="32275"/>
                </a:lnTo>
                <a:lnTo>
                  <a:pt x="0" y="32275"/>
                </a:lnTo>
                <a:lnTo>
                  <a:pt x="0" y="0"/>
                </a:ln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8" name="Text 5"/>
          <p:cNvSpPr/>
          <p:nvPr/>
        </p:nvSpPr>
        <p:spPr>
          <a:xfrm>
            <a:off x="2441224" y="2356098"/>
            <a:ext cx="7310359" cy="790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7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successfully delivers a </a:t>
            </a:r>
            <a:pPr algn="ctr">
              <a:lnSpc>
                <a:spcPct val="140000"/>
              </a:lnSpc>
            </a:pPr>
            <a:r>
              <a:rPr lang="en-US" sz="1271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standalone, explainable AI platform</a:t>
            </a:r>
            <a:pPr algn="ctr">
              <a:lnSpc>
                <a:spcPct val="140000"/>
              </a:lnSpc>
            </a:pPr>
            <a:r>
              <a:rPr lang="en-US" sz="127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news corpus analysis with deterministic, reproducible results. By combining offline-first architecture with rigorous data mining methodologies, it transforms unstructured text into actionable intelligence.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60388" y="3659214"/>
            <a:ext cx="1670248" cy="968259"/>
          </a:xfrm>
          <a:custGeom>
            <a:avLst/>
            <a:gdLst/>
            <a:ahLst/>
            <a:cxnLst/>
            <a:rect l="l" t="t" r="r" b="b"/>
            <a:pathLst>
              <a:path w="1670248" h="968259">
                <a:moveTo>
                  <a:pt x="32272" y="0"/>
                </a:moveTo>
                <a:lnTo>
                  <a:pt x="1637975" y="0"/>
                </a:lnTo>
                <a:cubicBezTo>
                  <a:pt x="1655799" y="0"/>
                  <a:pt x="1670248" y="14449"/>
                  <a:pt x="1670248" y="32272"/>
                </a:cubicBezTo>
                <a:lnTo>
                  <a:pt x="1670248" y="935987"/>
                </a:lnTo>
                <a:cubicBezTo>
                  <a:pt x="1670248" y="953811"/>
                  <a:pt x="1655799" y="968259"/>
                  <a:pt x="1637975" y="968259"/>
                </a:cubicBezTo>
                <a:lnTo>
                  <a:pt x="32272" y="968259"/>
                </a:lnTo>
                <a:cubicBezTo>
                  <a:pt x="14449" y="968259"/>
                  <a:pt x="0" y="953811"/>
                  <a:pt x="0" y="935987"/>
                </a:cubicBezTo>
                <a:lnTo>
                  <a:pt x="0" y="32272"/>
                </a:lnTo>
                <a:cubicBezTo>
                  <a:pt x="0" y="14449"/>
                  <a:pt x="14449" y="0"/>
                  <a:pt x="32272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0" name="Text 7"/>
          <p:cNvSpPr/>
          <p:nvPr/>
        </p:nvSpPr>
        <p:spPr>
          <a:xfrm>
            <a:off x="2581420" y="3852866"/>
            <a:ext cx="142818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87" b="1" dirty="0">
                <a:solidFill>
                  <a:srgbClr val="8C92A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120K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21764" y="4240169"/>
            <a:ext cx="134749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Processing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26808" y="3659214"/>
            <a:ext cx="1670248" cy="968259"/>
          </a:xfrm>
          <a:custGeom>
            <a:avLst/>
            <a:gdLst/>
            <a:ahLst/>
            <a:cxnLst/>
            <a:rect l="l" t="t" r="r" b="b"/>
            <a:pathLst>
              <a:path w="1670248" h="968259">
                <a:moveTo>
                  <a:pt x="32272" y="0"/>
                </a:moveTo>
                <a:lnTo>
                  <a:pt x="1637975" y="0"/>
                </a:lnTo>
                <a:cubicBezTo>
                  <a:pt x="1655799" y="0"/>
                  <a:pt x="1670248" y="14449"/>
                  <a:pt x="1670248" y="32272"/>
                </a:cubicBezTo>
                <a:lnTo>
                  <a:pt x="1670248" y="935987"/>
                </a:lnTo>
                <a:cubicBezTo>
                  <a:pt x="1670248" y="953811"/>
                  <a:pt x="1655799" y="968259"/>
                  <a:pt x="1637975" y="968259"/>
                </a:cubicBezTo>
                <a:lnTo>
                  <a:pt x="32272" y="968259"/>
                </a:lnTo>
                <a:cubicBezTo>
                  <a:pt x="14449" y="968259"/>
                  <a:pt x="0" y="953811"/>
                  <a:pt x="0" y="935987"/>
                </a:cubicBezTo>
                <a:lnTo>
                  <a:pt x="0" y="32272"/>
                </a:lnTo>
                <a:cubicBezTo>
                  <a:pt x="0" y="14449"/>
                  <a:pt x="14449" y="0"/>
                  <a:pt x="32272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4447841" y="3852866"/>
            <a:ext cx="142818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87" b="1" dirty="0">
                <a:solidFill>
                  <a:srgbClr val="B0A59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&lt;5s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88185" y="4240169"/>
            <a:ext cx="134749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Incremental Indexing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93229" y="3659214"/>
            <a:ext cx="1670248" cy="968259"/>
          </a:xfrm>
          <a:custGeom>
            <a:avLst/>
            <a:gdLst/>
            <a:ahLst/>
            <a:cxnLst/>
            <a:rect l="l" t="t" r="r" b="b"/>
            <a:pathLst>
              <a:path w="1670248" h="968259">
                <a:moveTo>
                  <a:pt x="32272" y="0"/>
                </a:moveTo>
                <a:lnTo>
                  <a:pt x="1637975" y="0"/>
                </a:lnTo>
                <a:cubicBezTo>
                  <a:pt x="1655799" y="0"/>
                  <a:pt x="1670248" y="14449"/>
                  <a:pt x="1670248" y="32272"/>
                </a:cubicBezTo>
                <a:lnTo>
                  <a:pt x="1670248" y="935987"/>
                </a:lnTo>
                <a:cubicBezTo>
                  <a:pt x="1670248" y="953811"/>
                  <a:pt x="1655799" y="968259"/>
                  <a:pt x="1637975" y="968259"/>
                </a:cubicBezTo>
                <a:lnTo>
                  <a:pt x="32272" y="968259"/>
                </a:lnTo>
                <a:cubicBezTo>
                  <a:pt x="14449" y="968259"/>
                  <a:pt x="0" y="953811"/>
                  <a:pt x="0" y="935987"/>
                </a:cubicBezTo>
                <a:lnTo>
                  <a:pt x="0" y="32272"/>
                </a:lnTo>
                <a:cubicBezTo>
                  <a:pt x="0" y="14449"/>
                  <a:pt x="14449" y="0"/>
                  <a:pt x="32272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6" name="Text 13"/>
          <p:cNvSpPr/>
          <p:nvPr/>
        </p:nvSpPr>
        <p:spPr>
          <a:xfrm>
            <a:off x="6314262" y="3852866"/>
            <a:ext cx="142818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87" b="1" dirty="0">
                <a:solidFill>
                  <a:srgbClr val="6B7A8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99%+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4606" y="4240169"/>
            <a:ext cx="134749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59650" y="3659214"/>
            <a:ext cx="1670248" cy="968259"/>
          </a:xfrm>
          <a:custGeom>
            <a:avLst/>
            <a:gdLst/>
            <a:ahLst/>
            <a:cxnLst/>
            <a:rect l="l" t="t" r="r" b="b"/>
            <a:pathLst>
              <a:path w="1670248" h="968259">
                <a:moveTo>
                  <a:pt x="32272" y="0"/>
                </a:moveTo>
                <a:lnTo>
                  <a:pt x="1637975" y="0"/>
                </a:lnTo>
                <a:cubicBezTo>
                  <a:pt x="1655799" y="0"/>
                  <a:pt x="1670248" y="14449"/>
                  <a:pt x="1670248" y="32272"/>
                </a:cubicBezTo>
                <a:lnTo>
                  <a:pt x="1670248" y="935987"/>
                </a:lnTo>
                <a:cubicBezTo>
                  <a:pt x="1670248" y="953811"/>
                  <a:pt x="1655799" y="968259"/>
                  <a:pt x="1637975" y="968259"/>
                </a:cubicBezTo>
                <a:lnTo>
                  <a:pt x="32272" y="968259"/>
                </a:lnTo>
                <a:cubicBezTo>
                  <a:pt x="14449" y="968259"/>
                  <a:pt x="0" y="953811"/>
                  <a:pt x="0" y="935987"/>
                </a:cubicBezTo>
                <a:lnTo>
                  <a:pt x="0" y="32272"/>
                </a:lnTo>
                <a:cubicBezTo>
                  <a:pt x="0" y="14449"/>
                  <a:pt x="14449" y="0"/>
                  <a:pt x="32272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9" name="Text 16"/>
          <p:cNvSpPr/>
          <p:nvPr/>
        </p:nvSpPr>
        <p:spPr>
          <a:xfrm>
            <a:off x="8180683" y="3852866"/>
            <a:ext cx="142818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87" b="1" dirty="0">
                <a:solidFill>
                  <a:srgbClr val="8C92A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1027" y="4240169"/>
            <a:ext cx="134749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172563" y="4950226"/>
            <a:ext cx="5849901" cy="1387839"/>
          </a:xfrm>
          <a:custGeom>
            <a:avLst/>
            <a:gdLst/>
            <a:ahLst/>
            <a:cxnLst/>
            <a:rect l="l" t="t" r="r" b="b"/>
            <a:pathLst>
              <a:path w="5849901" h="1387839">
                <a:moveTo>
                  <a:pt x="32281" y="0"/>
                </a:moveTo>
                <a:lnTo>
                  <a:pt x="5817620" y="0"/>
                </a:lnTo>
                <a:cubicBezTo>
                  <a:pt x="5835448" y="0"/>
                  <a:pt x="5849901" y="14453"/>
                  <a:pt x="5849901" y="32281"/>
                </a:cubicBezTo>
                <a:lnTo>
                  <a:pt x="5849901" y="1355557"/>
                </a:lnTo>
                <a:cubicBezTo>
                  <a:pt x="5849901" y="1373386"/>
                  <a:pt x="5835448" y="1387839"/>
                  <a:pt x="5817620" y="1387839"/>
                </a:cubicBezTo>
                <a:lnTo>
                  <a:pt x="32281" y="1387839"/>
                </a:lnTo>
                <a:cubicBezTo>
                  <a:pt x="14453" y="1387839"/>
                  <a:pt x="0" y="1373386"/>
                  <a:pt x="0" y="1355557"/>
                </a:cubicBezTo>
                <a:lnTo>
                  <a:pt x="0" y="32281"/>
                </a:lnTo>
                <a:cubicBezTo>
                  <a:pt x="0" y="14465"/>
                  <a:pt x="14465" y="0"/>
                  <a:pt x="32281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22" name="Text 19"/>
          <p:cNvSpPr/>
          <p:nvPr/>
        </p:nvSpPr>
        <p:spPr>
          <a:xfrm>
            <a:off x="3382352" y="5143878"/>
            <a:ext cx="5430322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50937" y="5531080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37823" y="17651"/>
                </a:moveTo>
                <a:cubicBezTo>
                  <a:pt x="37823" y="7911"/>
                  <a:pt x="45734" y="0"/>
                  <a:pt x="55473" y="0"/>
                </a:cubicBezTo>
                <a:lnTo>
                  <a:pt x="63038" y="0"/>
                </a:lnTo>
                <a:cubicBezTo>
                  <a:pt x="68617" y="0"/>
                  <a:pt x="73124" y="4507"/>
                  <a:pt x="73124" y="10086"/>
                </a:cubicBezTo>
                <a:lnTo>
                  <a:pt x="73124" y="151291"/>
                </a:lnTo>
                <a:cubicBezTo>
                  <a:pt x="73124" y="156869"/>
                  <a:pt x="68617" y="161377"/>
                  <a:pt x="63038" y="161377"/>
                </a:cubicBezTo>
                <a:lnTo>
                  <a:pt x="52952" y="161377"/>
                </a:lnTo>
                <a:cubicBezTo>
                  <a:pt x="43559" y="161377"/>
                  <a:pt x="35648" y="154947"/>
                  <a:pt x="33410" y="146248"/>
                </a:cubicBezTo>
                <a:cubicBezTo>
                  <a:pt x="33189" y="146248"/>
                  <a:pt x="33000" y="146248"/>
                  <a:pt x="32780" y="146248"/>
                </a:cubicBezTo>
                <a:cubicBezTo>
                  <a:pt x="18848" y="146248"/>
                  <a:pt x="7565" y="134964"/>
                  <a:pt x="7565" y="121032"/>
                </a:cubicBezTo>
                <a:cubicBezTo>
                  <a:pt x="7565" y="115359"/>
                  <a:pt x="9456" y="110127"/>
                  <a:pt x="12608" y="105903"/>
                </a:cubicBezTo>
                <a:cubicBezTo>
                  <a:pt x="6493" y="101302"/>
                  <a:pt x="2522" y="93989"/>
                  <a:pt x="2522" y="85731"/>
                </a:cubicBezTo>
                <a:cubicBezTo>
                  <a:pt x="2522" y="75992"/>
                  <a:pt x="8069" y="67513"/>
                  <a:pt x="16138" y="63321"/>
                </a:cubicBezTo>
                <a:cubicBezTo>
                  <a:pt x="13900" y="59539"/>
                  <a:pt x="12608" y="55126"/>
                  <a:pt x="12608" y="50430"/>
                </a:cubicBezTo>
                <a:cubicBezTo>
                  <a:pt x="12608" y="36499"/>
                  <a:pt x="23891" y="25215"/>
                  <a:pt x="37823" y="25215"/>
                </a:cubicBezTo>
                <a:lnTo>
                  <a:pt x="37823" y="17651"/>
                </a:lnTo>
                <a:close/>
                <a:moveTo>
                  <a:pt x="123554" y="17651"/>
                </a:moveTo>
                <a:lnTo>
                  <a:pt x="123554" y="25215"/>
                </a:lnTo>
                <a:cubicBezTo>
                  <a:pt x="137485" y="25215"/>
                  <a:pt x="148769" y="36499"/>
                  <a:pt x="148769" y="50430"/>
                </a:cubicBezTo>
                <a:cubicBezTo>
                  <a:pt x="148769" y="55158"/>
                  <a:pt x="147477" y="59571"/>
                  <a:pt x="145239" y="63321"/>
                </a:cubicBezTo>
                <a:cubicBezTo>
                  <a:pt x="153339" y="67513"/>
                  <a:pt x="158855" y="75960"/>
                  <a:pt x="158855" y="85731"/>
                </a:cubicBezTo>
                <a:cubicBezTo>
                  <a:pt x="158855" y="93989"/>
                  <a:pt x="154884" y="101302"/>
                  <a:pt x="148769" y="105903"/>
                </a:cubicBezTo>
                <a:cubicBezTo>
                  <a:pt x="151921" y="110127"/>
                  <a:pt x="153812" y="115359"/>
                  <a:pt x="153812" y="121032"/>
                </a:cubicBezTo>
                <a:cubicBezTo>
                  <a:pt x="153812" y="134964"/>
                  <a:pt x="142528" y="146248"/>
                  <a:pt x="128597" y="146248"/>
                </a:cubicBezTo>
                <a:cubicBezTo>
                  <a:pt x="128376" y="146248"/>
                  <a:pt x="128187" y="146248"/>
                  <a:pt x="127967" y="146248"/>
                </a:cubicBezTo>
                <a:cubicBezTo>
                  <a:pt x="125729" y="154947"/>
                  <a:pt x="117818" y="161377"/>
                  <a:pt x="108425" y="161377"/>
                </a:cubicBezTo>
                <a:lnTo>
                  <a:pt x="98339" y="161377"/>
                </a:lnTo>
                <a:cubicBezTo>
                  <a:pt x="92760" y="161377"/>
                  <a:pt x="88253" y="156869"/>
                  <a:pt x="88253" y="151291"/>
                </a:cubicBezTo>
                <a:lnTo>
                  <a:pt x="88253" y="10086"/>
                </a:lnTo>
                <a:cubicBezTo>
                  <a:pt x="88253" y="4507"/>
                  <a:pt x="92760" y="0"/>
                  <a:pt x="98339" y="0"/>
                </a:cubicBezTo>
                <a:lnTo>
                  <a:pt x="105903" y="0"/>
                </a:lnTo>
                <a:cubicBezTo>
                  <a:pt x="115643" y="0"/>
                  <a:pt x="123554" y="7911"/>
                  <a:pt x="123554" y="1765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430765" y="5757007"/>
            <a:ext cx="171059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30765" y="5982934"/>
            <a:ext cx="170252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neural network integration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292546" y="5531080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110915" y="88253"/>
                </a:moveTo>
                <a:lnTo>
                  <a:pt x="50745" y="88253"/>
                </a:lnTo>
                <a:cubicBezTo>
                  <a:pt x="51659" y="108582"/>
                  <a:pt x="56167" y="127305"/>
                  <a:pt x="62565" y="141015"/>
                </a:cubicBezTo>
                <a:cubicBezTo>
                  <a:pt x="66158" y="148738"/>
                  <a:pt x="70035" y="154190"/>
                  <a:pt x="73628" y="157531"/>
                </a:cubicBezTo>
                <a:cubicBezTo>
                  <a:pt x="77158" y="160841"/>
                  <a:pt x="79585" y="161377"/>
                  <a:pt x="80846" y="161377"/>
                </a:cubicBezTo>
                <a:cubicBezTo>
                  <a:pt x="82107" y="161377"/>
                  <a:pt x="84534" y="160841"/>
                  <a:pt x="88064" y="157531"/>
                </a:cubicBezTo>
                <a:cubicBezTo>
                  <a:pt x="91657" y="154190"/>
                  <a:pt x="95534" y="148706"/>
                  <a:pt x="99127" y="141015"/>
                </a:cubicBezTo>
                <a:cubicBezTo>
                  <a:pt x="105525" y="127305"/>
                  <a:pt x="110032" y="108582"/>
                  <a:pt x="110946" y="88253"/>
                </a:cubicBezTo>
                <a:close/>
                <a:moveTo>
                  <a:pt x="50714" y="73124"/>
                </a:moveTo>
                <a:lnTo>
                  <a:pt x="110883" y="73124"/>
                </a:lnTo>
                <a:cubicBezTo>
                  <a:pt x="110001" y="52794"/>
                  <a:pt x="105494" y="34072"/>
                  <a:pt x="99095" y="20361"/>
                </a:cubicBezTo>
                <a:cubicBezTo>
                  <a:pt x="95502" y="12671"/>
                  <a:pt x="91625" y="7186"/>
                  <a:pt x="88032" y="3845"/>
                </a:cubicBezTo>
                <a:cubicBezTo>
                  <a:pt x="84502" y="536"/>
                  <a:pt x="82075" y="0"/>
                  <a:pt x="80814" y="0"/>
                </a:cubicBezTo>
                <a:cubicBezTo>
                  <a:pt x="79554" y="0"/>
                  <a:pt x="77127" y="536"/>
                  <a:pt x="73597" y="3845"/>
                </a:cubicBezTo>
                <a:cubicBezTo>
                  <a:pt x="70003" y="7186"/>
                  <a:pt x="66127" y="12671"/>
                  <a:pt x="62533" y="20361"/>
                </a:cubicBezTo>
                <a:cubicBezTo>
                  <a:pt x="56135" y="34072"/>
                  <a:pt x="51628" y="52794"/>
                  <a:pt x="50714" y="73124"/>
                </a:cubicBezTo>
                <a:close/>
                <a:moveTo>
                  <a:pt x="35585" y="73124"/>
                </a:moveTo>
                <a:cubicBezTo>
                  <a:pt x="36688" y="46144"/>
                  <a:pt x="43654" y="21086"/>
                  <a:pt x="53834" y="4633"/>
                </a:cubicBezTo>
                <a:cubicBezTo>
                  <a:pt x="24805" y="14908"/>
                  <a:pt x="3436" y="41353"/>
                  <a:pt x="473" y="73124"/>
                </a:cubicBezTo>
                <a:lnTo>
                  <a:pt x="35585" y="73124"/>
                </a:lnTo>
                <a:close/>
                <a:moveTo>
                  <a:pt x="473" y="88253"/>
                </a:moveTo>
                <a:cubicBezTo>
                  <a:pt x="3436" y="120024"/>
                  <a:pt x="24805" y="146468"/>
                  <a:pt x="53834" y="156743"/>
                </a:cubicBezTo>
                <a:cubicBezTo>
                  <a:pt x="43654" y="140290"/>
                  <a:pt x="36688" y="115233"/>
                  <a:pt x="35585" y="88253"/>
                </a:cubicBezTo>
                <a:lnTo>
                  <a:pt x="473" y="88253"/>
                </a:lnTo>
                <a:close/>
                <a:moveTo>
                  <a:pt x="126044" y="88253"/>
                </a:moveTo>
                <a:cubicBezTo>
                  <a:pt x="124941" y="115233"/>
                  <a:pt x="117975" y="140290"/>
                  <a:pt x="107795" y="156743"/>
                </a:cubicBezTo>
                <a:cubicBezTo>
                  <a:pt x="136823" y="146437"/>
                  <a:pt x="158193" y="120024"/>
                  <a:pt x="161156" y="88253"/>
                </a:cubicBezTo>
                <a:lnTo>
                  <a:pt x="126044" y="88253"/>
                </a:lnTo>
                <a:close/>
                <a:moveTo>
                  <a:pt x="161156" y="73124"/>
                </a:moveTo>
                <a:cubicBezTo>
                  <a:pt x="158193" y="41353"/>
                  <a:pt x="136823" y="14908"/>
                  <a:pt x="107795" y="4633"/>
                </a:cubicBezTo>
                <a:cubicBezTo>
                  <a:pt x="117975" y="21086"/>
                  <a:pt x="124941" y="46144"/>
                  <a:pt x="126044" y="73124"/>
                </a:cubicBezTo>
                <a:lnTo>
                  <a:pt x="161156" y="7312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272374" y="5757007"/>
            <a:ext cx="171059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72374" y="5982934"/>
            <a:ext cx="170252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Cross-lingual corpus support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34156" y="5531080"/>
            <a:ext cx="161377" cy="161377"/>
          </a:xfrm>
          <a:custGeom>
            <a:avLst/>
            <a:gdLst/>
            <a:ahLst/>
            <a:cxnLst/>
            <a:rect l="l" t="t" r="r" b="b"/>
            <a:pathLst>
              <a:path w="161377" h="161377">
                <a:moveTo>
                  <a:pt x="0" y="30258"/>
                </a:moveTo>
                <a:cubicBezTo>
                  <a:pt x="0" y="24679"/>
                  <a:pt x="4507" y="20172"/>
                  <a:pt x="10086" y="20172"/>
                </a:cubicBezTo>
                <a:lnTo>
                  <a:pt x="131118" y="20172"/>
                </a:lnTo>
                <a:cubicBezTo>
                  <a:pt x="136697" y="20172"/>
                  <a:pt x="141205" y="24679"/>
                  <a:pt x="141205" y="30258"/>
                </a:cubicBezTo>
                <a:cubicBezTo>
                  <a:pt x="141205" y="35837"/>
                  <a:pt x="136697" y="40344"/>
                  <a:pt x="131118" y="40344"/>
                </a:cubicBezTo>
                <a:lnTo>
                  <a:pt x="10086" y="40344"/>
                </a:lnTo>
                <a:cubicBezTo>
                  <a:pt x="4507" y="40344"/>
                  <a:pt x="0" y="35837"/>
                  <a:pt x="0" y="30258"/>
                </a:cubicBezTo>
                <a:close/>
                <a:moveTo>
                  <a:pt x="20172" y="80688"/>
                </a:moveTo>
                <a:cubicBezTo>
                  <a:pt x="20172" y="75109"/>
                  <a:pt x="24679" y="70602"/>
                  <a:pt x="30258" y="70602"/>
                </a:cubicBezTo>
                <a:lnTo>
                  <a:pt x="151291" y="70602"/>
                </a:lnTo>
                <a:cubicBezTo>
                  <a:pt x="156869" y="70602"/>
                  <a:pt x="161377" y="75109"/>
                  <a:pt x="161377" y="80688"/>
                </a:cubicBezTo>
                <a:cubicBezTo>
                  <a:pt x="161377" y="86267"/>
                  <a:pt x="156869" y="90774"/>
                  <a:pt x="151291" y="90774"/>
                </a:cubicBezTo>
                <a:lnTo>
                  <a:pt x="30258" y="90774"/>
                </a:lnTo>
                <a:cubicBezTo>
                  <a:pt x="24679" y="90774"/>
                  <a:pt x="20172" y="86267"/>
                  <a:pt x="20172" y="80688"/>
                </a:cubicBezTo>
                <a:close/>
                <a:moveTo>
                  <a:pt x="141205" y="131118"/>
                </a:moveTo>
                <a:cubicBezTo>
                  <a:pt x="141205" y="136697"/>
                  <a:pt x="136697" y="141205"/>
                  <a:pt x="131118" y="141205"/>
                </a:cubicBezTo>
                <a:lnTo>
                  <a:pt x="10086" y="141205"/>
                </a:lnTo>
                <a:cubicBezTo>
                  <a:pt x="4507" y="141205"/>
                  <a:pt x="0" y="136697"/>
                  <a:pt x="0" y="131118"/>
                </a:cubicBezTo>
                <a:cubicBezTo>
                  <a:pt x="0" y="125540"/>
                  <a:pt x="4507" y="121032"/>
                  <a:pt x="10086" y="121032"/>
                </a:cubicBezTo>
                <a:lnTo>
                  <a:pt x="131118" y="121032"/>
                </a:lnTo>
                <a:cubicBezTo>
                  <a:pt x="136697" y="121032"/>
                  <a:pt x="141205" y="125540"/>
                  <a:pt x="141205" y="13111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113984" y="5757007"/>
            <a:ext cx="1710592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Analytics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13984" y="5982934"/>
            <a:ext cx="1702523" cy="161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news processing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2753" y="6341190"/>
            <a:ext cx="11546494" cy="6455"/>
          </a:xfrm>
          <a:custGeom>
            <a:avLst/>
            <a:gdLst/>
            <a:ahLst/>
            <a:cxnLst/>
            <a:rect l="l" t="t" r="r" b="b"/>
            <a:pathLst>
              <a:path w="11546494" h="6455">
                <a:moveTo>
                  <a:pt x="0" y="0"/>
                </a:moveTo>
                <a:lnTo>
                  <a:pt x="11546494" y="0"/>
                </a:lnTo>
                <a:lnTo>
                  <a:pt x="11546494" y="6455"/>
                </a:lnTo>
                <a:lnTo>
                  <a:pt x="0" y="6455"/>
                </a:lnTo>
                <a:lnTo>
                  <a:pt x="0" y="0"/>
                </a:lnTo>
                <a:close/>
              </a:path>
            </a:pathLst>
          </a:custGeom>
          <a:solidFill>
            <a:srgbClr val="8C92AC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485663" y="6538076"/>
            <a:ext cx="322753" cy="322753"/>
          </a:xfrm>
          <a:custGeom>
            <a:avLst/>
            <a:gdLst/>
            <a:ahLst/>
            <a:cxnLst/>
            <a:rect l="l" t="t" r="r" b="b"/>
            <a:pathLst>
              <a:path w="322753" h="322753">
                <a:moveTo>
                  <a:pt x="161377" y="0"/>
                </a:moveTo>
                <a:lnTo>
                  <a:pt x="161377" y="0"/>
                </a:lnTo>
                <a:cubicBezTo>
                  <a:pt x="250443" y="0"/>
                  <a:pt x="322753" y="72310"/>
                  <a:pt x="322753" y="161377"/>
                </a:cubicBezTo>
                <a:lnTo>
                  <a:pt x="322753" y="161377"/>
                </a:lnTo>
                <a:cubicBezTo>
                  <a:pt x="322753" y="250443"/>
                  <a:pt x="250443" y="322753"/>
                  <a:pt x="161377" y="322753"/>
                </a:cubicBezTo>
                <a:lnTo>
                  <a:pt x="161377" y="322753"/>
                </a:lnTo>
                <a:cubicBezTo>
                  <a:pt x="72310" y="322753"/>
                  <a:pt x="0" y="250443"/>
                  <a:pt x="0" y="161377"/>
                </a:cubicBezTo>
                <a:lnTo>
                  <a:pt x="0" y="161377"/>
                </a:lnTo>
                <a:cubicBezTo>
                  <a:pt x="0" y="72310"/>
                  <a:pt x="72310" y="0"/>
                  <a:pt x="161377" y="0"/>
                </a:cubicBezTo>
                <a:close/>
              </a:path>
            </a:pathLst>
          </a:custGeom>
          <a:solidFill>
            <a:srgbClr val="8C92AC"/>
          </a:solidFill>
          <a:ln/>
        </p:spPr>
      </p:sp>
      <p:sp>
        <p:nvSpPr>
          <p:cNvPr id="34" name="Shape 31"/>
          <p:cNvSpPr/>
          <p:nvPr/>
        </p:nvSpPr>
        <p:spPr>
          <a:xfrm>
            <a:off x="4590558" y="6634902"/>
            <a:ext cx="112964" cy="129101"/>
          </a:xfrm>
          <a:custGeom>
            <a:avLst/>
            <a:gdLst/>
            <a:ahLst/>
            <a:cxnLst/>
            <a:rect l="l" t="t" r="r" b="b"/>
            <a:pathLst>
              <a:path w="112964" h="129101">
                <a:moveTo>
                  <a:pt x="112964" y="51893"/>
                </a:moveTo>
                <a:cubicBezTo>
                  <a:pt x="109232" y="54364"/>
                  <a:pt x="104945" y="56356"/>
                  <a:pt x="100482" y="57944"/>
                </a:cubicBezTo>
                <a:cubicBezTo>
                  <a:pt x="88631" y="62180"/>
                  <a:pt x="73073" y="64551"/>
                  <a:pt x="56482" y="64551"/>
                </a:cubicBezTo>
                <a:cubicBezTo>
                  <a:pt x="39890" y="64551"/>
                  <a:pt x="24307" y="62155"/>
                  <a:pt x="12481" y="57944"/>
                </a:cubicBezTo>
                <a:cubicBezTo>
                  <a:pt x="8044" y="56356"/>
                  <a:pt x="3732" y="54364"/>
                  <a:pt x="0" y="51893"/>
                </a:cubicBezTo>
                <a:lnTo>
                  <a:pt x="0" y="72619"/>
                </a:lnTo>
                <a:cubicBezTo>
                  <a:pt x="0" y="83765"/>
                  <a:pt x="25291" y="92792"/>
                  <a:pt x="56482" y="92792"/>
                </a:cubicBezTo>
                <a:cubicBezTo>
                  <a:pt x="87673" y="92792"/>
                  <a:pt x="112964" y="83765"/>
                  <a:pt x="112964" y="72619"/>
                </a:cubicBezTo>
                <a:lnTo>
                  <a:pt x="112964" y="51893"/>
                </a:lnTo>
                <a:close/>
                <a:moveTo>
                  <a:pt x="112964" y="32275"/>
                </a:moveTo>
                <a:lnTo>
                  <a:pt x="112964" y="20172"/>
                </a:lnTo>
                <a:cubicBezTo>
                  <a:pt x="112964" y="9027"/>
                  <a:pt x="87673" y="0"/>
                  <a:pt x="56482" y="0"/>
                </a:cubicBezTo>
                <a:cubicBezTo>
                  <a:pt x="25291" y="0"/>
                  <a:pt x="0" y="9027"/>
                  <a:pt x="0" y="20172"/>
                </a:cubicBezTo>
                <a:lnTo>
                  <a:pt x="0" y="32275"/>
                </a:lnTo>
                <a:cubicBezTo>
                  <a:pt x="0" y="43420"/>
                  <a:pt x="25291" y="52447"/>
                  <a:pt x="56482" y="52447"/>
                </a:cubicBezTo>
                <a:cubicBezTo>
                  <a:pt x="87673" y="52447"/>
                  <a:pt x="112964" y="43420"/>
                  <a:pt x="112964" y="32275"/>
                </a:cubicBezTo>
                <a:close/>
                <a:moveTo>
                  <a:pt x="100482" y="98288"/>
                </a:moveTo>
                <a:cubicBezTo>
                  <a:pt x="88656" y="102499"/>
                  <a:pt x="73099" y="104895"/>
                  <a:pt x="56482" y="104895"/>
                </a:cubicBezTo>
                <a:cubicBezTo>
                  <a:pt x="39865" y="104895"/>
                  <a:pt x="24307" y="102499"/>
                  <a:pt x="12481" y="98288"/>
                </a:cubicBezTo>
                <a:cubicBezTo>
                  <a:pt x="8044" y="96700"/>
                  <a:pt x="3732" y="94708"/>
                  <a:pt x="0" y="92237"/>
                </a:cubicBezTo>
                <a:lnTo>
                  <a:pt x="0" y="108929"/>
                </a:lnTo>
                <a:cubicBezTo>
                  <a:pt x="0" y="120074"/>
                  <a:pt x="25291" y="129101"/>
                  <a:pt x="56482" y="129101"/>
                </a:cubicBezTo>
                <a:cubicBezTo>
                  <a:pt x="87673" y="129101"/>
                  <a:pt x="112964" y="120074"/>
                  <a:pt x="112964" y="108929"/>
                </a:cubicBezTo>
                <a:lnTo>
                  <a:pt x="112964" y="92237"/>
                </a:lnTo>
                <a:cubicBezTo>
                  <a:pt x="109232" y="94708"/>
                  <a:pt x="104945" y="96700"/>
                  <a:pt x="100482" y="982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4905243" y="6602626"/>
            <a:ext cx="286443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of Data Mining — System Design Review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Mining and Pattern Discovery System</dc:title>
  <dc:subject>Automated Data Mining and Pattern Discovery System</dc:subject>
  <dc:creator>Kimi</dc:creator>
  <cp:lastModifiedBy>Kimi</cp:lastModifiedBy>
  <cp:revision>1</cp:revision>
  <dcterms:created xsi:type="dcterms:W3CDTF">2026-04-01T05:53:29Z</dcterms:created>
  <dcterms:modified xsi:type="dcterms:W3CDTF">2026-04-01T05:53:29Z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{"Label":"Automated Data Mining and Pattern Discovery System","ContentProducer":"001191110108MACG2KBH8F10000","ProduceID":"19d4793c-f722-8c47-8000-0000486708f3","ReservedCode1":"","ContentPropagator":"001191110108MACG2KBH8F20000","PropagateID":"19d4793c-f722-8c47-8000-0000486708f3","ReservedCode2":""}</vt:lpwstr>
  </property>
</Properties>
</file>