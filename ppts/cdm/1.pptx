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547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6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909" b="15909"/>
          <a:stretch/>
        </p:blipFill>
        <p:spPr>
          <a:xfrm>
            <a:off x="5486400" y="0"/>
            <a:ext cx="67056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1000" y="6858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100965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36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1 Submission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1910358"/>
            <a:ext cx="79438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Data Mining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Pattern Discovery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352479"/>
            <a:ext cx="63150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9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Trend Analysis and Sentiment Mining for Unstructured News Corpora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5600700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Authors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590550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P. Krishna Surya &amp; V. Omkareshwara Reddy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08209" y="594360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2026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8801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retrieval mechanisms fail to contextualise digital news overload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5288" y="3181350"/>
            <a:ext cx="28575" cy="1057275"/>
          </a:xfrm>
          <a:custGeom>
            <a:avLst/>
            <a:gdLst/>
            <a:ahLst/>
            <a:cxnLst/>
            <a:rect l="l" t="t" r="r" b="b"/>
            <a:pathLst>
              <a:path w="28575" h="1057275">
                <a:moveTo>
                  <a:pt x="0" y="0"/>
                </a:moveTo>
                <a:lnTo>
                  <a:pt x="28575" y="0"/>
                </a:lnTo>
                <a:lnTo>
                  <a:pt x="28575" y="1057275"/>
                </a:lnTo>
                <a:lnTo>
                  <a:pt x="0" y="10572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Shape 4"/>
          <p:cNvSpPr/>
          <p:nvPr/>
        </p:nvSpPr>
        <p:spPr>
          <a:xfrm>
            <a:off x="638175" y="3181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Shape 5"/>
          <p:cNvSpPr/>
          <p:nvPr/>
        </p:nvSpPr>
        <p:spPr>
          <a:xfrm>
            <a:off x="734616" y="32861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3729" y="-8338"/>
                </a:moveTo>
                <a:cubicBezTo>
                  <a:pt x="10582" y="-11486"/>
                  <a:pt x="5492" y="-11486"/>
                  <a:pt x="2378" y="-8338"/>
                </a:cubicBezTo>
                <a:cubicBezTo>
                  <a:pt x="-737" y="-5190"/>
                  <a:pt x="-770" y="-100"/>
                  <a:pt x="2344" y="3047"/>
                </a:cubicBezTo>
                <a:lnTo>
                  <a:pt x="179152" y="179855"/>
                </a:lnTo>
                <a:cubicBezTo>
                  <a:pt x="182300" y="183003"/>
                  <a:pt x="187389" y="183003"/>
                  <a:pt x="190504" y="179855"/>
                </a:cubicBezTo>
                <a:cubicBezTo>
                  <a:pt x="193618" y="176707"/>
                  <a:pt x="193651" y="171617"/>
                  <a:pt x="190504" y="168503"/>
                </a:cubicBezTo>
                <a:lnTo>
                  <a:pt x="149650" y="127650"/>
                </a:lnTo>
                <a:cubicBezTo>
                  <a:pt x="151057" y="126511"/>
                  <a:pt x="152430" y="125272"/>
                  <a:pt x="153702" y="124000"/>
                </a:cubicBezTo>
                <a:lnTo>
                  <a:pt x="177511" y="100191"/>
                </a:lnTo>
                <a:cubicBezTo>
                  <a:pt x="187323" y="90380"/>
                  <a:pt x="192848" y="77052"/>
                  <a:pt x="192848" y="63155"/>
                </a:cubicBezTo>
                <a:cubicBezTo>
                  <a:pt x="192848" y="34223"/>
                  <a:pt x="169407" y="10749"/>
                  <a:pt x="140442" y="10749"/>
                </a:cubicBezTo>
                <a:cubicBezTo>
                  <a:pt x="127951" y="10749"/>
                  <a:pt x="115963" y="15203"/>
                  <a:pt x="106520" y="23206"/>
                </a:cubicBezTo>
                <a:cubicBezTo>
                  <a:pt x="113318" y="26588"/>
                  <a:pt x="119479" y="31075"/>
                  <a:pt x="124770" y="36433"/>
                </a:cubicBezTo>
                <a:cubicBezTo>
                  <a:pt x="129492" y="33654"/>
                  <a:pt x="134883" y="32180"/>
                  <a:pt x="140442" y="32180"/>
                </a:cubicBezTo>
                <a:cubicBezTo>
                  <a:pt x="157553" y="32180"/>
                  <a:pt x="171417" y="46044"/>
                  <a:pt x="171417" y="63155"/>
                </a:cubicBezTo>
                <a:cubicBezTo>
                  <a:pt x="171417" y="71359"/>
                  <a:pt x="168168" y="79229"/>
                  <a:pt x="162342" y="85055"/>
                </a:cubicBezTo>
                <a:lnTo>
                  <a:pt x="138533" y="108864"/>
                </a:lnTo>
                <a:cubicBezTo>
                  <a:pt x="137227" y="110170"/>
                  <a:pt x="135821" y="111342"/>
                  <a:pt x="134314" y="112380"/>
                </a:cubicBezTo>
                <a:lnTo>
                  <a:pt x="118408" y="96474"/>
                </a:lnTo>
                <a:cubicBezTo>
                  <a:pt x="123933" y="96173"/>
                  <a:pt x="128353" y="91652"/>
                  <a:pt x="128521" y="86060"/>
                </a:cubicBezTo>
                <a:cubicBezTo>
                  <a:pt x="128521" y="85625"/>
                  <a:pt x="128521" y="85189"/>
                  <a:pt x="128521" y="84754"/>
                </a:cubicBezTo>
                <a:cubicBezTo>
                  <a:pt x="128521" y="55855"/>
                  <a:pt x="105114" y="32214"/>
                  <a:pt x="76114" y="32214"/>
                </a:cubicBezTo>
                <a:cubicBezTo>
                  <a:pt x="69685" y="32214"/>
                  <a:pt x="63423" y="33386"/>
                  <a:pt x="57530" y="35629"/>
                </a:cubicBezTo>
                <a:lnTo>
                  <a:pt x="13729" y="-8338"/>
                </a:lnTo>
                <a:close/>
                <a:moveTo>
                  <a:pt x="75646" y="53578"/>
                </a:moveTo>
                <a:cubicBezTo>
                  <a:pt x="75847" y="53578"/>
                  <a:pt x="76014" y="53578"/>
                  <a:pt x="76215" y="53578"/>
                </a:cubicBezTo>
                <a:cubicBezTo>
                  <a:pt x="81271" y="53578"/>
                  <a:pt x="86093" y="54817"/>
                  <a:pt x="90313" y="56994"/>
                </a:cubicBezTo>
                <a:cubicBezTo>
                  <a:pt x="90915" y="57396"/>
                  <a:pt x="91518" y="57764"/>
                  <a:pt x="92154" y="58032"/>
                </a:cubicBezTo>
                <a:cubicBezTo>
                  <a:pt x="101129" y="63490"/>
                  <a:pt x="107156" y="73402"/>
                  <a:pt x="107156" y="84687"/>
                </a:cubicBezTo>
                <a:cubicBezTo>
                  <a:pt x="107156" y="84821"/>
                  <a:pt x="107156" y="84955"/>
                  <a:pt x="107156" y="85089"/>
                </a:cubicBezTo>
                <a:lnTo>
                  <a:pt x="75646" y="53578"/>
                </a:lnTo>
                <a:close/>
                <a:moveTo>
                  <a:pt x="115930" y="139303"/>
                </a:moveTo>
                <a:lnTo>
                  <a:pt x="64294" y="87667"/>
                </a:lnTo>
                <a:cubicBezTo>
                  <a:pt x="64696" y="115997"/>
                  <a:pt x="87600" y="138868"/>
                  <a:pt x="115896" y="139270"/>
                </a:cubicBezTo>
                <a:close/>
                <a:moveTo>
                  <a:pt x="46780" y="70154"/>
                </a:moveTo>
                <a:lnTo>
                  <a:pt x="31611" y="54985"/>
                </a:lnTo>
                <a:lnTo>
                  <a:pt x="15337" y="71259"/>
                </a:lnTo>
                <a:cubicBezTo>
                  <a:pt x="5525" y="81070"/>
                  <a:pt x="0" y="94398"/>
                  <a:pt x="0" y="108295"/>
                </a:cubicBezTo>
                <a:cubicBezTo>
                  <a:pt x="0" y="137227"/>
                  <a:pt x="23440" y="160701"/>
                  <a:pt x="52406" y="160701"/>
                </a:cubicBezTo>
                <a:cubicBezTo>
                  <a:pt x="64863" y="160701"/>
                  <a:pt x="76885" y="156247"/>
                  <a:pt x="86328" y="148244"/>
                </a:cubicBezTo>
                <a:cubicBezTo>
                  <a:pt x="79530" y="144862"/>
                  <a:pt x="73335" y="140375"/>
                  <a:pt x="68044" y="135017"/>
                </a:cubicBezTo>
                <a:cubicBezTo>
                  <a:pt x="63356" y="137763"/>
                  <a:pt x="57965" y="139236"/>
                  <a:pt x="52406" y="139236"/>
                </a:cubicBezTo>
                <a:cubicBezTo>
                  <a:pt x="35295" y="139236"/>
                  <a:pt x="21431" y="125373"/>
                  <a:pt x="21431" y="108261"/>
                </a:cubicBezTo>
                <a:cubicBezTo>
                  <a:pt x="21431" y="100057"/>
                  <a:pt x="24679" y="92188"/>
                  <a:pt x="30506" y="86361"/>
                </a:cubicBezTo>
                <a:lnTo>
                  <a:pt x="46780" y="70087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8" name="Text 6"/>
          <p:cNvSpPr/>
          <p:nvPr/>
        </p:nvSpPr>
        <p:spPr>
          <a:xfrm>
            <a:off x="1133475" y="3219450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8175" y="3676650"/>
            <a:ext cx="53149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systems retrieve isolated keywords but entirely miss underlying patterns, temporal dynamics, and sentiment.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5288" y="4538663"/>
            <a:ext cx="28575" cy="1057275"/>
          </a:xfrm>
          <a:custGeom>
            <a:avLst/>
            <a:gdLst/>
            <a:ahLst/>
            <a:cxnLst/>
            <a:rect l="l" t="t" r="r" b="b"/>
            <a:pathLst>
              <a:path w="28575" h="1057275">
                <a:moveTo>
                  <a:pt x="0" y="0"/>
                </a:moveTo>
                <a:lnTo>
                  <a:pt x="28575" y="0"/>
                </a:lnTo>
                <a:lnTo>
                  <a:pt x="28575" y="1057275"/>
                </a:lnTo>
                <a:lnTo>
                  <a:pt x="0" y="105727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1" name="Shape 9"/>
          <p:cNvSpPr/>
          <p:nvPr/>
        </p:nvSpPr>
        <p:spPr>
          <a:xfrm>
            <a:off x="638175" y="45386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4616" y="464343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3729" y="-8338"/>
                </a:moveTo>
                <a:cubicBezTo>
                  <a:pt x="10582" y="-11486"/>
                  <a:pt x="5492" y="-11486"/>
                  <a:pt x="2378" y="-8338"/>
                </a:cubicBezTo>
                <a:cubicBezTo>
                  <a:pt x="-737" y="-5190"/>
                  <a:pt x="-770" y="-100"/>
                  <a:pt x="2344" y="3047"/>
                </a:cubicBezTo>
                <a:lnTo>
                  <a:pt x="179152" y="179855"/>
                </a:lnTo>
                <a:cubicBezTo>
                  <a:pt x="182300" y="183003"/>
                  <a:pt x="187389" y="183003"/>
                  <a:pt x="190504" y="179855"/>
                </a:cubicBezTo>
                <a:cubicBezTo>
                  <a:pt x="193618" y="176707"/>
                  <a:pt x="193651" y="171617"/>
                  <a:pt x="190504" y="168503"/>
                </a:cubicBezTo>
                <a:lnTo>
                  <a:pt x="158223" y="136222"/>
                </a:lnTo>
                <a:cubicBezTo>
                  <a:pt x="159127" y="135419"/>
                  <a:pt x="160031" y="134615"/>
                  <a:pt x="160902" y="133811"/>
                </a:cubicBezTo>
                <a:cubicBezTo>
                  <a:pt x="176573" y="119245"/>
                  <a:pt x="187055" y="101865"/>
                  <a:pt x="192044" y="89911"/>
                </a:cubicBezTo>
                <a:cubicBezTo>
                  <a:pt x="193149" y="87265"/>
                  <a:pt x="193149" y="84319"/>
                  <a:pt x="192044" y="81673"/>
                </a:cubicBezTo>
                <a:cubicBezTo>
                  <a:pt x="187055" y="69719"/>
                  <a:pt x="176573" y="52306"/>
                  <a:pt x="160902" y="37773"/>
                </a:cubicBezTo>
                <a:cubicBezTo>
                  <a:pt x="145130" y="23139"/>
                  <a:pt x="123464" y="10783"/>
                  <a:pt x="96407" y="10783"/>
                </a:cubicBezTo>
                <a:cubicBezTo>
                  <a:pt x="77387" y="10783"/>
                  <a:pt x="61046" y="16877"/>
                  <a:pt x="47517" y="25584"/>
                </a:cubicBezTo>
                <a:lnTo>
                  <a:pt x="13729" y="-8338"/>
                </a:lnTo>
                <a:close/>
                <a:moveTo>
                  <a:pt x="68480" y="46446"/>
                </a:moveTo>
                <a:cubicBezTo>
                  <a:pt x="76349" y="40820"/>
                  <a:pt x="86026" y="37505"/>
                  <a:pt x="96441" y="37505"/>
                </a:cubicBezTo>
                <a:cubicBezTo>
                  <a:pt x="123062" y="37505"/>
                  <a:pt x="144661" y="59103"/>
                  <a:pt x="144661" y="85725"/>
                </a:cubicBezTo>
                <a:cubicBezTo>
                  <a:pt x="144661" y="96139"/>
                  <a:pt x="141346" y="105783"/>
                  <a:pt x="135720" y="113686"/>
                </a:cubicBezTo>
                <a:lnTo>
                  <a:pt x="124100" y="102066"/>
                </a:lnTo>
                <a:cubicBezTo>
                  <a:pt x="128353" y="94900"/>
                  <a:pt x="129793" y="86093"/>
                  <a:pt x="127482" y="77387"/>
                </a:cubicBezTo>
                <a:cubicBezTo>
                  <a:pt x="122895" y="60242"/>
                  <a:pt x="105248" y="50062"/>
                  <a:pt x="88103" y="54650"/>
                </a:cubicBezTo>
                <a:cubicBezTo>
                  <a:pt x="85223" y="55420"/>
                  <a:pt x="82510" y="56558"/>
                  <a:pt x="80066" y="57998"/>
                </a:cubicBezTo>
                <a:lnTo>
                  <a:pt x="68446" y="46379"/>
                </a:lnTo>
                <a:close/>
                <a:moveTo>
                  <a:pt x="108931" y="132304"/>
                </a:moveTo>
                <a:cubicBezTo>
                  <a:pt x="104946" y="133376"/>
                  <a:pt x="100760" y="133945"/>
                  <a:pt x="96441" y="133945"/>
                </a:cubicBezTo>
                <a:cubicBezTo>
                  <a:pt x="69819" y="133945"/>
                  <a:pt x="48220" y="112347"/>
                  <a:pt x="48220" y="85725"/>
                </a:cubicBezTo>
                <a:cubicBezTo>
                  <a:pt x="48220" y="81405"/>
                  <a:pt x="48790" y="77219"/>
                  <a:pt x="49861" y="73235"/>
                </a:cubicBezTo>
                <a:lnTo>
                  <a:pt x="23240" y="46613"/>
                </a:lnTo>
                <a:cubicBezTo>
                  <a:pt x="12323" y="58936"/>
                  <a:pt x="4822" y="71996"/>
                  <a:pt x="837" y="81606"/>
                </a:cubicBezTo>
                <a:cubicBezTo>
                  <a:pt x="-268" y="84252"/>
                  <a:pt x="-268" y="87198"/>
                  <a:pt x="837" y="89844"/>
                </a:cubicBezTo>
                <a:cubicBezTo>
                  <a:pt x="5827" y="101798"/>
                  <a:pt x="16308" y="119211"/>
                  <a:pt x="31979" y="133744"/>
                </a:cubicBezTo>
                <a:cubicBezTo>
                  <a:pt x="47752" y="148378"/>
                  <a:pt x="69417" y="160734"/>
                  <a:pt x="96474" y="160734"/>
                </a:cubicBezTo>
                <a:cubicBezTo>
                  <a:pt x="108965" y="160734"/>
                  <a:pt x="120316" y="158089"/>
                  <a:pt x="130463" y="153836"/>
                </a:cubicBezTo>
                <a:lnTo>
                  <a:pt x="108965" y="132338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475" y="4576763"/>
            <a:ext cx="2105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Blindness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8175" y="5033963"/>
            <a:ext cx="53149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inability to correlate entities, publishers, and sentiments across global real-time streams.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48963" y="2943225"/>
            <a:ext cx="1209675" cy="1209675"/>
          </a:xfrm>
          <a:custGeom>
            <a:avLst/>
            <a:gdLst/>
            <a:ahLst/>
            <a:cxnLst/>
            <a:rect l="l" t="t" r="r" b="b"/>
            <a:pathLst>
              <a:path w="1209675" h="1209675">
                <a:moveTo>
                  <a:pt x="604838" y="0"/>
                </a:moveTo>
                <a:lnTo>
                  <a:pt x="604838" y="0"/>
                </a:lnTo>
                <a:cubicBezTo>
                  <a:pt x="938656" y="0"/>
                  <a:pt x="1209675" y="271019"/>
                  <a:pt x="1209675" y="604838"/>
                </a:cubicBezTo>
                <a:lnTo>
                  <a:pt x="1209675" y="604838"/>
                </a:lnTo>
                <a:cubicBezTo>
                  <a:pt x="1209675" y="938656"/>
                  <a:pt x="938656" y="1209675"/>
                  <a:pt x="604838" y="1209675"/>
                </a:cubicBezTo>
                <a:lnTo>
                  <a:pt x="604838" y="1209675"/>
                </a:lnTo>
                <a:cubicBezTo>
                  <a:pt x="271019" y="1209675"/>
                  <a:pt x="0" y="938656"/>
                  <a:pt x="0" y="604838"/>
                </a:cubicBezTo>
                <a:lnTo>
                  <a:pt x="0" y="604838"/>
                </a:lnTo>
                <a:cubicBezTo>
                  <a:pt x="0" y="271019"/>
                  <a:pt x="271019" y="0"/>
                  <a:pt x="60483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C4B7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4563" y="4162425"/>
            <a:ext cx="1819275" cy="1819275"/>
          </a:xfrm>
          <a:custGeom>
            <a:avLst/>
            <a:gdLst/>
            <a:ahLst/>
            <a:cxnLst/>
            <a:rect l="l" t="t" r="r" b="b"/>
            <a:pathLst>
              <a:path w="1819275" h="1819275">
                <a:moveTo>
                  <a:pt x="909638" y="0"/>
                </a:moveTo>
                <a:lnTo>
                  <a:pt x="909638" y="0"/>
                </a:lnTo>
                <a:cubicBezTo>
                  <a:pt x="1411680" y="0"/>
                  <a:pt x="1819275" y="407595"/>
                  <a:pt x="1819275" y="909638"/>
                </a:cubicBezTo>
                <a:lnTo>
                  <a:pt x="1819275" y="909638"/>
                </a:lnTo>
                <a:cubicBezTo>
                  <a:pt x="1819275" y="1411680"/>
                  <a:pt x="1411680" y="1819275"/>
                  <a:pt x="909638" y="1819275"/>
                </a:cubicBezTo>
                <a:lnTo>
                  <a:pt x="909638" y="1819275"/>
                </a:lnTo>
                <a:cubicBezTo>
                  <a:pt x="407595" y="1819275"/>
                  <a:pt x="0" y="1411680"/>
                  <a:pt x="0" y="909638"/>
                </a:cubicBezTo>
                <a:lnTo>
                  <a:pt x="0" y="909638"/>
                </a:lnTo>
                <a:cubicBezTo>
                  <a:pt x="0" y="407595"/>
                  <a:pt x="407595" y="0"/>
                  <a:pt x="90963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8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4600" y="3090863"/>
            <a:ext cx="5486400" cy="2590800"/>
          </a:xfrm>
          <a:custGeom>
            <a:avLst/>
            <a:gdLst/>
            <a:ahLst/>
            <a:cxnLst/>
            <a:rect l="l" t="t" r="r" b="b"/>
            <a:pathLst>
              <a:path w="5486400" h="2590800">
                <a:moveTo>
                  <a:pt x="38111" y="0"/>
                </a:moveTo>
                <a:lnTo>
                  <a:pt x="5448289" y="0"/>
                </a:lnTo>
                <a:cubicBezTo>
                  <a:pt x="5469337" y="0"/>
                  <a:pt x="5486400" y="17063"/>
                  <a:pt x="5486400" y="38111"/>
                </a:cubicBezTo>
                <a:lnTo>
                  <a:pt x="5486400" y="2552689"/>
                </a:lnTo>
                <a:cubicBezTo>
                  <a:pt x="5486400" y="2573737"/>
                  <a:pt x="5469337" y="2590800"/>
                  <a:pt x="5448289" y="2590800"/>
                </a:cubicBezTo>
                <a:lnTo>
                  <a:pt x="38111" y="2590800"/>
                </a:lnTo>
                <a:cubicBezTo>
                  <a:pt x="17063" y="2590800"/>
                  <a:pt x="0" y="2573737"/>
                  <a:pt x="0" y="2552689"/>
                </a:cubicBezTo>
                <a:lnTo>
                  <a:pt x="0" y="38111"/>
                </a:lnTo>
                <a:cubicBezTo>
                  <a:pt x="0" y="17077"/>
                  <a:pt x="17077" y="0"/>
                  <a:pt x="38111" y="0"/>
                </a:cubicBez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34718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96100" y="3395663"/>
            <a:ext cx="2667000" cy="114300"/>
          </a:xfrm>
          <a:custGeom>
            <a:avLst/>
            <a:gdLst/>
            <a:ahLst/>
            <a:cxnLst/>
            <a:rect l="l" t="t" r="r" b="b"/>
            <a:pathLst>
              <a:path w="2667000" h="114300">
                <a:moveTo>
                  <a:pt x="0" y="0"/>
                </a:moveTo>
                <a:lnTo>
                  <a:pt x="2667000" y="0"/>
                </a:lnTo>
                <a:lnTo>
                  <a:pt x="26670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38147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1" name="Shape 19"/>
          <p:cNvSpPr/>
          <p:nvPr/>
        </p:nvSpPr>
        <p:spPr>
          <a:xfrm>
            <a:off x="6896100" y="3738563"/>
            <a:ext cx="3048000" cy="114300"/>
          </a:xfrm>
          <a:custGeom>
            <a:avLst/>
            <a:gdLst/>
            <a:ahLst/>
            <a:cxnLst/>
            <a:rect l="l" t="t" r="r" b="b"/>
            <a:pathLst>
              <a:path w="3048000" h="114300">
                <a:moveTo>
                  <a:pt x="0" y="0"/>
                </a:moveTo>
                <a:lnTo>
                  <a:pt x="3048000" y="0"/>
                </a:lnTo>
                <a:lnTo>
                  <a:pt x="30480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41576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3" name="Shape 21"/>
          <p:cNvSpPr/>
          <p:nvPr/>
        </p:nvSpPr>
        <p:spPr>
          <a:xfrm>
            <a:off x="6896100" y="4081463"/>
            <a:ext cx="2286000" cy="114300"/>
          </a:xfrm>
          <a:custGeom>
            <a:avLst/>
            <a:gdLst/>
            <a:ahLst/>
            <a:cxnLst/>
            <a:rect l="l" t="t" r="r" b="b"/>
            <a:pathLst>
              <a:path w="2286000" h="114300">
                <a:moveTo>
                  <a:pt x="0" y="0"/>
                </a:moveTo>
                <a:lnTo>
                  <a:pt x="2286000" y="0"/>
                </a:lnTo>
                <a:lnTo>
                  <a:pt x="22860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45005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5" name="Shape 23"/>
          <p:cNvSpPr/>
          <p:nvPr/>
        </p:nvSpPr>
        <p:spPr>
          <a:xfrm>
            <a:off x="6896100" y="4424363"/>
            <a:ext cx="2857500" cy="114300"/>
          </a:xfrm>
          <a:custGeom>
            <a:avLst/>
            <a:gdLst/>
            <a:ahLst/>
            <a:cxnLst/>
            <a:rect l="l" t="t" r="r" b="b"/>
            <a:pathLst>
              <a:path w="2857500" h="114300">
                <a:moveTo>
                  <a:pt x="0" y="0"/>
                </a:moveTo>
                <a:lnTo>
                  <a:pt x="2857500" y="0"/>
                </a:lnTo>
                <a:lnTo>
                  <a:pt x="28575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9400" y="48434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7" name="Shape 25"/>
          <p:cNvSpPr/>
          <p:nvPr/>
        </p:nvSpPr>
        <p:spPr>
          <a:xfrm>
            <a:off x="6896100" y="4767263"/>
            <a:ext cx="1905000" cy="114300"/>
          </a:xfrm>
          <a:custGeom>
            <a:avLst/>
            <a:gdLst/>
            <a:ahLst/>
            <a:cxnLst/>
            <a:rect l="l" t="t" r="r" b="b"/>
            <a:pathLst>
              <a:path w="1905000" h="114300">
                <a:moveTo>
                  <a:pt x="0" y="0"/>
                </a:moveTo>
                <a:lnTo>
                  <a:pt x="1905000" y="0"/>
                </a:lnTo>
                <a:lnTo>
                  <a:pt x="19050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5186363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data points without contextual relationships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Solution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116395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Bridging the gap between static retrieval and dynamic knowledge discovery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2124075"/>
            <a:ext cx="11410950" cy="1076325"/>
          </a:xfrm>
          <a:custGeom>
            <a:avLst/>
            <a:gdLst/>
            <a:ahLst/>
            <a:cxnLst/>
            <a:rect l="l" t="t" r="r" b="b"/>
            <a:pathLst>
              <a:path w="11410950" h="1076325">
                <a:moveTo>
                  <a:pt x="0" y="0"/>
                </a:moveTo>
                <a:lnTo>
                  <a:pt x="11410950" y="0"/>
                </a:lnTo>
                <a:lnTo>
                  <a:pt x="114109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2124075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" y="2352675"/>
            <a:ext cx="11029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Proposition:</a:t>
            </a: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Transforming raw, unstructured news into mathematically backed, transparent intelligence via a standalone, offline-first architecture.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47800" y="4038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Shape 7"/>
          <p:cNvSpPr/>
          <p:nvPr/>
        </p:nvSpPr>
        <p:spPr>
          <a:xfrm>
            <a:off x="1688306" y="4276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232172"/>
                </a:moveTo>
                <a:lnTo>
                  <a:pt x="0" y="66973"/>
                </a:lnTo>
                <a:cubicBezTo>
                  <a:pt x="0" y="59550"/>
                  <a:pt x="5972" y="53578"/>
                  <a:pt x="13395" y="53578"/>
                </a:cubicBezTo>
                <a:cubicBezTo>
                  <a:pt x="20817" y="53578"/>
                  <a:pt x="26789" y="59550"/>
                  <a:pt x="26789" y="66973"/>
                </a:cubicBezTo>
                <a:lnTo>
                  <a:pt x="26789" y="227707"/>
                </a:lnTo>
                <a:cubicBezTo>
                  <a:pt x="26789" y="235130"/>
                  <a:pt x="32761" y="241102"/>
                  <a:pt x="40184" y="241102"/>
                </a:cubicBezTo>
                <a:cubicBezTo>
                  <a:pt x="47606" y="241102"/>
                  <a:pt x="53578" y="235130"/>
                  <a:pt x="53578" y="227707"/>
                </a:cubicBezTo>
                <a:lnTo>
                  <a:pt x="53578" y="53578"/>
                </a:lnTo>
                <a:cubicBezTo>
                  <a:pt x="53578" y="33877"/>
                  <a:pt x="69596" y="17859"/>
                  <a:pt x="89297" y="17859"/>
                </a:cubicBezTo>
                <a:lnTo>
                  <a:pt x="250031" y="17859"/>
                </a:lnTo>
                <a:cubicBezTo>
                  <a:pt x="269732" y="17859"/>
                  <a:pt x="285750" y="33877"/>
                  <a:pt x="285750" y="53578"/>
                </a:cubicBezTo>
                <a:lnTo>
                  <a:pt x="285750" y="232172"/>
                </a:lnTo>
                <a:cubicBezTo>
                  <a:pt x="285750" y="251873"/>
                  <a:pt x="269732" y="267891"/>
                  <a:pt x="250031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close/>
                <a:moveTo>
                  <a:pt x="89297" y="71438"/>
                </a:moveTo>
                <a:lnTo>
                  <a:pt x="89297" y="107156"/>
                </a:lnTo>
                <a:cubicBezTo>
                  <a:pt x="89297" y="117035"/>
                  <a:pt x="97278" y="125016"/>
                  <a:pt x="107156" y="125016"/>
                </a:cubicBezTo>
                <a:lnTo>
                  <a:pt x="142875" y="125016"/>
                </a:lnTo>
                <a:cubicBezTo>
                  <a:pt x="152753" y="125016"/>
                  <a:pt x="160734" y="117035"/>
                  <a:pt x="160734" y="107156"/>
                </a:cubicBezTo>
                <a:lnTo>
                  <a:pt x="160734" y="71438"/>
                </a:lnTo>
                <a:cubicBezTo>
                  <a:pt x="160734" y="61559"/>
                  <a:pt x="152753" y="53578"/>
                  <a:pt x="142875" y="53578"/>
                </a:cubicBezTo>
                <a:lnTo>
                  <a:pt x="107156" y="53578"/>
                </a:lnTo>
                <a:cubicBezTo>
                  <a:pt x="97278" y="53578"/>
                  <a:pt x="89297" y="61559"/>
                  <a:pt x="89297" y="71438"/>
                </a:cubicBezTo>
                <a:close/>
                <a:moveTo>
                  <a:pt x="102691" y="205383"/>
                </a:moveTo>
                <a:cubicBezTo>
                  <a:pt x="95269" y="205383"/>
                  <a:pt x="89297" y="211355"/>
                  <a:pt x="89297" y="218777"/>
                </a:cubicBezTo>
                <a:cubicBezTo>
                  <a:pt x="89297" y="226200"/>
                  <a:pt x="95269" y="232172"/>
                  <a:pt x="102691" y="232172"/>
                </a:cubicBezTo>
                <a:lnTo>
                  <a:pt x="236637" y="232172"/>
                </a:lnTo>
                <a:cubicBezTo>
                  <a:pt x="244060" y="232172"/>
                  <a:pt x="250031" y="226200"/>
                  <a:pt x="250031" y="218777"/>
                </a:cubicBezTo>
                <a:cubicBezTo>
                  <a:pt x="250031" y="211355"/>
                  <a:pt x="244060" y="205383"/>
                  <a:pt x="236637" y="205383"/>
                </a:cubicBezTo>
                <a:lnTo>
                  <a:pt x="102691" y="205383"/>
                </a:lnTo>
                <a:close/>
                <a:moveTo>
                  <a:pt x="89297" y="165199"/>
                </a:moveTo>
                <a:cubicBezTo>
                  <a:pt x="89297" y="172622"/>
                  <a:pt x="95269" y="178594"/>
                  <a:pt x="102691" y="178594"/>
                </a:cubicBezTo>
                <a:lnTo>
                  <a:pt x="236637" y="178594"/>
                </a:lnTo>
                <a:cubicBezTo>
                  <a:pt x="244060" y="178594"/>
                  <a:pt x="250031" y="172622"/>
                  <a:pt x="250031" y="165199"/>
                </a:cubicBezTo>
                <a:cubicBezTo>
                  <a:pt x="250031" y="157776"/>
                  <a:pt x="244060" y="151805"/>
                  <a:pt x="236637" y="151805"/>
                </a:cubicBezTo>
                <a:lnTo>
                  <a:pt x="102691" y="151805"/>
                </a:lnTo>
                <a:cubicBezTo>
                  <a:pt x="95269" y="151805"/>
                  <a:pt x="89297" y="157776"/>
                  <a:pt x="89297" y="165199"/>
                </a:cubicBezTo>
                <a:close/>
                <a:moveTo>
                  <a:pt x="200918" y="98227"/>
                </a:moveTo>
                <a:cubicBezTo>
                  <a:pt x="193495" y="98227"/>
                  <a:pt x="187523" y="104198"/>
                  <a:pt x="187523" y="111621"/>
                </a:cubicBezTo>
                <a:cubicBezTo>
                  <a:pt x="187523" y="119044"/>
                  <a:pt x="193495" y="125016"/>
                  <a:pt x="200918" y="125016"/>
                </a:cubicBezTo>
                <a:lnTo>
                  <a:pt x="236637" y="125016"/>
                </a:lnTo>
                <a:cubicBezTo>
                  <a:pt x="244060" y="125016"/>
                  <a:pt x="250031" y="119044"/>
                  <a:pt x="250031" y="111621"/>
                </a:cubicBezTo>
                <a:cubicBezTo>
                  <a:pt x="250031" y="104198"/>
                  <a:pt x="244060" y="98227"/>
                  <a:pt x="236637" y="98227"/>
                </a:cubicBezTo>
                <a:lnTo>
                  <a:pt x="200918" y="98227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0" name="Text 8"/>
          <p:cNvSpPr/>
          <p:nvPr/>
        </p:nvSpPr>
        <p:spPr>
          <a:xfrm>
            <a:off x="333375" y="4953000"/>
            <a:ext cx="2990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Unstructured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News Feeds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663" y="5562600"/>
            <a:ext cx="2962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Economy, Tech Innovation, Political Unrest, Market Trends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05200" y="4829175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8100" y="4924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5458946" y="3877797"/>
            <a:ext cx="895350" cy="895350"/>
          </a:xfrm>
          <a:custGeom>
            <a:avLst/>
            <a:gdLst/>
            <a:ahLst/>
            <a:cxnLst/>
            <a:rect l="l" t="t" r="r" b="b"/>
            <a:pathLst>
              <a:path w="895350" h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720000">
            <a:off x="5648874" y="4067724"/>
            <a:ext cx="752475" cy="752475"/>
          </a:xfrm>
          <a:custGeom>
            <a:avLst/>
            <a:gdLst/>
            <a:ahLst/>
            <a:cxnLst/>
            <a:rect l="l" t="t" r="r" b="b"/>
            <a:pathLst>
              <a:path w="752475" h="752475">
                <a:moveTo>
                  <a:pt x="0" y="0"/>
                </a:moveTo>
                <a:lnTo>
                  <a:pt x="752475" y="0"/>
                </a:lnTo>
                <a:lnTo>
                  <a:pt x="7524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C4B7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55506" y="4371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600575" y="5124450"/>
            <a:ext cx="2990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4863" y="57340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Engine &amp; Algorithms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0" y="4829175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5300" y="4924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915400" y="3905250"/>
            <a:ext cx="2895600" cy="647700"/>
          </a:xfrm>
          <a:custGeom>
            <a:avLst/>
            <a:gdLst/>
            <a:ahLst/>
            <a:cxnLst/>
            <a:rect l="l" t="t" r="r" b="b"/>
            <a:pathLst>
              <a:path w="2895600" h="647700">
                <a:moveTo>
                  <a:pt x="38098" y="0"/>
                </a:moveTo>
                <a:lnTo>
                  <a:pt x="2857502" y="0"/>
                </a:lnTo>
                <a:cubicBezTo>
                  <a:pt x="2878529" y="0"/>
                  <a:pt x="2895600" y="17071"/>
                  <a:pt x="2895600" y="38098"/>
                </a:cubicBezTo>
                <a:lnTo>
                  <a:pt x="2895600" y="609602"/>
                </a:lnTo>
                <a:cubicBezTo>
                  <a:pt x="2895600" y="630643"/>
                  <a:pt x="2878543" y="647700"/>
                  <a:pt x="28575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3513" y="4133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1"/>
          <p:cNvSpPr/>
          <p:nvPr/>
        </p:nvSpPr>
        <p:spPr>
          <a:xfrm>
            <a:off x="9382125" y="401955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Journalism Analytics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82125" y="424815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analysis &amp; insights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15400" y="4667250"/>
            <a:ext cx="2895600" cy="647700"/>
          </a:xfrm>
          <a:custGeom>
            <a:avLst/>
            <a:gdLst/>
            <a:ahLst/>
            <a:cxnLst/>
            <a:rect l="l" t="t" r="r" b="b"/>
            <a:pathLst>
              <a:path w="2895600" h="647700">
                <a:moveTo>
                  <a:pt x="38098" y="0"/>
                </a:moveTo>
                <a:lnTo>
                  <a:pt x="2857502" y="0"/>
                </a:lnTo>
                <a:cubicBezTo>
                  <a:pt x="2878529" y="0"/>
                  <a:pt x="2895600" y="17071"/>
                  <a:pt x="2895600" y="38098"/>
                </a:cubicBezTo>
                <a:lnTo>
                  <a:pt x="2895600" y="609602"/>
                </a:lnTo>
                <a:cubicBezTo>
                  <a:pt x="2895600" y="630643"/>
                  <a:pt x="2878543" y="647700"/>
                  <a:pt x="28575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26" name="Shape 24"/>
          <p:cNvSpPr/>
          <p:nvPr/>
        </p:nvSpPr>
        <p:spPr>
          <a:xfrm>
            <a:off x="9041606" y="4895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7" name="Text 25"/>
          <p:cNvSpPr/>
          <p:nvPr/>
        </p:nvSpPr>
        <p:spPr>
          <a:xfrm>
            <a:off x="9382125" y="478155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Monitoring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82125" y="501015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Reputation tracking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5400" y="5429250"/>
            <a:ext cx="2895600" cy="647700"/>
          </a:xfrm>
          <a:custGeom>
            <a:avLst/>
            <a:gdLst/>
            <a:ahLst/>
            <a:cxnLst/>
            <a:rect l="l" t="t" r="r" b="b"/>
            <a:pathLst>
              <a:path w="2895600" h="647700">
                <a:moveTo>
                  <a:pt x="38098" y="0"/>
                </a:moveTo>
                <a:lnTo>
                  <a:pt x="2857502" y="0"/>
                </a:lnTo>
                <a:cubicBezTo>
                  <a:pt x="2878529" y="0"/>
                  <a:pt x="2895600" y="17071"/>
                  <a:pt x="2895600" y="38098"/>
                </a:cubicBezTo>
                <a:lnTo>
                  <a:pt x="2895600" y="609602"/>
                </a:lnTo>
                <a:cubicBezTo>
                  <a:pt x="2895600" y="630643"/>
                  <a:pt x="2878543" y="647700"/>
                  <a:pt x="28575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30" name="Shape 28"/>
          <p:cNvSpPr/>
          <p:nvPr/>
        </p:nvSpPr>
        <p:spPr>
          <a:xfrm>
            <a:off x="9065419" y="565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1" name="Text 29"/>
          <p:cNvSpPr/>
          <p:nvPr/>
        </p:nvSpPr>
        <p:spPr>
          <a:xfrm>
            <a:off x="9382125" y="554355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Event Tracking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82125" y="577215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monitoring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116395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robust five-phase engineering pipeline structures the data lifecycle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3062288"/>
            <a:ext cx="2228850" cy="1600200"/>
          </a:xfrm>
          <a:custGeom>
            <a:avLst/>
            <a:gdLst/>
            <a:ahLst/>
            <a:cxnLst/>
            <a:rect l="l" t="t" r="r" b="b"/>
            <a:pathLst>
              <a:path w="2228850" h="1600200">
                <a:moveTo>
                  <a:pt x="0" y="0"/>
                </a:moveTo>
                <a:lnTo>
                  <a:pt x="2228850" y="0"/>
                </a:lnTo>
                <a:lnTo>
                  <a:pt x="222885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3252788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AF9F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3748087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4281488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Warehousing &amp; ETL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82180" y="3062288"/>
            <a:ext cx="2228850" cy="1600200"/>
          </a:xfrm>
          <a:custGeom>
            <a:avLst/>
            <a:gdLst/>
            <a:ahLst/>
            <a:cxnLst/>
            <a:rect l="l" t="t" r="r" b="b"/>
            <a:pathLst>
              <a:path w="2228850" h="1600200">
                <a:moveTo>
                  <a:pt x="0" y="0"/>
                </a:moveTo>
                <a:lnTo>
                  <a:pt x="2228850" y="0"/>
                </a:lnTo>
                <a:lnTo>
                  <a:pt x="222885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5A5A5A"/>
          </a:solidFill>
          <a:ln/>
        </p:spPr>
      </p:sp>
      <p:sp>
        <p:nvSpPr>
          <p:cNvPr id="10" name="Text 8"/>
          <p:cNvSpPr/>
          <p:nvPr/>
        </p:nvSpPr>
        <p:spPr>
          <a:xfrm>
            <a:off x="2872680" y="3252788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AF9F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72680" y="3748087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72680" y="4090987"/>
            <a:ext cx="1914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&amp; Dimensionality Reduction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510" y="3062288"/>
            <a:ext cx="2228850" cy="1600200"/>
          </a:xfrm>
          <a:custGeom>
            <a:avLst/>
            <a:gdLst/>
            <a:ahLst/>
            <a:cxnLst/>
            <a:rect l="l" t="t" r="r" b="b"/>
            <a:pathLst>
              <a:path w="2228850" h="1600200">
                <a:moveTo>
                  <a:pt x="0" y="0"/>
                </a:moveTo>
                <a:lnTo>
                  <a:pt x="2228850" y="0"/>
                </a:lnTo>
                <a:lnTo>
                  <a:pt x="222885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777777"/>
          </a:solidFill>
          <a:ln/>
        </p:spPr>
      </p:sp>
      <p:sp>
        <p:nvSpPr>
          <p:cNvPr id="14" name="Text 12"/>
          <p:cNvSpPr/>
          <p:nvPr/>
        </p:nvSpPr>
        <p:spPr>
          <a:xfrm>
            <a:off x="5174010" y="3252788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AF9F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74010" y="3748087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4010" y="4090987"/>
            <a:ext cx="1914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Engine &amp; Algorithms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84690" y="3062288"/>
            <a:ext cx="2228850" cy="1600200"/>
          </a:xfrm>
          <a:custGeom>
            <a:avLst/>
            <a:gdLst/>
            <a:ahLst/>
            <a:cxnLst/>
            <a:rect l="l" t="t" r="r" b="b"/>
            <a:pathLst>
              <a:path w="2228850" h="1600200">
                <a:moveTo>
                  <a:pt x="0" y="0"/>
                </a:moveTo>
                <a:lnTo>
                  <a:pt x="2228850" y="0"/>
                </a:lnTo>
                <a:lnTo>
                  <a:pt x="222885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8" name="Text 16"/>
          <p:cNvSpPr/>
          <p:nvPr/>
        </p:nvSpPr>
        <p:spPr>
          <a:xfrm>
            <a:off x="7475190" y="3252788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AF9F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75190" y="3748087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75190" y="4281488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&amp; Translation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86020" y="3062288"/>
            <a:ext cx="2228850" cy="1600200"/>
          </a:xfrm>
          <a:custGeom>
            <a:avLst/>
            <a:gdLst/>
            <a:ahLst/>
            <a:cxnLst/>
            <a:rect l="l" t="t" r="r" b="b"/>
            <a:pathLst>
              <a:path w="2228850" h="1600200">
                <a:moveTo>
                  <a:pt x="0" y="0"/>
                </a:moveTo>
                <a:lnTo>
                  <a:pt x="2228850" y="0"/>
                </a:lnTo>
                <a:lnTo>
                  <a:pt x="222885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2" name="Text 20"/>
          <p:cNvSpPr/>
          <p:nvPr/>
        </p:nvSpPr>
        <p:spPr>
          <a:xfrm>
            <a:off x="9776520" y="3252788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76520" y="3748087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76520" y="4281488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&amp; Insights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32458" y="504348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6" name="Text 24"/>
          <p:cNvSpPr/>
          <p:nvPr/>
        </p:nvSpPr>
        <p:spPr>
          <a:xfrm>
            <a:off x="347663" y="5348288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&amp; Store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49861" y="50434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8" name="Text 26"/>
          <p:cNvSpPr/>
          <p:nvPr/>
        </p:nvSpPr>
        <p:spPr>
          <a:xfrm>
            <a:off x="2679353" y="5348288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&amp; Transform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81551" y="50434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0" name="Text 28"/>
          <p:cNvSpPr/>
          <p:nvPr/>
        </p:nvSpPr>
        <p:spPr>
          <a:xfrm>
            <a:off x="5011043" y="5348288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Mine Patterns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41816" y="504348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2" name="Text 30"/>
          <p:cNvSpPr/>
          <p:nvPr/>
        </p:nvSpPr>
        <p:spPr>
          <a:xfrm>
            <a:off x="7342733" y="5348288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 Results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645080" y="50434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4" name="Text 32"/>
          <p:cNvSpPr/>
          <p:nvPr/>
        </p:nvSpPr>
        <p:spPr>
          <a:xfrm>
            <a:off x="9674423" y="5348288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 Data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 rot="2700000">
            <a:off x="2444336" y="37007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6" name="Shape 34"/>
          <p:cNvSpPr/>
          <p:nvPr/>
        </p:nvSpPr>
        <p:spPr>
          <a:xfrm rot="2700000">
            <a:off x="4745665" y="37007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A5A5A"/>
          </a:solidFill>
          <a:ln/>
        </p:spPr>
      </p:sp>
      <p:sp>
        <p:nvSpPr>
          <p:cNvPr id="37" name="Shape 35"/>
          <p:cNvSpPr/>
          <p:nvPr/>
        </p:nvSpPr>
        <p:spPr>
          <a:xfrm rot="2700000">
            <a:off x="7046845" y="37007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777777"/>
          </a:solidFill>
          <a:ln/>
        </p:spPr>
      </p:sp>
      <p:sp>
        <p:nvSpPr>
          <p:cNvPr id="38" name="Shape 36"/>
          <p:cNvSpPr/>
          <p:nvPr/>
        </p:nvSpPr>
        <p:spPr>
          <a:xfrm rot="2700000">
            <a:off x="9348175" y="37007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597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Data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609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Freezing the AG News corpus guarantees deterministic and verifiable research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5288" y="2505075"/>
            <a:ext cx="28575" cy="561975"/>
          </a:xfrm>
          <a:custGeom>
            <a:avLst/>
            <a:gdLst/>
            <a:ahLst/>
            <a:cxnLst/>
            <a:rect l="l" t="t" r="r" b="b"/>
            <a:pathLst>
              <a:path w="28575" h="561975">
                <a:moveTo>
                  <a:pt x="0" y="0"/>
                </a:moveTo>
                <a:lnTo>
                  <a:pt x="28575" y="0"/>
                </a:lnTo>
                <a:lnTo>
                  <a:pt x="285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600075" y="2505075"/>
            <a:ext cx="57721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with a </a:t>
            </a: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120,000-article frozen subset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ensures data stability throughout the research lifecycle.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5288" y="3290888"/>
            <a:ext cx="28575" cy="838200"/>
          </a:xfrm>
          <a:custGeom>
            <a:avLst/>
            <a:gdLst/>
            <a:ahLst/>
            <a:cxnLst/>
            <a:rect l="l" t="t" r="r" b="b"/>
            <a:pathLst>
              <a:path w="28575" h="838200">
                <a:moveTo>
                  <a:pt x="0" y="0"/>
                </a:moveTo>
                <a:lnTo>
                  <a:pt x="28575" y="0"/>
                </a:lnTo>
                <a:lnTo>
                  <a:pt x="28575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Text 6"/>
          <p:cNvSpPr/>
          <p:nvPr/>
        </p:nvSpPr>
        <p:spPr>
          <a:xfrm>
            <a:off x="600075" y="3290888"/>
            <a:ext cx="57721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Assertion: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completely static environment ensures that downstream mining algorithms produce academically verifiable results without structural drift.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4355306"/>
            <a:ext cx="5905500" cy="1933575"/>
          </a:xfrm>
          <a:custGeom>
            <a:avLst/>
            <a:gdLst/>
            <a:ahLst/>
            <a:cxnLst/>
            <a:rect l="l" t="t" r="r" b="b"/>
            <a:pathLst>
              <a:path w="5905500" h="1933575">
                <a:moveTo>
                  <a:pt x="38091" y="0"/>
                </a:moveTo>
                <a:lnTo>
                  <a:pt x="5867409" y="0"/>
                </a:lnTo>
                <a:cubicBezTo>
                  <a:pt x="5888432" y="0"/>
                  <a:pt x="5905500" y="17068"/>
                  <a:pt x="5905500" y="38091"/>
                </a:cubicBezTo>
                <a:lnTo>
                  <a:pt x="5905500" y="1895484"/>
                </a:lnTo>
                <a:cubicBezTo>
                  <a:pt x="5905500" y="1916521"/>
                  <a:pt x="5888446" y="1933575"/>
                  <a:pt x="5867409" y="1933575"/>
                </a:cubicBezTo>
                <a:lnTo>
                  <a:pt x="38091" y="1933575"/>
                </a:lnTo>
                <a:cubicBezTo>
                  <a:pt x="17068" y="1933575"/>
                  <a:pt x="0" y="1916507"/>
                  <a:pt x="0" y="1895484"/>
                </a:cubicBezTo>
                <a:lnTo>
                  <a:pt x="0" y="38091"/>
                </a:lnTo>
                <a:cubicBezTo>
                  <a:pt x="0" y="17068"/>
                  <a:pt x="17068" y="0"/>
                  <a:pt x="38091" y="0"/>
                </a:cubicBez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" y="4545806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Data Snapshot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5122069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  <a:lnTo>
                  <a:pt x="5524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" y="4850606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85900" y="4850606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 St. Bears Claw Back...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5474494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  <a:lnTo>
                  <a:pt x="5524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" y="5203031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5900" y="5203031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5826919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  <a:lnTo>
                  <a:pt x="5524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" y="5555456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85900" y="5555456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Reuters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5907881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5900" y="5907881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2018-09-10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67500" y="247650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1247775" y="0"/>
                </a:moveTo>
                <a:lnTo>
                  <a:pt x="1247775" y="0"/>
                </a:lnTo>
                <a:cubicBezTo>
                  <a:pt x="1936441" y="0"/>
                  <a:pt x="2495550" y="559109"/>
                  <a:pt x="2495550" y="1247775"/>
                </a:cubicBezTo>
                <a:lnTo>
                  <a:pt x="2495550" y="1247775"/>
                </a:lnTo>
                <a:cubicBezTo>
                  <a:pt x="2495550" y="1936441"/>
                  <a:pt x="1936441" y="2495550"/>
                  <a:pt x="1247775" y="2495550"/>
                </a:cubicBezTo>
                <a:lnTo>
                  <a:pt x="1247775" y="2495550"/>
                </a:lnTo>
                <a:cubicBezTo>
                  <a:pt x="559109" y="2495550"/>
                  <a:pt x="0" y="1936441"/>
                  <a:pt x="0" y="1247775"/>
                </a:cubicBezTo>
                <a:lnTo>
                  <a:pt x="0" y="1247775"/>
                </a:lnTo>
                <a:cubicBezTo>
                  <a:pt x="0" y="559109"/>
                  <a:pt x="559109" y="0"/>
                  <a:pt x="1247775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1"/>
          <p:cNvSpPr/>
          <p:nvPr/>
        </p:nvSpPr>
        <p:spPr>
          <a:xfrm>
            <a:off x="7651105" y="1190625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00057" y="1419225"/>
            <a:ext cx="80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15450" y="247650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1247775" y="0"/>
                </a:moveTo>
                <a:lnTo>
                  <a:pt x="1247775" y="0"/>
                </a:lnTo>
                <a:cubicBezTo>
                  <a:pt x="1936441" y="0"/>
                  <a:pt x="2495550" y="559109"/>
                  <a:pt x="2495550" y="1247775"/>
                </a:cubicBezTo>
                <a:lnTo>
                  <a:pt x="2495550" y="1247775"/>
                </a:lnTo>
                <a:cubicBezTo>
                  <a:pt x="2495550" y="1936441"/>
                  <a:pt x="1936441" y="2495550"/>
                  <a:pt x="1247775" y="2495550"/>
                </a:cubicBezTo>
                <a:lnTo>
                  <a:pt x="1247775" y="2495550"/>
                </a:lnTo>
                <a:cubicBezTo>
                  <a:pt x="559109" y="2495550"/>
                  <a:pt x="0" y="1936441"/>
                  <a:pt x="0" y="1247775"/>
                </a:cubicBezTo>
                <a:lnTo>
                  <a:pt x="0" y="1247775"/>
                </a:lnTo>
                <a:cubicBezTo>
                  <a:pt x="0" y="559109"/>
                  <a:pt x="559109" y="0"/>
                  <a:pt x="1247775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6" name="Text 24"/>
          <p:cNvSpPr/>
          <p:nvPr/>
        </p:nvSpPr>
        <p:spPr>
          <a:xfrm>
            <a:off x="10368409" y="1190625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48007" y="1419225"/>
            <a:ext cx="80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67500" y="2895600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1247775" y="0"/>
                </a:moveTo>
                <a:lnTo>
                  <a:pt x="1247775" y="0"/>
                </a:lnTo>
                <a:cubicBezTo>
                  <a:pt x="1936441" y="0"/>
                  <a:pt x="2495550" y="559109"/>
                  <a:pt x="2495550" y="1247775"/>
                </a:cubicBezTo>
                <a:lnTo>
                  <a:pt x="2495550" y="1247775"/>
                </a:lnTo>
                <a:cubicBezTo>
                  <a:pt x="2495550" y="1936441"/>
                  <a:pt x="1936441" y="2495550"/>
                  <a:pt x="1247775" y="2495550"/>
                </a:cubicBezTo>
                <a:lnTo>
                  <a:pt x="1247775" y="2495550"/>
                </a:lnTo>
                <a:cubicBezTo>
                  <a:pt x="559109" y="2495550"/>
                  <a:pt x="0" y="1936441"/>
                  <a:pt x="0" y="1247775"/>
                </a:cubicBezTo>
                <a:lnTo>
                  <a:pt x="0" y="1247775"/>
                </a:lnTo>
                <a:cubicBezTo>
                  <a:pt x="0" y="559109"/>
                  <a:pt x="559109" y="0"/>
                  <a:pt x="1247775" y="0"/>
                </a:cubicBezTo>
                <a:close/>
              </a:path>
            </a:pathLst>
          </a:custGeom>
          <a:solidFill>
            <a:srgbClr val="A8A29E"/>
          </a:solidFill>
          <a:ln/>
        </p:spPr>
      </p:sp>
      <p:sp>
        <p:nvSpPr>
          <p:cNvPr id="29" name="Text 27"/>
          <p:cNvSpPr/>
          <p:nvPr/>
        </p:nvSpPr>
        <p:spPr>
          <a:xfrm>
            <a:off x="7735491" y="383857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00057" y="4067175"/>
            <a:ext cx="80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315450" y="2895600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1247775" y="0"/>
                </a:moveTo>
                <a:lnTo>
                  <a:pt x="1247775" y="0"/>
                </a:lnTo>
                <a:cubicBezTo>
                  <a:pt x="1936441" y="0"/>
                  <a:pt x="2495550" y="559109"/>
                  <a:pt x="2495550" y="1247775"/>
                </a:cubicBezTo>
                <a:lnTo>
                  <a:pt x="2495550" y="1247775"/>
                </a:lnTo>
                <a:cubicBezTo>
                  <a:pt x="2495550" y="1936441"/>
                  <a:pt x="1936441" y="2495550"/>
                  <a:pt x="1247775" y="2495550"/>
                </a:cubicBezTo>
                <a:lnTo>
                  <a:pt x="1247775" y="2495550"/>
                </a:lnTo>
                <a:cubicBezTo>
                  <a:pt x="559109" y="2495550"/>
                  <a:pt x="0" y="1936441"/>
                  <a:pt x="0" y="1247775"/>
                </a:cubicBezTo>
                <a:lnTo>
                  <a:pt x="0" y="1247775"/>
                </a:lnTo>
                <a:cubicBezTo>
                  <a:pt x="0" y="559109"/>
                  <a:pt x="559109" y="0"/>
                  <a:pt x="1247775" y="0"/>
                </a:cubicBezTo>
                <a:close/>
              </a:path>
            </a:pathLst>
          </a:custGeom>
          <a:solidFill>
            <a:srgbClr val="5A5A5A"/>
          </a:solidFill>
          <a:ln/>
        </p:spPr>
      </p:sp>
      <p:sp>
        <p:nvSpPr>
          <p:cNvPr id="32" name="Text 30"/>
          <p:cNvSpPr/>
          <p:nvPr/>
        </p:nvSpPr>
        <p:spPr>
          <a:xfrm>
            <a:off x="10216009" y="3838575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48007" y="4067175"/>
            <a:ext cx="80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74223" y="5629275"/>
            <a:ext cx="2333625" cy="19050"/>
          </a:xfrm>
          <a:custGeom>
            <a:avLst/>
            <a:gdLst/>
            <a:ahLst/>
            <a:cxnLst/>
            <a:rect l="l" t="t" r="r" b="b"/>
            <a:pathLst>
              <a:path w="2333625" h="19050">
                <a:moveTo>
                  <a:pt x="0" y="0"/>
                </a:moveTo>
                <a:lnTo>
                  <a:pt x="2333625" y="0"/>
                </a:lnTo>
                <a:lnTo>
                  <a:pt x="23336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5" name="Shape 33"/>
          <p:cNvSpPr/>
          <p:nvPr/>
        </p:nvSpPr>
        <p:spPr>
          <a:xfrm>
            <a:off x="8074223" y="6600825"/>
            <a:ext cx="2333625" cy="19050"/>
          </a:xfrm>
          <a:custGeom>
            <a:avLst/>
            <a:gdLst/>
            <a:ahLst/>
            <a:cxnLst/>
            <a:rect l="l" t="t" r="r" b="b"/>
            <a:pathLst>
              <a:path w="2333625" h="19050">
                <a:moveTo>
                  <a:pt x="0" y="0"/>
                </a:moveTo>
                <a:lnTo>
                  <a:pt x="2333625" y="0"/>
                </a:lnTo>
                <a:lnTo>
                  <a:pt x="23336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6" name="Text 34"/>
          <p:cNvSpPr/>
          <p:nvPr/>
        </p:nvSpPr>
        <p:spPr>
          <a:xfrm>
            <a:off x="8264723" y="5753100"/>
            <a:ext cx="1952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120,000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40923" y="624840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Articles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Preprocessing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116395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preprocessing strips syntactical noise to isolate core journalistic value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77826" y="2462213"/>
            <a:ext cx="4381500" cy="800100"/>
          </a:xfrm>
          <a:custGeom>
            <a:avLst/>
            <a:gdLst/>
            <a:ahLst/>
            <a:cxnLst/>
            <a:rect l="l" t="t" r="r" b="b"/>
            <a:pathLst>
              <a:path w="4381500" h="800100">
                <a:moveTo>
                  <a:pt x="0" y="0"/>
                </a:moveTo>
                <a:lnTo>
                  <a:pt x="4381500" y="0"/>
                </a:lnTo>
                <a:lnTo>
                  <a:pt x="43815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1449288" y="2614613"/>
            <a:ext cx="383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9763" y="2843213"/>
            <a:ext cx="3857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 St. Bears Claw Back Into the Black (Reuters)...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2112" y="277653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Shape 7"/>
          <p:cNvSpPr/>
          <p:nvPr/>
        </p:nvSpPr>
        <p:spPr>
          <a:xfrm>
            <a:off x="6530280" y="2538413"/>
            <a:ext cx="4486275" cy="762000"/>
          </a:xfrm>
          <a:custGeom>
            <a:avLst/>
            <a:gdLst/>
            <a:ahLst/>
            <a:cxnLst/>
            <a:rect l="l" t="t" r="r" b="b"/>
            <a:pathLst>
              <a:path w="4486275" h="762000">
                <a:moveTo>
                  <a:pt x="0" y="0"/>
                </a:moveTo>
                <a:lnTo>
                  <a:pt x="4486275" y="0"/>
                </a:lnTo>
                <a:lnTo>
                  <a:pt x="44862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10" name="Text 8"/>
          <p:cNvSpPr/>
          <p:nvPr/>
        </p:nvSpPr>
        <p:spPr>
          <a:xfrm>
            <a:off x="6725543" y="2652713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NLTK Tokenization and Normalization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58880" y="2919413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0" y="0"/>
                </a:moveTo>
                <a:lnTo>
                  <a:pt x="561975" y="0"/>
                </a:lnTo>
                <a:lnTo>
                  <a:pt x="5619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5543" y="2919413"/>
            <a:ext cx="628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[wall]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96311" y="2919413"/>
            <a:ext cx="438150" cy="266700"/>
          </a:xfrm>
          <a:custGeom>
            <a:avLst/>
            <a:gdLst/>
            <a:ahLst/>
            <a:cxnLst/>
            <a:rect l="l" t="t" r="r" b="b"/>
            <a:pathLst>
              <a:path w="438150" h="266700">
                <a:moveTo>
                  <a:pt x="0" y="0"/>
                </a:moveTo>
                <a:lnTo>
                  <a:pt x="438150" y="0"/>
                </a:lnTo>
                <a:lnTo>
                  <a:pt x="4381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7362974" y="2919413"/>
            <a:ext cx="5048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[st]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11554" y="2919413"/>
            <a:ext cx="657225" cy="266700"/>
          </a:xfrm>
          <a:custGeom>
            <a:avLst/>
            <a:gdLst/>
            <a:ahLst/>
            <a:cxnLst/>
            <a:rect l="l" t="t" r="r" b="b"/>
            <a:pathLst>
              <a:path w="657225" h="266700">
                <a:moveTo>
                  <a:pt x="0" y="0"/>
                </a:moveTo>
                <a:lnTo>
                  <a:pt x="657225" y="0"/>
                </a:lnTo>
                <a:lnTo>
                  <a:pt x="657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6" name="Text 14"/>
          <p:cNvSpPr/>
          <p:nvPr/>
        </p:nvSpPr>
        <p:spPr>
          <a:xfrm>
            <a:off x="7878217" y="2919413"/>
            <a:ext cx="7239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[bears]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43491" y="2919413"/>
            <a:ext cx="600075" cy="266700"/>
          </a:xfrm>
          <a:custGeom>
            <a:avLst/>
            <a:gdLst/>
            <a:ahLst/>
            <a:cxnLst/>
            <a:rect l="l" t="t" r="r" b="b"/>
            <a:pathLst>
              <a:path w="600075" h="266700">
                <a:moveTo>
                  <a:pt x="0" y="0"/>
                </a:moveTo>
                <a:lnTo>
                  <a:pt x="600075" y="0"/>
                </a:lnTo>
                <a:lnTo>
                  <a:pt x="6000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8" name="Text 16"/>
          <p:cNvSpPr/>
          <p:nvPr/>
        </p:nvSpPr>
        <p:spPr>
          <a:xfrm>
            <a:off x="8610154" y="2919413"/>
            <a:ext cx="666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[claw]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20213" y="2919413"/>
            <a:ext cx="647700" cy="266700"/>
          </a:xfrm>
          <a:custGeom>
            <a:avLst/>
            <a:gdLst/>
            <a:ahLst/>
            <a:cxnLst/>
            <a:rect l="l" t="t" r="r" b="b"/>
            <a:pathLst>
              <a:path w="647700" h="266700">
                <a:moveTo>
                  <a:pt x="0" y="0"/>
                </a:moveTo>
                <a:lnTo>
                  <a:pt x="647700" y="0"/>
                </a:lnTo>
                <a:lnTo>
                  <a:pt x="647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0" name="Text 18"/>
          <p:cNvSpPr/>
          <p:nvPr/>
        </p:nvSpPr>
        <p:spPr>
          <a:xfrm>
            <a:off x="9286875" y="2919413"/>
            <a:ext cx="7143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[black]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39499" y="2919413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0" y="0"/>
                </a:moveTo>
                <a:lnTo>
                  <a:pt x="742950" y="0"/>
                </a:lnTo>
                <a:lnTo>
                  <a:pt x="742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06161" y="2919413"/>
            <a:ext cx="809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[reuters]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3681413"/>
            <a:ext cx="11430000" cy="1047750"/>
          </a:xfrm>
          <a:custGeom>
            <a:avLst/>
            <a:gdLst/>
            <a:ahLst/>
            <a:cxnLst/>
            <a:rect l="l" t="t" r="r" b="b"/>
            <a:pathLst>
              <a:path w="11430000" h="1047750">
                <a:moveTo>
                  <a:pt x="0" y="0"/>
                </a:moveTo>
                <a:lnTo>
                  <a:pt x="11430000" y="0"/>
                </a:lnTo>
                <a:lnTo>
                  <a:pt x="114300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638175" y="39481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3910013"/>
            <a:ext cx="925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Takeaway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7750" y="4252913"/>
            <a:ext cx="9248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Reducing dimensionality guarantees that algorithmic pattern recognition focuses strictly on </a:t>
            </a:r>
            <a:r>
              <a:rPr lang="en-US" sz="120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thematic terminologies</a:t>
            </a:r>
            <a:r>
              <a:rPr lang="en-US" sz="12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grammatical filler.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905000" y="49577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095500" y="51482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114300"/>
                </a:moveTo>
                <a:lnTo>
                  <a:pt x="68089" y="131936"/>
                </a:lnTo>
                <a:cubicBezTo>
                  <a:pt x="62463" y="129748"/>
                  <a:pt x="56391" y="128588"/>
                  <a:pt x="50006" y="128588"/>
                </a:cubicBezTo>
                <a:cubicBezTo>
                  <a:pt x="22369" y="128588"/>
                  <a:pt x="0" y="150956"/>
                  <a:pt x="0" y="178594"/>
                </a:cubicBezTo>
                <a:cubicBezTo>
                  <a:pt x="0" y="206231"/>
                  <a:pt x="22369" y="228600"/>
                  <a:pt x="50006" y="228600"/>
                </a:cubicBezTo>
                <a:cubicBezTo>
                  <a:pt x="77644" y="228600"/>
                  <a:pt x="100013" y="206231"/>
                  <a:pt x="100013" y="178594"/>
                </a:cubicBezTo>
                <a:cubicBezTo>
                  <a:pt x="100013" y="172209"/>
                  <a:pt x="98807" y="166137"/>
                  <a:pt x="96664" y="160511"/>
                </a:cubicBezTo>
                <a:lnTo>
                  <a:pt x="222885" y="34290"/>
                </a:lnTo>
                <a:cubicBezTo>
                  <a:pt x="226055" y="31120"/>
                  <a:pt x="226055" y="26030"/>
                  <a:pt x="222885" y="22860"/>
                </a:cubicBezTo>
                <a:cubicBezTo>
                  <a:pt x="210249" y="10224"/>
                  <a:pt x="189801" y="10224"/>
                  <a:pt x="177165" y="22860"/>
                </a:cubicBezTo>
                <a:lnTo>
                  <a:pt x="114300" y="85725"/>
                </a:lnTo>
                <a:lnTo>
                  <a:pt x="96664" y="68089"/>
                </a:lnTo>
                <a:cubicBezTo>
                  <a:pt x="98852" y="62463"/>
                  <a:pt x="100013" y="56391"/>
                  <a:pt x="100013" y="50006"/>
                </a:cubicBez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cubicBezTo>
                  <a:pt x="0" y="77644"/>
                  <a:pt x="22369" y="100013"/>
                  <a:pt x="50006" y="100013"/>
                </a:cubicBezTo>
                <a:cubicBezTo>
                  <a:pt x="56391" y="100013"/>
                  <a:pt x="62463" y="98807"/>
                  <a:pt x="68089" y="96664"/>
                </a:cubicBezTo>
                <a:lnTo>
                  <a:pt x="85725" y="114300"/>
                </a:lnTo>
                <a:close/>
                <a:moveTo>
                  <a:pt x="129436" y="158011"/>
                </a:moveTo>
                <a:lnTo>
                  <a:pt x="177165" y="205740"/>
                </a:lnTo>
                <a:cubicBezTo>
                  <a:pt x="189801" y="218376"/>
                  <a:pt x="210249" y="218376"/>
                  <a:pt x="222885" y="205740"/>
                </a:cubicBezTo>
                <a:cubicBezTo>
                  <a:pt x="226055" y="202570"/>
                  <a:pt x="226055" y="197480"/>
                  <a:pt x="222885" y="194310"/>
                </a:cubicBezTo>
                <a:lnTo>
                  <a:pt x="158011" y="129436"/>
                </a:lnTo>
                <a:lnTo>
                  <a:pt x="129436" y="158011"/>
                </a:lnTo>
                <a:close/>
                <a:moveTo>
                  <a:pt x="28575" y="50006"/>
                </a:moveTo>
                <a:cubicBezTo>
                  <a:pt x="28575" y="38178"/>
                  <a:pt x="38178" y="28575"/>
                  <a:pt x="50006" y="28575"/>
                </a:cubicBezTo>
                <a:cubicBezTo>
                  <a:pt x="61834" y="28575"/>
                  <a:pt x="71438" y="38178"/>
                  <a:pt x="71438" y="50006"/>
                </a:cubicBezTo>
                <a:cubicBezTo>
                  <a:pt x="71438" y="61834"/>
                  <a:pt x="61834" y="71438"/>
                  <a:pt x="50006" y="71438"/>
                </a:cubicBezTo>
                <a:cubicBezTo>
                  <a:pt x="38178" y="71438"/>
                  <a:pt x="28575" y="61834"/>
                  <a:pt x="28575" y="50006"/>
                </a:cubicBezTo>
                <a:close/>
                <a:moveTo>
                  <a:pt x="50006" y="157163"/>
                </a:moveTo>
                <a:cubicBezTo>
                  <a:pt x="61834" y="157163"/>
                  <a:pt x="71438" y="166766"/>
                  <a:pt x="71438" y="178594"/>
                </a:cubicBezTo>
                <a:cubicBezTo>
                  <a:pt x="71438" y="190422"/>
                  <a:pt x="61834" y="200025"/>
                  <a:pt x="50006" y="200025"/>
                </a:cubicBezTo>
                <a:cubicBezTo>
                  <a:pt x="38178" y="200025"/>
                  <a:pt x="28575" y="190422"/>
                  <a:pt x="28575" y="178594"/>
                </a:cubicBezTo>
                <a:cubicBezTo>
                  <a:pt x="28575" y="166766"/>
                  <a:pt x="38178" y="157163"/>
                  <a:pt x="50006" y="157163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" y="5681663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7663" y="5948363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 text into units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91200" y="49577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67413" y="514826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859" y="14288"/>
                </a:moveTo>
                <a:cubicBezTo>
                  <a:pt x="7992" y="14288"/>
                  <a:pt x="0" y="22280"/>
                  <a:pt x="0" y="32147"/>
                </a:cubicBezTo>
                <a:lnTo>
                  <a:pt x="0" y="57150"/>
                </a:lnTo>
                <a:cubicBezTo>
                  <a:pt x="0" y="65053"/>
                  <a:pt x="6385" y="71438"/>
                  <a:pt x="14288" y="71438"/>
                </a:cubicBezTo>
                <a:cubicBezTo>
                  <a:pt x="22190" y="71438"/>
                  <a:pt x="28575" y="65053"/>
                  <a:pt x="28575" y="57150"/>
                </a:cubicBezTo>
                <a:lnTo>
                  <a:pt x="28575" y="42863"/>
                </a:lnTo>
                <a:lnTo>
                  <a:pt x="57150" y="42863"/>
                </a:lnTo>
                <a:lnTo>
                  <a:pt x="57150" y="185738"/>
                </a:lnTo>
                <a:lnTo>
                  <a:pt x="42863" y="185738"/>
                </a:lnTo>
                <a:cubicBezTo>
                  <a:pt x="34960" y="185738"/>
                  <a:pt x="28575" y="192122"/>
                  <a:pt x="28575" y="200025"/>
                </a:cubicBezTo>
                <a:cubicBezTo>
                  <a:pt x="28575" y="207928"/>
                  <a:pt x="34960" y="214313"/>
                  <a:pt x="42863" y="214313"/>
                </a:cubicBezTo>
                <a:lnTo>
                  <a:pt x="100013" y="214313"/>
                </a:lnTo>
                <a:cubicBezTo>
                  <a:pt x="107915" y="214313"/>
                  <a:pt x="114300" y="207928"/>
                  <a:pt x="114300" y="200025"/>
                </a:cubicBezTo>
                <a:cubicBezTo>
                  <a:pt x="114300" y="192122"/>
                  <a:pt x="107915" y="185738"/>
                  <a:pt x="100013" y="185738"/>
                </a:cubicBezTo>
                <a:lnTo>
                  <a:pt x="85725" y="185738"/>
                </a:lnTo>
                <a:lnTo>
                  <a:pt x="85725" y="42863"/>
                </a:lnTo>
                <a:lnTo>
                  <a:pt x="114300" y="42863"/>
                </a:lnTo>
                <a:lnTo>
                  <a:pt x="114300" y="57150"/>
                </a:lnTo>
                <a:cubicBezTo>
                  <a:pt x="114300" y="65053"/>
                  <a:pt x="120685" y="71438"/>
                  <a:pt x="128588" y="71438"/>
                </a:cubicBezTo>
                <a:cubicBezTo>
                  <a:pt x="136490" y="71438"/>
                  <a:pt x="142875" y="65053"/>
                  <a:pt x="142875" y="57150"/>
                </a:cubicBezTo>
                <a:lnTo>
                  <a:pt x="142875" y="32147"/>
                </a:lnTo>
                <a:cubicBezTo>
                  <a:pt x="142875" y="22280"/>
                  <a:pt x="134883" y="14288"/>
                  <a:pt x="125016" y="14288"/>
                </a:cubicBezTo>
                <a:lnTo>
                  <a:pt x="17859" y="14288"/>
                </a:lnTo>
                <a:close/>
                <a:moveTo>
                  <a:pt x="195828" y="161359"/>
                </a:moveTo>
                <a:cubicBezTo>
                  <a:pt x="190247" y="155778"/>
                  <a:pt x="181183" y="155778"/>
                  <a:pt x="175602" y="161359"/>
                </a:cubicBezTo>
                <a:cubicBezTo>
                  <a:pt x="170021" y="166941"/>
                  <a:pt x="170021" y="176004"/>
                  <a:pt x="175602" y="181585"/>
                </a:cubicBezTo>
                <a:lnTo>
                  <a:pt x="204177" y="210160"/>
                </a:lnTo>
                <a:cubicBezTo>
                  <a:pt x="209758" y="215741"/>
                  <a:pt x="218822" y="215741"/>
                  <a:pt x="224403" y="210160"/>
                </a:cubicBezTo>
                <a:lnTo>
                  <a:pt x="252978" y="181585"/>
                </a:lnTo>
                <a:cubicBezTo>
                  <a:pt x="258559" y="176004"/>
                  <a:pt x="258559" y="166941"/>
                  <a:pt x="252978" y="161359"/>
                </a:cubicBezTo>
                <a:cubicBezTo>
                  <a:pt x="247397" y="155778"/>
                  <a:pt x="238333" y="155778"/>
                  <a:pt x="232752" y="161359"/>
                </a:cubicBezTo>
                <a:lnTo>
                  <a:pt x="228555" y="165556"/>
                </a:lnTo>
                <a:lnTo>
                  <a:pt x="228555" y="63088"/>
                </a:lnTo>
                <a:lnTo>
                  <a:pt x="232752" y="67285"/>
                </a:lnTo>
                <a:cubicBezTo>
                  <a:pt x="238333" y="72866"/>
                  <a:pt x="247397" y="72866"/>
                  <a:pt x="252978" y="67285"/>
                </a:cubicBezTo>
                <a:cubicBezTo>
                  <a:pt x="258559" y="61704"/>
                  <a:pt x="258559" y="52641"/>
                  <a:pt x="252978" y="47059"/>
                </a:cubicBezTo>
                <a:lnTo>
                  <a:pt x="224403" y="18484"/>
                </a:lnTo>
                <a:cubicBezTo>
                  <a:pt x="221724" y="15806"/>
                  <a:pt x="218108" y="14287"/>
                  <a:pt x="214313" y="14287"/>
                </a:cubicBezTo>
                <a:cubicBezTo>
                  <a:pt x="210517" y="14287"/>
                  <a:pt x="206901" y="15806"/>
                  <a:pt x="204222" y="18484"/>
                </a:cubicBezTo>
                <a:lnTo>
                  <a:pt x="175647" y="47059"/>
                </a:lnTo>
                <a:cubicBezTo>
                  <a:pt x="170066" y="52641"/>
                  <a:pt x="170066" y="61704"/>
                  <a:pt x="175647" y="67285"/>
                </a:cubicBezTo>
                <a:cubicBezTo>
                  <a:pt x="181228" y="72866"/>
                  <a:pt x="190292" y="72866"/>
                  <a:pt x="195873" y="67285"/>
                </a:cubicBezTo>
                <a:lnTo>
                  <a:pt x="200070" y="63088"/>
                </a:lnTo>
                <a:lnTo>
                  <a:pt x="200070" y="165556"/>
                </a:lnTo>
                <a:lnTo>
                  <a:pt x="195873" y="161359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3" name="Text 31"/>
          <p:cNvSpPr/>
          <p:nvPr/>
        </p:nvSpPr>
        <p:spPr>
          <a:xfrm>
            <a:off x="4229100" y="5681663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33863" y="5948363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 forms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77400" y="49577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36" name="Shape 34"/>
          <p:cNvSpPr/>
          <p:nvPr/>
        </p:nvSpPr>
        <p:spPr>
          <a:xfrm>
            <a:off x="9867900" y="51482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6230" y="3125"/>
                </a:moveTo>
                <a:cubicBezTo>
                  <a:pt x="200427" y="-1072"/>
                  <a:pt x="207213" y="-1072"/>
                  <a:pt x="211366" y="3125"/>
                </a:cubicBezTo>
                <a:lnTo>
                  <a:pt x="225653" y="17413"/>
                </a:lnTo>
                <a:cubicBezTo>
                  <a:pt x="229850" y="21610"/>
                  <a:pt x="229850" y="28396"/>
                  <a:pt x="225653" y="32549"/>
                </a:cubicBezTo>
                <a:lnTo>
                  <a:pt x="186809" y="71393"/>
                </a:lnTo>
                <a:lnTo>
                  <a:pt x="204222" y="88806"/>
                </a:lnTo>
                <a:cubicBezTo>
                  <a:pt x="207303" y="91886"/>
                  <a:pt x="208196" y="96485"/>
                  <a:pt x="206544" y="100504"/>
                </a:cubicBezTo>
                <a:cubicBezTo>
                  <a:pt x="204892" y="104522"/>
                  <a:pt x="201007" y="107156"/>
                  <a:pt x="196676" y="107156"/>
                </a:cubicBezTo>
                <a:lnTo>
                  <a:pt x="132383" y="107156"/>
                </a:lnTo>
                <a:cubicBezTo>
                  <a:pt x="126444" y="107156"/>
                  <a:pt x="121667" y="102379"/>
                  <a:pt x="121667" y="96441"/>
                </a:cubicBezTo>
                <a:lnTo>
                  <a:pt x="121667" y="32147"/>
                </a:lnTo>
                <a:cubicBezTo>
                  <a:pt x="121667" y="27816"/>
                  <a:pt x="124257" y="23887"/>
                  <a:pt x="128275" y="22235"/>
                </a:cubicBezTo>
                <a:cubicBezTo>
                  <a:pt x="132293" y="20583"/>
                  <a:pt x="136892" y="21476"/>
                  <a:pt x="139973" y="24557"/>
                </a:cubicBezTo>
                <a:lnTo>
                  <a:pt x="157386" y="41970"/>
                </a:lnTo>
                <a:lnTo>
                  <a:pt x="196230" y="3125"/>
                </a:lnTo>
                <a:close/>
                <a:moveTo>
                  <a:pt x="32370" y="121444"/>
                </a:moveTo>
                <a:lnTo>
                  <a:pt x="96664" y="121444"/>
                </a:lnTo>
                <a:cubicBezTo>
                  <a:pt x="102602" y="121444"/>
                  <a:pt x="107379" y="126221"/>
                  <a:pt x="107379" y="132159"/>
                </a:cubicBezTo>
                <a:lnTo>
                  <a:pt x="107379" y="196453"/>
                </a:lnTo>
                <a:cubicBezTo>
                  <a:pt x="107379" y="200784"/>
                  <a:pt x="104790" y="204713"/>
                  <a:pt x="100772" y="206365"/>
                </a:cubicBezTo>
                <a:cubicBezTo>
                  <a:pt x="96753" y="208017"/>
                  <a:pt x="92154" y="207124"/>
                  <a:pt x="89074" y="204043"/>
                </a:cubicBezTo>
                <a:lnTo>
                  <a:pt x="71661" y="186630"/>
                </a:lnTo>
                <a:lnTo>
                  <a:pt x="32817" y="225475"/>
                </a:lnTo>
                <a:cubicBezTo>
                  <a:pt x="28620" y="229672"/>
                  <a:pt x="21833" y="229672"/>
                  <a:pt x="17681" y="225475"/>
                </a:cubicBezTo>
                <a:lnTo>
                  <a:pt x="3393" y="211187"/>
                </a:lnTo>
                <a:cubicBezTo>
                  <a:pt x="-804" y="206990"/>
                  <a:pt x="-804" y="200204"/>
                  <a:pt x="3393" y="196051"/>
                </a:cubicBezTo>
                <a:lnTo>
                  <a:pt x="42237" y="157207"/>
                </a:lnTo>
                <a:lnTo>
                  <a:pt x="24825" y="139794"/>
                </a:lnTo>
                <a:cubicBezTo>
                  <a:pt x="21744" y="136714"/>
                  <a:pt x="20851" y="132115"/>
                  <a:pt x="22503" y="128096"/>
                </a:cubicBezTo>
                <a:cubicBezTo>
                  <a:pt x="24155" y="124078"/>
                  <a:pt x="28039" y="121444"/>
                  <a:pt x="32370" y="121444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7" name="Text 35"/>
          <p:cNvSpPr/>
          <p:nvPr/>
        </p:nvSpPr>
        <p:spPr>
          <a:xfrm>
            <a:off x="8115300" y="5681663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20063" y="5948363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noise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Mining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116395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modular intelligence engine overcomes the limitations of single-technique mining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2138363"/>
            <a:ext cx="3657600" cy="28575"/>
          </a:xfrm>
          <a:custGeom>
            <a:avLst/>
            <a:gdLst/>
            <a:ahLst/>
            <a:cxnLst/>
            <a:rect l="l" t="t" r="r" b="b"/>
            <a:pathLst>
              <a:path w="3657600" h="28575">
                <a:moveTo>
                  <a:pt x="0" y="0"/>
                </a:moveTo>
                <a:lnTo>
                  <a:pt x="3657600" y="0"/>
                </a:lnTo>
                <a:lnTo>
                  <a:pt x="36576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000" y="2343150"/>
            <a:ext cx="533400" cy="5334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381000" y="302895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 Mining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37185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(Apriori)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71475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394335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Uncovering latent relationships and co-occurring terms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455295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478155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Detecting entity trajectories (e.g., "Economic Reform" + "Policy Shifts" at 85% confidence)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67200" y="2138363"/>
            <a:ext cx="3657600" cy="28575"/>
          </a:xfrm>
          <a:custGeom>
            <a:avLst/>
            <a:gdLst/>
            <a:ahLst/>
            <a:cxnLst/>
            <a:rect l="l" t="t" r="r" b="b"/>
            <a:pathLst>
              <a:path w="3657600" h="28575">
                <a:moveTo>
                  <a:pt x="0" y="0"/>
                </a:moveTo>
                <a:lnTo>
                  <a:pt x="3657600" y="0"/>
                </a:lnTo>
                <a:lnTo>
                  <a:pt x="36576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67200" y="2343150"/>
            <a:ext cx="533400" cy="533400"/>
          </a:xfrm>
          <a:prstGeom prst="roundRect">
            <a:avLst>
              <a:gd name="adj" fmla="val 0"/>
            </a:avLst>
          </a:prstGeom>
        </p:spPr>
      </p:pic>
      <p:sp>
        <p:nvSpPr>
          <p:cNvPr id="15" name="Text 11"/>
          <p:cNvSpPr/>
          <p:nvPr/>
        </p:nvSpPr>
        <p:spPr>
          <a:xfrm>
            <a:off x="4267200" y="302895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Clustering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267200" y="337185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(K-Means / DBSCAN)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267200" y="371475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267200" y="394335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Discovering novel topics without human labels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267200" y="432435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267200" y="455295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Organically mapping semantic structure and filtering noise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153400" y="2138363"/>
            <a:ext cx="3657600" cy="28575"/>
          </a:xfrm>
          <a:custGeom>
            <a:avLst/>
            <a:gdLst/>
            <a:ahLst/>
            <a:cxnLst/>
            <a:rect l="l" t="t" r="r" b="b"/>
            <a:pathLst>
              <a:path w="3657600" h="28575">
                <a:moveTo>
                  <a:pt x="0" y="0"/>
                </a:moveTo>
                <a:lnTo>
                  <a:pt x="3657600" y="0"/>
                </a:lnTo>
                <a:lnTo>
                  <a:pt x="36576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A8A29E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153400" y="2343150"/>
            <a:ext cx="533400" cy="533400"/>
          </a:xfrm>
          <a:prstGeom prst="roundRect">
            <a:avLst>
              <a:gd name="adj" fmla="val 0"/>
            </a:avLst>
          </a:prstGeom>
        </p:spPr>
      </p:pic>
      <p:sp>
        <p:nvSpPr>
          <p:cNvPr id="23" name="Text 18"/>
          <p:cNvSpPr/>
          <p:nvPr/>
        </p:nvSpPr>
        <p:spPr>
          <a:xfrm>
            <a:off x="8153400" y="302895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Classification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153400" y="337185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(Random Forest / SVM)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153400" y="371475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153400" y="394335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Categorising domains and learning sentiment orientation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153400" y="455295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153400" y="478155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automated temperature checks across high-volume streams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Clustering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5524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Density-based filtering autonomously separates developing stories from ephemeral noise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5288" y="3657600"/>
            <a:ext cx="28575" cy="561975"/>
          </a:xfrm>
          <a:custGeom>
            <a:avLst/>
            <a:gdLst/>
            <a:ahLst/>
            <a:cxnLst/>
            <a:rect l="l" t="t" r="r" b="b"/>
            <a:pathLst>
              <a:path w="28575" h="561975">
                <a:moveTo>
                  <a:pt x="0" y="0"/>
                </a:moveTo>
                <a:lnTo>
                  <a:pt x="28575" y="0"/>
                </a:lnTo>
                <a:lnTo>
                  <a:pt x="285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600075" y="3657600"/>
            <a:ext cx="5200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Executing </a:t>
            </a: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 and DBSCAN clustering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identifies natural algorithmic groupings in the text vectors.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5288" y="4443413"/>
            <a:ext cx="28575" cy="561975"/>
          </a:xfrm>
          <a:custGeom>
            <a:avLst/>
            <a:gdLst/>
            <a:ahLst/>
            <a:cxnLst/>
            <a:rect l="l" t="t" r="r" b="b"/>
            <a:pathLst>
              <a:path w="28575" h="561975">
                <a:moveTo>
                  <a:pt x="0" y="0"/>
                </a:moveTo>
                <a:lnTo>
                  <a:pt x="28575" y="0"/>
                </a:lnTo>
                <a:lnTo>
                  <a:pt x="285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Text 6"/>
          <p:cNvSpPr/>
          <p:nvPr/>
        </p:nvSpPr>
        <p:spPr>
          <a:xfrm>
            <a:off x="600075" y="4443413"/>
            <a:ext cx="5200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allows the system to discover novel topics organically without relying on human-labelled constraints.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5553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" y="545782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Density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" y="5648325"/>
            <a:ext cx="140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Rapidly Developing Stories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24385" y="5553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91085" y="54578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Density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91085" y="5648325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Ephemeral Background Noise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3" b="8333"/>
          <a:stretch/>
        </p:blipFill>
        <p:spPr>
          <a:xfrm>
            <a:off x="6096000" y="1047750"/>
            <a:ext cx="5715000" cy="47625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Predictive Analytics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116395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mining uncovers hidden entity relationships and categorises sentiment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000" y="2764631"/>
            <a:ext cx="609600" cy="609600"/>
          </a:xfrm>
          <a:prstGeom prst="roundRect">
            <a:avLst>
              <a:gd name="adj" fmla="val 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381000" y="3526631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Association Mining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07631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(Apriori)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26731"/>
            <a:ext cx="5610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Discovering hidden relationships between entities and detecting sudden sentiment shifts across the corpus.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36344"/>
            <a:ext cx="5524500" cy="800100"/>
          </a:xfrm>
          <a:custGeom>
            <a:avLst/>
            <a:gdLst/>
            <a:ahLst/>
            <a:cxnLst/>
            <a:rect l="l" t="t" r="r" b="b"/>
            <a:pathLst>
              <a:path w="5524500" h="800100">
                <a:moveTo>
                  <a:pt x="38101" y="0"/>
                </a:moveTo>
                <a:lnTo>
                  <a:pt x="5486399" y="0"/>
                </a:lnTo>
                <a:cubicBezTo>
                  <a:pt x="5507442" y="0"/>
                  <a:pt x="5524500" y="17058"/>
                  <a:pt x="5524500" y="38101"/>
                </a:cubicBezTo>
                <a:lnTo>
                  <a:pt x="5524500" y="761999"/>
                </a:lnTo>
                <a:cubicBezTo>
                  <a:pt x="5524500" y="783042"/>
                  <a:pt x="5507442" y="800100"/>
                  <a:pt x="548639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" y="5188744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Discovery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3400" y="5455444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 A → Entity C → Entity B trajectory mapping with confidence scoring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86500" y="3069431"/>
            <a:ext cx="609600" cy="609600"/>
          </a:xfrm>
          <a:prstGeom prst="roundRect">
            <a:avLst>
              <a:gd name="adj" fmla="val 0"/>
            </a:avLst>
          </a:prstGeom>
        </p:spPr>
      </p:pic>
      <p:sp>
        <p:nvSpPr>
          <p:cNvPr id="13" name="Text 9"/>
          <p:cNvSpPr/>
          <p:nvPr/>
        </p:nvSpPr>
        <p:spPr>
          <a:xfrm>
            <a:off x="6286500" y="3831431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Sentiment Categorization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86500" y="4212431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(Random Forest / SVM)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286500" y="4631531"/>
            <a:ext cx="5610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Providing an instant, automated temperature check by classifying news by sentiment polarity with high mathematical accuracy.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86500" y="537924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7" name="Text 13"/>
          <p:cNvSpPr/>
          <p:nvPr/>
        </p:nvSpPr>
        <p:spPr>
          <a:xfrm>
            <a:off x="6477000" y="5341144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Sentiment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806928" y="537924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9" name="Text 15"/>
          <p:cNvSpPr/>
          <p:nvPr/>
        </p:nvSpPr>
        <p:spPr>
          <a:xfrm>
            <a:off x="7997428" y="5341144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 Sentiment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482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/ Validation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495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mathematical validation guarantees the integrity of the underlying retrieval layer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5288" y="2981325"/>
            <a:ext cx="28575" cy="685800"/>
          </a:xfrm>
          <a:custGeom>
            <a:avLst/>
            <a:gdLst/>
            <a:ahLst/>
            <a:cxnLst/>
            <a:rect l="l" t="t" r="r" b="b"/>
            <a:pathLst>
              <a:path w="28575" h="685800">
                <a:moveTo>
                  <a:pt x="0" y="0"/>
                </a:moveTo>
                <a:lnTo>
                  <a:pt x="28575" y="0"/>
                </a:lnTo>
                <a:lnTo>
                  <a:pt x="2857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600075" y="2981325"/>
            <a:ext cx="46577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Mining is only as reliable as the underlying Information Retrieval.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5288" y="3895725"/>
            <a:ext cx="28575" cy="838200"/>
          </a:xfrm>
          <a:custGeom>
            <a:avLst/>
            <a:gdLst/>
            <a:ahLst/>
            <a:cxnLst/>
            <a:rect l="l" t="t" r="r" b="b"/>
            <a:pathLst>
              <a:path w="28575" h="838200">
                <a:moveTo>
                  <a:pt x="0" y="0"/>
                </a:moveTo>
                <a:lnTo>
                  <a:pt x="28575" y="0"/>
                </a:lnTo>
                <a:lnTo>
                  <a:pt x="28575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Text 6"/>
          <p:cNvSpPr/>
          <p:nvPr/>
        </p:nvSpPr>
        <p:spPr>
          <a:xfrm>
            <a:off x="600075" y="3895725"/>
            <a:ext cx="46291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Proving mathematical accuracy via continuous validation metrics against real and synthetic queries ensures integrity is locked in before complex algorithmic mining occurs.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5112544"/>
            <a:ext cx="4762500" cy="1390650"/>
          </a:xfrm>
          <a:custGeom>
            <a:avLst/>
            <a:gdLst/>
            <a:ahLst/>
            <a:cxnLst/>
            <a:rect l="l" t="t" r="r" b="b"/>
            <a:pathLst>
              <a:path w="4762500" h="1390650">
                <a:moveTo>
                  <a:pt x="0" y="0"/>
                </a:moveTo>
                <a:lnTo>
                  <a:pt x="4762500" y="0"/>
                </a:lnTo>
                <a:lnTo>
                  <a:pt x="47625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" y="5303044"/>
            <a:ext cx="444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XAI Mandate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5569744"/>
            <a:ext cx="4457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 (via Ollama/LM Studio) are entirely isolated from external internet generation. They operate purely via a Retrieval-Augmented Generation (RAG) flow.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4500" y="1190625"/>
            <a:ext cx="6286500" cy="3314700"/>
          </a:xfrm>
          <a:custGeom>
            <a:avLst/>
            <a:gdLst/>
            <a:ahLst/>
            <a:cxnLst/>
            <a:rect l="l" t="t" r="r" b="b"/>
            <a:pathLst>
              <a:path w="6286500" h="3314700">
                <a:moveTo>
                  <a:pt x="0" y="0"/>
                </a:moveTo>
                <a:lnTo>
                  <a:pt x="6286500" y="0"/>
                </a:lnTo>
                <a:lnTo>
                  <a:pt x="6286500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solidFill>
            <a:srgbClr val="F5F4F0"/>
          </a:solidFill>
          <a:ln/>
        </p:spPr>
      </p:sp>
      <p:pic>
        <p:nvPicPr>
          <p:cNvPr id="13" name="Image 0" descr="https://kimi-img.moonshot.cn/pub/slides/26-03-14-15:13:59-d6qgldvvg7e1pqrqthb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53100" y="1419225"/>
            <a:ext cx="5829300" cy="2857500"/>
          </a:xfrm>
          <a:prstGeom prst="roundRect">
            <a:avLst>
              <a:gd name="adj" fmla="val 0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5529263" y="4738688"/>
            <a:ext cx="3057525" cy="923925"/>
          </a:xfrm>
          <a:custGeom>
            <a:avLst/>
            <a:gdLst/>
            <a:ahLst/>
            <a:cxnLst/>
            <a:rect l="l" t="t" r="r" b="b"/>
            <a:pathLst>
              <a:path w="3057525" h="923925">
                <a:moveTo>
                  <a:pt x="0" y="0"/>
                </a:moveTo>
                <a:lnTo>
                  <a:pt x="3057525" y="0"/>
                </a:lnTo>
                <a:lnTo>
                  <a:pt x="3057525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00700" y="4895850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53088" y="531495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48713" y="4738688"/>
            <a:ext cx="3057525" cy="923925"/>
          </a:xfrm>
          <a:custGeom>
            <a:avLst/>
            <a:gdLst/>
            <a:ahLst/>
            <a:cxnLst/>
            <a:rect l="l" t="t" r="r" b="b"/>
            <a:pathLst>
              <a:path w="3057525" h="923925">
                <a:moveTo>
                  <a:pt x="0" y="0"/>
                </a:moveTo>
                <a:lnTo>
                  <a:pt x="3057525" y="0"/>
                </a:lnTo>
                <a:lnTo>
                  <a:pt x="3057525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20150" y="4895850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872538" y="531495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  <a:lnTo>
                  <a:pt x="609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4292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/ User Interface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116395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analytics dashboard translates high-dimensional mathematical matrices into user-facing 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2124075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23145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Shape 5"/>
          <p:cNvSpPr/>
          <p:nvPr/>
        </p:nvSpPr>
        <p:spPr>
          <a:xfrm>
            <a:off x="657225" y="24288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2276475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Keyword Frequency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2581275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Charts and topic prominence visualization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114675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3305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2" name="Shape 10"/>
          <p:cNvSpPr/>
          <p:nvPr/>
        </p:nvSpPr>
        <p:spPr>
          <a:xfrm>
            <a:off x="657225" y="34194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3267075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Trend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357187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Tracking article volume over time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4105275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33400" y="4295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7225" y="44100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4257675"/>
            <a:ext cx="367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Rank Group Separation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800" y="4562475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Contrasting high-relevance versus low-relevance sets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5095875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5F4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3400" y="5286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Shape 20"/>
          <p:cNvSpPr/>
          <p:nvPr/>
        </p:nvSpPr>
        <p:spPr>
          <a:xfrm>
            <a:off x="657225" y="54006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" y="5248275"/>
            <a:ext cx="458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UI Triggers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6800" y="555307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Running real-time algorithmic demonstrations on the frozen dataset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86500" y="2124075"/>
            <a:ext cx="5524500" cy="4438650"/>
          </a:xfrm>
          <a:custGeom>
            <a:avLst/>
            <a:gdLst/>
            <a:ahLst/>
            <a:cxnLst/>
            <a:rect l="l" t="t" r="r" b="b"/>
            <a:pathLst>
              <a:path w="5524500" h="4438650">
                <a:moveTo>
                  <a:pt x="0" y="0"/>
                </a:moveTo>
                <a:lnTo>
                  <a:pt x="5524500" y="0"/>
                </a:lnTo>
                <a:lnTo>
                  <a:pt x="5524500" y="4438650"/>
                </a:lnTo>
                <a:lnTo>
                  <a:pt x="0" y="443865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5100" y="2624138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  <a:lnTo>
                  <a:pt x="50673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A5A5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15100" y="23526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8" name="Shape 26"/>
          <p:cNvSpPr/>
          <p:nvPr/>
        </p:nvSpPr>
        <p:spPr>
          <a:xfrm>
            <a:off x="6705600" y="23526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9" name="Shape 27"/>
          <p:cNvSpPr/>
          <p:nvPr/>
        </p:nvSpPr>
        <p:spPr>
          <a:xfrm>
            <a:off x="6896100" y="23526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8A29E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10800" y="2371725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0" y="0"/>
                </a:moveTo>
                <a:lnTo>
                  <a:pt x="609600" y="0"/>
                </a:lnTo>
                <a:lnTo>
                  <a:pt x="609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A5A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0" y="2371725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0" y="0"/>
                </a:moveTo>
                <a:lnTo>
                  <a:pt x="609600" y="0"/>
                </a:lnTo>
                <a:lnTo>
                  <a:pt x="609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5100" y="278130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Keyword Frequencies</a:t>
            </a:r>
            <a:endParaRPr lang="en-US" sz="1600" dirty="0"/>
          </a:p>
        </p:txBody>
      </p:sp>
      <p:pic>
        <p:nvPicPr>
          <p:cNvPr id="33" name="Image 0" descr="https://kimi-img.moonshot.cn/pub/slides/26-03-14-15:14:00-d6qgle4bcdrsrv6751p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15100" y="3124200"/>
            <a:ext cx="5067300" cy="2095500"/>
          </a:xfrm>
          <a:prstGeom prst="roundRect">
            <a:avLst>
              <a:gd name="adj" fmla="val 0"/>
            </a:avLst>
          </a:prstGeom>
        </p:spPr>
      </p:pic>
      <p:sp>
        <p:nvSpPr>
          <p:cNvPr id="34" name="Shape 31"/>
          <p:cNvSpPr/>
          <p:nvPr/>
        </p:nvSpPr>
        <p:spPr>
          <a:xfrm>
            <a:off x="6515100" y="5376863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  <a:lnTo>
                  <a:pt x="50673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A5A5A"/>
          </a:solidFill>
          <a:ln/>
        </p:spPr>
      </p:sp>
      <p:sp>
        <p:nvSpPr>
          <p:cNvPr id="35" name="Text 32"/>
          <p:cNvSpPr/>
          <p:nvPr/>
        </p:nvSpPr>
        <p:spPr>
          <a:xfrm>
            <a:off x="6515100" y="5534025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Metrics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515100" y="5838825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731448" y="5838825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105900" y="5838825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Time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52299" y="5838825"/>
            <a:ext cx="400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3:45s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515100" y="6143625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Lowest CTR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362057" y="6143625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min ago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105900" y="6143625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Time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952857" y="6143625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min ago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4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14750" y="1047750"/>
            <a:ext cx="4762500" cy="47625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5638800" y="1524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1"/>
          <p:cNvSpPr/>
          <p:nvPr/>
        </p:nvSpPr>
        <p:spPr>
          <a:xfrm>
            <a:off x="2628900" y="552450"/>
            <a:ext cx="6934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Noise to Knowledge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05100" y="1524000"/>
            <a:ext cx="678180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 transforms overwhelming unstructured news data into actionable, mathematically grounded intelligence—enabling journalism analytics, brand monitoring, and real-time event tracking with complete offline reliability and transparent explainability.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20667" y="38385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Shape 4"/>
          <p:cNvSpPr/>
          <p:nvPr/>
        </p:nvSpPr>
        <p:spPr>
          <a:xfrm>
            <a:off x="4811167" y="4029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85738"/>
                </a:moveTo>
                <a:lnTo>
                  <a:pt x="0" y="53578"/>
                </a:lnTo>
                <a:cubicBezTo>
                  <a:pt x="0" y="47640"/>
                  <a:pt x="4777" y="42863"/>
                  <a:pt x="10716" y="42863"/>
                </a:cubicBezTo>
                <a:cubicBezTo>
                  <a:pt x="16654" y="42863"/>
                  <a:pt x="21431" y="47640"/>
                  <a:pt x="21431" y="53578"/>
                </a:cubicBezTo>
                <a:lnTo>
                  <a:pt x="21431" y="182166"/>
                </a:lnTo>
                <a:cubicBezTo>
                  <a:pt x="21431" y="188104"/>
                  <a:pt x="26209" y="192881"/>
                  <a:pt x="32147" y="192881"/>
                </a:cubicBezTo>
                <a:cubicBezTo>
                  <a:pt x="38085" y="192881"/>
                  <a:pt x="42863" y="188104"/>
                  <a:pt x="42863" y="182166"/>
                </a:cubicBezTo>
                <a:lnTo>
                  <a:pt x="42863" y="42863"/>
                </a:lnTo>
                <a:cubicBezTo>
                  <a:pt x="42863" y="27102"/>
                  <a:pt x="55677" y="14288"/>
                  <a:pt x="71438" y="14288"/>
                </a:cubicBezTo>
                <a:lnTo>
                  <a:pt x="200025" y="14288"/>
                </a:lnTo>
                <a:cubicBezTo>
                  <a:pt x="215786" y="14288"/>
                  <a:pt x="228600" y="27102"/>
                  <a:pt x="228600" y="42863"/>
                </a:cubicBezTo>
                <a:lnTo>
                  <a:pt x="228600" y="185738"/>
                </a:lnTo>
                <a:cubicBezTo>
                  <a:pt x="228600" y="201498"/>
                  <a:pt x="215786" y="214313"/>
                  <a:pt x="200025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close/>
                <a:moveTo>
                  <a:pt x="71438" y="57150"/>
                </a:moveTo>
                <a:lnTo>
                  <a:pt x="71438" y="85725"/>
                </a:lnTo>
                <a:cubicBezTo>
                  <a:pt x="71438" y="93628"/>
                  <a:pt x="77822" y="100013"/>
                  <a:pt x="85725" y="100013"/>
                </a:cubicBezTo>
                <a:lnTo>
                  <a:pt x="114300" y="100013"/>
                </a:lnTo>
                <a:cubicBezTo>
                  <a:pt x="122203" y="100013"/>
                  <a:pt x="128588" y="93628"/>
                  <a:pt x="128588" y="85725"/>
                </a:cubicBezTo>
                <a:lnTo>
                  <a:pt x="128588" y="57150"/>
                </a:lnTo>
                <a:cubicBezTo>
                  <a:pt x="128588" y="49247"/>
                  <a:pt x="122203" y="42863"/>
                  <a:pt x="114300" y="42863"/>
                </a:cubicBezTo>
                <a:lnTo>
                  <a:pt x="85725" y="42863"/>
                </a:lnTo>
                <a:cubicBezTo>
                  <a:pt x="77822" y="42863"/>
                  <a:pt x="71438" y="49247"/>
                  <a:pt x="71438" y="57150"/>
                </a:cubicBezTo>
                <a:close/>
                <a:moveTo>
                  <a:pt x="82153" y="164306"/>
                </a:moveTo>
                <a:cubicBezTo>
                  <a:pt x="76215" y="164306"/>
                  <a:pt x="71438" y="169084"/>
                  <a:pt x="71438" y="175022"/>
                </a:cubicBezTo>
                <a:cubicBezTo>
                  <a:pt x="71438" y="180960"/>
                  <a:pt x="76215" y="185738"/>
                  <a:pt x="82153" y="185738"/>
                </a:cubicBezTo>
                <a:lnTo>
                  <a:pt x="189309" y="185738"/>
                </a:lnTo>
                <a:cubicBezTo>
                  <a:pt x="195248" y="185738"/>
                  <a:pt x="200025" y="180960"/>
                  <a:pt x="200025" y="175022"/>
                </a:cubicBezTo>
                <a:cubicBezTo>
                  <a:pt x="200025" y="169084"/>
                  <a:pt x="195248" y="164306"/>
                  <a:pt x="189309" y="164306"/>
                </a:cubicBezTo>
                <a:lnTo>
                  <a:pt x="82153" y="164306"/>
                </a:lnTo>
                <a:close/>
                <a:moveTo>
                  <a:pt x="71438" y="132159"/>
                </a:moveTo>
                <a:cubicBezTo>
                  <a:pt x="71438" y="138098"/>
                  <a:pt x="76215" y="142875"/>
                  <a:pt x="82153" y="142875"/>
                </a:cubicBezTo>
                <a:lnTo>
                  <a:pt x="189309" y="142875"/>
                </a:lnTo>
                <a:cubicBezTo>
                  <a:pt x="195248" y="142875"/>
                  <a:pt x="200025" y="138098"/>
                  <a:pt x="200025" y="132159"/>
                </a:cubicBezTo>
                <a:cubicBezTo>
                  <a:pt x="200025" y="126221"/>
                  <a:pt x="195248" y="121444"/>
                  <a:pt x="189309" y="121444"/>
                </a:cubicBezTo>
                <a:lnTo>
                  <a:pt x="82153" y="121444"/>
                </a:lnTo>
                <a:cubicBezTo>
                  <a:pt x="76215" y="121444"/>
                  <a:pt x="71438" y="126221"/>
                  <a:pt x="71438" y="132159"/>
                </a:cubicBezTo>
                <a:close/>
                <a:moveTo>
                  <a:pt x="160734" y="78581"/>
                </a:moveTo>
                <a:cubicBezTo>
                  <a:pt x="154796" y="78581"/>
                  <a:pt x="150019" y="83359"/>
                  <a:pt x="150019" y="89297"/>
                </a:cubicBezTo>
                <a:cubicBezTo>
                  <a:pt x="150019" y="95235"/>
                  <a:pt x="154796" y="100013"/>
                  <a:pt x="160734" y="100013"/>
                </a:cubicBezTo>
                <a:lnTo>
                  <a:pt x="189309" y="100013"/>
                </a:lnTo>
                <a:cubicBezTo>
                  <a:pt x="195248" y="100013"/>
                  <a:pt x="200025" y="95235"/>
                  <a:pt x="200025" y="89297"/>
                </a:cubicBezTo>
                <a:cubicBezTo>
                  <a:pt x="200025" y="83359"/>
                  <a:pt x="195248" y="78581"/>
                  <a:pt x="189309" y="78581"/>
                </a:cubicBezTo>
                <a:lnTo>
                  <a:pt x="160734" y="78581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8" name="Text 5"/>
          <p:cNvSpPr/>
          <p:nvPr/>
        </p:nvSpPr>
        <p:spPr>
          <a:xfrm>
            <a:off x="4518124" y="4562475"/>
            <a:ext cx="81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Journalism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15757" y="38385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Shape 7"/>
          <p:cNvSpPr/>
          <p:nvPr/>
        </p:nvSpPr>
        <p:spPr>
          <a:xfrm>
            <a:off x="5991969" y="40290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1" name="Text 8"/>
          <p:cNvSpPr/>
          <p:nvPr/>
        </p:nvSpPr>
        <p:spPr>
          <a:xfrm>
            <a:off x="5713809" y="4562475"/>
            <a:ext cx="80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86290" y="38385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Shape 10"/>
          <p:cNvSpPr/>
          <p:nvPr/>
        </p:nvSpPr>
        <p:spPr>
          <a:xfrm>
            <a:off x="7191077" y="40290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4" name="Text 11"/>
          <p:cNvSpPr/>
          <p:nvPr/>
        </p:nvSpPr>
        <p:spPr>
          <a:xfrm>
            <a:off x="6908304" y="4562475"/>
            <a:ext cx="76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62250" y="5481638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0" y="0"/>
                </a:moveTo>
                <a:lnTo>
                  <a:pt x="6667500" y="0"/>
                </a:lnTo>
                <a:lnTo>
                  <a:pt x="6667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6" name="Text 13"/>
          <p:cNvSpPr/>
          <p:nvPr/>
        </p:nvSpPr>
        <p:spPr>
          <a:xfrm>
            <a:off x="2724150" y="5791200"/>
            <a:ext cx="674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Authors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714625" y="6096000"/>
            <a:ext cx="676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P. Krishna Surya &amp; V. Omkareshwara Reddy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28913" y="6515100"/>
            <a:ext cx="673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1 Submission • March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PresentationFormat>Widescreen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Data Mining and Pattern Discovery System</dc:title>
  <dc:subject>Automated Data Mining and Pattern Discovery System</dc:subject>
  <dc:creator>Kimi</dc:creator>
  <cp:lastModifiedBy>krishna surya</cp:lastModifiedBy>
  <cp:revision>2</cp:revision>
  <dcterms:created xsi:type="dcterms:W3CDTF">2026-03-14T07:15:19Z</dcterms:created>
  <dcterms:modified xsi:type="dcterms:W3CDTF">2026-03-31T17:04:54Z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{"Label":"Automated Data Mining and Pattern Discovery System","ContentProducer":"001191110108MACG2KBH8F10000","ProduceID":"19ceb2c8-3dc2-8cf4-8000-0000da628bd7","ReservedCode1":"","ContentPropagator":"001191110108MACG2KBH8F20000","PropagateID":"19ceb2c8-3dc2-8cf4-8000-0000da628bd7","ReservedCode2":""}</vt:lpwstr>
  </property>
</Properties>
</file>