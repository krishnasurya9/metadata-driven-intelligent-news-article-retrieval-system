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embeddedFontLst>
    <p:embeddedFont>
      <p:font typeface="Liter" charset="-122" pitchFamily="34"/>
      <p:regular r:id="rId19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15909" b="15909"/>
          <a:stretch/>
        </p:blipFill>
        <p:spPr>
          <a:xfrm>
            <a:off x="5486400" y="0"/>
            <a:ext cx="67056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381000" y="685800"/>
            <a:ext cx="914400" cy="19050"/>
          </a:xfrm>
          <a:custGeom>
            <a:avLst/>
            <a:gdLst/>
            <a:ahLst/>
            <a:cxnLst/>
            <a:rect l="l" t="t" r="r" b="b"/>
            <a:pathLst>
              <a:path w="914400" h="19050">
                <a:moveTo>
                  <a:pt x="0" y="0"/>
                </a:moveTo>
                <a:lnTo>
                  <a:pt x="914400" y="0"/>
                </a:lnTo>
                <a:lnTo>
                  <a:pt x="914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100965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36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Review 1 Submission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1910358"/>
            <a:ext cx="794385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51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Automated Data Mining</a:t>
            </a:r>
            <a:endParaRPr lang="en-US" sz="1600" dirty="0"/>
          </a:p>
          <a:p>
            <a:pPr>
              <a:lnSpc>
                <a:spcPct val="90000"/>
              </a:lnSpc>
            </a:pPr>
            <a:r>
              <a:rPr lang="en-US" sz="51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and Pattern Discovery</a:t>
            </a:r>
            <a:endParaRPr lang="en-US" sz="1600" dirty="0"/>
          </a:p>
          <a:p>
            <a:pPr>
              <a:lnSpc>
                <a:spcPct val="90000"/>
              </a:lnSpc>
            </a:pPr>
            <a:r>
              <a:rPr lang="en-US" sz="51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4352479"/>
            <a:ext cx="631507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9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Offline-First Trend Analysis and Sentiment Mining for Unstructured News Corpora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5600700"/>
            <a:ext cx="369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Authors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1000" y="5905500"/>
            <a:ext cx="3705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P. Krishna Surya &amp; V. Omkareshwara Reddy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908209" y="5943600"/>
            <a:ext cx="904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March 2026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 / 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8801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Traditional retrieval mechanisms fail to contextualise digital news overload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5288" y="3181350"/>
            <a:ext cx="28575" cy="1057275"/>
          </a:xfrm>
          <a:custGeom>
            <a:avLst/>
            <a:gdLst/>
            <a:ahLst/>
            <a:cxnLst/>
            <a:rect l="l" t="t" r="r" b="b"/>
            <a:pathLst>
              <a:path w="28575" h="1057275">
                <a:moveTo>
                  <a:pt x="0" y="0"/>
                </a:moveTo>
                <a:lnTo>
                  <a:pt x="28575" y="0"/>
                </a:lnTo>
                <a:lnTo>
                  <a:pt x="28575" y="1057275"/>
                </a:lnTo>
                <a:lnTo>
                  <a:pt x="0" y="105727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6" name="Shape 4"/>
          <p:cNvSpPr/>
          <p:nvPr/>
        </p:nvSpPr>
        <p:spPr>
          <a:xfrm>
            <a:off x="638175" y="31813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7" name="Shape 5"/>
          <p:cNvSpPr/>
          <p:nvPr/>
        </p:nvSpPr>
        <p:spPr>
          <a:xfrm>
            <a:off x="734616" y="328612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3729" y="-8338"/>
                </a:moveTo>
                <a:cubicBezTo>
                  <a:pt x="10582" y="-11486"/>
                  <a:pt x="5492" y="-11486"/>
                  <a:pt x="2378" y="-8338"/>
                </a:cubicBezTo>
                <a:cubicBezTo>
                  <a:pt x="-737" y="-5190"/>
                  <a:pt x="-770" y="-100"/>
                  <a:pt x="2344" y="3047"/>
                </a:cubicBezTo>
                <a:lnTo>
                  <a:pt x="179152" y="179855"/>
                </a:lnTo>
                <a:cubicBezTo>
                  <a:pt x="182300" y="183003"/>
                  <a:pt x="187389" y="183003"/>
                  <a:pt x="190504" y="179855"/>
                </a:cubicBezTo>
                <a:cubicBezTo>
                  <a:pt x="193618" y="176707"/>
                  <a:pt x="193651" y="171617"/>
                  <a:pt x="190504" y="168503"/>
                </a:cubicBezTo>
                <a:lnTo>
                  <a:pt x="149650" y="127650"/>
                </a:lnTo>
                <a:cubicBezTo>
                  <a:pt x="151057" y="126511"/>
                  <a:pt x="152430" y="125272"/>
                  <a:pt x="153702" y="124000"/>
                </a:cubicBezTo>
                <a:lnTo>
                  <a:pt x="177511" y="100191"/>
                </a:lnTo>
                <a:cubicBezTo>
                  <a:pt x="187323" y="90380"/>
                  <a:pt x="192848" y="77052"/>
                  <a:pt x="192848" y="63155"/>
                </a:cubicBezTo>
                <a:cubicBezTo>
                  <a:pt x="192848" y="34223"/>
                  <a:pt x="169407" y="10749"/>
                  <a:pt x="140442" y="10749"/>
                </a:cubicBezTo>
                <a:cubicBezTo>
                  <a:pt x="127951" y="10749"/>
                  <a:pt x="115963" y="15203"/>
                  <a:pt x="106520" y="23206"/>
                </a:cubicBezTo>
                <a:cubicBezTo>
                  <a:pt x="113318" y="26588"/>
                  <a:pt x="119479" y="31075"/>
                  <a:pt x="124770" y="36433"/>
                </a:cubicBezTo>
                <a:cubicBezTo>
                  <a:pt x="129492" y="33654"/>
                  <a:pt x="134883" y="32180"/>
                  <a:pt x="140442" y="32180"/>
                </a:cubicBezTo>
                <a:cubicBezTo>
                  <a:pt x="157553" y="32180"/>
                  <a:pt x="171417" y="46044"/>
                  <a:pt x="171417" y="63155"/>
                </a:cubicBezTo>
                <a:cubicBezTo>
                  <a:pt x="171417" y="71359"/>
                  <a:pt x="168168" y="79229"/>
                  <a:pt x="162342" y="85055"/>
                </a:cubicBezTo>
                <a:lnTo>
                  <a:pt x="138533" y="108864"/>
                </a:lnTo>
                <a:cubicBezTo>
                  <a:pt x="137227" y="110170"/>
                  <a:pt x="135821" y="111342"/>
                  <a:pt x="134314" y="112380"/>
                </a:cubicBezTo>
                <a:lnTo>
                  <a:pt x="118408" y="96474"/>
                </a:lnTo>
                <a:cubicBezTo>
                  <a:pt x="123933" y="96173"/>
                  <a:pt x="128353" y="91652"/>
                  <a:pt x="128521" y="86060"/>
                </a:cubicBezTo>
                <a:cubicBezTo>
                  <a:pt x="128521" y="85625"/>
                  <a:pt x="128521" y="85189"/>
                  <a:pt x="128521" y="84754"/>
                </a:cubicBezTo>
                <a:cubicBezTo>
                  <a:pt x="128521" y="55855"/>
                  <a:pt x="105114" y="32214"/>
                  <a:pt x="76114" y="32214"/>
                </a:cubicBezTo>
                <a:cubicBezTo>
                  <a:pt x="69685" y="32214"/>
                  <a:pt x="63423" y="33386"/>
                  <a:pt x="57530" y="35629"/>
                </a:cubicBezTo>
                <a:lnTo>
                  <a:pt x="13729" y="-8338"/>
                </a:lnTo>
                <a:close/>
                <a:moveTo>
                  <a:pt x="75646" y="53578"/>
                </a:moveTo>
                <a:cubicBezTo>
                  <a:pt x="75847" y="53578"/>
                  <a:pt x="76014" y="53578"/>
                  <a:pt x="76215" y="53578"/>
                </a:cubicBezTo>
                <a:cubicBezTo>
                  <a:pt x="81271" y="53578"/>
                  <a:pt x="86093" y="54817"/>
                  <a:pt x="90313" y="56994"/>
                </a:cubicBezTo>
                <a:cubicBezTo>
                  <a:pt x="90915" y="57396"/>
                  <a:pt x="91518" y="57764"/>
                  <a:pt x="92154" y="58032"/>
                </a:cubicBezTo>
                <a:cubicBezTo>
                  <a:pt x="101129" y="63490"/>
                  <a:pt x="107156" y="73402"/>
                  <a:pt x="107156" y="84687"/>
                </a:cubicBezTo>
                <a:cubicBezTo>
                  <a:pt x="107156" y="84821"/>
                  <a:pt x="107156" y="84955"/>
                  <a:pt x="107156" y="85089"/>
                </a:cubicBezTo>
                <a:lnTo>
                  <a:pt x="75646" y="53578"/>
                </a:lnTo>
                <a:close/>
                <a:moveTo>
                  <a:pt x="115930" y="139303"/>
                </a:moveTo>
                <a:lnTo>
                  <a:pt x="64294" y="87667"/>
                </a:lnTo>
                <a:cubicBezTo>
                  <a:pt x="64696" y="115997"/>
                  <a:pt x="87600" y="138868"/>
                  <a:pt x="115896" y="139270"/>
                </a:cubicBezTo>
                <a:close/>
                <a:moveTo>
                  <a:pt x="46780" y="70154"/>
                </a:moveTo>
                <a:lnTo>
                  <a:pt x="31611" y="54985"/>
                </a:lnTo>
                <a:lnTo>
                  <a:pt x="15337" y="71259"/>
                </a:lnTo>
                <a:cubicBezTo>
                  <a:pt x="5525" y="81070"/>
                  <a:pt x="0" y="94398"/>
                  <a:pt x="0" y="108295"/>
                </a:cubicBezTo>
                <a:cubicBezTo>
                  <a:pt x="0" y="137227"/>
                  <a:pt x="23440" y="160701"/>
                  <a:pt x="52406" y="160701"/>
                </a:cubicBezTo>
                <a:cubicBezTo>
                  <a:pt x="64863" y="160701"/>
                  <a:pt x="76885" y="156247"/>
                  <a:pt x="86328" y="148244"/>
                </a:cubicBezTo>
                <a:cubicBezTo>
                  <a:pt x="79530" y="144862"/>
                  <a:pt x="73335" y="140375"/>
                  <a:pt x="68044" y="135017"/>
                </a:cubicBezTo>
                <a:cubicBezTo>
                  <a:pt x="63356" y="137763"/>
                  <a:pt x="57965" y="139236"/>
                  <a:pt x="52406" y="139236"/>
                </a:cubicBezTo>
                <a:cubicBezTo>
                  <a:pt x="35295" y="139236"/>
                  <a:pt x="21431" y="125373"/>
                  <a:pt x="21431" y="108261"/>
                </a:cubicBezTo>
                <a:cubicBezTo>
                  <a:pt x="21431" y="100057"/>
                  <a:pt x="24679" y="92188"/>
                  <a:pt x="30506" y="86361"/>
                </a:cubicBezTo>
                <a:lnTo>
                  <a:pt x="46780" y="70087"/>
                </a:ln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1133475" y="3219450"/>
            <a:ext cx="163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Context Failure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8175" y="3676650"/>
            <a:ext cx="53149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Traditional systems retrieve isolated keywords but entirely miss underlying patterns, temporal dynamics, and sentiment.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5288" y="4538663"/>
            <a:ext cx="28575" cy="1057275"/>
          </a:xfrm>
          <a:custGeom>
            <a:avLst/>
            <a:gdLst/>
            <a:ahLst/>
            <a:cxnLst/>
            <a:rect l="l" t="t" r="r" b="b"/>
            <a:pathLst>
              <a:path w="28575" h="1057275">
                <a:moveTo>
                  <a:pt x="0" y="0"/>
                </a:moveTo>
                <a:lnTo>
                  <a:pt x="28575" y="0"/>
                </a:lnTo>
                <a:lnTo>
                  <a:pt x="28575" y="1057275"/>
                </a:lnTo>
                <a:lnTo>
                  <a:pt x="0" y="1057275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1" name="Shape 9"/>
          <p:cNvSpPr/>
          <p:nvPr/>
        </p:nvSpPr>
        <p:spPr>
          <a:xfrm>
            <a:off x="638175" y="45386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2" name="Shape 10"/>
          <p:cNvSpPr/>
          <p:nvPr/>
        </p:nvSpPr>
        <p:spPr>
          <a:xfrm>
            <a:off x="734616" y="4643438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3729" y="-8338"/>
                </a:moveTo>
                <a:cubicBezTo>
                  <a:pt x="10582" y="-11486"/>
                  <a:pt x="5492" y="-11486"/>
                  <a:pt x="2378" y="-8338"/>
                </a:cubicBezTo>
                <a:cubicBezTo>
                  <a:pt x="-737" y="-5190"/>
                  <a:pt x="-770" y="-100"/>
                  <a:pt x="2344" y="3047"/>
                </a:cubicBezTo>
                <a:lnTo>
                  <a:pt x="179152" y="179855"/>
                </a:lnTo>
                <a:cubicBezTo>
                  <a:pt x="182300" y="183003"/>
                  <a:pt x="187389" y="183003"/>
                  <a:pt x="190504" y="179855"/>
                </a:cubicBezTo>
                <a:cubicBezTo>
                  <a:pt x="193618" y="176707"/>
                  <a:pt x="193651" y="171617"/>
                  <a:pt x="190504" y="168503"/>
                </a:cubicBezTo>
                <a:lnTo>
                  <a:pt x="158223" y="136222"/>
                </a:lnTo>
                <a:cubicBezTo>
                  <a:pt x="159127" y="135419"/>
                  <a:pt x="160031" y="134615"/>
                  <a:pt x="160902" y="133811"/>
                </a:cubicBezTo>
                <a:cubicBezTo>
                  <a:pt x="176573" y="119245"/>
                  <a:pt x="187055" y="101865"/>
                  <a:pt x="192044" y="89911"/>
                </a:cubicBezTo>
                <a:cubicBezTo>
                  <a:pt x="193149" y="87265"/>
                  <a:pt x="193149" y="84319"/>
                  <a:pt x="192044" y="81673"/>
                </a:cubicBezTo>
                <a:cubicBezTo>
                  <a:pt x="187055" y="69719"/>
                  <a:pt x="176573" y="52306"/>
                  <a:pt x="160902" y="37773"/>
                </a:cubicBezTo>
                <a:cubicBezTo>
                  <a:pt x="145130" y="23139"/>
                  <a:pt x="123464" y="10783"/>
                  <a:pt x="96407" y="10783"/>
                </a:cubicBezTo>
                <a:cubicBezTo>
                  <a:pt x="77387" y="10783"/>
                  <a:pt x="61046" y="16877"/>
                  <a:pt x="47517" y="25584"/>
                </a:cubicBezTo>
                <a:lnTo>
                  <a:pt x="13729" y="-8338"/>
                </a:lnTo>
                <a:close/>
                <a:moveTo>
                  <a:pt x="68480" y="46446"/>
                </a:moveTo>
                <a:cubicBezTo>
                  <a:pt x="76349" y="40820"/>
                  <a:pt x="86026" y="37505"/>
                  <a:pt x="96441" y="37505"/>
                </a:cubicBezTo>
                <a:cubicBezTo>
                  <a:pt x="123062" y="37505"/>
                  <a:pt x="144661" y="59103"/>
                  <a:pt x="144661" y="85725"/>
                </a:cubicBezTo>
                <a:cubicBezTo>
                  <a:pt x="144661" y="96139"/>
                  <a:pt x="141346" y="105783"/>
                  <a:pt x="135720" y="113686"/>
                </a:cubicBezTo>
                <a:lnTo>
                  <a:pt x="124100" y="102066"/>
                </a:lnTo>
                <a:cubicBezTo>
                  <a:pt x="128353" y="94900"/>
                  <a:pt x="129793" y="86093"/>
                  <a:pt x="127482" y="77387"/>
                </a:cubicBezTo>
                <a:cubicBezTo>
                  <a:pt x="122895" y="60242"/>
                  <a:pt x="105248" y="50062"/>
                  <a:pt x="88103" y="54650"/>
                </a:cubicBezTo>
                <a:cubicBezTo>
                  <a:pt x="85223" y="55420"/>
                  <a:pt x="82510" y="56558"/>
                  <a:pt x="80066" y="57998"/>
                </a:cubicBezTo>
                <a:lnTo>
                  <a:pt x="68446" y="46379"/>
                </a:lnTo>
                <a:close/>
                <a:moveTo>
                  <a:pt x="108931" y="132304"/>
                </a:moveTo>
                <a:cubicBezTo>
                  <a:pt x="104946" y="133376"/>
                  <a:pt x="100760" y="133945"/>
                  <a:pt x="96441" y="133945"/>
                </a:cubicBezTo>
                <a:cubicBezTo>
                  <a:pt x="69819" y="133945"/>
                  <a:pt x="48220" y="112347"/>
                  <a:pt x="48220" y="85725"/>
                </a:cubicBezTo>
                <a:cubicBezTo>
                  <a:pt x="48220" y="81405"/>
                  <a:pt x="48790" y="77219"/>
                  <a:pt x="49861" y="73235"/>
                </a:cubicBezTo>
                <a:lnTo>
                  <a:pt x="23240" y="46613"/>
                </a:lnTo>
                <a:cubicBezTo>
                  <a:pt x="12323" y="58936"/>
                  <a:pt x="4822" y="71996"/>
                  <a:pt x="837" y="81606"/>
                </a:cubicBezTo>
                <a:cubicBezTo>
                  <a:pt x="-268" y="84252"/>
                  <a:pt x="-268" y="87198"/>
                  <a:pt x="837" y="89844"/>
                </a:cubicBezTo>
                <a:cubicBezTo>
                  <a:pt x="5827" y="101798"/>
                  <a:pt x="16308" y="119211"/>
                  <a:pt x="31979" y="133744"/>
                </a:cubicBezTo>
                <a:cubicBezTo>
                  <a:pt x="47752" y="148378"/>
                  <a:pt x="69417" y="160734"/>
                  <a:pt x="96474" y="160734"/>
                </a:cubicBezTo>
                <a:cubicBezTo>
                  <a:pt x="108965" y="160734"/>
                  <a:pt x="120316" y="158089"/>
                  <a:pt x="130463" y="153836"/>
                </a:cubicBezTo>
                <a:lnTo>
                  <a:pt x="108965" y="132338"/>
                </a:ln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13" name="Text 11"/>
          <p:cNvSpPr/>
          <p:nvPr/>
        </p:nvSpPr>
        <p:spPr>
          <a:xfrm>
            <a:off x="1133475" y="4576763"/>
            <a:ext cx="21050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Metadata Blindness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8175" y="5033963"/>
            <a:ext cx="53149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inability to correlate entities, publishers, and sentiments across global real-time streams.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748963" y="2943225"/>
            <a:ext cx="1209675" cy="1209675"/>
          </a:xfrm>
          <a:custGeom>
            <a:avLst/>
            <a:gdLst/>
            <a:ahLst/>
            <a:cxnLst/>
            <a:rect l="l" t="t" r="r" b="b"/>
            <a:pathLst>
              <a:path w="1209675" h="1209675">
                <a:moveTo>
                  <a:pt x="604838" y="0"/>
                </a:moveTo>
                <a:lnTo>
                  <a:pt x="604838" y="0"/>
                </a:lnTo>
                <a:cubicBezTo>
                  <a:pt x="938656" y="0"/>
                  <a:pt x="1209675" y="271019"/>
                  <a:pt x="1209675" y="604838"/>
                </a:cubicBezTo>
                <a:lnTo>
                  <a:pt x="1209675" y="604838"/>
                </a:lnTo>
                <a:cubicBezTo>
                  <a:pt x="1209675" y="938656"/>
                  <a:pt x="938656" y="1209675"/>
                  <a:pt x="604838" y="1209675"/>
                </a:cubicBezTo>
                <a:lnTo>
                  <a:pt x="604838" y="1209675"/>
                </a:lnTo>
                <a:cubicBezTo>
                  <a:pt x="271019" y="1209675"/>
                  <a:pt x="0" y="938656"/>
                  <a:pt x="0" y="604838"/>
                </a:cubicBezTo>
                <a:lnTo>
                  <a:pt x="0" y="604838"/>
                </a:lnTo>
                <a:cubicBezTo>
                  <a:pt x="0" y="271019"/>
                  <a:pt x="271019" y="0"/>
                  <a:pt x="604837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C4B7A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24563" y="4162425"/>
            <a:ext cx="1819275" cy="1819275"/>
          </a:xfrm>
          <a:custGeom>
            <a:avLst/>
            <a:gdLst/>
            <a:ahLst/>
            <a:cxnLst/>
            <a:rect l="l" t="t" r="r" b="b"/>
            <a:pathLst>
              <a:path w="1819275" h="1819275">
                <a:moveTo>
                  <a:pt x="909638" y="0"/>
                </a:moveTo>
                <a:lnTo>
                  <a:pt x="909638" y="0"/>
                </a:lnTo>
                <a:cubicBezTo>
                  <a:pt x="1411680" y="0"/>
                  <a:pt x="1819275" y="407595"/>
                  <a:pt x="1819275" y="909638"/>
                </a:cubicBezTo>
                <a:lnTo>
                  <a:pt x="1819275" y="909638"/>
                </a:lnTo>
                <a:cubicBezTo>
                  <a:pt x="1819275" y="1411680"/>
                  <a:pt x="1411680" y="1819275"/>
                  <a:pt x="909638" y="1819275"/>
                </a:cubicBezTo>
                <a:lnTo>
                  <a:pt x="909638" y="1819275"/>
                </a:lnTo>
                <a:cubicBezTo>
                  <a:pt x="407595" y="1819275"/>
                  <a:pt x="0" y="1411680"/>
                  <a:pt x="0" y="909638"/>
                </a:cubicBezTo>
                <a:lnTo>
                  <a:pt x="0" y="909638"/>
                </a:lnTo>
                <a:cubicBezTo>
                  <a:pt x="0" y="407595"/>
                  <a:pt x="407595" y="0"/>
                  <a:pt x="909637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8B86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24600" y="3090863"/>
            <a:ext cx="5486400" cy="2590800"/>
          </a:xfrm>
          <a:custGeom>
            <a:avLst/>
            <a:gdLst/>
            <a:ahLst/>
            <a:cxnLst/>
            <a:rect l="l" t="t" r="r" b="b"/>
            <a:pathLst>
              <a:path w="5486400" h="2590800">
                <a:moveTo>
                  <a:pt x="38111" y="0"/>
                </a:moveTo>
                <a:lnTo>
                  <a:pt x="5448289" y="0"/>
                </a:lnTo>
                <a:cubicBezTo>
                  <a:pt x="5469337" y="0"/>
                  <a:pt x="5486400" y="17063"/>
                  <a:pt x="5486400" y="38111"/>
                </a:cubicBezTo>
                <a:lnTo>
                  <a:pt x="5486400" y="2552689"/>
                </a:lnTo>
                <a:cubicBezTo>
                  <a:pt x="5486400" y="2573737"/>
                  <a:pt x="5469337" y="2590800"/>
                  <a:pt x="5448289" y="2590800"/>
                </a:cubicBezTo>
                <a:lnTo>
                  <a:pt x="38111" y="2590800"/>
                </a:lnTo>
                <a:cubicBezTo>
                  <a:pt x="17063" y="2590800"/>
                  <a:pt x="0" y="2573737"/>
                  <a:pt x="0" y="2552689"/>
                </a:cubicBezTo>
                <a:lnTo>
                  <a:pt x="0" y="38111"/>
                </a:lnTo>
                <a:cubicBezTo>
                  <a:pt x="0" y="17077"/>
                  <a:pt x="17077" y="0"/>
                  <a:pt x="38111" y="0"/>
                </a:cubicBez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18" name="Shape 16"/>
          <p:cNvSpPr/>
          <p:nvPr/>
        </p:nvSpPr>
        <p:spPr>
          <a:xfrm>
            <a:off x="6629400" y="3471863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0" y="0"/>
                </a:moveTo>
                <a:lnTo>
                  <a:pt x="114300" y="0"/>
                </a:lnTo>
                <a:lnTo>
                  <a:pt x="1143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9" name="Shape 17"/>
          <p:cNvSpPr/>
          <p:nvPr/>
        </p:nvSpPr>
        <p:spPr>
          <a:xfrm>
            <a:off x="6896100" y="3395663"/>
            <a:ext cx="2667000" cy="114300"/>
          </a:xfrm>
          <a:custGeom>
            <a:avLst/>
            <a:gdLst/>
            <a:ahLst/>
            <a:cxnLst/>
            <a:rect l="l" t="t" r="r" b="b"/>
            <a:pathLst>
              <a:path w="2667000" h="114300">
                <a:moveTo>
                  <a:pt x="0" y="0"/>
                </a:moveTo>
                <a:lnTo>
                  <a:pt x="2667000" y="0"/>
                </a:lnTo>
                <a:lnTo>
                  <a:pt x="26670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0" name="Shape 18"/>
          <p:cNvSpPr/>
          <p:nvPr/>
        </p:nvSpPr>
        <p:spPr>
          <a:xfrm>
            <a:off x="6629400" y="3814763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0" y="0"/>
                </a:moveTo>
                <a:lnTo>
                  <a:pt x="114300" y="0"/>
                </a:lnTo>
                <a:lnTo>
                  <a:pt x="1143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1" name="Shape 19"/>
          <p:cNvSpPr/>
          <p:nvPr/>
        </p:nvSpPr>
        <p:spPr>
          <a:xfrm>
            <a:off x="6896100" y="3738563"/>
            <a:ext cx="3048000" cy="114300"/>
          </a:xfrm>
          <a:custGeom>
            <a:avLst/>
            <a:gdLst/>
            <a:ahLst/>
            <a:cxnLst/>
            <a:rect l="l" t="t" r="r" b="b"/>
            <a:pathLst>
              <a:path w="3048000" h="114300">
                <a:moveTo>
                  <a:pt x="0" y="0"/>
                </a:moveTo>
                <a:lnTo>
                  <a:pt x="3048000" y="0"/>
                </a:lnTo>
                <a:lnTo>
                  <a:pt x="30480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2" name="Shape 20"/>
          <p:cNvSpPr/>
          <p:nvPr/>
        </p:nvSpPr>
        <p:spPr>
          <a:xfrm>
            <a:off x="6629400" y="4157663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0" y="0"/>
                </a:moveTo>
                <a:lnTo>
                  <a:pt x="114300" y="0"/>
                </a:lnTo>
                <a:lnTo>
                  <a:pt x="1143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3" name="Shape 21"/>
          <p:cNvSpPr/>
          <p:nvPr/>
        </p:nvSpPr>
        <p:spPr>
          <a:xfrm>
            <a:off x="6896100" y="4081463"/>
            <a:ext cx="2286000" cy="114300"/>
          </a:xfrm>
          <a:custGeom>
            <a:avLst/>
            <a:gdLst/>
            <a:ahLst/>
            <a:cxnLst/>
            <a:rect l="l" t="t" r="r" b="b"/>
            <a:pathLst>
              <a:path w="2286000" h="114300">
                <a:moveTo>
                  <a:pt x="0" y="0"/>
                </a:moveTo>
                <a:lnTo>
                  <a:pt x="2286000" y="0"/>
                </a:lnTo>
                <a:lnTo>
                  <a:pt x="22860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4" name="Shape 22"/>
          <p:cNvSpPr/>
          <p:nvPr/>
        </p:nvSpPr>
        <p:spPr>
          <a:xfrm>
            <a:off x="6629400" y="4500563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0" y="0"/>
                </a:moveTo>
                <a:lnTo>
                  <a:pt x="114300" y="0"/>
                </a:lnTo>
                <a:lnTo>
                  <a:pt x="1143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96100" y="4424363"/>
            <a:ext cx="2857500" cy="114300"/>
          </a:xfrm>
          <a:custGeom>
            <a:avLst/>
            <a:gdLst/>
            <a:ahLst/>
            <a:cxnLst/>
            <a:rect l="l" t="t" r="r" b="b"/>
            <a:pathLst>
              <a:path w="2857500" h="114300">
                <a:moveTo>
                  <a:pt x="0" y="0"/>
                </a:moveTo>
                <a:lnTo>
                  <a:pt x="2857500" y="0"/>
                </a:lnTo>
                <a:lnTo>
                  <a:pt x="28575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6" name="Shape 24"/>
          <p:cNvSpPr/>
          <p:nvPr/>
        </p:nvSpPr>
        <p:spPr>
          <a:xfrm>
            <a:off x="6629400" y="4843463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0" y="0"/>
                </a:moveTo>
                <a:lnTo>
                  <a:pt x="114300" y="0"/>
                </a:lnTo>
                <a:lnTo>
                  <a:pt x="1143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7" name="Shape 25"/>
          <p:cNvSpPr/>
          <p:nvPr/>
        </p:nvSpPr>
        <p:spPr>
          <a:xfrm>
            <a:off x="6896100" y="4767263"/>
            <a:ext cx="1905000" cy="114300"/>
          </a:xfrm>
          <a:custGeom>
            <a:avLst/>
            <a:gdLst/>
            <a:ahLst/>
            <a:cxnLst/>
            <a:rect l="l" t="t" r="r" b="b"/>
            <a:pathLst>
              <a:path w="1905000" h="114300">
                <a:moveTo>
                  <a:pt x="0" y="0"/>
                </a:moveTo>
                <a:lnTo>
                  <a:pt x="1905000" y="0"/>
                </a:lnTo>
                <a:lnTo>
                  <a:pt x="19050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8" name="Text 26"/>
          <p:cNvSpPr/>
          <p:nvPr/>
        </p:nvSpPr>
        <p:spPr>
          <a:xfrm>
            <a:off x="6629400" y="5186363"/>
            <a:ext cx="4943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Fragmented data points without contextual relationships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 / Solution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116395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3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Bridging the gap between static retrieval and dynamic knowledge discovery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0050" y="2124075"/>
            <a:ext cx="11410950" cy="1076325"/>
          </a:xfrm>
          <a:custGeom>
            <a:avLst/>
            <a:gdLst/>
            <a:ahLst/>
            <a:cxnLst/>
            <a:rect l="l" t="t" r="r" b="b"/>
            <a:pathLst>
              <a:path w="11410950" h="1076325">
                <a:moveTo>
                  <a:pt x="0" y="0"/>
                </a:moveTo>
                <a:lnTo>
                  <a:pt x="11410950" y="0"/>
                </a:lnTo>
                <a:lnTo>
                  <a:pt x="114109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6" name="Shape 4"/>
          <p:cNvSpPr/>
          <p:nvPr/>
        </p:nvSpPr>
        <p:spPr>
          <a:xfrm>
            <a:off x="400050" y="2124075"/>
            <a:ext cx="38100" cy="1076325"/>
          </a:xfrm>
          <a:custGeom>
            <a:avLst/>
            <a:gdLst/>
            <a:ahLst/>
            <a:cxnLst/>
            <a:rect l="l" t="t" r="r" b="b"/>
            <a:pathLst>
              <a:path w="38100" h="1076325">
                <a:moveTo>
                  <a:pt x="0" y="0"/>
                </a:moveTo>
                <a:lnTo>
                  <a:pt x="38100" y="0"/>
                </a:lnTo>
                <a:lnTo>
                  <a:pt x="381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7" name="Text 5"/>
          <p:cNvSpPr/>
          <p:nvPr/>
        </p:nvSpPr>
        <p:spPr>
          <a:xfrm>
            <a:off x="647700" y="2352675"/>
            <a:ext cx="110299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Proposition:</a:t>
            </a:r>
            <a:pPr>
              <a:lnSpc>
                <a:spcPct val="140000"/>
              </a:lnSpc>
            </a:pPr>
            <a:r>
              <a:rPr lang="en-US" sz="15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Transforming raw, unstructured news into mathematically backed, transparent intelligence via a standalone, offline-first architecture.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447800" y="40386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381000" y="0"/>
                </a:moveTo>
                <a:lnTo>
                  <a:pt x="381000" y="0"/>
                </a:lnTo>
                <a:cubicBezTo>
                  <a:pt x="591280" y="0"/>
                  <a:pt x="762000" y="170720"/>
                  <a:pt x="762000" y="381000"/>
                </a:cubicBezTo>
                <a:lnTo>
                  <a:pt x="762000" y="381000"/>
                </a:lnTo>
                <a:cubicBezTo>
                  <a:pt x="762000" y="591280"/>
                  <a:pt x="591280" y="762000"/>
                  <a:pt x="381000" y="762000"/>
                </a:cubicBezTo>
                <a:lnTo>
                  <a:pt x="381000" y="762000"/>
                </a:lnTo>
                <a:cubicBezTo>
                  <a:pt x="170720" y="762000"/>
                  <a:pt x="0" y="591280"/>
                  <a:pt x="0" y="381000"/>
                </a:cubicBezTo>
                <a:lnTo>
                  <a:pt x="0" y="381000"/>
                </a:lnTo>
                <a:cubicBezTo>
                  <a:pt x="0" y="170720"/>
                  <a:pt x="170720" y="0"/>
                  <a:pt x="381000" y="0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9" name="Shape 7"/>
          <p:cNvSpPr/>
          <p:nvPr/>
        </p:nvSpPr>
        <p:spPr>
          <a:xfrm>
            <a:off x="1688306" y="42767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232172"/>
                </a:moveTo>
                <a:lnTo>
                  <a:pt x="0" y="66973"/>
                </a:lnTo>
                <a:cubicBezTo>
                  <a:pt x="0" y="59550"/>
                  <a:pt x="5972" y="53578"/>
                  <a:pt x="13395" y="53578"/>
                </a:cubicBezTo>
                <a:cubicBezTo>
                  <a:pt x="20817" y="53578"/>
                  <a:pt x="26789" y="59550"/>
                  <a:pt x="26789" y="66973"/>
                </a:cubicBezTo>
                <a:lnTo>
                  <a:pt x="26789" y="227707"/>
                </a:lnTo>
                <a:cubicBezTo>
                  <a:pt x="26789" y="235130"/>
                  <a:pt x="32761" y="241102"/>
                  <a:pt x="40184" y="241102"/>
                </a:cubicBezTo>
                <a:cubicBezTo>
                  <a:pt x="47606" y="241102"/>
                  <a:pt x="53578" y="235130"/>
                  <a:pt x="53578" y="227707"/>
                </a:cubicBezTo>
                <a:lnTo>
                  <a:pt x="53578" y="53578"/>
                </a:lnTo>
                <a:cubicBezTo>
                  <a:pt x="53578" y="33877"/>
                  <a:pt x="69596" y="17859"/>
                  <a:pt x="89297" y="17859"/>
                </a:cubicBezTo>
                <a:lnTo>
                  <a:pt x="250031" y="17859"/>
                </a:lnTo>
                <a:cubicBezTo>
                  <a:pt x="269732" y="17859"/>
                  <a:pt x="285750" y="33877"/>
                  <a:pt x="285750" y="53578"/>
                </a:cubicBezTo>
                <a:lnTo>
                  <a:pt x="285750" y="232172"/>
                </a:lnTo>
                <a:cubicBezTo>
                  <a:pt x="285750" y="251873"/>
                  <a:pt x="269732" y="267891"/>
                  <a:pt x="250031" y="267891"/>
                </a:cubicBezTo>
                <a:lnTo>
                  <a:pt x="35719" y="267891"/>
                </a:lnTo>
                <a:cubicBezTo>
                  <a:pt x="16018" y="267891"/>
                  <a:pt x="0" y="251873"/>
                  <a:pt x="0" y="232172"/>
                </a:cubicBezTo>
                <a:close/>
                <a:moveTo>
                  <a:pt x="89297" y="71438"/>
                </a:moveTo>
                <a:lnTo>
                  <a:pt x="89297" y="107156"/>
                </a:lnTo>
                <a:cubicBezTo>
                  <a:pt x="89297" y="117035"/>
                  <a:pt x="97278" y="125016"/>
                  <a:pt x="107156" y="125016"/>
                </a:cubicBezTo>
                <a:lnTo>
                  <a:pt x="142875" y="125016"/>
                </a:lnTo>
                <a:cubicBezTo>
                  <a:pt x="152753" y="125016"/>
                  <a:pt x="160734" y="117035"/>
                  <a:pt x="160734" y="107156"/>
                </a:cubicBezTo>
                <a:lnTo>
                  <a:pt x="160734" y="71438"/>
                </a:lnTo>
                <a:cubicBezTo>
                  <a:pt x="160734" y="61559"/>
                  <a:pt x="152753" y="53578"/>
                  <a:pt x="142875" y="53578"/>
                </a:cubicBezTo>
                <a:lnTo>
                  <a:pt x="107156" y="53578"/>
                </a:lnTo>
                <a:cubicBezTo>
                  <a:pt x="97278" y="53578"/>
                  <a:pt x="89297" y="61559"/>
                  <a:pt x="89297" y="71438"/>
                </a:cubicBezTo>
                <a:close/>
                <a:moveTo>
                  <a:pt x="102691" y="205383"/>
                </a:moveTo>
                <a:cubicBezTo>
                  <a:pt x="95269" y="205383"/>
                  <a:pt x="89297" y="211355"/>
                  <a:pt x="89297" y="218777"/>
                </a:cubicBezTo>
                <a:cubicBezTo>
                  <a:pt x="89297" y="226200"/>
                  <a:pt x="95269" y="232172"/>
                  <a:pt x="102691" y="232172"/>
                </a:cubicBezTo>
                <a:lnTo>
                  <a:pt x="236637" y="232172"/>
                </a:lnTo>
                <a:cubicBezTo>
                  <a:pt x="244060" y="232172"/>
                  <a:pt x="250031" y="226200"/>
                  <a:pt x="250031" y="218777"/>
                </a:cubicBezTo>
                <a:cubicBezTo>
                  <a:pt x="250031" y="211355"/>
                  <a:pt x="244060" y="205383"/>
                  <a:pt x="236637" y="205383"/>
                </a:cubicBezTo>
                <a:lnTo>
                  <a:pt x="102691" y="205383"/>
                </a:lnTo>
                <a:close/>
                <a:moveTo>
                  <a:pt x="89297" y="165199"/>
                </a:moveTo>
                <a:cubicBezTo>
                  <a:pt x="89297" y="172622"/>
                  <a:pt x="95269" y="178594"/>
                  <a:pt x="102691" y="178594"/>
                </a:cubicBezTo>
                <a:lnTo>
                  <a:pt x="236637" y="178594"/>
                </a:lnTo>
                <a:cubicBezTo>
                  <a:pt x="244060" y="178594"/>
                  <a:pt x="250031" y="172622"/>
                  <a:pt x="250031" y="165199"/>
                </a:cubicBezTo>
                <a:cubicBezTo>
                  <a:pt x="250031" y="157776"/>
                  <a:pt x="244060" y="151805"/>
                  <a:pt x="236637" y="151805"/>
                </a:cubicBezTo>
                <a:lnTo>
                  <a:pt x="102691" y="151805"/>
                </a:lnTo>
                <a:cubicBezTo>
                  <a:pt x="95269" y="151805"/>
                  <a:pt x="89297" y="157776"/>
                  <a:pt x="89297" y="165199"/>
                </a:cubicBezTo>
                <a:close/>
                <a:moveTo>
                  <a:pt x="200918" y="98227"/>
                </a:moveTo>
                <a:cubicBezTo>
                  <a:pt x="193495" y="98227"/>
                  <a:pt x="187523" y="104198"/>
                  <a:pt x="187523" y="111621"/>
                </a:cubicBezTo>
                <a:cubicBezTo>
                  <a:pt x="187523" y="119044"/>
                  <a:pt x="193495" y="125016"/>
                  <a:pt x="200918" y="125016"/>
                </a:cubicBezTo>
                <a:lnTo>
                  <a:pt x="236637" y="125016"/>
                </a:lnTo>
                <a:cubicBezTo>
                  <a:pt x="244060" y="125016"/>
                  <a:pt x="250031" y="119044"/>
                  <a:pt x="250031" y="111621"/>
                </a:cubicBezTo>
                <a:cubicBezTo>
                  <a:pt x="250031" y="104198"/>
                  <a:pt x="244060" y="98227"/>
                  <a:pt x="236637" y="98227"/>
                </a:cubicBezTo>
                <a:lnTo>
                  <a:pt x="200918" y="98227"/>
                </a:ln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10" name="Text 8"/>
          <p:cNvSpPr/>
          <p:nvPr/>
        </p:nvSpPr>
        <p:spPr>
          <a:xfrm>
            <a:off x="333375" y="4953000"/>
            <a:ext cx="29908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Raw Unstructured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News Feeds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663" y="5562600"/>
            <a:ext cx="29622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Global Economy, Tech Innovation, Political Unrest, Market Trends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505200" y="4829175"/>
            <a:ext cx="914400" cy="19050"/>
          </a:xfrm>
          <a:custGeom>
            <a:avLst/>
            <a:gdLst/>
            <a:ahLst/>
            <a:cxnLst/>
            <a:rect l="l" t="t" r="r" b="b"/>
            <a:pathLst>
              <a:path w="914400" h="19050">
                <a:moveTo>
                  <a:pt x="0" y="0"/>
                </a:moveTo>
                <a:lnTo>
                  <a:pt x="914400" y="0"/>
                </a:lnTo>
                <a:lnTo>
                  <a:pt x="914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8100" y="49244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4" name="Shape 12"/>
          <p:cNvSpPr/>
          <p:nvPr/>
        </p:nvSpPr>
        <p:spPr>
          <a:xfrm rot="2700000">
            <a:off x="5458946" y="3877797"/>
            <a:ext cx="895350" cy="895350"/>
          </a:xfrm>
          <a:custGeom>
            <a:avLst/>
            <a:gdLst/>
            <a:ahLst/>
            <a:cxnLst/>
            <a:rect l="l" t="t" r="r" b="b"/>
            <a:pathLst>
              <a:path w="895350" h="895350">
                <a:moveTo>
                  <a:pt x="0" y="0"/>
                </a:moveTo>
                <a:lnTo>
                  <a:pt x="895350" y="0"/>
                </a:lnTo>
                <a:lnTo>
                  <a:pt x="895350" y="895350"/>
                </a:lnTo>
                <a:lnTo>
                  <a:pt x="0" y="8953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5400">
            <a:solidFill>
              <a:srgbClr val="8B86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720000">
            <a:off x="5648874" y="4067724"/>
            <a:ext cx="752475" cy="752475"/>
          </a:xfrm>
          <a:custGeom>
            <a:avLst/>
            <a:gdLst/>
            <a:ahLst/>
            <a:cxnLst/>
            <a:rect l="l" t="t" r="r" b="b"/>
            <a:pathLst>
              <a:path w="752475" h="752475">
                <a:moveTo>
                  <a:pt x="0" y="0"/>
                </a:moveTo>
                <a:lnTo>
                  <a:pt x="752475" y="0"/>
                </a:lnTo>
                <a:lnTo>
                  <a:pt x="75247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C4B7A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55506" y="437197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98227" y="13395"/>
                </a:moveTo>
                <a:cubicBezTo>
                  <a:pt x="98227" y="5972"/>
                  <a:pt x="92255" y="0"/>
                  <a:pt x="84832" y="0"/>
                </a:cubicBezTo>
                <a:cubicBezTo>
                  <a:pt x="77409" y="0"/>
                  <a:pt x="71438" y="5972"/>
                  <a:pt x="71438" y="13395"/>
                </a:cubicBezTo>
                <a:lnTo>
                  <a:pt x="71438" y="35719"/>
                </a:lnTo>
                <a:cubicBezTo>
                  <a:pt x="51736" y="35719"/>
                  <a:pt x="35719" y="51736"/>
                  <a:pt x="35719" y="71438"/>
                </a:cubicBezTo>
                <a:lnTo>
                  <a:pt x="13395" y="71438"/>
                </a:lnTo>
                <a:cubicBezTo>
                  <a:pt x="5972" y="71438"/>
                  <a:pt x="0" y="77409"/>
                  <a:pt x="0" y="84832"/>
                </a:cubicBezTo>
                <a:cubicBezTo>
                  <a:pt x="0" y="92255"/>
                  <a:pt x="5972" y="98227"/>
                  <a:pt x="13395" y="98227"/>
                </a:cubicBezTo>
                <a:lnTo>
                  <a:pt x="35719" y="98227"/>
                </a:lnTo>
                <a:lnTo>
                  <a:pt x="35719" y="129480"/>
                </a:lnTo>
                <a:lnTo>
                  <a:pt x="13395" y="129480"/>
                </a:lnTo>
                <a:cubicBezTo>
                  <a:pt x="5972" y="129480"/>
                  <a:pt x="0" y="135452"/>
                  <a:pt x="0" y="142875"/>
                </a:cubicBezTo>
                <a:cubicBezTo>
                  <a:pt x="0" y="150298"/>
                  <a:pt x="5972" y="156270"/>
                  <a:pt x="13395" y="156270"/>
                </a:cubicBezTo>
                <a:lnTo>
                  <a:pt x="35719" y="156270"/>
                </a:lnTo>
                <a:lnTo>
                  <a:pt x="35719" y="187523"/>
                </a:lnTo>
                <a:lnTo>
                  <a:pt x="13395" y="187523"/>
                </a:lnTo>
                <a:cubicBezTo>
                  <a:pt x="5972" y="187523"/>
                  <a:pt x="0" y="193495"/>
                  <a:pt x="0" y="200918"/>
                </a:cubicBezTo>
                <a:cubicBezTo>
                  <a:pt x="0" y="208341"/>
                  <a:pt x="5972" y="214313"/>
                  <a:pt x="13395" y="214313"/>
                </a:cubicBezTo>
                <a:lnTo>
                  <a:pt x="35719" y="214313"/>
                </a:lnTo>
                <a:cubicBezTo>
                  <a:pt x="35719" y="234014"/>
                  <a:pt x="51736" y="250031"/>
                  <a:pt x="71438" y="250031"/>
                </a:cubicBezTo>
                <a:lnTo>
                  <a:pt x="71438" y="272355"/>
                </a:lnTo>
                <a:cubicBezTo>
                  <a:pt x="71438" y="279778"/>
                  <a:pt x="77409" y="285750"/>
                  <a:pt x="84832" y="285750"/>
                </a:cubicBezTo>
                <a:cubicBezTo>
                  <a:pt x="92255" y="285750"/>
                  <a:pt x="98227" y="279778"/>
                  <a:pt x="98227" y="272355"/>
                </a:cubicBezTo>
                <a:lnTo>
                  <a:pt x="98227" y="250031"/>
                </a:lnTo>
                <a:lnTo>
                  <a:pt x="129480" y="250031"/>
                </a:lnTo>
                <a:lnTo>
                  <a:pt x="129480" y="272355"/>
                </a:lnTo>
                <a:cubicBezTo>
                  <a:pt x="129480" y="279778"/>
                  <a:pt x="135452" y="285750"/>
                  <a:pt x="142875" y="285750"/>
                </a:cubicBezTo>
                <a:cubicBezTo>
                  <a:pt x="150298" y="285750"/>
                  <a:pt x="156270" y="279778"/>
                  <a:pt x="156270" y="272355"/>
                </a:cubicBezTo>
                <a:lnTo>
                  <a:pt x="156270" y="250031"/>
                </a:lnTo>
                <a:lnTo>
                  <a:pt x="187523" y="250031"/>
                </a:lnTo>
                <a:lnTo>
                  <a:pt x="187523" y="272355"/>
                </a:lnTo>
                <a:cubicBezTo>
                  <a:pt x="187523" y="279778"/>
                  <a:pt x="193495" y="285750"/>
                  <a:pt x="200918" y="285750"/>
                </a:cubicBezTo>
                <a:cubicBezTo>
                  <a:pt x="208341" y="285750"/>
                  <a:pt x="214313" y="279778"/>
                  <a:pt x="214313" y="272355"/>
                </a:cubicBezTo>
                <a:lnTo>
                  <a:pt x="214313" y="250031"/>
                </a:lnTo>
                <a:cubicBezTo>
                  <a:pt x="234014" y="250031"/>
                  <a:pt x="250031" y="234014"/>
                  <a:pt x="250031" y="214313"/>
                </a:cubicBezTo>
                <a:lnTo>
                  <a:pt x="272355" y="214313"/>
                </a:lnTo>
                <a:cubicBezTo>
                  <a:pt x="279778" y="214313"/>
                  <a:pt x="285750" y="208341"/>
                  <a:pt x="285750" y="200918"/>
                </a:cubicBezTo>
                <a:cubicBezTo>
                  <a:pt x="285750" y="193495"/>
                  <a:pt x="279778" y="187523"/>
                  <a:pt x="272355" y="187523"/>
                </a:cubicBezTo>
                <a:lnTo>
                  <a:pt x="250031" y="187523"/>
                </a:lnTo>
                <a:lnTo>
                  <a:pt x="250031" y="156270"/>
                </a:lnTo>
                <a:lnTo>
                  <a:pt x="272355" y="156270"/>
                </a:lnTo>
                <a:cubicBezTo>
                  <a:pt x="279778" y="156270"/>
                  <a:pt x="285750" y="150298"/>
                  <a:pt x="285750" y="142875"/>
                </a:cubicBezTo>
                <a:cubicBezTo>
                  <a:pt x="285750" y="135452"/>
                  <a:pt x="279778" y="129480"/>
                  <a:pt x="272355" y="129480"/>
                </a:cubicBezTo>
                <a:lnTo>
                  <a:pt x="250031" y="129480"/>
                </a:lnTo>
                <a:lnTo>
                  <a:pt x="250031" y="98227"/>
                </a:lnTo>
                <a:lnTo>
                  <a:pt x="272355" y="98227"/>
                </a:lnTo>
                <a:cubicBezTo>
                  <a:pt x="279778" y="98227"/>
                  <a:pt x="285750" y="92255"/>
                  <a:pt x="285750" y="84832"/>
                </a:cubicBezTo>
                <a:cubicBezTo>
                  <a:pt x="285750" y="77409"/>
                  <a:pt x="279778" y="71438"/>
                  <a:pt x="272355" y="71438"/>
                </a:cubicBezTo>
                <a:lnTo>
                  <a:pt x="250031" y="71438"/>
                </a:lnTo>
                <a:cubicBezTo>
                  <a:pt x="250031" y="51736"/>
                  <a:pt x="234014" y="35719"/>
                  <a:pt x="214313" y="35719"/>
                </a:cubicBezTo>
                <a:lnTo>
                  <a:pt x="214313" y="13395"/>
                </a:lnTo>
                <a:cubicBezTo>
                  <a:pt x="214313" y="5972"/>
                  <a:pt x="208341" y="0"/>
                  <a:pt x="200918" y="0"/>
                </a:cubicBezTo>
                <a:cubicBezTo>
                  <a:pt x="193495" y="0"/>
                  <a:pt x="187523" y="5972"/>
                  <a:pt x="187523" y="13395"/>
                </a:cubicBezTo>
                <a:lnTo>
                  <a:pt x="187523" y="35719"/>
                </a:lnTo>
                <a:lnTo>
                  <a:pt x="156270" y="35719"/>
                </a:lnTo>
                <a:lnTo>
                  <a:pt x="156270" y="13395"/>
                </a:lnTo>
                <a:cubicBezTo>
                  <a:pt x="156270" y="5972"/>
                  <a:pt x="150298" y="0"/>
                  <a:pt x="142875" y="0"/>
                </a:cubicBezTo>
                <a:cubicBezTo>
                  <a:pt x="135452" y="0"/>
                  <a:pt x="129480" y="5972"/>
                  <a:pt x="129480" y="13395"/>
                </a:cubicBezTo>
                <a:lnTo>
                  <a:pt x="129480" y="35719"/>
                </a:lnTo>
                <a:lnTo>
                  <a:pt x="98227" y="35719"/>
                </a:lnTo>
                <a:lnTo>
                  <a:pt x="98227" y="13395"/>
                </a:lnTo>
                <a:close/>
                <a:moveTo>
                  <a:pt x="89297" y="71438"/>
                </a:moveTo>
                <a:lnTo>
                  <a:pt x="196453" y="71438"/>
                </a:lnTo>
                <a:cubicBezTo>
                  <a:pt x="206332" y="71438"/>
                  <a:pt x="214313" y="79418"/>
                  <a:pt x="214313" y="89297"/>
                </a:cubicBezTo>
                <a:lnTo>
                  <a:pt x="214313" y="196453"/>
                </a:lnTo>
                <a:cubicBezTo>
                  <a:pt x="214313" y="206332"/>
                  <a:pt x="206332" y="214313"/>
                  <a:pt x="196453" y="214313"/>
                </a:cubicBezTo>
                <a:lnTo>
                  <a:pt x="89297" y="214313"/>
                </a:lnTo>
                <a:cubicBezTo>
                  <a:pt x="79418" y="214313"/>
                  <a:pt x="71438" y="206332"/>
                  <a:pt x="71438" y="196453"/>
                </a:cubicBezTo>
                <a:lnTo>
                  <a:pt x="71438" y="89297"/>
                </a:lnTo>
                <a:cubicBezTo>
                  <a:pt x="71438" y="79418"/>
                  <a:pt x="79418" y="71438"/>
                  <a:pt x="89297" y="71438"/>
                </a:cubicBezTo>
                <a:close/>
                <a:moveTo>
                  <a:pt x="98227" y="98227"/>
                </a:moveTo>
                <a:lnTo>
                  <a:pt x="98227" y="187523"/>
                </a:lnTo>
                <a:lnTo>
                  <a:pt x="187523" y="187523"/>
                </a:lnTo>
                <a:lnTo>
                  <a:pt x="187523" y="98227"/>
                </a:lnTo>
                <a:lnTo>
                  <a:pt x="98227" y="98227"/>
                </a:lnTo>
                <a:close/>
              </a:path>
            </a:pathLst>
          </a:custGeom>
          <a:solidFill>
            <a:srgbClr val="1A1A1A"/>
          </a:solidFill>
          <a:ln/>
        </p:spPr>
      </p:sp>
      <p:sp>
        <p:nvSpPr>
          <p:cNvPr id="17" name="Text 15"/>
          <p:cNvSpPr/>
          <p:nvPr/>
        </p:nvSpPr>
        <p:spPr>
          <a:xfrm>
            <a:off x="4600575" y="5124450"/>
            <a:ext cx="29908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Offline-First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Hybrid AI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14863" y="5734050"/>
            <a:ext cx="2962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Intelligence Engine &amp; Algorithms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772400" y="4829175"/>
            <a:ext cx="914400" cy="19050"/>
          </a:xfrm>
          <a:custGeom>
            <a:avLst/>
            <a:gdLst/>
            <a:ahLst/>
            <a:cxnLst/>
            <a:rect l="l" t="t" r="r" b="b"/>
            <a:pathLst>
              <a:path w="914400" h="19050">
                <a:moveTo>
                  <a:pt x="0" y="0"/>
                </a:moveTo>
                <a:lnTo>
                  <a:pt x="914400" y="0"/>
                </a:lnTo>
                <a:lnTo>
                  <a:pt x="914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0" name="Shape 18"/>
          <p:cNvSpPr/>
          <p:nvPr/>
        </p:nvSpPr>
        <p:spPr>
          <a:xfrm>
            <a:off x="8115300" y="49244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5400" y="3905250"/>
            <a:ext cx="2895600" cy="647700"/>
          </a:xfrm>
          <a:custGeom>
            <a:avLst/>
            <a:gdLst/>
            <a:ahLst/>
            <a:cxnLst/>
            <a:rect l="l" t="t" r="r" b="b"/>
            <a:pathLst>
              <a:path w="2895600" h="647700">
                <a:moveTo>
                  <a:pt x="38098" y="0"/>
                </a:moveTo>
                <a:lnTo>
                  <a:pt x="2857502" y="0"/>
                </a:lnTo>
                <a:cubicBezTo>
                  <a:pt x="2878529" y="0"/>
                  <a:pt x="2895600" y="17071"/>
                  <a:pt x="2895600" y="38098"/>
                </a:cubicBezTo>
                <a:lnTo>
                  <a:pt x="2895600" y="609602"/>
                </a:lnTo>
                <a:cubicBezTo>
                  <a:pt x="2895600" y="630643"/>
                  <a:pt x="2878543" y="647700"/>
                  <a:pt x="2857502" y="647700"/>
                </a:cubicBezTo>
                <a:lnTo>
                  <a:pt x="38098" y="647700"/>
                </a:lnTo>
                <a:cubicBezTo>
                  <a:pt x="17071" y="647700"/>
                  <a:pt x="0" y="630629"/>
                  <a:pt x="0" y="6096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22" name="Shape 20"/>
          <p:cNvSpPr/>
          <p:nvPr/>
        </p:nvSpPr>
        <p:spPr>
          <a:xfrm>
            <a:off x="9053513" y="41338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3" name="Text 21"/>
          <p:cNvSpPr/>
          <p:nvPr/>
        </p:nvSpPr>
        <p:spPr>
          <a:xfrm>
            <a:off x="9382125" y="4019550"/>
            <a:ext cx="1533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Journalism Analytics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382125" y="4248150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Trend analysis &amp; insights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915400" y="4667250"/>
            <a:ext cx="2895600" cy="647700"/>
          </a:xfrm>
          <a:custGeom>
            <a:avLst/>
            <a:gdLst/>
            <a:ahLst/>
            <a:cxnLst/>
            <a:rect l="l" t="t" r="r" b="b"/>
            <a:pathLst>
              <a:path w="2895600" h="647700">
                <a:moveTo>
                  <a:pt x="38098" y="0"/>
                </a:moveTo>
                <a:lnTo>
                  <a:pt x="2857502" y="0"/>
                </a:lnTo>
                <a:cubicBezTo>
                  <a:pt x="2878529" y="0"/>
                  <a:pt x="2895600" y="17071"/>
                  <a:pt x="2895600" y="38098"/>
                </a:cubicBezTo>
                <a:lnTo>
                  <a:pt x="2895600" y="609602"/>
                </a:lnTo>
                <a:cubicBezTo>
                  <a:pt x="2895600" y="630643"/>
                  <a:pt x="2878543" y="647700"/>
                  <a:pt x="2857502" y="647700"/>
                </a:cubicBezTo>
                <a:lnTo>
                  <a:pt x="38098" y="647700"/>
                </a:lnTo>
                <a:cubicBezTo>
                  <a:pt x="17071" y="647700"/>
                  <a:pt x="0" y="630629"/>
                  <a:pt x="0" y="6096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26" name="Shape 24"/>
          <p:cNvSpPr/>
          <p:nvPr/>
        </p:nvSpPr>
        <p:spPr>
          <a:xfrm>
            <a:off x="9041606" y="489585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07156" y="11906"/>
                </a:moveTo>
                <a:cubicBezTo>
                  <a:pt x="77093" y="11906"/>
                  <a:pt x="53020" y="25598"/>
                  <a:pt x="35496" y="41895"/>
                </a:cubicBezTo>
                <a:cubicBezTo>
                  <a:pt x="18083" y="58080"/>
                  <a:pt x="6437" y="77391"/>
                  <a:pt x="893" y="90674"/>
                </a:cubicBezTo>
                <a:cubicBezTo>
                  <a:pt x="-335" y="93613"/>
                  <a:pt x="-335" y="96887"/>
                  <a:pt x="893" y="99826"/>
                </a:cubicBezTo>
                <a:cubicBezTo>
                  <a:pt x="6437" y="113109"/>
                  <a:pt x="18083" y="132457"/>
                  <a:pt x="35496" y="148605"/>
                </a:cubicBezTo>
                <a:cubicBezTo>
                  <a:pt x="53020" y="164864"/>
                  <a:pt x="77093" y="178594"/>
                  <a:pt x="107156" y="178594"/>
                </a:cubicBezTo>
                <a:cubicBezTo>
                  <a:pt x="137220" y="178594"/>
                  <a:pt x="161292" y="164902"/>
                  <a:pt x="178817" y="148605"/>
                </a:cubicBezTo>
                <a:cubicBezTo>
                  <a:pt x="196230" y="132420"/>
                  <a:pt x="207876" y="113109"/>
                  <a:pt x="213420" y="99826"/>
                </a:cubicBezTo>
                <a:cubicBezTo>
                  <a:pt x="214647" y="96887"/>
                  <a:pt x="214647" y="93613"/>
                  <a:pt x="213420" y="90674"/>
                </a:cubicBezTo>
                <a:cubicBezTo>
                  <a:pt x="207876" y="77391"/>
                  <a:pt x="196230" y="58043"/>
                  <a:pt x="178817" y="41895"/>
                </a:cubicBezTo>
                <a:cubicBezTo>
                  <a:pt x="161292" y="25636"/>
                  <a:pt x="137220" y="11906"/>
                  <a:pt x="107156" y="11906"/>
                </a:cubicBezTo>
                <a:close/>
                <a:moveTo>
                  <a:pt x="53578" y="95250"/>
                </a:moveTo>
                <a:cubicBezTo>
                  <a:pt x="53578" y="65679"/>
                  <a:pt x="77586" y="41672"/>
                  <a:pt x="107156" y="41672"/>
                </a:cubicBezTo>
                <a:cubicBezTo>
                  <a:pt x="136727" y="41672"/>
                  <a:pt x="160734" y="65679"/>
                  <a:pt x="160734" y="95250"/>
                </a:cubicBezTo>
                <a:cubicBezTo>
                  <a:pt x="160734" y="124821"/>
                  <a:pt x="136727" y="148828"/>
                  <a:pt x="107156" y="148828"/>
                </a:cubicBezTo>
                <a:cubicBezTo>
                  <a:pt x="77586" y="148828"/>
                  <a:pt x="53578" y="124821"/>
                  <a:pt x="53578" y="95250"/>
                </a:cubicBezTo>
                <a:close/>
                <a:moveTo>
                  <a:pt x="107156" y="71438"/>
                </a:moveTo>
                <a:cubicBezTo>
                  <a:pt x="107156" y="84572"/>
                  <a:pt x="96478" y="95250"/>
                  <a:pt x="83344" y="95250"/>
                </a:cubicBezTo>
                <a:cubicBezTo>
                  <a:pt x="79065" y="95250"/>
                  <a:pt x="75047" y="94134"/>
                  <a:pt x="71549" y="92125"/>
                </a:cubicBezTo>
                <a:cubicBezTo>
                  <a:pt x="71177" y="96180"/>
                  <a:pt x="71512" y="100347"/>
                  <a:pt x="72628" y="104477"/>
                </a:cubicBezTo>
                <a:cubicBezTo>
                  <a:pt x="77725" y="123527"/>
                  <a:pt x="97334" y="134838"/>
                  <a:pt x="116384" y="129741"/>
                </a:cubicBezTo>
                <a:cubicBezTo>
                  <a:pt x="135434" y="124644"/>
                  <a:pt x="146745" y="105035"/>
                  <a:pt x="141647" y="85985"/>
                </a:cubicBezTo>
                <a:cubicBezTo>
                  <a:pt x="137108" y="68982"/>
                  <a:pt x="120997" y="58155"/>
                  <a:pt x="104031" y="59643"/>
                </a:cubicBezTo>
                <a:cubicBezTo>
                  <a:pt x="106003" y="63103"/>
                  <a:pt x="107156" y="67121"/>
                  <a:pt x="107156" y="71438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7" name="Text 25"/>
          <p:cNvSpPr/>
          <p:nvPr/>
        </p:nvSpPr>
        <p:spPr>
          <a:xfrm>
            <a:off x="9382125" y="478155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Brand Monitoring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82125" y="501015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Reputation tracking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915400" y="5429250"/>
            <a:ext cx="2895600" cy="647700"/>
          </a:xfrm>
          <a:custGeom>
            <a:avLst/>
            <a:gdLst/>
            <a:ahLst/>
            <a:cxnLst/>
            <a:rect l="l" t="t" r="r" b="b"/>
            <a:pathLst>
              <a:path w="2895600" h="647700">
                <a:moveTo>
                  <a:pt x="38098" y="0"/>
                </a:moveTo>
                <a:lnTo>
                  <a:pt x="2857502" y="0"/>
                </a:lnTo>
                <a:cubicBezTo>
                  <a:pt x="2878529" y="0"/>
                  <a:pt x="2895600" y="17071"/>
                  <a:pt x="2895600" y="38098"/>
                </a:cubicBezTo>
                <a:lnTo>
                  <a:pt x="2895600" y="609602"/>
                </a:lnTo>
                <a:cubicBezTo>
                  <a:pt x="2895600" y="630643"/>
                  <a:pt x="2878543" y="647700"/>
                  <a:pt x="2857502" y="647700"/>
                </a:cubicBezTo>
                <a:lnTo>
                  <a:pt x="38098" y="647700"/>
                </a:lnTo>
                <a:cubicBezTo>
                  <a:pt x="17071" y="647700"/>
                  <a:pt x="0" y="630629"/>
                  <a:pt x="0" y="6096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30" name="Shape 28"/>
          <p:cNvSpPr/>
          <p:nvPr/>
        </p:nvSpPr>
        <p:spPr>
          <a:xfrm>
            <a:off x="9065419" y="56578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26057" y="-3683"/>
                </a:moveTo>
                <a:cubicBezTo>
                  <a:pt x="130485" y="-484"/>
                  <a:pt x="132122" y="5321"/>
                  <a:pt x="130113" y="10381"/>
                </a:cubicBezTo>
                <a:lnTo>
                  <a:pt x="100943" y="83344"/>
                </a:lnTo>
                <a:lnTo>
                  <a:pt x="154781" y="83344"/>
                </a:lnTo>
                <a:cubicBezTo>
                  <a:pt x="159804" y="83344"/>
                  <a:pt x="164269" y="86469"/>
                  <a:pt x="165981" y="91194"/>
                </a:cubicBezTo>
                <a:cubicBezTo>
                  <a:pt x="167692" y="95920"/>
                  <a:pt x="166241" y="101203"/>
                  <a:pt x="162409" y="104403"/>
                </a:cubicBezTo>
                <a:lnTo>
                  <a:pt x="55252" y="193700"/>
                </a:lnTo>
                <a:cubicBezTo>
                  <a:pt x="51048" y="197197"/>
                  <a:pt x="45058" y="197383"/>
                  <a:pt x="40630" y="194183"/>
                </a:cubicBezTo>
                <a:cubicBezTo>
                  <a:pt x="36202" y="190984"/>
                  <a:pt x="34565" y="185179"/>
                  <a:pt x="36575" y="180119"/>
                </a:cubicBezTo>
                <a:lnTo>
                  <a:pt x="65745" y="107156"/>
                </a:lnTo>
                <a:lnTo>
                  <a:pt x="11906" y="107156"/>
                </a:lnTo>
                <a:cubicBezTo>
                  <a:pt x="6883" y="107156"/>
                  <a:pt x="2418" y="104031"/>
                  <a:pt x="707" y="99306"/>
                </a:cubicBezTo>
                <a:cubicBezTo>
                  <a:pt x="-1005" y="94580"/>
                  <a:pt x="446" y="89297"/>
                  <a:pt x="4279" y="86097"/>
                </a:cubicBezTo>
                <a:lnTo>
                  <a:pt x="111435" y="-3200"/>
                </a:lnTo>
                <a:cubicBezTo>
                  <a:pt x="115639" y="-6697"/>
                  <a:pt x="121630" y="-6883"/>
                  <a:pt x="126057" y="-3683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1" name="Text 29"/>
          <p:cNvSpPr/>
          <p:nvPr/>
        </p:nvSpPr>
        <p:spPr>
          <a:xfrm>
            <a:off x="9382125" y="5543550"/>
            <a:ext cx="1800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 Event Tracking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382125" y="577215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Live monitoring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 / System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116395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3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 robust five-phase engineering pipeline structures the data lifecycle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3062288"/>
            <a:ext cx="2228850" cy="1600200"/>
          </a:xfrm>
          <a:custGeom>
            <a:avLst/>
            <a:gdLst/>
            <a:ahLst/>
            <a:cxnLst/>
            <a:rect l="l" t="t" r="r" b="b"/>
            <a:pathLst>
              <a:path w="2228850" h="1600200">
                <a:moveTo>
                  <a:pt x="0" y="0"/>
                </a:moveTo>
                <a:lnTo>
                  <a:pt x="2228850" y="0"/>
                </a:lnTo>
                <a:lnTo>
                  <a:pt x="2228850" y="1600200"/>
                </a:lnTo>
                <a:lnTo>
                  <a:pt x="0" y="1600200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/>
        </p:spPr>
      </p:sp>
      <p:sp>
        <p:nvSpPr>
          <p:cNvPr id="6" name="Text 4"/>
          <p:cNvSpPr/>
          <p:nvPr/>
        </p:nvSpPr>
        <p:spPr>
          <a:xfrm>
            <a:off x="571500" y="3252788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dirty="0">
                <a:solidFill>
                  <a:srgbClr val="FAF9F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71500" y="3748087"/>
            <a:ext cx="1943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Ingestion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1500" y="4281488"/>
            <a:ext cx="19145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Warehousing &amp; ETL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82180" y="3062288"/>
            <a:ext cx="2228850" cy="1600200"/>
          </a:xfrm>
          <a:custGeom>
            <a:avLst/>
            <a:gdLst/>
            <a:ahLst/>
            <a:cxnLst/>
            <a:rect l="l" t="t" r="r" b="b"/>
            <a:pathLst>
              <a:path w="2228850" h="1600200">
                <a:moveTo>
                  <a:pt x="0" y="0"/>
                </a:moveTo>
                <a:lnTo>
                  <a:pt x="2228850" y="0"/>
                </a:lnTo>
                <a:lnTo>
                  <a:pt x="2228850" y="1600200"/>
                </a:lnTo>
                <a:lnTo>
                  <a:pt x="0" y="1600200"/>
                </a:lnTo>
                <a:lnTo>
                  <a:pt x="0" y="0"/>
                </a:lnTo>
                <a:close/>
              </a:path>
            </a:pathLst>
          </a:custGeom>
          <a:solidFill>
            <a:srgbClr val="5A5A5A"/>
          </a:solidFill>
          <a:ln/>
        </p:spPr>
      </p:sp>
      <p:sp>
        <p:nvSpPr>
          <p:cNvPr id="10" name="Text 8"/>
          <p:cNvSpPr/>
          <p:nvPr/>
        </p:nvSpPr>
        <p:spPr>
          <a:xfrm>
            <a:off x="2872680" y="3252788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dirty="0">
                <a:solidFill>
                  <a:srgbClr val="FAF9F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872680" y="3748087"/>
            <a:ext cx="1943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Preprocessing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72680" y="4090987"/>
            <a:ext cx="1914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Transformation &amp; Dimensionality Reduction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83510" y="3062288"/>
            <a:ext cx="2228850" cy="1600200"/>
          </a:xfrm>
          <a:custGeom>
            <a:avLst/>
            <a:gdLst/>
            <a:ahLst/>
            <a:cxnLst/>
            <a:rect l="l" t="t" r="r" b="b"/>
            <a:pathLst>
              <a:path w="2228850" h="1600200">
                <a:moveTo>
                  <a:pt x="0" y="0"/>
                </a:moveTo>
                <a:lnTo>
                  <a:pt x="2228850" y="0"/>
                </a:lnTo>
                <a:lnTo>
                  <a:pt x="2228850" y="1600200"/>
                </a:lnTo>
                <a:lnTo>
                  <a:pt x="0" y="1600200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  <a:ln/>
        </p:spPr>
      </p:sp>
      <p:sp>
        <p:nvSpPr>
          <p:cNvPr id="14" name="Text 12"/>
          <p:cNvSpPr/>
          <p:nvPr/>
        </p:nvSpPr>
        <p:spPr>
          <a:xfrm>
            <a:off x="5174010" y="3252788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dirty="0">
                <a:solidFill>
                  <a:srgbClr val="FAF9F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74010" y="3748087"/>
            <a:ext cx="1943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Mining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74010" y="4090987"/>
            <a:ext cx="1914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5E5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Intelligence Engine &amp; Algorithms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284690" y="3062288"/>
            <a:ext cx="2228850" cy="1600200"/>
          </a:xfrm>
          <a:custGeom>
            <a:avLst/>
            <a:gdLst/>
            <a:ahLst/>
            <a:cxnLst/>
            <a:rect l="l" t="t" r="r" b="b"/>
            <a:pathLst>
              <a:path w="2228850" h="1600200">
                <a:moveTo>
                  <a:pt x="0" y="0"/>
                </a:moveTo>
                <a:lnTo>
                  <a:pt x="2228850" y="0"/>
                </a:lnTo>
                <a:lnTo>
                  <a:pt x="2228850" y="1600200"/>
                </a:lnTo>
                <a:lnTo>
                  <a:pt x="0" y="16002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8" name="Text 16"/>
          <p:cNvSpPr/>
          <p:nvPr/>
        </p:nvSpPr>
        <p:spPr>
          <a:xfrm>
            <a:off x="7475190" y="3252788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dirty="0">
                <a:solidFill>
                  <a:srgbClr val="FAF9F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75190" y="3748087"/>
            <a:ext cx="1943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75190" y="4281488"/>
            <a:ext cx="19145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5E5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Explainable AI &amp; Translation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586020" y="3062288"/>
            <a:ext cx="2228850" cy="1600200"/>
          </a:xfrm>
          <a:custGeom>
            <a:avLst/>
            <a:gdLst/>
            <a:ahLst/>
            <a:cxnLst/>
            <a:rect l="l" t="t" r="r" b="b"/>
            <a:pathLst>
              <a:path w="2228850" h="1600200">
                <a:moveTo>
                  <a:pt x="0" y="0"/>
                </a:moveTo>
                <a:lnTo>
                  <a:pt x="2228850" y="0"/>
                </a:lnTo>
                <a:lnTo>
                  <a:pt x="2228850" y="1600200"/>
                </a:lnTo>
                <a:lnTo>
                  <a:pt x="0" y="16002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2" name="Text 20"/>
          <p:cNvSpPr/>
          <p:nvPr/>
        </p:nvSpPr>
        <p:spPr>
          <a:xfrm>
            <a:off x="9776520" y="3252788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dirty="0">
                <a:solidFill>
                  <a:srgbClr val="1A1A1A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776520" y="3748087"/>
            <a:ext cx="1943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Analytics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76520" y="4281488"/>
            <a:ext cx="19145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Dashboard &amp; Insights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332458" y="5043488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200025" y="91886"/>
                </a:moveTo>
                <a:cubicBezTo>
                  <a:pt x="193417" y="96262"/>
                  <a:pt x="185827" y="99789"/>
                  <a:pt x="177924" y="102602"/>
                </a:cubicBezTo>
                <a:cubicBezTo>
                  <a:pt x="156939" y="110103"/>
                  <a:pt x="129391" y="114300"/>
                  <a:pt x="100013" y="114300"/>
                </a:cubicBezTo>
                <a:cubicBezTo>
                  <a:pt x="70634" y="114300"/>
                  <a:pt x="43041" y="110058"/>
                  <a:pt x="22101" y="102602"/>
                </a:cubicBezTo>
                <a:cubicBezTo>
                  <a:pt x="14243" y="99789"/>
                  <a:pt x="6608" y="96262"/>
                  <a:pt x="0" y="91886"/>
                </a:cubicBezTo>
                <a:lnTo>
                  <a:pt x="0" y="128588"/>
                </a:lnTo>
                <a:cubicBezTo>
                  <a:pt x="0" y="148322"/>
                  <a:pt x="44782" y="164306"/>
                  <a:pt x="100013" y="164306"/>
                </a:cubicBezTo>
                <a:cubicBezTo>
                  <a:pt x="155243" y="164306"/>
                  <a:pt x="200025" y="148322"/>
                  <a:pt x="200025" y="128588"/>
                </a:cubicBezTo>
                <a:lnTo>
                  <a:pt x="200025" y="91886"/>
                </a:lnTo>
                <a:close/>
                <a:moveTo>
                  <a:pt x="200025" y="57150"/>
                </a:moveTo>
                <a:lnTo>
                  <a:pt x="200025" y="35719"/>
                </a:lnTo>
                <a:cubicBezTo>
                  <a:pt x="200025" y="15984"/>
                  <a:pt x="155243" y="0"/>
                  <a:pt x="100013" y="0"/>
                </a:cubicBezTo>
                <a:cubicBezTo>
                  <a:pt x="44782" y="0"/>
                  <a:pt x="0" y="15984"/>
                  <a:pt x="0" y="35719"/>
                </a:cubicBezTo>
                <a:lnTo>
                  <a:pt x="0" y="57150"/>
                </a:lnTo>
                <a:cubicBezTo>
                  <a:pt x="0" y="76885"/>
                  <a:pt x="44782" y="92869"/>
                  <a:pt x="100013" y="92869"/>
                </a:cubicBezTo>
                <a:cubicBezTo>
                  <a:pt x="155243" y="92869"/>
                  <a:pt x="200025" y="76885"/>
                  <a:pt x="200025" y="57150"/>
                </a:cubicBezTo>
                <a:close/>
                <a:moveTo>
                  <a:pt x="177924" y="174040"/>
                </a:moveTo>
                <a:cubicBezTo>
                  <a:pt x="156984" y="181496"/>
                  <a:pt x="129436" y="185738"/>
                  <a:pt x="100013" y="185738"/>
                </a:cubicBezTo>
                <a:cubicBezTo>
                  <a:pt x="70589" y="185738"/>
                  <a:pt x="43041" y="181496"/>
                  <a:pt x="22101" y="174040"/>
                </a:cubicBezTo>
                <a:cubicBezTo>
                  <a:pt x="14243" y="171227"/>
                  <a:pt x="6608" y="167700"/>
                  <a:pt x="0" y="163324"/>
                </a:cubicBezTo>
                <a:lnTo>
                  <a:pt x="0" y="192881"/>
                </a:lnTo>
                <a:cubicBezTo>
                  <a:pt x="0" y="212616"/>
                  <a:pt x="44782" y="228600"/>
                  <a:pt x="100013" y="228600"/>
                </a:cubicBezTo>
                <a:cubicBezTo>
                  <a:pt x="155243" y="228600"/>
                  <a:pt x="200025" y="212616"/>
                  <a:pt x="200025" y="192881"/>
                </a:cubicBezTo>
                <a:lnTo>
                  <a:pt x="200025" y="163324"/>
                </a:lnTo>
                <a:cubicBezTo>
                  <a:pt x="193417" y="167700"/>
                  <a:pt x="185827" y="171227"/>
                  <a:pt x="177924" y="174040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6" name="Text 24"/>
          <p:cNvSpPr/>
          <p:nvPr/>
        </p:nvSpPr>
        <p:spPr>
          <a:xfrm>
            <a:off x="347663" y="5348288"/>
            <a:ext cx="2171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Collect &amp; Store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649861" y="50434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28575"/>
                </a:moveTo>
                <a:cubicBezTo>
                  <a:pt x="8528" y="28575"/>
                  <a:pt x="3304" y="32058"/>
                  <a:pt x="1072" y="37415"/>
                </a:cubicBezTo>
                <a:cubicBezTo>
                  <a:pt x="-1161" y="42773"/>
                  <a:pt x="89" y="48890"/>
                  <a:pt x="4197" y="52953"/>
                </a:cubicBezTo>
                <a:lnTo>
                  <a:pt x="85725" y="134526"/>
                </a:lnTo>
                <a:lnTo>
                  <a:pt x="85725" y="185738"/>
                </a:lnTo>
                <a:cubicBezTo>
                  <a:pt x="85725" y="189533"/>
                  <a:pt x="87243" y="193149"/>
                  <a:pt x="89922" y="195828"/>
                </a:cubicBezTo>
                <a:lnTo>
                  <a:pt x="118497" y="224403"/>
                </a:lnTo>
                <a:cubicBezTo>
                  <a:pt x="122605" y="228511"/>
                  <a:pt x="128721" y="229716"/>
                  <a:pt x="134079" y="227484"/>
                </a:cubicBezTo>
                <a:cubicBezTo>
                  <a:pt x="139437" y="225251"/>
                  <a:pt x="142875" y="220072"/>
                  <a:pt x="142875" y="214313"/>
                </a:cubicBezTo>
                <a:lnTo>
                  <a:pt x="142875" y="134526"/>
                </a:lnTo>
                <a:lnTo>
                  <a:pt x="224403" y="52998"/>
                </a:lnTo>
                <a:cubicBezTo>
                  <a:pt x="228511" y="48890"/>
                  <a:pt x="229716" y="42773"/>
                  <a:pt x="227484" y="37415"/>
                </a:cubicBezTo>
                <a:cubicBezTo>
                  <a:pt x="225251" y="32058"/>
                  <a:pt x="220072" y="28575"/>
                  <a:pt x="214313" y="28575"/>
                </a:cubicBezTo>
                <a:lnTo>
                  <a:pt x="14288" y="28575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8" name="Text 26"/>
          <p:cNvSpPr/>
          <p:nvPr/>
        </p:nvSpPr>
        <p:spPr>
          <a:xfrm>
            <a:off x="2679353" y="5348288"/>
            <a:ext cx="2171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Clean &amp; Transform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981551" y="50434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0" name="Text 28"/>
          <p:cNvSpPr/>
          <p:nvPr/>
        </p:nvSpPr>
        <p:spPr>
          <a:xfrm>
            <a:off x="5011043" y="5348288"/>
            <a:ext cx="2171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Mine Patterns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341816" y="504348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733" y="5348288"/>
            <a:ext cx="2171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Interpret Results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645080" y="50434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4" name="Text 32"/>
          <p:cNvSpPr/>
          <p:nvPr/>
        </p:nvSpPr>
        <p:spPr>
          <a:xfrm>
            <a:off x="9674423" y="5348288"/>
            <a:ext cx="2171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Visualize Data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 rot="2700000">
            <a:off x="2444336" y="37007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/>
        </p:spPr>
      </p:sp>
      <p:sp>
        <p:nvSpPr>
          <p:cNvPr id="36" name="Shape 34"/>
          <p:cNvSpPr/>
          <p:nvPr/>
        </p:nvSpPr>
        <p:spPr>
          <a:xfrm rot="2700000">
            <a:off x="4745665" y="37007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5A5A5A"/>
          </a:solidFill>
          <a:ln/>
        </p:spPr>
      </p:sp>
      <p:sp>
        <p:nvSpPr>
          <p:cNvPr id="37" name="Shape 35"/>
          <p:cNvSpPr/>
          <p:nvPr/>
        </p:nvSpPr>
        <p:spPr>
          <a:xfrm rot="2700000">
            <a:off x="7046845" y="37007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  <a:ln/>
        </p:spPr>
      </p:sp>
      <p:sp>
        <p:nvSpPr>
          <p:cNvPr id="38" name="Shape 36"/>
          <p:cNvSpPr/>
          <p:nvPr/>
        </p:nvSpPr>
        <p:spPr>
          <a:xfrm rot="2700000">
            <a:off x="9348175" y="37007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5972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 / Data Foundation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609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Freezing the AG News corpus guarantees deterministic and verifiable research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5288" y="2505075"/>
            <a:ext cx="28575" cy="561975"/>
          </a:xfrm>
          <a:custGeom>
            <a:avLst/>
            <a:gdLst/>
            <a:ahLst/>
            <a:cxnLst/>
            <a:rect l="l" t="t" r="r" b="b"/>
            <a:pathLst>
              <a:path w="28575" h="561975">
                <a:moveTo>
                  <a:pt x="0" y="0"/>
                </a:moveTo>
                <a:lnTo>
                  <a:pt x="28575" y="0"/>
                </a:lnTo>
                <a:lnTo>
                  <a:pt x="28575" y="561975"/>
                </a:lnTo>
                <a:lnTo>
                  <a:pt x="0" y="56197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6" name="Text 4"/>
          <p:cNvSpPr/>
          <p:nvPr/>
        </p:nvSpPr>
        <p:spPr>
          <a:xfrm>
            <a:off x="600075" y="2505075"/>
            <a:ext cx="57721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Working with a </a:t>
            </a:r>
            <a:pPr>
              <a:lnSpc>
                <a:spcPct val="140000"/>
              </a:lnSpc>
            </a:pPr>
            <a:r>
              <a:rPr lang="en-US" sz="135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120,000-article frozen subset</a:t>
            </a:r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ensures data stability throughout the research lifecycle.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95288" y="3290888"/>
            <a:ext cx="28575" cy="838200"/>
          </a:xfrm>
          <a:custGeom>
            <a:avLst/>
            <a:gdLst/>
            <a:ahLst/>
            <a:cxnLst/>
            <a:rect l="l" t="t" r="r" b="b"/>
            <a:pathLst>
              <a:path w="28575" h="838200">
                <a:moveTo>
                  <a:pt x="0" y="0"/>
                </a:moveTo>
                <a:lnTo>
                  <a:pt x="28575" y="0"/>
                </a:lnTo>
                <a:lnTo>
                  <a:pt x="28575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8" name="Text 6"/>
          <p:cNvSpPr/>
          <p:nvPr/>
        </p:nvSpPr>
        <p:spPr>
          <a:xfrm>
            <a:off x="600075" y="3290888"/>
            <a:ext cx="57721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Assertion:</a:t>
            </a:r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 completely static environment ensures that downstream mining algorithms produce academically verifiable results without structural drift.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81000" y="4355306"/>
            <a:ext cx="5905500" cy="1933575"/>
          </a:xfrm>
          <a:custGeom>
            <a:avLst/>
            <a:gdLst/>
            <a:ahLst/>
            <a:cxnLst/>
            <a:rect l="l" t="t" r="r" b="b"/>
            <a:pathLst>
              <a:path w="5905500" h="1933575">
                <a:moveTo>
                  <a:pt x="38091" y="0"/>
                </a:moveTo>
                <a:lnTo>
                  <a:pt x="5867409" y="0"/>
                </a:lnTo>
                <a:cubicBezTo>
                  <a:pt x="5888432" y="0"/>
                  <a:pt x="5905500" y="17068"/>
                  <a:pt x="5905500" y="38091"/>
                </a:cubicBezTo>
                <a:lnTo>
                  <a:pt x="5905500" y="1895484"/>
                </a:lnTo>
                <a:cubicBezTo>
                  <a:pt x="5905500" y="1916521"/>
                  <a:pt x="5888446" y="1933575"/>
                  <a:pt x="5867409" y="1933575"/>
                </a:cubicBezTo>
                <a:lnTo>
                  <a:pt x="38091" y="1933575"/>
                </a:lnTo>
                <a:cubicBezTo>
                  <a:pt x="17068" y="1933575"/>
                  <a:pt x="0" y="1916507"/>
                  <a:pt x="0" y="1895484"/>
                </a:cubicBezTo>
                <a:lnTo>
                  <a:pt x="0" y="38091"/>
                </a:lnTo>
                <a:cubicBezTo>
                  <a:pt x="0" y="17068"/>
                  <a:pt x="17068" y="0"/>
                  <a:pt x="38091" y="0"/>
                </a:cubicBez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" y="4545806"/>
            <a:ext cx="5591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Raw Data Snapshot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5122069"/>
            <a:ext cx="5524500" cy="9525"/>
          </a:xfrm>
          <a:custGeom>
            <a:avLst/>
            <a:gdLst/>
            <a:ahLst/>
            <a:cxnLst/>
            <a:rect l="l" t="t" r="r" b="b"/>
            <a:pathLst>
              <a:path w="5524500" h="9525">
                <a:moveTo>
                  <a:pt x="0" y="0"/>
                </a:moveTo>
                <a:lnTo>
                  <a:pt x="5524500" y="0"/>
                </a:lnTo>
                <a:lnTo>
                  <a:pt x="55245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/>
        </p:spPr>
      </p:sp>
      <p:sp>
        <p:nvSpPr>
          <p:cNvPr id="12" name="Text 10"/>
          <p:cNvSpPr/>
          <p:nvPr/>
        </p:nvSpPr>
        <p:spPr>
          <a:xfrm>
            <a:off x="571500" y="4850606"/>
            <a:ext cx="828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Title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85900" y="4850606"/>
            <a:ext cx="160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Wall St. Bears Claw Back...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1500" y="5474494"/>
            <a:ext cx="5524500" cy="9525"/>
          </a:xfrm>
          <a:custGeom>
            <a:avLst/>
            <a:gdLst/>
            <a:ahLst/>
            <a:cxnLst/>
            <a:rect l="l" t="t" r="r" b="b"/>
            <a:pathLst>
              <a:path w="5524500" h="9525">
                <a:moveTo>
                  <a:pt x="0" y="0"/>
                </a:moveTo>
                <a:lnTo>
                  <a:pt x="5524500" y="0"/>
                </a:lnTo>
                <a:lnTo>
                  <a:pt x="55245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/>
        </p:spPr>
      </p:sp>
      <p:sp>
        <p:nvSpPr>
          <p:cNvPr id="15" name="Text 13"/>
          <p:cNvSpPr/>
          <p:nvPr/>
        </p:nvSpPr>
        <p:spPr>
          <a:xfrm>
            <a:off x="571500" y="5203031"/>
            <a:ext cx="828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Category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85900" y="5203031"/>
            <a:ext cx="590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Business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71500" y="5826919"/>
            <a:ext cx="5524500" cy="9525"/>
          </a:xfrm>
          <a:custGeom>
            <a:avLst/>
            <a:gdLst/>
            <a:ahLst/>
            <a:cxnLst/>
            <a:rect l="l" t="t" r="r" b="b"/>
            <a:pathLst>
              <a:path w="5524500" h="9525">
                <a:moveTo>
                  <a:pt x="0" y="0"/>
                </a:moveTo>
                <a:lnTo>
                  <a:pt x="5524500" y="0"/>
                </a:lnTo>
                <a:lnTo>
                  <a:pt x="55245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/>
        </p:spPr>
      </p:sp>
      <p:sp>
        <p:nvSpPr>
          <p:cNvPr id="18" name="Text 16"/>
          <p:cNvSpPr/>
          <p:nvPr/>
        </p:nvSpPr>
        <p:spPr>
          <a:xfrm>
            <a:off x="571500" y="5555456"/>
            <a:ext cx="828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Source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85900" y="5555456"/>
            <a:ext cx="52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Reuters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71500" y="5907881"/>
            <a:ext cx="828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85900" y="5907881"/>
            <a:ext cx="7715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2018-09-10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667500" y="247650"/>
            <a:ext cx="2495550" cy="2495550"/>
          </a:xfrm>
          <a:custGeom>
            <a:avLst/>
            <a:gdLst/>
            <a:ahLst/>
            <a:cxnLst/>
            <a:rect l="l" t="t" r="r" b="b"/>
            <a:pathLst>
              <a:path w="2495550" h="2495550">
                <a:moveTo>
                  <a:pt x="1247775" y="0"/>
                </a:moveTo>
                <a:lnTo>
                  <a:pt x="1247775" y="0"/>
                </a:lnTo>
                <a:cubicBezTo>
                  <a:pt x="1936441" y="0"/>
                  <a:pt x="2495550" y="559109"/>
                  <a:pt x="2495550" y="1247775"/>
                </a:cubicBezTo>
                <a:lnTo>
                  <a:pt x="2495550" y="1247775"/>
                </a:lnTo>
                <a:cubicBezTo>
                  <a:pt x="2495550" y="1936441"/>
                  <a:pt x="1936441" y="2495550"/>
                  <a:pt x="1247775" y="2495550"/>
                </a:cubicBezTo>
                <a:lnTo>
                  <a:pt x="1247775" y="2495550"/>
                </a:lnTo>
                <a:cubicBezTo>
                  <a:pt x="559109" y="2495550"/>
                  <a:pt x="0" y="1936441"/>
                  <a:pt x="0" y="1247775"/>
                </a:cubicBezTo>
                <a:lnTo>
                  <a:pt x="0" y="1247775"/>
                </a:lnTo>
                <a:cubicBezTo>
                  <a:pt x="0" y="559109"/>
                  <a:pt x="559109" y="0"/>
                  <a:pt x="1247775" y="0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3" name="Text 21"/>
          <p:cNvSpPr/>
          <p:nvPr/>
        </p:nvSpPr>
        <p:spPr>
          <a:xfrm>
            <a:off x="7651105" y="1190625"/>
            <a:ext cx="590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5E5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Business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00057" y="1419225"/>
            <a:ext cx="80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30K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315450" y="247650"/>
            <a:ext cx="2495550" cy="2495550"/>
          </a:xfrm>
          <a:custGeom>
            <a:avLst/>
            <a:gdLst/>
            <a:ahLst/>
            <a:cxnLst/>
            <a:rect l="l" t="t" r="r" b="b"/>
            <a:pathLst>
              <a:path w="2495550" h="2495550">
                <a:moveTo>
                  <a:pt x="1247775" y="0"/>
                </a:moveTo>
                <a:lnTo>
                  <a:pt x="1247775" y="0"/>
                </a:lnTo>
                <a:cubicBezTo>
                  <a:pt x="1936441" y="0"/>
                  <a:pt x="2495550" y="559109"/>
                  <a:pt x="2495550" y="1247775"/>
                </a:cubicBezTo>
                <a:lnTo>
                  <a:pt x="2495550" y="1247775"/>
                </a:lnTo>
                <a:cubicBezTo>
                  <a:pt x="2495550" y="1936441"/>
                  <a:pt x="1936441" y="2495550"/>
                  <a:pt x="1247775" y="2495550"/>
                </a:cubicBezTo>
                <a:lnTo>
                  <a:pt x="1247775" y="2495550"/>
                </a:lnTo>
                <a:cubicBezTo>
                  <a:pt x="559109" y="2495550"/>
                  <a:pt x="0" y="1936441"/>
                  <a:pt x="0" y="1247775"/>
                </a:cubicBezTo>
                <a:lnTo>
                  <a:pt x="0" y="1247775"/>
                </a:lnTo>
                <a:cubicBezTo>
                  <a:pt x="0" y="559109"/>
                  <a:pt x="559109" y="0"/>
                  <a:pt x="1247775" y="0"/>
                </a:cubicBez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6" name="Text 24"/>
          <p:cNvSpPr/>
          <p:nvPr/>
        </p:nvSpPr>
        <p:spPr>
          <a:xfrm>
            <a:off x="10368409" y="1190625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Sports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248007" y="1419225"/>
            <a:ext cx="80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30K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667500" y="2895600"/>
            <a:ext cx="2495550" cy="2495550"/>
          </a:xfrm>
          <a:custGeom>
            <a:avLst/>
            <a:gdLst/>
            <a:ahLst/>
            <a:cxnLst/>
            <a:rect l="l" t="t" r="r" b="b"/>
            <a:pathLst>
              <a:path w="2495550" h="2495550">
                <a:moveTo>
                  <a:pt x="1247775" y="0"/>
                </a:moveTo>
                <a:lnTo>
                  <a:pt x="1247775" y="0"/>
                </a:lnTo>
                <a:cubicBezTo>
                  <a:pt x="1936441" y="0"/>
                  <a:pt x="2495550" y="559109"/>
                  <a:pt x="2495550" y="1247775"/>
                </a:cubicBezTo>
                <a:lnTo>
                  <a:pt x="2495550" y="1247775"/>
                </a:lnTo>
                <a:cubicBezTo>
                  <a:pt x="2495550" y="1936441"/>
                  <a:pt x="1936441" y="2495550"/>
                  <a:pt x="1247775" y="2495550"/>
                </a:cubicBezTo>
                <a:lnTo>
                  <a:pt x="1247775" y="2495550"/>
                </a:lnTo>
                <a:cubicBezTo>
                  <a:pt x="559109" y="2495550"/>
                  <a:pt x="0" y="1936441"/>
                  <a:pt x="0" y="1247775"/>
                </a:cubicBezTo>
                <a:lnTo>
                  <a:pt x="0" y="1247775"/>
                </a:lnTo>
                <a:cubicBezTo>
                  <a:pt x="0" y="559109"/>
                  <a:pt x="559109" y="0"/>
                  <a:pt x="1247775" y="0"/>
                </a:cubicBezTo>
                <a:close/>
              </a:path>
            </a:pathLst>
          </a:custGeom>
          <a:solidFill>
            <a:srgbClr val="A8A29E"/>
          </a:solidFill>
          <a:ln/>
        </p:spPr>
      </p:sp>
      <p:sp>
        <p:nvSpPr>
          <p:cNvPr id="29" name="Text 27"/>
          <p:cNvSpPr/>
          <p:nvPr/>
        </p:nvSpPr>
        <p:spPr>
          <a:xfrm>
            <a:off x="7735491" y="3838575"/>
            <a:ext cx="428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5E5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World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00057" y="4067175"/>
            <a:ext cx="80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30K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315450" y="2895600"/>
            <a:ext cx="2495550" cy="2495550"/>
          </a:xfrm>
          <a:custGeom>
            <a:avLst/>
            <a:gdLst/>
            <a:ahLst/>
            <a:cxnLst/>
            <a:rect l="l" t="t" r="r" b="b"/>
            <a:pathLst>
              <a:path w="2495550" h="2495550">
                <a:moveTo>
                  <a:pt x="1247775" y="0"/>
                </a:moveTo>
                <a:lnTo>
                  <a:pt x="1247775" y="0"/>
                </a:lnTo>
                <a:cubicBezTo>
                  <a:pt x="1936441" y="0"/>
                  <a:pt x="2495550" y="559109"/>
                  <a:pt x="2495550" y="1247775"/>
                </a:cubicBezTo>
                <a:lnTo>
                  <a:pt x="2495550" y="1247775"/>
                </a:lnTo>
                <a:cubicBezTo>
                  <a:pt x="2495550" y="1936441"/>
                  <a:pt x="1936441" y="2495550"/>
                  <a:pt x="1247775" y="2495550"/>
                </a:cubicBezTo>
                <a:lnTo>
                  <a:pt x="1247775" y="2495550"/>
                </a:lnTo>
                <a:cubicBezTo>
                  <a:pt x="559109" y="2495550"/>
                  <a:pt x="0" y="1936441"/>
                  <a:pt x="0" y="1247775"/>
                </a:cubicBezTo>
                <a:lnTo>
                  <a:pt x="0" y="1247775"/>
                </a:lnTo>
                <a:cubicBezTo>
                  <a:pt x="0" y="559109"/>
                  <a:pt x="559109" y="0"/>
                  <a:pt x="1247775" y="0"/>
                </a:cubicBezTo>
                <a:close/>
              </a:path>
            </a:pathLst>
          </a:custGeom>
          <a:solidFill>
            <a:srgbClr val="5A5A5A"/>
          </a:solidFill>
          <a:ln/>
        </p:spPr>
      </p:sp>
      <p:sp>
        <p:nvSpPr>
          <p:cNvPr id="32" name="Text 30"/>
          <p:cNvSpPr/>
          <p:nvPr/>
        </p:nvSpPr>
        <p:spPr>
          <a:xfrm>
            <a:off x="10216009" y="3838575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5E5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Technology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248007" y="4067175"/>
            <a:ext cx="80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074223" y="5629275"/>
            <a:ext cx="2333625" cy="19050"/>
          </a:xfrm>
          <a:custGeom>
            <a:avLst/>
            <a:gdLst/>
            <a:ahLst/>
            <a:cxnLst/>
            <a:rect l="l" t="t" r="r" b="b"/>
            <a:pathLst>
              <a:path w="2333625" h="19050">
                <a:moveTo>
                  <a:pt x="0" y="0"/>
                </a:moveTo>
                <a:lnTo>
                  <a:pt x="2333625" y="0"/>
                </a:lnTo>
                <a:lnTo>
                  <a:pt x="2333625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5" name="Shape 33"/>
          <p:cNvSpPr/>
          <p:nvPr/>
        </p:nvSpPr>
        <p:spPr>
          <a:xfrm>
            <a:off x="8074223" y="6600825"/>
            <a:ext cx="2333625" cy="19050"/>
          </a:xfrm>
          <a:custGeom>
            <a:avLst/>
            <a:gdLst/>
            <a:ahLst/>
            <a:cxnLst/>
            <a:rect l="l" t="t" r="r" b="b"/>
            <a:pathLst>
              <a:path w="2333625" h="19050">
                <a:moveTo>
                  <a:pt x="0" y="0"/>
                </a:moveTo>
                <a:lnTo>
                  <a:pt x="2333625" y="0"/>
                </a:lnTo>
                <a:lnTo>
                  <a:pt x="2333625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6" name="Text 34"/>
          <p:cNvSpPr/>
          <p:nvPr/>
        </p:nvSpPr>
        <p:spPr>
          <a:xfrm>
            <a:off x="8264723" y="5753100"/>
            <a:ext cx="19526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120,000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340923" y="6248400"/>
            <a:ext cx="1800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Total Articles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 / Preprocessing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116395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3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Semantic preprocessing strips syntactical noise to isolate core journalistic value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177826" y="2462213"/>
            <a:ext cx="4381500" cy="800100"/>
          </a:xfrm>
          <a:custGeom>
            <a:avLst/>
            <a:gdLst/>
            <a:ahLst/>
            <a:cxnLst/>
            <a:rect l="l" t="t" r="r" b="b"/>
            <a:pathLst>
              <a:path w="4381500" h="800100">
                <a:moveTo>
                  <a:pt x="0" y="0"/>
                </a:moveTo>
                <a:lnTo>
                  <a:pt x="4381500" y="0"/>
                </a:lnTo>
                <a:lnTo>
                  <a:pt x="43815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6" name="Text 4"/>
          <p:cNvSpPr/>
          <p:nvPr/>
        </p:nvSpPr>
        <p:spPr>
          <a:xfrm>
            <a:off x="1449288" y="2614613"/>
            <a:ext cx="3838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5E5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Raw Text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39763" y="2843213"/>
            <a:ext cx="3857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Wall St. Bears Claw Back Into the Black (Reuters)...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2112" y="2776538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94543" y="280504"/>
                </a:moveTo>
                <a:cubicBezTo>
                  <a:pt x="101519" y="287480"/>
                  <a:pt x="112849" y="287480"/>
                  <a:pt x="119825" y="280504"/>
                </a:cubicBezTo>
                <a:lnTo>
                  <a:pt x="209122" y="191207"/>
                </a:lnTo>
                <a:cubicBezTo>
                  <a:pt x="216098" y="184231"/>
                  <a:pt x="216098" y="172901"/>
                  <a:pt x="209122" y="165925"/>
                </a:cubicBezTo>
                <a:cubicBezTo>
                  <a:pt x="202146" y="158948"/>
                  <a:pt x="190816" y="158948"/>
                  <a:pt x="183840" y="165925"/>
                </a:cubicBezTo>
                <a:lnTo>
                  <a:pt x="125016" y="224749"/>
                </a:lnTo>
                <a:lnTo>
                  <a:pt x="125016" y="17859"/>
                </a:lnTo>
                <a:cubicBezTo>
                  <a:pt x="125016" y="7981"/>
                  <a:pt x="117035" y="0"/>
                  <a:pt x="107156" y="0"/>
                </a:cubicBezTo>
                <a:cubicBezTo>
                  <a:pt x="97278" y="0"/>
                  <a:pt x="89297" y="7981"/>
                  <a:pt x="89297" y="17859"/>
                </a:cubicBezTo>
                <a:lnTo>
                  <a:pt x="89297" y="224749"/>
                </a:lnTo>
                <a:lnTo>
                  <a:pt x="30473" y="165925"/>
                </a:lnTo>
                <a:cubicBezTo>
                  <a:pt x="23496" y="158948"/>
                  <a:pt x="12167" y="158948"/>
                  <a:pt x="5190" y="165925"/>
                </a:cubicBezTo>
                <a:cubicBezTo>
                  <a:pt x="-1786" y="172901"/>
                  <a:pt x="-1786" y="184231"/>
                  <a:pt x="5190" y="191207"/>
                </a:cubicBezTo>
                <a:lnTo>
                  <a:pt x="94487" y="280504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9" name="Shape 7"/>
          <p:cNvSpPr/>
          <p:nvPr/>
        </p:nvSpPr>
        <p:spPr>
          <a:xfrm>
            <a:off x="6530280" y="2538413"/>
            <a:ext cx="4486275" cy="762000"/>
          </a:xfrm>
          <a:custGeom>
            <a:avLst/>
            <a:gdLst/>
            <a:ahLst/>
            <a:cxnLst/>
            <a:rect l="l" t="t" r="r" b="b"/>
            <a:pathLst>
              <a:path w="4486275" h="762000">
                <a:moveTo>
                  <a:pt x="0" y="0"/>
                </a:moveTo>
                <a:lnTo>
                  <a:pt x="4486275" y="0"/>
                </a:lnTo>
                <a:lnTo>
                  <a:pt x="4486275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10" name="Text 8"/>
          <p:cNvSpPr/>
          <p:nvPr/>
        </p:nvSpPr>
        <p:spPr>
          <a:xfrm>
            <a:off x="6725543" y="2652713"/>
            <a:ext cx="4095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NLTK Tokenization and Normalization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58880" y="2919413"/>
            <a:ext cx="561975" cy="266700"/>
          </a:xfrm>
          <a:custGeom>
            <a:avLst/>
            <a:gdLst/>
            <a:ahLst/>
            <a:cxnLst/>
            <a:rect l="l" t="t" r="r" b="b"/>
            <a:pathLst>
              <a:path w="561975" h="266700">
                <a:moveTo>
                  <a:pt x="0" y="0"/>
                </a:moveTo>
                <a:lnTo>
                  <a:pt x="561975" y="0"/>
                </a:lnTo>
                <a:lnTo>
                  <a:pt x="56197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/>
        </p:spPr>
      </p:sp>
      <p:sp>
        <p:nvSpPr>
          <p:cNvPr id="12" name="Text 10"/>
          <p:cNvSpPr/>
          <p:nvPr/>
        </p:nvSpPr>
        <p:spPr>
          <a:xfrm>
            <a:off x="6725543" y="2919413"/>
            <a:ext cx="628650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[wall]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96311" y="2919413"/>
            <a:ext cx="438150" cy="266700"/>
          </a:xfrm>
          <a:custGeom>
            <a:avLst/>
            <a:gdLst/>
            <a:ahLst/>
            <a:cxnLst/>
            <a:rect l="l" t="t" r="r" b="b"/>
            <a:pathLst>
              <a:path w="438150" h="266700">
                <a:moveTo>
                  <a:pt x="0" y="0"/>
                </a:moveTo>
                <a:lnTo>
                  <a:pt x="438150" y="0"/>
                </a:lnTo>
                <a:lnTo>
                  <a:pt x="438150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/>
        </p:spPr>
      </p:sp>
      <p:sp>
        <p:nvSpPr>
          <p:cNvPr id="14" name="Text 12"/>
          <p:cNvSpPr/>
          <p:nvPr/>
        </p:nvSpPr>
        <p:spPr>
          <a:xfrm>
            <a:off x="7362974" y="2919413"/>
            <a:ext cx="50482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[st]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911554" y="2919413"/>
            <a:ext cx="657225" cy="266700"/>
          </a:xfrm>
          <a:custGeom>
            <a:avLst/>
            <a:gdLst/>
            <a:ahLst/>
            <a:cxnLst/>
            <a:rect l="l" t="t" r="r" b="b"/>
            <a:pathLst>
              <a:path w="657225" h="266700">
                <a:moveTo>
                  <a:pt x="0" y="0"/>
                </a:moveTo>
                <a:lnTo>
                  <a:pt x="657225" y="0"/>
                </a:lnTo>
                <a:lnTo>
                  <a:pt x="65722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/>
        </p:spPr>
      </p:sp>
      <p:sp>
        <p:nvSpPr>
          <p:cNvPr id="16" name="Text 14"/>
          <p:cNvSpPr/>
          <p:nvPr/>
        </p:nvSpPr>
        <p:spPr>
          <a:xfrm>
            <a:off x="7878217" y="2919413"/>
            <a:ext cx="723900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[bears]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643491" y="2919413"/>
            <a:ext cx="600075" cy="266700"/>
          </a:xfrm>
          <a:custGeom>
            <a:avLst/>
            <a:gdLst/>
            <a:ahLst/>
            <a:cxnLst/>
            <a:rect l="l" t="t" r="r" b="b"/>
            <a:pathLst>
              <a:path w="600075" h="266700">
                <a:moveTo>
                  <a:pt x="0" y="0"/>
                </a:moveTo>
                <a:lnTo>
                  <a:pt x="600075" y="0"/>
                </a:lnTo>
                <a:lnTo>
                  <a:pt x="600075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/>
        </p:spPr>
      </p:sp>
      <p:sp>
        <p:nvSpPr>
          <p:cNvPr id="18" name="Text 16"/>
          <p:cNvSpPr/>
          <p:nvPr/>
        </p:nvSpPr>
        <p:spPr>
          <a:xfrm>
            <a:off x="8610154" y="2919413"/>
            <a:ext cx="666750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[claw]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320213" y="2919413"/>
            <a:ext cx="647700" cy="266700"/>
          </a:xfrm>
          <a:custGeom>
            <a:avLst/>
            <a:gdLst/>
            <a:ahLst/>
            <a:cxnLst/>
            <a:rect l="l" t="t" r="r" b="b"/>
            <a:pathLst>
              <a:path w="647700" h="266700">
                <a:moveTo>
                  <a:pt x="0" y="0"/>
                </a:moveTo>
                <a:lnTo>
                  <a:pt x="647700" y="0"/>
                </a:lnTo>
                <a:lnTo>
                  <a:pt x="647700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/>
        </p:spPr>
      </p:sp>
      <p:sp>
        <p:nvSpPr>
          <p:cNvPr id="20" name="Text 18"/>
          <p:cNvSpPr/>
          <p:nvPr/>
        </p:nvSpPr>
        <p:spPr>
          <a:xfrm>
            <a:off x="9286875" y="2919413"/>
            <a:ext cx="71437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[black]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039499" y="2919413"/>
            <a:ext cx="742950" cy="266700"/>
          </a:xfrm>
          <a:custGeom>
            <a:avLst/>
            <a:gdLst/>
            <a:ahLst/>
            <a:cxnLst/>
            <a:rect l="l" t="t" r="r" b="b"/>
            <a:pathLst>
              <a:path w="742950" h="266700">
                <a:moveTo>
                  <a:pt x="0" y="0"/>
                </a:moveTo>
                <a:lnTo>
                  <a:pt x="742950" y="0"/>
                </a:lnTo>
                <a:lnTo>
                  <a:pt x="742950" y="266700"/>
                </a:lnTo>
                <a:lnTo>
                  <a:pt x="0" y="266700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/>
        </p:spPr>
      </p:sp>
      <p:sp>
        <p:nvSpPr>
          <p:cNvPr id="22" name="Text 20"/>
          <p:cNvSpPr/>
          <p:nvPr/>
        </p:nvSpPr>
        <p:spPr>
          <a:xfrm>
            <a:off x="10006161" y="2919413"/>
            <a:ext cx="80962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[reuters]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81000" y="3681413"/>
            <a:ext cx="11430000" cy="1047750"/>
          </a:xfrm>
          <a:custGeom>
            <a:avLst/>
            <a:gdLst/>
            <a:ahLst/>
            <a:cxnLst/>
            <a:rect l="l" t="t" r="r" b="b"/>
            <a:pathLst>
              <a:path w="11430000" h="1047750">
                <a:moveTo>
                  <a:pt x="0" y="0"/>
                </a:moveTo>
                <a:lnTo>
                  <a:pt x="11430000" y="0"/>
                </a:lnTo>
                <a:lnTo>
                  <a:pt x="11430000" y="1047750"/>
                </a:lnTo>
                <a:lnTo>
                  <a:pt x="0" y="1047750"/>
                </a:lnTo>
                <a:lnTo>
                  <a:pt x="0" y="0"/>
                </a:lnTo>
                <a:close/>
              </a:path>
            </a:pathLst>
          </a:custGeom>
          <a:solidFill>
            <a:srgbClr val="1A1A1A"/>
          </a:solidFill>
          <a:ln/>
        </p:spPr>
      </p:sp>
      <p:sp>
        <p:nvSpPr>
          <p:cNvPr id="24" name="Shape 22"/>
          <p:cNvSpPr/>
          <p:nvPr/>
        </p:nvSpPr>
        <p:spPr>
          <a:xfrm>
            <a:off x="638175" y="39481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50019" y="157163"/>
                </a:moveTo>
                <a:cubicBezTo>
                  <a:pt x="193417" y="157163"/>
                  <a:pt x="228600" y="121980"/>
                  <a:pt x="228600" y="78581"/>
                </a:cubicBezTo>
                <a:cubicBezTo>
                  <a:pt x="228600" y="35183"/>
                  <a:pt x="193417" y="0"/>
                  <a:pt x="150019" y="0"/>
                </a:cubicBezTo>
                <a:cubicBezTo>
                  <a:pt x="106620" y="0"/>
                  <a:pt x="71438" y="35183"/>
                  <a:pt x="71438" y="78581"/>
                </a:cubicBezTo>
                <a:cubicBezTo>
                  <a:pt x="71438" y="86931"/>
                  <a:pt x="72732" y="95012"/>
                  <a:pt x="75143" y="102557"/>
                </a:cubicBezTo>
                <a:lnTo>
                  <a:pt x="3125" y="174575"/>
                </a:lnTo>
                <a:cubicBezTo>
                  <a:pt x="1116" y="176585"/>
                  <a:pt x="0" y="179308"/>
                  <a:pt x="0" y="182166"/>
                </a:cubicBezTo>
                <a:lnTo>
                  <a:pt x="0" y="217884"/>
                </a:lnTo>
                <a:cubicBezTo>
                  <a:pt x="0" y="223823"/>
                  <a:pt x="4777" y="228600"/>
                  <a:pt x="10716" y="228600"/>
                </a:cubicBezTo>
                <a:lnTo>
                  <a:pt x="46434" y="228600"/>
                </a:lnTo>
                <a:cubicBezTo>
                  <a:pt x="52373" y="228600"/>
                  <a:pt x="57150" y="223823"/>
                  <a:pt x="57150" y="217884"/>
                </a:cubicBezTo>
                <a:lnTo>
                  <a:pt x="57150" y="200025"/>
                </a:lnTo>
                <a:lnTo>
                  <a:pt x="75009" y="200025"/>
                </a:lnTo>
                <a:cubicBezTo>
                  <a:pt x="80948" y="200025"/>
                  <a:pt x="85725" y="195248"/>
                  <a:pt x="85725" y="189309"/>
                </a:cubicBezTo>
                <a:lnTo>
                  <a:pt x="85725" y="171450"/>
                </a:lnTo>
                <a:lnTo>
                  <a:pt x="103584" y="171450"/>
                </a:lnTo>
                <a:cubicBezTo>
                  <a:pt x="106442" y="171450"/>
                  <a:pt x="109165" y="170334"/>
                  <a:pt x="111175" y="168325"/>
                </a:cubicBezTo>
                <a:lnTo>
                  <a:pt x="126043" y="153457"/>
                </a:lnTo>
                <a:cubicBezTo>
                  <a:pt x="133588" y="155868"/>
                  <a:pt x="141669" y="157163"/>
                  <a:pt x="150019" y="157163"/>
                </a:cubicBezTo>
                <a:close/>
                <a:moveTo>
                  <a:pt x="167878" y="42863"/>
                </a:moveTo>
                <a:cubicBezTo>
                  <a:pt x="177735" y="42863"/>
                  <a:pt x="185738" y="50865"/>
                  <a:pt x="185738" y="60722"/>
                </a:cubicBezTo>
                <a:cubicBezTo>
                  <a:pt x="185738" y="70579"/>
                  <a:pt x="177735" y="78581"/>
                  <a:pt x="167878" y="78581"/>
                </a:cubicBezTo>
                <a:cubicBezTo>
                  <a:pt x="158021" y="78581"/>
                  <a:pt x="150019" y="70579"/>
                  <a:pt x="150019" y="60722"/>
                </a:cubicBezTo>
                <a:cubicBezTo>
                  <a:pt x="150019" y="50865"/>
                  <a:pt x="158021" y="42863"/>
                  <a:pt x="167878" y="42863"/>
                </a:cubicBez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5" name="Text 23"/>
          <p:cNvSpPr/>
          <p:nvPr/>
        </p:nvSpPr>
        <p:spPr>
          <a:xfrm>
            <a:off x="1047750" y="3910013"/>
            <a:ext cx="9258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Takeaway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47750" y="4252913"/>
            <a:ext cx="92487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5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Reducing dimensionality guarantees that algorithmic pattern recognition focuses strictly on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thematic terminologies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5E5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not grammatical filler.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905000" y="4957763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095500" y="514826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" y="5681663"/>
            <a:ext cx="373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Tokenization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47663" y="5948363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Break text into units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91200" y="4957763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967413" y="5148263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7859" y="14288"/>
                </a:moveTo>
                <a:cubicBezTo>
                  <a:pt x="7992" y="14288"/>
                  <a:pt x="0" y="22280"/>
                  <a:pt x="0" y="32147"/>
                </a:cubicBezTo>
                <a:lnTo>
                  <a:pt x="0" y="57150"/>
                </a:lnTo>
                <a:cubicBezTo>
                  <a:pt x="0" y="65053"/>
                  <a:pt x="6385" y="71438"/>
                  <a:pt x="14288" y="71438"/>
                </a:cubicBezTo>
                <a:cubicBezTo>
                  <a:pt x="22190" y="71438"/>
                  <a:pt x="28575" y="65053"/>
                  <a:pt x="28575" y="57150"/>
                </a:cubicBezTo>
                <a:lnTo>
                  <a:pt x="28575" y="42863"/>
                </a:lnTo>
                <a:lnTo>
                  <a:pt x="57150" y="42863"/>
                </a:lnTo>
                <a:lnTo>
                  <a:pt x="57150" y="185738"/>
                </a:lnTo>
                <a:lnTo>
                  <a:pt x="42863" y="185738"/>
                </a:lnTo>
                <a:cubicBezTo>
                  <a:pt x="34960" y="185738"/>
                  <a:pt x="28575" y="192122"/>
                  <a:pt x="28575" y="200025"/>
                </a:cubicBezTo>
                <a:cubicBezTo>
                  <a:pt x="28575" y="207928"/>
                  <a:pt x="34960" y="214313"/>
                  <a:pt x="42863" y="214313"/>
                </a:cubicBezTo>
                <a:lnTo>
                  <a:pt x="100013" y="214313"/>
                </a:lnTo>
                <a:cubicBezTo>
                  <a:pt x="107915" y="214313"/>
                  <a:pt x="114300" y="207928"/>
                  <a:pt x="114300" y="200025"/>
                </a:cubicBezTo>
                <a:cubicBezTo>
                  <a:pt x="114300" y="192122"/>
                  <a:pt x="107915" y="185738"/>
                  <a:pt x="100013" y="185738"/>
                </a:cubicBezTo>
                <a:lnTo>
                  <a:pt x="85725" y="185738"/>
                </a:lnTo>
                <a:lnTo>
                  <a:pt x="85725" y="42863"/>
                </a:lnTo>
                <a:lnTo>
                  <a:pt x="114300" y="42863"/>
                </a:lnTo>
                <a:lnTo>
                  <a:pt x="114300" y="57150"/>
                </a:lnTo>
                <a:cubicBezTo>
                  <a:pt x="114300" y="65053"/>
                  <a:pt x="120685" y="71438"/>
                  <a:pt x="128588" y="71438"/>
                </a:cubicBezTo>
                <a:cubicBezTo>
                  <a:pt x="136490" y="71438"/>
                  <a:pt x="142875" y="65053"/>
                  <a:pt x="142875" y="57150"/>
                </a:cubicBezTo>
                <a:lnTo>
                  <a:pt x="142875" y="32147"/>
                </a:lnTo>
                <a:cubicBezTo>
                  <a:pt x="142875" y="22280"/>
                  <a:pt x="134883" y="14288"/>
                  <a:pt x="125016" y="14288"/>
                </a:cubicBezTo>
                <a:lnTo>
                  <a:pt x="17859" y="14288"/>
                </a:lnTo>
                <a:close/>
                <a:moveTo>
                  <a:pt x="195828" y="161359"/>
                </a:moveTo>
                <a:cubicBezTo>
                  <a:pt x="190247" y="155778"/>
                  <a:pt x="181183" y="155778"/>
                  <a:pt x="175602" y="161359"/>
                </a:cubicBezTo>
                <a:cubicBezTo>
                  <a:pt x="170021" y="166941"/>
                  <a:pt x="170021" y="176004"/>
                  <a:pt x="175602" y="181585"/>
                </a:cubicBezTo>
                <a:lnTo>
                  <a:pt x="204177" y="210160"/>
                </a:lnTo>
                <a:cubicBezTo>
                  <a:pt x="209758" y="215741"/>
                  <a:pt x="218822" y="215741"/>
                  <a:pt x="224403" y="210160"/>
                </a:cubicBezTo>
                <a:lnTo>
                  <a:pt x="252978" y="181585"/>
                </a:lnTo>
                <a:cubicBezTo>
                  <a:pt x="258559" y="176004"/>
                  <a:pt x="258559" y="166941"/>
                  <a:pt x="252978" y="161359"/>
                </a:cubicBezTo>
                <a:cubicBezTo>
                  <a:pt x="247397" y="155778"/>
                  <a:pt x="238333" y="155778"/>
                  <a:pt x="232752" y="161359"/>
                </a:cubicBezTo>
                <a:lnTo>
                  <a:pt x="228555" y="165556"/>
                </a:lnTo>
                <a:lnTo>
                  <a:pt x="228555" y="63088"/>
                </a:lnTo>
                <a:lnTo>
                  <a:pt x="232752" y="67285"/>
                </a:lnTo>
                <a:cubicBezTo>
                  <a:pt x="238333" y="72866"/>
                  <a:pt x="247397" y="72866"/>
                  <a:pt x="252978" y="67285"/>
                </a:cubicBezTo>
                <a:cubicBezTo>
                  <a:pt x="258559" y="61704"/>
                  <a:pt x="258559" y="52641"/>
                  <a:pt x="252978" y="47059"/>
                </a:cubicBezTo>
                <a:lnTo>
                  <a:pt x="224403" y="18484"/>
                </a:lnTo>
                <a:cubicBezTo>
                  <a:pt x="221724" y="15806"/>
                  <a:pt x="218108" y="14287"/>
                  <a:pt x="214313" y="14287"/>
                </a:cubicBezTo>
                <a:cubicBezTo>
                  <a:pt x="210517" y="14287"/>
                  <a:pt x="206901" y="15806"/>
                  <a:pt x="204222" y="18484"/>
                </a:cubicBezTo>
                <a:lnTo>
                  <a:pt x="175647" y="47059"/>
                </a:lnTo>
                <a:cubicBezTo>
                  <a:pt x="170066" y="52641"/>
                  <a:pt x="170066" y="61704"/>
                  <a:pt x="175647" y="67285"/>
                </a:cubicBezTo>
                <a:cubicBezTo>
                  <a:pt x="181228" y="72866"/>
                  <a:pt x="190292" y="72866"/>
                  <a:pt x="195873" y="67285"/>
                </a:cubicBezTo>
                <a:lnTo>
                  <a:pt x="200070" y="63088"/>
                </a:lnTo>
                <a:lnTo>
                  <a:pt x="200070" y="165556"/>
                </a:lnTo>
                <a:lnTo>
                  <a:pt x="195873" y="161359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3" name="Text 31"/>
          <p:cNvSpPr/>
          <p:nvPr/>
        </p:nvSpPr>
        <p:spPr>
          <a:xfrm>
            <a:off x="4229100" y="5681663"/>
            <a:ext cx="373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Normalization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233863" y="5948363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Standardize forms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9677400" y="4957763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36" name="Shape 34"/>
          <p:cNvSpPr/>
          <p:nvPr/>
        </p:nvSpPr>
        <p:spPr>
          <a:xfrm>
            <a:off x="9867900" y="514826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6230" y="3125"/>
                </a:moveTo>
                <a:cubicBezTo>
                  <a:pt x="200427" y="-1072"/>
                  <a:pt x="207213" y="-1072"/>
                  <a:pt x="211366" y="3125"/>
                </a:cubicBezTo>
                <a:lnTo>
                  <a:pt x="225653" y="17413"/>
                </a:lnTo>
                <a:cubicBezTo>
                  <a:pt x="229850" y="21610"/>
                  <a:pt x="229850" y="28396"/>
                  <a:pt x="225653" y="32549"/>
                </a:cubicBezTo>
                <a:lnTo>
                  <a:pt x="186809" y="71393"/>
                </a:lnTo>
                <a:lnTo>
                  <a:pt x="204222" y="88806"/>
                </a:lnTo>
                <a:cubicBezTo>
                  <a:pt x="207303" y="91886"/>
                  <a:pt x="208196" y="96485"/>
                  <a:pt x="206544" y="100504"/>
                </a:cubicBezTo>
                <a:cubicBezTo>
                  <a:pt x="204892" y="104522"/>
                  <a:pt x="201007" y="107156"/>
                  <a:pt x="196676" y="107156"/>
                </a:cubicBezTo>
                <a:lnTo>
                  <a:pt x="132383" y="107156"/>
                </a:lnTo>
                <a:cubicBezTo>
                  <a:pt x="126444" y="107156"/>
                  <a:pt x="121667" y="102379"/>
                  <a:pt x="121667" y="96441"/>
                </a:cubicBezTo>
                <a:lnTo>
                  <a:pt x="121667" y="32147"/>
                </a:lnTo>
                <a:cubicBezTo>
                  <a:pt x="121667" y="27816"/>
                  <a:pt x="124257" y="23887"/>
                  <a:pt x="128275" y="22235"/>
                </a:cubicBezTo>
                <a:cubicBezTo>
                  <a:pt x="132293" y="20583"/>
                  <a:pt x="136892" y="21476"/>
                  <a:pt x="139973" y="24557"/>
                </a:cubicBezTo>
                <a:lnTo>
                  <a:pt x="157386" y="41970"/>
                </a:lnTo>
                <a:lnTo>
                  <a:pt x="196230" y="3125"/>
                </a:lnTo>
                <a:close/>
                <a:moveTo>
                  <a:pt x="32370" y="121444"/>
                </a:moveTo>
                <a:lnTo>
                  <a:pt x="96664" y="121444"/>
                </a:lnTo>
                <a:cubicBezTo>
                  <a:pt x="102602" y="121444"/>
                  <a:pt x="107379" y="126221"/>
                  <a:pt x="107379" y="132159"/>
                </a:cubicBezTo>
                <a:lnTo>
                  <a:pt x="107379" y="196453"/>
                </a:lnTo>
                <a:cubicBezTo>
                  <a:pt x="107379" y="200784"/>
                  <a:pt x="104790" y="204713"/>
                  <a:pt x="100772" y="206365"/>
                </a:cubicBezTo>
                <a:cubicBezTo>
                  <a:pt x="96753" y="208017"/>
                  <a:pt x="92154" y="207124"/>
                  <a:pt x="89074" y="204043"/>
                </a:cubicBezTo>
                <a:lnTo>
                  <a:pt x="71661" y="186630"/>
                </a:lnTo>
                <a:lnTo>
                  <a:pt x="32817" y="225475"/>
                </a:lnTo>
                <a:cubicBezTo>
                  <a:pt x="28620" y="229672"/>
                  <a:pt x="21833" y="229672"/>
                  <a:pt x="17681" y="225475"/>
                </a:cubicBezTo>
                <a:lnTo>
                  <a:pt x="3393" y="211187"/>
                </a:lnTo>
                <a:cubicBezTo>
                  <a:pt x="-804" y="206990"/>
                  <a:pt x="-804" y="200204"/>
                  <a:pt x="3393" y="196051"/>
                </a:cubicBezTo>
                <a:lnTo>
                  <a:pt x="42237" y="157207"/>
                </a:lnTo>
                <a:lnTo>
                  <a:pt x="24825" y="139794"/>
                </a:lnTo>
                <a:cubicBezTo>
                  <a:pt x="21744" y="136714"/>
                  <a:pt x="20851" y="132115"/>
                  <a:pt x="22503" y="128096"/>
                </a:cubicBezTo>
                <a:cubicBezTo>
                  <a:pt x="24155" y="124078"/>
                  <a:pt x="28039" y="121444"/>
                  <a:pt x="32370" y="121444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7" name="Text 35"/>
          <p:cNvSpPr/>
          <p:nvPr/>
        </p:nvSpPr>
        <p:spPr>
          <a:xfrm>
            <a:off x="8115300" y="5681663"/>
            <a:ext cx="373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Dimensionality Reduction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120063" y="5948363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Remove noise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 / Mining Engine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116395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3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 modular intelligence engine overcomes the limitations of single-technique mining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2138363"/>
            <a:ext cx="3657600" cy="28575"/>
          </a:xfrm>
          <a:custGeom>
            <a:avLst/>
            <a:gdLst/>
            <a:ahLst/>
            <a:cxnLst/>
            <a:rect l="l" t="t" r="r" b="b"/>
            <a:pathLst>
              <a:path w="3657600" h="28575">
                <a:moveTo>
                  <a:pt x="0" y="0"/>
                </a:moveTo>
                <a:lnTo>
                  <a:pt x="3657600" y="0"/>
                </a:lnTo>
                <a:lnTo>
                  <a:pt x="36576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381000" y="2343150"/>
            <a:ext cx="533400" cy="533400"/>
          </a:xfrm>
          <a:prstGeom prst="roundRect">
            <a:avLst>
              <a:gd name="adj" fmla="val 0"/>
            </a:avLst>
          </a:prstGeom>
        </p:spPr>
      </p:pic>
      <p:sp>
        <p:nvSpPr>
          <p:cNvPr id="7" name="Text 4"/>
          <p:cNvSpPr/>
          <p:nvPr/>
        </p:nvSpPr>
        <p:spPr>
          <a:xfrm>
            <a:off x="381000" y="3028950"/>
            <a:ext cx="3752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Association Rule Mining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1000" y="33718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(Apriori)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81000" y="37147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81000" y="394335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Uncovering latent relationships and co-occurring terms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81000" y="45529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Outcome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81000" y="478155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Detecting entity trajectories (e.g., "Economic Reform" + "Policy Shifts" at 85% confidence)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267200" y="2138363"/>
            <a:ext cx="3657600" cy="28575"/>
          </a:xfrm>
          <a:custGeom>
            <a:avLst/>
            <a:gdLst/>
            <a:ahLst/>
            <a:cxnLst/>
            <a:rect l="l" t="t" r="r" b="b"/>
            <a:pathLst>
              <a:path w="3657600" h="28575">
                <a:moveTo>
                  <a:pt x="0" y="0"/>
                </a:moveTo>
                <a:lnTo>
                  <a:pt x="3657600" y="0"/>
                </a:lnTo>
                <a:lnTo>
                  <a:pt x="36576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0" r="0" t="0" b="0"/>
          <a:stretch/>
        </p:blipFill>
        <p:spPr>
          <a:xfrm>
            <a:off x="4267200" y="2343150"/>
            <a:ext cx="533400" cy="533400"/>
          </a:xfrm>
          <a:prstGeom prst="roundRect">
            <a:avLst>
              <a:gd name="adj" fmla="val 0"/>
            </a:avLst>
          </a:prstGeom>
        </p:spPr>
      </p:pic>
      <p:sp>
        <p:nvSpPr>
          <p:cNvPr id="15" name="Text 11"/>
          <p:cNvSpPr/>
          <p:nvPr/>
        </p:nvSpPr>
        <p:spPr>
          <a:xfrm>
            <a:off x="4267200" y="3028950"/>
            <a:ext cx="3752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Unsupervised Clustering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267200" y="33718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(K-Means / DBSCAN)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267200" y="37147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Goal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267200" y="3943350"/>
            <a:ext cx="373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Discovering novel topics without human labels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267200" y="43243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Outcome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267200" y="455295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Organically mapping semantic structure and filtering noise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8153400" y="2138363"/>
            <a:ext cx="3657600" cy="28575"/>
          </a:xfrm>
          <a:custGeom>
            <a:avLst/>
            <a:gdLst/>
            <a:ahLst/>
            <a:cxnLst/>
            <a:rect l="l" t="t" r="r" b="b"/>
            <a:pathLst>
              <a:path w="3657600" h="28575">
                <a:moveTo>
                  <a:pt x="0" y="0"/>
                </a:moveTo>
                <a:lnTo>
                  <a:pt x="3657600" y="0"/>
                </a:lnTo>
                <a:lnTo>
                  <a:pt x="36576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A8A29E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0" r="0" t="0" b="0"/>
          <a:stretch/>
        </p:blipFill>
        <p:spPr>
          <a:xfrm>
            <a:off x="8153400" y="2343150"/>
            <a:ext cx="533400" cy="533400"/>
          </a:xfrm>
          <a:prstGeom prst="roundRect">
            <a:avLst>
              <a:gd name="adj" fmla="val 0"/>
            </a:avLst>
          </a:prstGeom>
        </p:spPr>
      </p:pic>
      <p:sp>
        <p:nvSpPr>
          <p:cNvPr id="23" name="Text 18"/>
          <p:cNvSpPr/>
          <p:nvPr/>
        </p:nvSpPr>
        <p:spPr>
          <a:xfrm>
            <a:off x="8153400" y="3028950"/>
            <a:ext cx="3752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Supervised Classification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8153400" y="33718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(Random Forest / SVM)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153400" y="37147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Goal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8153400" y="394335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Categorising domains and learning sentiment orientation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8153400" y="45529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Outcome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8153400" y="478155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Instant automated temperature checks across high-volume streams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5400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 / Clustering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5524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Density-based filtering autonomously separates developing stories from ephemeral noise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5288" y="3657600"/>
            <a:ext cx="28575" cy="561975"/>
          </a:xfrm>
          <a:custGeom>
            <a:avLst/>
            <a:gdLst/>
            <a:ahLst/>
            <a:cxnLst/>
            <a:rect l="l" t="t" r="r" b="b"/>
            <a:pathLst>
              <a:path w="28575" h="561975">
                <a:moveTo>
                  <a:pt x="0" y="0"/>
                </a:moveTo>
                <a:lnTo>
                  <a:pt x="28575" y="0"/>
                </a:lnTo>
                <a:lnTo>
                  <a:pt x="28575" y="561975"/>
                </a:lnTo>
                <a:lnTo>
                  <a:pt x="0" y="56197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6" name="Text 4"/>
          <p:cNvSpPr/>
          <p:nvPr/>
        </p:nvSpPr>
        <p:spPr>
          <a:xfrm>
            <a:off x="600075" y="3657600"/>
            <a:ext cx="52006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Executing </a:t>
            </a:r>
            <a:pPr>
              <a:lnSpc>
                <a:spcPct val="140000"/>
              </a:lnSpc>
            </a:pPr>
            <a:r>
              <a:rPr lang="en-US" sz="135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K-Means and DBSCAN clustering</a:t>
            </a:r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identifies natural algorithmic groupings in the text vectors.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95288" y="4443413"/>
            <a:ext cx="28575" cy="561975"/>
          </a:xfrm>
          <a:custGeom>
            <a:avLst/>
            <a:gdLst/>
            <a:ahLst/>
            <a:cxnLst/>
            <a:rect l="l" t="t" r="r" b="b"/>
            <a:pathLst>
              <a:path w="28575" h="561975">
                <a:moveTo>
                  <a:pt x="0" y="0"/>
                </a:moveTo>
                <a:lnTo>
                  <a:pt x="28575" y="0"/>
                </a:lnTo>
                <a:lnTo>
                  <a:pt x="28575" y="561975"/>
                </a:lnTo>
                <a:lnTo>
                  <a:pt x="0" y="561975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8" name="Text 6"/>
          <p:cNvSpPr/>
          <p:nvPr/>
        </p:nvSpPr>
        <p:spPr>
          <a:xfrm>
            <a:off x="600075" y="4443413"/>
            <a:ext cx="52006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This allows the system to discover novel topics organically without relying on human-labelled constraints.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81000" y="55530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0" name="Text 8"/>
          <p:cNvSpPr/>
          <p:nvPr/>
        </p:nvSpPr>
        <p:spPr>
          <a:xfrm>
            <a:off x="647700" y="5457825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 Density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7700" y="5648325"/>
            <a:ext cx="14097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Rapidly Developing Stories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224385" y="55530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4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2491085" y="5457825"/>
            <a:ext cx="1552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Low Density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491085" y="5648325"/>
            <a:ext cx="1543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Ephemeral Background Noise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8333" b="8333"/>
          <a:stretch/>
        </p:blipFill>
        <p:spPr>
          <a:xfrm>
            <a:off x="6096000" y="1047750"/>
            <a:ext cx="5715000" cy="4762500"/>
          </a:xfrm>
          <a:prstGeom prst="roundRect">
            <a:avLst>
              <a:gd name="adj" fmla="val 0"/>
            </a:avLst>
          </a:prstGeom>
        </p:spPr>
      </p:pic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08 / Predictive Analytics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116395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3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Predictive mining uncovers hidden entity relationships and categorises sentiment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381000" y="2764631"/>
            <a:ext cx="609600" cy="609600"/>
          </a:xfrm>
          <a:prstGeom prst="roundRect">
            <a:avLst>
              <a:gd name="adj" fmla="val 0"/>
            </a:avLst>
          </a:prstGeom>
        </p:spPr>
      </p:pic>
      <p:sp>
        <p:nvSpPr>
          <p:cNvPr id="6" name="Text 3"/>
          <p:cNvSpPr/>
          <p:nvPr/>
        </p:nvSpPr>
        <p:spPr>
          <a:xfrm>
            <a:off x="381000" y="3526631"/>
            <a:ext cx="5638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Predictive Association Mining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3907631"/>
            <a:ext cx="5591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(Apriori)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1000" y="4326731"/>
            <a:ext cx="561022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Discovering hidden relationships between entities and detecting sudden sentiment shifts across the corpus.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1000" y="5036344"/>
            <a:ext cx="5524500" cy="800100"/>
          </a:xfrm>
          <a:custGeom>
            <a:avLst/>
            <a:gdLst/>
            <a:ahLst/>
            <a:cxnLst/>
            <a:rect l="l" t="t" r="r" b="b"/>
            <a:pathLst>
              <a:path w="5524500" h="800100">
                <a:moveTo>
                  <a:pt x="38101" y="0"/>
                </a:moveTo>
                <a:lnTo>
                  <a:pt x="5486399" y="0"/>
                </a:lnTo>
                <a:cubicBezTo>
                  <a:pt x="5507442" y="0"/>
                  <a:pt x="5524500" y="17058"/>
                  <a:pt x="5524500" y="38101"/>
                </a:cubicBezTo>
                <a:lnTo>
                  <a:pt x="5524500" y="761999"/>
                </a:lnTo>
                <a:cubicBezTo>
                  <a:pt x="5524500" y="783042"/>
                  <a:pt x="5507442" y="800100"/>
                  <a:pt x="5486399" y="800100"/>
                </a:cubicBezTo>
                <a:lnTo>
                  <a:pt x="38101" y="800100"/>
                </a:lnTo>
                <a:cubicBezTo>
                  <a:pt x="17058" y="800100"/>
                  <a:pt x="0" y="783042"/>
                  <a:pt x="0" y="7619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10" name="Text 7"/>
          <p:cNvSpPr/>
          <p:nvPr/>
        </p:nvSpPr>
        <p:spPr>
          <a:xfrm>
            <a:off x="533400" y="5188744"/>
            <a:ext cx="5286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Example Discovery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33400" y="5455444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Entity A → Entity C → Entity B trajectory mapping with confidence scoring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0" r="0" t="0" b="0"/>
          <a:stretch/>
        </p:blipFill>
        <p:spPr>
          <a:xfrm>
            <a:off x="6286500" y="3069431"/>
            <a:ext cx="609600" cy="609600"/>
          </a:xfrm>
          <a:prstGeom prst="roundRect">
            <a:avLst>
              <a:gd name="adj" fmla="val 0"/>
            </a:avLst>
          </a:prstGeom>
        </p:spPr>
      </p:pic>
      <p:sp>
        <p:nvSpPr>
          <p:cNvPr id="13" name="Text 9"/>
          <p:cNvSpPr/>
          <p:nvPr/>
        </p:nvSpPr>
        <p:spPr>
          <a:xfrm>
            <a:off x="6286500" y="3831431"/>
            <a:ext cx="5638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Supervised Sentiment Categorization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286500" y="4212431"/>
            <a:ext cx="5591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(Random Forest / SVM)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86500" y="4631531"/>
            <a:ext cx="561022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Providing an instant, automated temperature check by classifying news by sentiment polarity with high mathematical accuracy.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286500" y="5379244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0" y="0"/>
                </a:moveTo>
                <a:lnTo>
                  <a:pt x="114300" y="0"/>
                </a:lnTo>
                <a:lnTo>
                  <a:pt x="1143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7" name="Text 13"/>
          <p:cNvSpPr/>
          <p:nvPr/>
        </p:nvSpPr>
        <p:spPr>
          <a:xfrm>
            <a:off x="6477000" y="5341144"/>
            <a:ext cx="1171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Positive Sentiment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7806928" y="5379244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0" y="0"/>
                </a:moveTo>
                <a:lnTo>
                  <a:pt x="114300" y="0"/>
                </a:lnTo>
                <a:lnTo>
                  <a:pt x="114300" y="114300"/>
                </a:lnTo>
                <a:lnTo>
                  <a:pt x="0" y="114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9" name="Text 15"/>
          <p:cNvSpPr/>
          <p:nvPr/>
        </p:nvSpPr>
        <p:spPr>
          <a:xfrm>
            <a:off x="7997428" y="5341144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Negative Sentiment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4829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09 / Validation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4953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0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Continuous mathematical validation guarantees the integrity of the underlying retrieval layer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5288" y="2981325"/>
            <a:ext cx="28575" cy="685800"/>
          </a:xfrm>
          <a:custGeom>
            <a:avLst/>
            <a:gdLst/>
            <a:ahLst/>
            <a:cxnLst/>
            <a:rect l="l" t="t" r="r" b="b"/>
            <a:pathLst>
              <a:path w="28575" h="685800">
                <a:moveTo>
                  <a:pt x="0" y="0"/>
                </a:moveTo>
                <a:lnTo>
                  <a:pt x="28575" y="0"/>
                </a:lnTo>
                <a:lnTo>
                  <a:pt x="28575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6" name="Text 4"/>
          <p:cNvSpPr/>
          <p:nvPr/>
        </p:nvSpPr>
        <p:spPr>
          <a:xfrm>
            <a:off x="600075" y="2981325"/>
            <a:ext cx="46577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Mining is only as reliable as the underlying Information Retrieval.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95288" y="3895725"/>
            <a:ext cx="28575" cy="838200"/>
          </a:xfrm>
          <a:custGeom>
            <a:avLst/>
            <a:gdLst/>
            <a:ahLst/>
            <a:cxnLst/>
            <a:rect l="l" t="t" r="r" b="b"/>
            <a:pathLst>
              <a:path w="28575" h="838200">
                <a:moveTo>
                  <a:pt x="0" y="0"/>
                </a:moveTo>
                <a:lnTo>
                  <a:pt x="28575" y="0"/>
                </a:lnTo>
                <a:lnTo>
                  <a:pt x="28575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8" name="Text 6"/>
          <p:cNvSpPr/>
          <p:nvPr/>
        </p:nvSpPr>
        <p:spPr>
          <a:xfrm>
            <a:off x="600075" y="3895725"/>
            <a:ext cx="46291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Proving mathematical accuracy via continuous validation metrics against real and synthetic queries ensures integrity is locked in before complex algorithmic mining occurs.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81000" y="5112544"/>
            <a:ext cx="4762500" cy="1390650"/>
          </a:xfrm>
          <a:custGeom>
            <a:avLst/>
            <a:gdLst/>
            <a:ahLst/>
            <a:cxnLst/>
            <a:rect l="l" t="t" r="r" b="b"/>
            <a:pathLst>
              <a:path w="4762500" h="1390650">
                <a:moveTo>
                  <a:pt x="0" y="0"/>
                </a:moveTo>
                <a:lnTo>
                  <a:pt x="4762500" y="0"/>
                </a:lnTo>
                <a:lnTo>
                  <a:pt x="4762500" y="1390650"/>
                </a:lnTo>
                <a:lnTo>
                  <a:pt x="0" y="1390650"/>
                </a:lnTo>
                <a:lnTo>
                  <a:pt x="0" y="0"/>
                </a:lnTo>
                <a:close/>
              </a:path>
            </a:pathLst>
          </a:cu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" y="5303044"/>
            <a:ext cx="4448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XAI Mandate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71500" y="5569744"/>
            <a:ext cx="44577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5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Models (via Ollama/LM Studio) are entirely isolated from external internet generation. They operate purely via a Retrieval-Augmented Generation (RAG) flow.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524500" y="1190625"/>
            <a:ext cx="6286500" cy="3314700"/>
          </a:xfrm>
          <a:custGeom>
            <a:avLst/>
            <a:gdLst/>
            <a:ahLst/>
            <a:cxnLst/>
            <a:rect l="l" t="t" r="r" b="b"/>
            <a:pathLst>
              <a:path w="6286500" h="3314700">
                <a:moveTo>
                  <a:pt x="0" y="0"/>
                </a:moveTo>
                <a:lnTo>
                  <a:pt x="6286500" y="0"/>
                </a:lnTo>
                <a:lnTo>
                  <a:pt x="6286500" y="3314700"/>
                </a:lnTo>
                <a:lnTo>
                  <a:pt x="0" y="3314700"/>
                </a:lnTo>
                <a:lnTo>
                  <a:pt x="0" y="0"/>
                </a:lnTo>
                <a:close/>
              </a:path>
            </a:pathLst>
          </a:custGeom>
          <a:solidFill>
            <a:srgbClr val="F5F4F0"/>
          </a:solidFill>
          <a:ln/>
        </p:spPr>
      </p:sp>
      <p:pic>
        <p:nvPicPr>
          <p:cNvPr id="13" name="Image 0" descr="https://kimi-img.moonshot.cn/pub/slides/26-03-14-15:13:59-d6qgldvvg7e1pqrqthb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53100" y="1419225"/>
            <a:ext cx="5829300" cy="2857500"/>
          </a:xfrm>
          <a:prstGeom prst="roundRect">
            <a:avLst>
              <a:gd name="adj" fmla="val 0"/>
            </a:avLst>
          </a:prstGeom>
        </p:spPr>
      </p:pic>
      <p:sp>
        <p:nvSpPr>
          <p:cNvPr id="14" name="Shape 11"/>
          <p:cNvSpPr/>
          <p:nvPr/>
        </p:nvSpPr>
        <p:spPr>
          <a:xfrm>
            <a:off x="5529263" y="4738688"/>
            <a:ext cx="3057525" cy="923925"/>
          </a:xfrm>
          <a:custGeom>
            <a:avLst/>
            <a:gdLst/>
            <a:ahLst/>
            <a:cxnLst/>
            <a:rect l="l" t="t" r="r" b="b"/>
            <a:pathLst>
              <a:path w="3057525" h="923925">
                <a:moveTo>
                  <a:pt x="0" y="0"/>
                </a:moveTo>
                <a:lnTo>
                  <a:pt x="3057525" y="0"/>
                </a:lnTo>
                <a:lnTo>
                  <a:pt x="3057525" y="923925"/>
                </a:lnTo>
                <a:lnTo>
                  <a:pt x="0" y="92392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00700" y="4895850"/>
            <a:ext cx="2914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0.87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653088" y="5314950"/>
            <a:ext cx="2809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F1-Score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48713" y="4738688"/>
            <a:ext cx="3057525" cy="923925"/>
          </a:xfrm>
          <a:custGeom>
            <a:avLst/>
            <a:gdLst/>
            <a:ahLst/>
            <a:cxnLst/>
            <a:rect l="l" t="t" r="r" b="b"/>
            <a:pathLst>
              <a:path w="3057525" h="923925">
                <a:moveTo>
                  <a:pt x="0" y="0"/>
                </a:moveTo>
                <a:lnTo>
                  <a:pt x="3057525" y="0"/>
                </a:lnTo>
                <a:lnTo>
                  <a:pt x="3057525" y="923925"/>
                </a:lnTo>
                <a:lnTo>
                  <a:pt x="0" y="92392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20150" y="4895850"/>
            <a:ext cx="2914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RAG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872538" y="5314950"/>
            <a:ext cx="2809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609600" cy="9525"/>
          </a:xfrm>
          <a:custGeom>
            <a:avLst/>
            <a:gdLst/>
            <a:ahLst/>
            <a:cxnLst/>
            <a:rect l="l" t="t" r="r" b="b"/>
            <a:pathLst>
              <a:path w="609600" h="9525">
                <a:moveTo>
                  <a:pt x="0" y="0"/>
                </a:moveTo>
                <a:lnTo>
                  <a:pt x="609600" y="0"/>
                </a:lnTo>
                <a:lnTo>
                  <a:pt x="609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42925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210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 / User Interface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725"/>
            <a:ext cx="116395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3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analytics dashboard translates high-dimensional mathematical matrices into user-facing 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2124075"/>
            <a:ext cx="5524500" cy="838200"/>
          </a:xfrm>
          <a:custGeom>
            <a:avLst/>
            <a:gdLst/>
            <a:ahLst/>
            <a:cxnLst/>
            <a:rect l="l" t="t" r="r" b="b"/>
            <a:pathLst>
              <a:path w="5524500" h="838200">
                <a:moveTo>
                  <a:pt x="0" y="0"/>
                </a:moveTo>
                <a:lnTo>
                  <a:pt x="5524500" y="0"/>
                </a:lnTo>
                <a:lnTo>
                  <a:pt x="55245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6" name="Shape 4"/>
          <p:cNvSpPr/>
          <p:nvPr/>
        </p:nvSpPr>
        <p:spPr>
          <a:xfrm>
            <a:off x="533400" y="23145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0" y="0"/>
                </a:moveTo>
                <a:lnTo>
                  <a:pt x="381000" y="0"/>
                </a:lnTo>
                <a:lnTo>
                  <a:pt x="3810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7" name="Shape 5"/>
          <p:cNvSpPr/>
          <p:nvPr/>
        </p:nvSpPr>
        <p:spPr>
          <a:xfrm>
            <a:off x="657225" y="24288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1066800" y="2276475"/>
            <a:ext cx="2876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Top Keyword Frequency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66800" y="2581275"/>
            <a:ext cx="2867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Charts and topic prominence visualization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1000" y="3114675"/>
            <a:ext cx="5524500" cy="838200"/>
          </a:xfrm>
          <a:custGeom>
            <a:avLst/>
            <a:gdLst/>
            <a:ahLst/>
            <a:cxnLst/>
            <a:rect l="l" t="t" r="r" b="b"/>
            <a:pathLst>
              <a:path w="5524500" h="838200">
                <a:moveTo>
                  <a:pt x="0" y="0"/>
                </a:moveTo>
                <a:lnTo>
                  <a:pt x="5524500" y="0"/>
                </a:lnTo>
                <a:lnTo>
                  <a:pt x="55245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11" name="Shape 9"/>
          <p:cNvSpPr/>
          <p:nvPr/>
        </p:nvSpPr>
        <p:spPr>
          <a:xfrm>
            <a:off x="533400" y="33051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0" y="0"/>
                </a:moveTo>
                <a:lnTo>
                  <a:pt x="381000" y="0"/>
                </a:lnTo>
                <a:lnTo>
                  <a:pt x="3810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7225" y="34194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3267075"/>
            <a:ext cx="2295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Temporal Trend Analysis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66800" y="3571875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Tracking article volume over time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1000" y="4105275"/>
            <a:ext cx="5524500" cy="838200"/>
          </a:xfrm>
          <a:custGeom>
            <a:avLst/>
            <a:gdLst/>
            <a:ahLst/>
            <a:cxnLst/>
            <a:rect l="l" t="t" r="r" b="b"/>
            <a:pathLst>
              <a:path w="5524500" h="838200">
                <a:moveTo>
                  <a:pt x="0" y="0"/>
                </a:moveTo>
                <a:lnTo>
                  <a:pt x="5524500" y="0"/>
                </a:lnTo>
                <a:lnTo>
                  <a:pt x="55245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16" name="Shape 14"/>
          <p:cNvSpPr/>
          <p:nvPr/>
        </p:nvSpPr>
        <p:spPr>
          <a:xfrm>
            <a:off x="533400" y="42957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0" y="0"/>
                </a:moveTo>
                <a:lnTo>
                  <a:pt x="381000" y="0"/>
                </a:lnTo>
                <a:lnTo>
                  <a:pt x="3810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7" name="Shape 15"/>
          <p:cNvSpPr/>
          <p:nvPr/>
        </p:nvSpPr>
        <p:spPr>
          <a:xfrm>
            <a:off x="657225" y="44100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800" y="4257675"/>
            <a:ext cx="3676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Rank Group Separation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66800" y="4562475"/>
            <a:ext cx="3667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Contrasting high-relevance versus low-relevance sets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81000" y="5095875"/>
            <a:ext cx="5524500" cy="838200"/>
          </a:xfrm>
          <a:custGeom>
            <a:avLst/>
            <a:gdLst/>
            <a:ahLst/>
            <a:cxnLst/>
            <a:rect l="l" t="t" r="r" b="b"/>
            <a:pathLst>
              <a:path w="5524500" h="838200">
                <a:moveTo>
                  <a:pt x="0" y="0"/>
                </a:moveTo>
                <a:lnTo>
                  <a:pt x="5524500" y="0"/>
                </a:lnTo>
                <a:lnTo>
                  <a:pt x="55245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F5F4F0"/>
          </a:solidFill>
          <a:ln/>
        </p:spPr>
      </p:sp>
      <p:sp>
        <p:nvSpPr>
          <p:cNvPr id="21" name="Shape 19"/>
          <p:cNvSpPr/>
          <p:nvPr/>
        </p:nvSpPr>
        <p:spPr>
          <a:xfrm>
            <a:off x="533400" y="52863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0" y="0"/>
                </a:moveTo>
                <a:lnTo>
                  <a:pt x="381000" y="0"/>
                </a:lnTo>
                <a:lnTo>
                  <a:pt x="3810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2" name="Shape 20"/>
          <p:cNvSpPr/>
          <p:nvPr/>
        </p:nvSpPr>
        <p:spPr>
          <a:xfrm>
            <a:off x="657225" y="54006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23" name="Text 21"/>
          <p:cNvSpPr/>
          <p:nvPr/>
        </p:nvSpPr>
        <p:spPr>
          <a:xfrm>
            <a:off x="1066800" y="5248275"/>
            <a:ext cx="4581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Live UI Triggers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66800" y="5553075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Running real-time algorithmic demonstrations on the frozen dataset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86500" y="2124075"/>
            <a:ext cx="5524500" cy="4438650"/>
          </a:xfrm>
          <a:custGeom>
            <a:avLst/>
            <a:gdLst/>
            <a:ahLst/>
            <a:cxnLst/>
            <a:rect l="l" t="t" r="r" b="b"/>
            <a:pathLst>
              <a:path w="5524500" h="4438650">
                <a:moveTo>
                  <a:pt x="0" y="0"/>
                </a:moveTo>
                <a:lnTo>
                  <a:pt x="5524500" y="0"/>
                </a:lnTo>
                <a:lnTo>
                  <a:pt x="5524500" y="4438650"/>
                </a:lnTo>
                <a:lnTo>
                  <a:pt x="0" y="4438650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515100" y="2624138"/>
            <a:ext cx="5067300" cy="9525"/>
          </a:xfrm>
          <a:custGeom>
            <a:avLst/>
            <a:gdLst/>
            <a:ahLst/>
            <a:cxnLst/>
            <a:rect l="l" t="t" r="r" b="b"/>
            <a:pathLst>
              <a:path w="5067300" h="9525">
                <a:moveTo>
                  <a:pt x="0" y="0"/>
                </a:moveTo>
                <a:lnTo>
                  <a:pt x="5067300" y="0"/>
                </a:lnTo>
                <a:lnTo>
                  <a:pt x="50673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5A5A5A"/>
          </a:solidFill>
          <a:ln/>
        </p:spPr>
      </p:sp>
      <p:sp>
        <p:nvSpPr>
          <p:cNvPr id="27" name="Shape 25"/>
          <p:cNvSpPr/>
          <p:nvPr/>
        </p:nvSpPr>
        <p:spPr>
          <a:xfrm>
            <a:off x="6515100" y="2352675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57150" y="0"/>
                </a:moveTo>
                <a:lnTo>
                  <a:pt x="57150" y="0"/>
                </a:lnTo>
                <a:cubicBezTo>
                  <a:pt x="88692" y="0"/>
                  <a:pt x="114300" y="25608"/>
                  <a:pt x="114300" y="57150"/>
                </a:cubicBezTo>
                <a:lnTo>
                  <a:pt x="114300" y="57150"/>
                </a:lnTo>
                <a:cubicBezTo>
                  <a:pt x="114300" y="88692"/>
                  <a:pt x="88692" y="114300"/>
                  <a:pt x="571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8" name="Shape 26"/>
          <p:cNvSpPr/>
          <p:nvPr/>
        </p:nvSpPr>
        <p:spPr>
          <a:xfrm>
            <a:off x="6705600" y="2352675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57150" y="0"/>
                </a:moveTo>
                <a:lnTo>
                  <a:pt x="57150" y="0"/>
                </a:lnTo>
                <a:cubicBezTo>
                  <a:pt x="88692" y="0"/>
                  <a:pt x="114300" y="25608"/>
                  <a:pt x="114300" y="57150"/>
                </a:cubicBezTo>
                <a:lnTo>
                  <a:pt x="114300" y="57150"/>
                </a:lnTo>
                <a:cubicBezTo>
                  <a:pt x="114300" y="88692"/>
                  <a:pt x="88692" y="114300"/>
                  <a:pt x="571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9" name="Shape 27"/>
          <p:cNvSpPr/>
          <p:nvPr/>
        </p:nvSpPr>
        <p:spPr>
          <a:xfrm>
            <a:off x="6896100" y="2352675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57150" y="0"/>
                </a:moveTo>
                <a:lnTo>
                  <a:pt x="57150" y="0"/>
                </a:lnTo>
                <a:cubicBezTo>
                  <a:pt x="88692" y="0"/>
                  <a:pt x="114300" y="25608"/>
                  <a:pt x="114300" y="57150"/>
                </a:cubicBezTo>
                <a:lnTo>
                  <a:pt x="114300" y="57150"/>
                </a:lnTo>
                <a:cubicBezTo>
                  <a:pt x="114300" y="88692"/>
                  <a:pt x="88692" y="114300"/>
                  <a:pt x="571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A8A29E"/>
          </a:solidFill>
          <a:ln/>
        </p:spPr>
      </p:sp>
      <p:sp>
        <p:nvSpPr>
          <p:cNvPr id="30" name="Shape 28"/>
          <p:cNvSpPr/>
          <p:nvPr/>
        </p:nvSpPr>
        <p:spPr>
          <a:xfrm>
            <a:off x="10210800" y="2371725"/>
            <a:ext cx="609600" cy="76200"/>
          </a:xfrm>
          <a:custGeom>
            <a:avLst/>
            <a:gdLst/>
            <a:ahLst/>
            <a:cxnLst/>
            <a:rect l="l" t="t" r="r" b="b"/>
            <a:pathLst>
              <a:path w="609600" h="76200">
                <a:moveTo>
                  <a:pt x="0" y="0"/>
                </a:moveTo>
                <a:lnTo>
                  <a:pt x="609600" y="0"/>
                </a:lnTo>
                <a:lnTo>
                  <a:pt x="6096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5A5A5A"/>
          </a:solidFill>
          <a:ln/>
        </p:spPr>
      </p:sp>
      <p:sp>
        <p:nvSpPr>
          <p:cNvPr id="31" name="Shape 29"/>
          <p:cNvSpPr/>
          <p:nvPr/>
        </p:nvSpPr>
        <p:spPr>
          <a:xfrm>
            <a:off x="10972800" y="2371725"/>
            <a:ext cx="609600" cy="76200"/>
          </a:xfrm>
          <a:custGeom>
            <a:avLst/>
            <a:gdLst/>
            <a:ahLst/>
            <a:cxnLst/>
            <a:rect l="l" t="t" r="r" b="b"/>
            <a:pathLst>
              <a:path w="609600" h="76200">
                <a:moveTo>
                  <a:pt x="0" y="0"/>
                </a:moveTo>
                <a:lnTo>
                  <a:pt x="609600" y="0"/>
                </a:lnTo>
                <a:lnTo>
                  <a:pt x="6096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2" name="Text 30"/>
          <p:cNvSpPr/>
          <p:nvPr/>
        </p:nvSpPr>
        <p:spPr>
          <a:xfrm>
            <a:off x="6515100" y="2781300"/>
            <a:ext cx="5133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Top Keyword Frequencies</a:t>
            </a:r>
            <a:endParaRPr lang="en-US" sz="1600" dirty="0"/>
          </a:p>
        </p:txBody>
      </p:sp>
      <p:pic>
        <p:nvPicPr>
          <p:cNvPr id="33" name="Image 0" descr="https://kimi-img.moonshot.cn/pub/slides/26-03-14-15:14:00-d6qgle4bcdrsrv6751p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15100" y="3124200"/>
            <a:ext cx="5067300" cy="2095500"/>
          </a:xfrm>
          <a:prstGeom prst="roundRect">
            <a:avLst>
              <a:gd name="adj" fmla="val 0"/>
            </a:avLst>
          </a:prstGeom>
        </p:spPr>
      </p:pic>
      <p:sp>
        <p:nvSpPr>
          <p:cNvPr id="34" name="Shape 31"/>
          <p:cNvSpPr/>
          <p:nvPr/>
        </p:nvSpPr>
        <p:spPr>
          <a:xfrm>
            <a:off x="6515100" y="5376863"/>
            <a:ext cx="5067300" cy="9525"/>
          </a:xfrm>
          <a:custGeom>
            <a:avLst/>
            <a:gdLst/>
            <a:ahLst/>
            <a:cxnLst/>
            <a:rect l="l" t="t" r="r" b="b"/>
            <a:pathLst>
              <a:path w="5067300" h="9525">
                <a:moveTo>
                  <a:pt x="0" y="0"/>
                </a:moveTo>
                <a:lnTo>
                  <a:pt x="5067300" y="0"/>
                </a:lnTo>
                <a:lnTo>
                  <a:pt x="50673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5A5A5A"/>
          </a:solidFill>
          <a:ln/>
        </p:spPr>
      </p:sp>
      <p:sp>
        <p:nvSpPr>
          <p:cNvPr id="35" name="Text 32"/>
          <p:cNvSpPr/>
          <p:nvPr/>
        </p:nvSpPr>
        <p:spPr>
          <a:xfrm>
            <a:off x="6515100" y="5534025"/>
            <a:ext cx="5133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Operational Metrics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515100" y="5838825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CTR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8731448" y="5838825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25%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9105900" y="5838825"/>
            <a:ext cx="61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Avg Time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11252299" y="5838825"/>
            <a:ext cx="400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3:45s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515100" y="6143625"/>
            <a:ext cx="781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Lowest CTR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8362057" y="6143625"/>
            <a:ext cx="695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 min ago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9105900" y="6143625"/>
            <a:ext cx="781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 Time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10952857" y="6143625"/>
            <a:ext cx="695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 min ago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4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3714750" y="1047750"/>
            <a:ext cx="4762500" cy="47625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5638800" y="152400"/>
            <a:ext cx="914400" cy="19050"/>
          </a:xfrm>
          <a:custGeom>
            <a:avLst/>
            <a:gdLst/>
            <a:ahLst/>
            <a:cxnLst/>
            <a:rect l="l" t="t" r="r" b="b"/>
            <a:pathLst>
              <a:path w="914400" h="19050">
                <a:moveTo>
                  <a:pt x="0" y="0"/>
                </a:moveTo>
                <a:lnTo>
                  <a:pt x="914400" y="0"/>
                </a:lnTo>
                <a:lnTo>
                  <a:pt x="914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1"/>
          <p:cNvSpPr/>
          <p:nvPr/>
        </p:nvSpPr>
        <p:spPr>
          <a:xfrm>
            <a:off x="2628900" y="552450"/>
            <a:ext cx="6934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From Noise to Knowledge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2705100" y="1524000"/>
            <a:ext cx="6781800" cy="1857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system transforms overwhelming unstructured news data into actionable, mathematically grounded intelligence—enabling journalism analytics, brand monitoring, and real-time event tracking with complete offline reliability and transparent explainability.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620667" y="383857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7" name="Shape 4"/>
          <p:cNvSpPr/>
          <p:nvPr/>
        </p:nvSpPr>
        <p:spPr>
          <a:xfrm>
            <a:off x="4811167" y="40290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85738"/>
                </a:moveTo>
                <a:lnTo>
                  <a:pt x="0" y="53578"/>
                </a:lnTo>
                <a:cubicBezTo>
                  <a:pt x="0" y="47640"/>
                  <a:pt x="4777" y="42863"/>
                  <a:pt x="10716" y="42863"/>
                </a:cubicBezTo>
                <a:cubicBezTo>
                  <a:pt x="16654" y="42863"/>
                  <a:pt x="21431" y="47640"/>
                  <a:pt x="21431" y="53578"/>
                </a:cubicBezTo>
                <a:lnTo>
                  <a:pt x="21431" y="182166"/>
                </a:lnTo>
                <a:cubicBezTo>
                  <a:pt x="21431" y="188104"/>
                  <a:pt x="26209" y="192881"/>
                  <a:pt x="32147" y="192881"/>
                </a:cubicBezTo>
                <a:cubicBezTo>
                  <a:pt x="38085" y="192881"/>
                  <a:pt x="42863" y="188104"/>
                  <a:pt x="42863" y="182166"/>
                </a:cubicBezTo>
                <a:lnTo>
                  <a:pt x="42863" y="42863"/>
                </a:lnTo>
                <a:cubicBezTo>
                  <a:pt x="42863" y="27102"/>
                  <a:pt x="55677" y="14288"/>
                  <a:pt x="71438" y="14288"/>
                </a:cubicBezTo>
                <a:lnTo>
                  <a:pt x="200025" y="14288"/>
                </a:lnTo>
                <a:cubicBezTo>
                  <a:pt x="215786" y="14288"/>
                  <a:pt x="228600" y="27102"/>
                  <a:pt x="228600" y="42863"/>
                </a:cubicBezTo>
                <a:lnTo>
                  <a:pt x="228600" y="185738"/>
                </a:lnTo>
                <a:cubicBezTo>
                  <a:pt x="228600" y="201498"/>
                  <a:pt x="215786" y="214313"/>
                  <a:pt x="200025" y="214313"/>
                </a:cubicBezTo>
                <a:lnTo>
                  <a:pt x="28575" y="214313"/>
                </a:lnTo>
                <a:cubicBezTo>
                  <a:pt x="12814" y="214313"/>
                  <a:pt x="0" y="201498"/>
                  <a:pt x="0" y="185738"/>
                </a:cubicBezTo>
                <a:close/>
                <a:moveTo>
                  <a:pt x="71438" y="57150"/>
                </a:moveTo>
                <a:lnTo>
                  <a:pt x="71438" y="85725"/>
                </a:lnTo>
                <a:cubicBezTo>
                  <a:pt x="71438" y="93628"/>
                  <a:pt x="77822" y="100013"/>
                  <a:pt x="85725" y="100013"/>
                </a:cubicBezTo>
                <a:lnTo>
                  <a:pt x="114300" y="100013"/>
                </a:lnTo>
                <a:cubicBezTo>
                  <a:pt x="122203" y="100013"/>
                  <a:pt x="128588" y="93628"/>
                  <a:pt x="128588" y="85725"/>
                </a:cubicBezTo>
                <a:lnTo>
                  <a:pt x="128588" y="57150"/>
                </a:lnTo>
                <a:cubicBezTo>
                  <a:pt x="128588" y="49247"/>
                  <a:pt x="122203" y="42863"/>
                  <a:pt x="114300" y="42863"/>
                </a:cubicBezTo>
                <a:lnTo>
                  <a:pt x="85725" y="42863"/>
                </a:lnTo>
                <a:cubicBezTo>
                  <a:pt x="77822" y="42863"/>
                  <a:pt x="71438" y="49247"/>
                  <a:pt x="71438" y="57150"/>
                </a:cubicBezTo>
                <a:close/>
                <a:moveTo>
                  <a:pt x="82153" y="164306"/>
                </a:moveTo>
                <a:cubicBezTo>
                  <a:pt x="76215" y="164306"/>
                  <a:pt x="71438" y="169084"/>
                  <a:pt x="71438" y="175022"/>
                </a:cubicBezTo>
                <a:cubicBezTo>
                  <a:pt x="71438" y="180960"/>
                  <a:pt x="76215" y="185738"/>
                  <a:pt x="82153" y="185738"/>
                </a:cubicBezTo>
                <a:lnTo>
                  <a:pt x="189309" y="185738"/>
                </a:lnTo>
                <a:cubicBezTo>
                  <a:pt x="195248" y="185738"/>
                  <a:pt x="200025" y="180960"/>
                  <a:pt x="200025" y="175022"/>
                </a:cubicBezTo>
                <a:cubicBezTo>
                  <a:pt x="200025" y="169084"/>
                  <a:pt x="195248" y="164306"/>
                  <a:pt x="189309" y="164306"/>
                </a:cubicBezTo>
                <a:lnTo>
                  <a:pt x="82153" y="164306"/>
                </a:lnTo>
                <a:close/>
                <a:moveTo>
                  <a:pt x="71438" y="132159"/>
                </a:moveTo>
                <a:cubicBezTo>
                  <a:pt x="71438" y="138098"/>
                  <a:pt x="76215" y="142875"/>
                  <a:pt x="82153" y="142875"/>
                </a:cubicBezTo>
                <a:lnTo>
                  <a:pt x="189309" y="142875"/>
                </a:lnTo>
                <a:cubicBezTo>
                  <a:pt x="195248" y="142875"/>
                  <a:pt x="200025" y="138098"/>
                  <a:pt x="200025" y="132159"/>
                </a:cubicBezTo>
                <a:cubicBezTo>
                  <a:pt x="200025" y="126221"/>
                  <a:pt x="195248" y="121444"/>
                  <a:pt x="189309" y="121444"/>
                </a:cubicBezTo>
                <a:lnTo>
                  <a:pt x="82153" y="121444"/>
                </a:lnTo>
                <a:cubicBezTo>
                  <a:pt x="76215" y="121444"/>
                  <a:pt x="71438" y="126221"/>
                  <a:pt x="71438" y="132159"/>
                </a:cubicBezTo>
                <a:close/>
                <a:moveTo>
                  <a:pt x="160734" y="78581"/>
                </a:moveTo>
                <a:cubicBezTo>
                  <a:pt x="154796" y="78581"/>
                  <a:pt x="150019" y="83359"/>
                  <a:pt x="150019" y="89297"/>
                </a:cubicBezTo>
                <a:cubicBezTo>
                  <a:pt x="150019" y="95235"/>
                  <a:pt x="154796" y="100013"/>
                  <a:pt x="160734" y="100013"/>
                </a:cubicBezTo>
                <a:lnTo>
                  <a:pt x="189309" y="100013"/>
                </a:lnTo>
                <a:cubicBezTo>
                  <a:pt x="195248" y="100013"/>
                  <a:pt x="200025" y="95235"/>
                  <a:pt x="200025" y="89297"/>
                </a:cubicBezTo>
                <a:cubicBezTo>
                  <a:pt x="200025" y="83359"/>
                  <a:pt x="195248" y="78581"/>
                  <a:pt x="189309" y="78581"/>
                </a:cubicBezTo>
                <a:lnTo>
                  <a:pt x="160734" y="78581"/>
                </a:ln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8" name="Text 5"/>
          <p:cNvSpPr/>
          <p:nvPr/>
        </p:nvSpPr>
        <p:spPr>
          <a:xfrm>
            <a:off x="4518124" y="4562475"/>
            <a:ext cx="819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Journalism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Analytics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815757" y="383857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0" name="Shape 7"/>
          <p:cNvSpPr/>
          <p:nvPr/>
        </p:nvSpPr>
        <p:spPr>
          <a:xfrm>
            <a:off x="5991969" y="4029075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14288"/>
                </a:moveTo>
                <a:cubicBezTo>
                  <a:pt x="92512" y="14288"/>
                  <a:pt x="63624" y="30718"/>
                  <a:pt x="42595" y="50274"/>
                </a:cubicBezTo>
                <a:cubicBezTo>
                  <a:pt x="21699" y="69696"/>
                  <a:pt x="7724" y="92869"/>
                  <a:pt x="1072" y="108808"/>
                </a:cubicBezTo>
                <a:cubicBezTo>
                  <a:pt x="-402" y="112335"/>
                  <a:pt x="-402" y="116265"/>
                  <a:pt x="1072" y="119792"/>
                </a:cubicBezTo>
                <a:cubicBezTo>
                  <a:pt x="7724" y="135731"/>
                  <a:pt x="21699" y="158948"/>
                  <a:pt x="42595" y="178326"/>
                </a:cubicBezTo>
                <a:cubicBezTo>
                  <a:pt x="63624" y="197837"/>
                  <a:pt x="92512" y="214313"/>
                  <a:pt x="128588" y="214313"/>
                </a:cubicBezTo>
                <a:cubicBezTo>
                  <a:pt x="164663" y="214313"/>
                  <a:pt x="193551" y="197882"/>
                  <a:pt x="214580" y="178326"/>
                </a:cubicBezTo>
                <a:cubicBezTo>
                  <a:pt x="235476" y="158904"/>
                  <a:pt x="249451" y="135731"/>
                  <a:pt x="256103" y="119792"/>
                </a:cubicBezTo>
                <a:cubicBezTo>
                  <a:pt x="257577" y="116265"/>
                  <a:pt x="257577" y="112335"/>
                  <a:pt x="256103" y="108808"/>
                </a:cubicBezTo>
                <a:cubicBezTo>
                  <a:pt x="249451" y="92869"/>
                  <a:pt x="235476" y="69652"/>
                  <a:pt x="214580" y="50274"/>
                </a:cubicBezTo>
                <a:cubicBezTo>
                  <a:pt x="193551" y="30763"/>
                  <a:pt x="164663" y="14287"/>
                  <a:pt x="128588" y="14287"/>
                </a:cubicBezTo>
                <a:close/>
                <a:moveTo>
                  <a:pt x="64294" y="114300"/>
                </a:moveTo>
                <a:cubicBezTo>
                  <a:pt x="64294" y="78815"/>
                  <a:pt x="93103" y="50006"/>
                  <a:pt x="128588" y="50006"/>
                </a:cubicBezTo>
                <a:cubicBezTo>
                  <a:pt x="164072" y="50006"/>
                  <a:pt x="192881" y="78815"/>
                  <a:pt x="192881" y="114300"/>
                </a:cubicBezTo>
                <a:cubicBezTo>
                  <a:pt x="192881" y="149785"/>
                  <a:pt x="164072" y="178594"/>
                  <a:pt x="128588" y="178594"/>
                </a:cubicBezTo>
                <a:cubicBezTo>
                  <a:pt x="93103" y="178594"/>
                  <a:pt x="64294" y="149785"/>
                  <a:pt x="64294" y="114300"/>
                </a:cubicBezTo>
                <a:close/>
                <a:moveTo>
                  <a:pt x="128588" y="85725"/>
                </a:moveTo>
                <a:cubicBezTo>
                  <a:pt x="128588" y="101486"/>
                  <a:pt x="115773" y="114300"/>
                  <a:pt x="100013" y="114300"/>
                </a:cubicBezTo>
                <a:cubicBezTo>
                  <a:pt x="94878" y="114300"/>
                  <a:pt x="90056" y="112961"/>
                  <a:pt x="85859" y="110550"/>
                </a:cubicBezTo>
                <a:cubicBezTo>
                  <a:pt x="85412" y="115416"/>
                  <a:pt x="85814" y="120417"/>
                  <a:pt x="87154" y="125373"/>
                </a:cubicBezTo>
                <a:cubicBezTo>
                  <a:pt x="93271" y="148233"/>
                  <a:pt x="116800" y="161806"/>
                  <a:pt x="139660" y="155689"/>
                </a:cubicBezTo>
                <a:cubicBezTo>
                  <a:pt x="162520" y="149572"/>
                  <a:pt x="176093" y="126043"/>
                  <a:pt x="169977" y="103183"/>
                </a:cubicBezTo>
                <a:cubicBezTo>
                  <a:pt x="164529" y="82778"/>
                  <a:pt x="145197" y="69786"/>
                  <a:pt x="124837" y="71571"/>
                </a:cubicBezTo>
                <a:cubicBezTo>
                  <a:pt x="127203" y="75724"/>
                  <a:pt x="128588" y="80546"/>
                  <a:pt x="128588" y="85725"/>
                </a:cubicBez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11" name="Text 8"/>
          <p:cNvSpPr/>
          <p:nvPr/>
        </p:nvSpPr>
        <p:spPr>
          <a:xfrm>
            <a:off x="5713809" y="4562475"/>
            <a:ext cx="8096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Brand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Monitoring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986290" y="383857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3" name="Shape 10"/>
          <p:cNvSpPr/>
          <p:nvPr/>
        </p:nvSpPr>
        <p:spPr>
          <a:xfrm>
            <a:off x="7191077" y="4029075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51269" y="-4420"/>
                </a:moveTo>
                <a:cubicBezTo>
                  <a:pt x="156582" y="-580"/>
                  <a:pt x="158547" y="6385"/>
                  <a:pt x="156136" y="12457"/>
                </a:cubicBezTo>
                <a:lnTo>
                  <a:pt x="121131" y="100013"/>
                </a:lnTo>
                <a:lnTo>
                  <a:pt x="185738" y="100013"/>
                </a:lnTo>
                <a:cubicBezTo>
                  <a:pt x="191765" y="100013"/>
                  <a:pt x="197123" y="103763"/>
                  <a:pt x="199177" y="109433"/>
                </a:cubicBezTo>
                <a:cubicBezTo>
                  <a:pt x="201231" y="115104"/>
                  <a:pt x="199489" y="121444"/>
                  <a:pt x="194890" y="125284"/>
                </a:cubicBezTo>
                <a:lnTo>
                  <a:pt x="66303" y="232440"/>
                </a:lnTo>
                <a:cubicBezTo>
                  <a:pt x="61258" y="236637"/>
                  <a:pt x="54069" y="236860"/>
                  <a:pt x="48756" y="233020"/>
                </a:cubicBezTo>
                <a:cubicBezTo>
                  <a:pt x="43443" y="229180"/>
                  <a:pt x="41478" y="222215"/>
                  <a:pt x="43889" y="216143"/>
                </a:cubicBezTo>
                <a:lnTo>
                  <a:pt x="78894" y="128588"/>
                </a:lnTo>
                <a:lnTo>
                  <a:pt x="14288" y="128588"/>
                </a:lnTo>
                <a:cubicBezTo>
                  <a:pt x="8260" y="128588"/>
                  <a:pt x="2902" y="124837"/>
                  <a:pt x="848" y="119167"/>
                </a:cubicBezTo>
                <a:cubicBezTo>
                  <a:pt x="-1206" y="113496"/>
                  <a:pt x="536" y="107156"/>
                  <a:pt x="5135" y="103316"/>
                </a:cubicBezTo>
                <a:lnTo>
                  <a:pt x="133722" y="-3840"/>
                </a:lnTo>
                <a:cubicBezTo>
                  <a:pt x="138767" y="-8037"/>
                  <a:pt x="145956" y="-8260"/>
                  <a:pt x="151269" y="-4420"/>
                </a:cubicBez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14" name="Text 11"/>
          <p:cNvSpPr/>
          <p:nvPr/>
        </p:nvSpPr>
        <p:spPr>
          <a:xfrm>
            <a:off x="6908304" y="4562475"/>
            <a:ext cx="76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Tracking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762250" y="5481638"/>
            <a:ext cx="6667500" cy="9525"/>
          </a:xfrm>
          <a:custGeom>
            <a:avLst/>
            <a:gdLst/>
            <a:ahLst/>
            <a:cxnLst/>
            <a:rect l="l" t="t" r="r" b="b"/>
            <a:pathLst>
              <a:path w="6667500" h="9525">
                <a:moveTo>
                  <a:pt x="0" y="0"/>
                </a:moveTo>
                <a:lnTo>
                  <a:pt x="6667500" y="0"/>
                </a:lnTo>
                <a:lnTo>
                  <a:pt x="66675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5E5E5"/>
          </a:solidFill>
          <a:ln/>
        </p:spPr>
      </p:sp>
      <p:sp>
        <p:nvSpPr>
          <p:cNvPr id="16" name="Text 13"/>
          <p:cNvSpPr/>
          <p:nvPr/>
        </p:nvSpPr>
        <p:spPr>
          <a:xfrm>
            <a:off x="2724150" y="5791200"/>
            <a:ext cx="6743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Authors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2714625" y="6096000"/>
            <a:ext cx="6762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P. Krishna Surya &amp; V. Omkareshwara Reddy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2728913" y="6515100"/>
            <a:ext cx="6734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Review 1 Submission • March 2026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Data Mining and Pattern Discovery System</dc:title>
  <dc:subject>Automated Data Mining and Pattern Discovery System</dc:subject>
  <dc:creator>Kimi</dc:creator>
  <cp:lastModifiedBy>Kimi</cp:lastModifiedBy>
  <cp:revision>1</cp:revision>
  <dcterms:created xsi:type="dcterms:W3CDTF">2026-03-14T07:15:19Z</dcterms:created>
  <dcterms:modified xsi:type="dcterms:W3CDTF">2026-03-14T07:15:19Z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{"Label":"Automated Data Mining and Pattern Discovery System","ContentProducer":"001191110108MACG2KBH8F10000","ProduceID":"19ceb2c8-3dc2-8cf4-8000-0000da628bd7","ReservedCode1":"","ContentPropagator":"001191110108MACG2KBH8F20000","PropagateID":"19ceb2c8-3dc2-8cf4-8000-0000da628bd7","ReservedCode2":""}</vt:lpwstr>
  </property>
</Properties>
</file>